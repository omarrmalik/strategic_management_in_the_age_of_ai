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10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52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The goal is not to discard Porter but to update his concepts for self-learning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the lecture as a synthesis rather than a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used as a 60–75 minute lecture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class in Porter’s core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updates the frontier logic: AI can be transformative and still not a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pillars recur throughout the rest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paper is not merely about “digital transformation”; it focuses on self-learning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bridge between the two articles. Emphasize fit: the five questions must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core lecture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Porter’s warning about benchmarking and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classify activities in a firm into these four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prepares students for the fit and flywheel logic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examples: clinicians require explainability; autonomous systems need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“buying a model” with building a reinforcing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Porter’s continuity to the AI paper’s dynamic-change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examples are from the AI paper, anonymized as Companies A, B,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connects AI deployment to Porter’s cost positioning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as AI supporting differentiation rather than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is useful for showing human–AI task allocation and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caution against AI enthusiasm without task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straightforward example to contrast with Gannett.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governance can become a differentiator in regulated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close: a revised definition that does not abandon 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students a company and ask them to map its AI strategy through the wheel and Porter’s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idea that AI strategy is strategy, not a technology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paraphrases and synthesizes the two articles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Strategy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Age of AI?</a:t>
            </a:r>
            <a:endParaRPr lang="en-US" sz="4100" dirty="0"/>
          </a:p>
        </p:txBody>
      </p:sp>
      <p:sp>
        <p:nvSpPr>
          <p:cNvPr id="6" name="Shape 4"/>
          <p:cNvSpPr/>
          <p:nvPr/>
        </p:nvSpPr>
        <p:spPr>
          <a:xfrm>
            <a:off x="731520" y="376732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8221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1996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376732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3512" y="382219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STRATEGY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565099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thesis: AI does not replace strategy; it makes strategic positioning, trade-offs, and fit more consequential.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central question: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2412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Porter were writing “What Is Strategy?” today, what would change—and what would remain the same?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4389120" cy="1234440"/>
          </a:xfrm>
          <a:prstGeom prst="roundRect">
            <a:avLst>
              <a:gd name="adj" fmla="val 4444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5296" y="2816352"/>
            <a:ext cx="4133088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remains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is about difference, choice, and fit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75120" y="2743200"/>
            <a:ext cx="4389120" cy="1234440"/>
          </a:xfrm>
          <a:prstGeom prst="roundRect">
            <a:avLst>
              <a:gd name="adj" fmla="val 4444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03136" y="2816352"/>
            <a:ext cx="4133088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changes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Activities increasingly learn, predict, and generate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77840" y="3364992"/>
            <a:ext cx="93268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4572000"/>
            <a:ext cx="9875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 is a new operational frontier
• But operational improvement is still not strategy
• Advantage requires embedding AI into a distinctive system of activities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Porter, “What Is Strategy?”; Hutzschenreuter &amp; Lämmermann, “What Is Your AI Strategy?”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 for the session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380744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307592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Porter’s enduring logic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effectiveness, positioning, trade-offs, fit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240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295144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221992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AI different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superiority, black box perception, dynamic change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209544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36392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Revising Porter with AI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Activities become human–AI systems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4123944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50792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Mobility, appliances, pharma, Gannett, predictive maintenance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4983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1832" y="5038344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965192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Classroom application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498348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 strategy audit for any firm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Porter’s argument in one slide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549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Effectiveness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77840" y="1353312"/>
            <a:ext cx="7315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A01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≠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352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E94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1488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8E5E5"/>
          </a:solidFill>
          <a:ln w="12700">
            <a:solidFill>
              <a:srgbClr val="F8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3816" y="2221992"/>
            <a:ext cx="340156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Performing similar activities better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0" y="214884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E7F2E8"/>
          </a:solidFill>
          <a:ln w="12700">
            <a:solidFill>
              <a:srgbClr val="E7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43216" y="2221992"/>
            <a:ext cx="385876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Performing different activities—or similar activities differently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2697480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4343400"/>
            <a:ext cx="97840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Activities are the basic units of advantage
• Best practices diffuse quickly
• Strategy requires uniqueness, choices, and fit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argues that operational effectiveness and strategy are both essential, but distinct.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EFFECTIVENESS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moves the productivity frontier outward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34440" y="5303520"/>
            <a:ext cx="4297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5303520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2011680"/>
            <a:ext cx="3474720" cy="28346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3474720" cy="2834640"/>
          </a:xfrm>
          <a:prstGeom prst="arc">
            <a:avLst/>
          </a:prstGeom>
          <a:solidFill>
            <a:srgbClr val="FFFFFF">
              <a:alpha val="0"/>
            </a:srgbClr>
          </a:solidFill>
          <a:ln w="33020">
            <a:solidFill>
              <a:srgbClr val="2A6F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frontier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AI-enabled frontier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relative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880360"/>
            <a:ext cx="7315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buyer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828800"/>
            <a:ext cx="4251960" cy="1234440"/>
          </a:xfrm>
          <a:prstGeom prst="roundRect">
            <a:avLst>
              <a:gd name="adj" fmla="val 4444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57416" y="1901952"/>
            <a:ext cx="3995928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 if everyone gets the same frontier shift, nobody necessarily gains relative advantage.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3657600"/>
            <a:ext cx="4160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Copilots, LLM APIs, and analytics platforms are widely accessible
• Generic AI adoption can become the new benchmarking race
• The strategic question is where AI is embedded distinctively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PILLARS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pillars Porter gives us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2057400" cy="1783080"/>
          </a:xfrm>
          <a:prstGeom prst="hexagon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Position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different set of activities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2057400" cy="1783080"/>
          </a:xfrm>
          <a:prstGeom prst="hexagon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2336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Choosing what not to 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1828800"/>
            <a:ext cx="2057400" cy="1783080"/>
          </a:xfrm>
          <a:prstGeom prst="hexagon">
            <a:avLst/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4380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0664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Activities reinforce one another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does not remove these pillars. It changes how firms execute them.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contemporary AI strategically different?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1598" y="1673352"/>
            <a:ext cx="2860243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superiority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41832" y="2606040"/>
            <a:ext cx="27889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good data, AI can outperform humans on selected cognitive tasks.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67758" y="1673352"/>
            <a:ext cx="2860243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perception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07992" y="2606040"/>
            <a:ext cx="27889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model behavior can be difficult for users, experts, and regulators to validate.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16002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33918" y="1673352"/>
            <a:ext cx="2860243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nature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074152" y="2606040"/>
            <a:ext cx="27889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capabilities, regulation, and model architectures keep changing.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1498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are the three AI-specific pressures that revise Porter’s strategy concepts.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the AI paper’s framing of self-learning technologies.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FRAMEWORK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 Business Strategy Wheel translates AI into strategic questions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40280" y="2651760"/>
            <a:ext cx="288036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E94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7132321" y="2377440"/>
            <a:ext cx="2743199" cy="106984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4A0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0" y="5236143"/>
            <a:ext cx="1874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B549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69680" y="5669280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6D5B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2761488"/>
            <a:ext cx="1920240" cy="1152144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22392" y="3035808"/>
            <a:ext cx="1316736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150876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7786" y="1581912"/>
            <a:ext cx="2607869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Playing fields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we deploy AI?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2546" y="1307592"/>
            <a:ext cx="2607869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value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value does AI add?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58200" y="150876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71586" y="1581912"/>
            <a:ext cx="2607869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impact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AI pay?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65960" y="480060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79346" y="4873752"/>
            <a:ext cx="2607869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must we build?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52360" y="480060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5746" y="4873752"/>
            <a:ext cx="2607869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adapt?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5961888"/>
            <a:ext cx="9875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wheel to translate a broad AI ambition into five mutually reinforcing choices.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five questions are used here as a bridge from Porter’s activity system to AI deployment choices.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Synthesis: Porter’s concepts become AI strategy design choices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2697480" cy="50292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8001000" cy="50292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concept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AI-era revision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1874520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1874520"/>
            <a:ext cx="8001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1984248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effectiveness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1984248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raises the frontier—but generic tools diffuse quickly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496312"/>
            <a:ext cx="269748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20440" y="2496312"/>
            <a:ext cx="800100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75888" y="2606040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AI belongs becomes part of competitive positioning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118104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20440" y="3118104"/>
            <a:ext cx="8001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3227832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75888" y="3227832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Activities become human–AI–data systems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739896"/>
            <a:ext cx="269748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20440" y="3739896"/>
            <a:ext cx="800100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3849624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888" y="3849624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Automation, explainability, specialization, governance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4361688"/>
            <a:ext cx="2697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20440" y="4361688"/>
            <a:ext cx="8001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471416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75888" y="4471416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Data, models, workflows, people, and governance must reinforce one another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" y="4983480"/>
            <a:ext cx="269748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20440" y="4983480"/>
            <a:ext cx="8001000" cy="5029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5093208"/>
            <a:ext cx="2377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75888" y="5093208"/>
            <a:ext cx="7498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needs a dynamic sensing and updating mechanism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1: Operational effectiveness is still not strategy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8E5E5"/>
          </a:solidFill>
          <a:ln w="12700">
            <a:solidFill>
              <a:srgbClr val="F8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901952"/>
            <a:ext cx="2523744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549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AI adoption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03320" y="2194560"/>
            <a:ext cx="1097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82880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DF1D3"/>
          </a:solidFill>
          <a:ln w="12700">
            <a:solidFill>
              <a:srgbClr val="FDF1D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82235" y="1901952"/>
            <a:ext cx="227137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productivity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35240" y="2194560"/>
            <a:ext cx="109728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15400" y="18288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10498" y="1901952"/>
            <a:ext cx="2187245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imitation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10241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AI-era danger is not that firms fail to improve. It is that they all improve in the same direction.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4892040"/>
            <a:ext cx="9509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Copilots and LLM APIs can be bought by rivals
• Best-practice prompts, workflows, and playbooks diffuse rapidly
• Advantage depends on embedding AI into unique activities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2: Positioning becomes a choice about where AI belongs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asks: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2416" y="1901952"/>
            <a:ext cx="376732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unique position will we occupy?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 paper adds: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1901952"/>
            <a:ext cx="44074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should AI be deployed—and where should it not be?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74920" y="2240280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1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8720" y="37947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61872" y="384962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AI-FIRST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77640" y="379476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50792" y="38496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AI-ASSISTED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379476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4032" y="38496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HUMAN-FIRST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75520" y="37947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48672" y="38496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166360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Positioning now includes a portfolio of activity choices.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3: Activities become intelligent activity systems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1996 activity logic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2743200"/>
            <a:ext cx="0" cy="107899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205740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45413" y="2130552"/>
            <a:ext cx="235549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43000" y="3822192"/>
            <a:ext cx="2560320" cy="786384"/>
          </a:xfrm>
          <a:prstGeom prst="roundRect">
            <a:avLst>
              <a:gd name="adj" fmla="val 6977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5413" y="3895344"/>
            <a:ext cx="235549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0644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AI-era activity logic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26280" y="2148840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2212482"/>
            <a:ext cx="1051560" cy="403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expertise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97296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446520" y="2148840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2212482"/>
            <a:ext cx="1051560" cy="403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17536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8366760" y="2148840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2212482"/>
            <a:ext cx="1051560" cy="403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37776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10287000" y="2148840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32720" y="2212482"/>
            <a:ext cx="1051560" cy="403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2761488"/>
            <a:ext cx="0" cy="94183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06440" y="3730752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34456" y="3803904"/>
            <a:ext cx="312724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Activity System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498080" y="4407408"/>
            <a:ext cx="0" cy="48463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06440" y="4919472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34456" y="4992624"/>
            <a:ext cx="312724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Advantage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activity is no longer just a process; it is a learning loop.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4: AI creates new trade-offs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7981" y="1466698"/>
            <a:ext cx="277611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417320"/>
            <a:ext cx="3886200" cy="41148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0136" y="1466698"/>
            <a:ext cx="363016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judgment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219456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7981" y="2243938"/>
            <a:ext cx="277611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267712"/>
            <a:ext cx="548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32120" y="2194560"/>
            <a:ext cx="3886200" cy="411480"/>
          </a:xfrm>
          <a:prstGeom prst="roundRect">
            <a:avLst>
              <a:gd name="adj" fmla="val 13333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0136" y="2243938"/>
            <a:ext cx="363016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297180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17981" y="3021178"/>
            <a:ext cx="277611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32120" y="2971800"/>
            <a:ext cx="3886200" cy="41148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0136" y="3021178"/>
            <a:ext cx="363016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Specialized model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97280" y="374904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17981" y="3798418"/>
            <a:ext cx="277611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3822192"/>
            <a:ext cx="548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32120" y="3749040"/>
            <a:ext cx="3886200" cy="411480"/>
          </a:xfrm>
          <a:prstGeom prst="roundRect">
            <a:avLst>
              <a:gd name="adj" fmla="val 13333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0136" y="3798418"/>
            <a:ext cx="363016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97280" y="452628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17981" y="4575658"/>
            <a:ext cx="277611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platform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17720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32120" y="4526280"/>
            <a:ext cx="3886200" cy="41148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0136" y="4575658"/>
            <a:ext cx="3630168" cy="31272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experimentation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" y="5623560"/>
            <a:ext cx="100584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549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Porter lesson still applies: saying “yes” to AI everywhere is not strategy.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5: Fit becomes an AI capability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2121408"/>
            <a:ext cx="612648" cy="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2121408"/>
            <a:ext cx="612648" cy="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2121408"/>
            <a:ext cx="612648" cy="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69680" y="2121408"/>
            <a:ext cx="612648" cy="0"/>
          </a:xfrm>
          <a:prstGeom prst="line">
            <a:avLst/>
          </a:prstGeom>
          <a:solidFill>
            <a:srgbClr val="FFFFFF">
              <a:alpha val="0"/>
            </a:srgbClr>
          </a:solidFill>
          <a:ln w="1651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1828800"/>
            <a:ext cx="1508760" cy="585216"/>
          </a:xfrm>
          <a:prstGeom prst="roundRect">
            <a:avLst>
              <a:gd name="adj" fmla="val 9375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" y="1899026"/>
            <a:ext cx="1388059" cy="4447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71800" y="1828800"/>
            <a:ext cx="1508760" cy="585216"/>
          </a:xfrm>
          <a:prstGeom prst="roundRect">
            <a:avLst>
              <a:gd name="adj" fmla="val 9375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32150" y="1899026"/>
            <a:ext cx="1388059" cy="4447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66360" y="1828800"/>
            <a:ext cx="1508760" cy="585216"/>
          </a:xfrm>
          <a:prstGeom prst="roundRect">
            <a:avLst>
              <a:gd name="adj" fmla="val 9375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6710" y="1899026"/>
            <a:ext cx="1388059" cy="4447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60920" y="1828800"/>
            <a:ext cx="1508760" cy="585216"/>
          </a:xfrm>
          <a:prstGeom prst="roundRect">
            <a:avLst>
              <a:gd name="adj" fmla="val 9375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1270" y="1899026"/>
            <a:ext cx="1388059" cy="4447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55480" y="1828800"/>
            <a:ext cx="1508760" cy="585216"/>
          </a:xfrm>
          <a:prstGeom prst="roundRect">
            <a:avLst>
              <a:gd name="adj" fmla="val 9375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15830" y="1899026"/>
            <a:ext cx="1388059" cy="4447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5196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Reinforcing loop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965960" y="4160520"/>
            <a:ext cx="2377440" cy="73152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43400" y="4892040"/>
            <a:ext cx="3474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18120" y="4892040"/>
            <a:ext cx="1371600" cy="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89720" y="4160520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61872" y="4297680"/>
            <a:ext cx="1417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43400" y="5193792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35240" y="519379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59952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process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5806440"/>
            <a:ext cx="101498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advantage comes from the whole system—not the model alone.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→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Revision 6: Strategic continuity needs dynamic sensing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67712" y="2633472"/>
            <a:ext cx="2898648" cy="1335024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08192" y="2633472"/>
            <a:ext cx="0" cy="1335024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48672" y="2633472"/>
            <a:ext cx="0" cy="1335024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2A6F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1987" y="1901952"/>
            <a:ext cx="290230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signals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competitors, customers, regulation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52467" y="1901952"/>
            <a:ext cx="290230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Internal signals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experimentation, adoption, failures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3154680" cy="804672"/>
          </a:xfrm>
          <a:prstGeom prst="roundRect">
            <a:avLst>
              <a:gd name="adj" fmla="val 6818"/>
            </a:avLst>
          </a:prstGeom>
          <a:solidFill>
            <a:srgbClr val="F1EAFE"/>
          </a:solidFill>
          <a:ln w="12700">
            <a:solidFill>
              <a:srgbClr val="F1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92947" y="1901952"/>
            <a:ext cx="290230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signals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models, infrastructure, vendors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77640" y="397764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05656" y="4050792"/>
            <a:ext cx="3995928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update mechanism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fit while technology changes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does not make strategy temporary; it makes fit something leaders must actively maintain.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 from the AI paper: three fitting AI strategies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" y="1386230"/>
            <a:ext cx="3035808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Mobility / train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0175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management in engineering, logistics, production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Cost/price advantage in tenders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3258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08576" y="1386230"/>
            <a:ext cx="3035808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 appliances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30175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AI-enabled robotic kitchen and cleaning devices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Premium customer value and app revenue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13258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03336" y="1386230"/>
            <a:ext cx="3035808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Pharmaceuticals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0175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AI in R&amp;D and rare disease identification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development, premium margins, lower R&amp;D costs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examples show how AI becomes strategic only when deployment, value, economics, implementation, and dynamics fit together.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 drawn from the AI paper’s anonymized cases.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A: Mobility company — AI as cost-positioning support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lens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256" y="1764792"/>
            <a:ext cx="3584448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Tenders are price pressured; advantage comes from a lower-cost activity system.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strategy lens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4709160" cy="960120"/>
          </a:xfrm>
          <a:prstGeom prst="roundRect">
            <a:avLst>
              <a:gd name="adj" fmla="val 5714"/>
            </a:avLst>
          </a:prstGeom>
          <a:solidFill>
            <a:srgbClr val="EAF6FA"/>
          </a:solidFill>
          <a:ln w="12700">
            <a:solidFill>
              <a:srgbClr val="EA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54496" y="1764792"/>
            <a:ext cx="4453128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Generative AI knowledge management improves engineering, logistics, and production decisions.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34640" y="3959352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52160" y="3959352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15400" y="3959352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3427" y="3763670"/>
            <a:ext cx="1850746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knowledge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37033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20947" y="3763670"/>
            <a:ext cx="1850746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planning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370332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0296" y="3763670"/>
            <a:ext cx="1892808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Fewer misalignments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75520" y="37033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41357" y="3763670"/>
            <a:ext cx="1514246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tender price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point: AI is not positioned as a novelty; it reinforces a cost strategy in complex B2G projects.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800" dirty="0"/>
          </a:p>
        </p:txBody>
      </p:sp>
      <p:sp>
        <p:nvSpPr>
          <p:cNvPr id="27" name="Discuss Prompt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Discuss: What happens to Company A’s cost advantage if a rival buys the same knowledge-management tool?</a:t>
            </a:r>
            <a:endParaRPr lang="en-US" sz="720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B: Household appliances — AI as differentiation and customer value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6462" y="1660550"/>
            <a:ext cx="2018995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655064"/>
            <a:ext cx="2331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Devices learn routine kitchen jobs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59982" y="1660550"/>
            <a:ext cx="2018995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0" y="1655064"/>
            <a:ext cx="2331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Ovens, microwaves, refrigerators respond to user preferences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6576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6462" y="3717950"/>
            <a:ext cx="2018995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712464"/>
            <a:ext cx="2331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Dishwashers regulate water and energy use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9982" y="3717950"/>
            <a:ext cx="2018995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Interconnection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0" y="3712464"/>
            <a:ext cx="2331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Devices share data across the home ecosystem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integration: AI changes the product activity system—R&amp;D, product design, data security, cloud services, app ecosystem, branding.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800" dirty="0"/>
          </a:p>
        </p:txBody>
      </p:sp>
      <p:sp>
        <p:nvSpPr>
          <p:cNvPr id="22" name="Discuss Prompt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Discuss: Which of these four features is easiest for a rival to copy, and which is hardest?</a:t>
            </a:r>
            <a:endParaRPr lang="en-US" sz="720" i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C: Pharmaceuticals — AI as R&amp;D acceleration and product innovation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20440" y="1792224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0" y="1792224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1576791"/>
            <a:ext cx="2523744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AI in R&amp;D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1576791"/>
            <a:ext cx="2523744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Fewer drug candidates to trial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10067" y="1576791"/>
            <a:ext cx="2902306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R&amp;D cost + faster time-to-market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20440" y="3438144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23760" y="3438144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31546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6968" y="3222711"/>
            <a:ext cx="2523744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Rare disease identifier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31546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3222711"/>
            <a:ext cx="2523744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 AI product offering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83880" y="31546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10067" y="3222711"/>
            <a:ext cx="2902306" cy="43086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Premium margins + patent defense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102412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trade-off: automate biochemical simulations, but augment humans for interpreting side effects.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800" dirty="0"/>
          </a:p>
        </p:txBody>
      </p:sp>
      <p:sp>
        <p:nvSpPr>
          <p:cNvPr id="26" name="Discuss Prompt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Discuss: Why does patent protection matter more here than in Cases A or B?</a:t>
            </a:r>
            <a:endParaRPr lang="en-US" sz="720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Cautionary example: Gannett and the wrong playing field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0241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 paper notes that Gannett targeted generative AI to strengthen article writing, but many articles still required human context awareness and ideation.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6813" y="3077870"/>
            <a:ext cx="2355494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strength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generation at scale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30175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03013" y="3077870"/>
            <a:ext cx="2355494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demand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context + judgment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0" y="30175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89213" y="3077870"/>
            <a:ext cx="2355494" cy="3822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lesson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2520" y="3657600"/>
            <a:ext cx="2468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deploy AI where it destroys distinctiveness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549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integration: “what not to do” applies to AI deployment.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800" dirty="0"/>
          </a:p>
        </p:txBody>
      </p:sp>
      <p:sp>
        <p:nvSpPr>
          <p:cNvPr id="20" name="Discuss Prompt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Discuss: What question should Gannett have asked before deploying AI here?</a:t>
            </a:r>
            <a:endParaRPr lang="en-US" sz="72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Predictive maintenance — a clean fit with AI task superiority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834640" y="2103120"/>
            <a:ext cx="1051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1051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26880" y="2103120"/>
            <a:ext cx="868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1210" y="1894637"/>
            <a:ext cx="1766621" cy="4169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data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86200" y="18288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77640" y="1894637"/>
            <a:ext cx="2103120" cy="4169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model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23760" y="18288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07885" y="1894637"/>
            <a:ext cx="1934870" cy="4169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forecast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195560" y="18288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6766" y="1894637"/>
            <a:ext cx="1177747" cy="4169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101498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 has task superiority because subtle patterns can be learned from large information flows
• The value proposition is concrete: less downtime, fewer failures, better asset utilization
• The Porter point: advantage depends on linking the model to operations, parts, technicians, and customer promises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800" dirty="0"/>
          </a:p>
        </p:txBody>
      </p:sp>
      <p:sp>
        <p:nvSpPr>
          <p:cNvPr id="21" name="Discuss Prompt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Discuss: Why is the model alone not enough to create advantage here?</a:t>
            </a:r>
            <a:endParaRPr lang="en-US" sz="72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perception turns implementation into strategy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7786" y="1673352"/>
            <a:ext cx="2607869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model 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160020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88306" y="1673352"/>
            <a:ext cx="2607869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understandability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16002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9410" y="1673352"/>
            <a:ext cx="1766621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Adoption risk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contexts require different doctrines: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657600"/>
            <a:ext cx="9966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Company A: experts validate project knowledge outputs; nonexperts verify data correctness
• Company B: users need simple explanations of device behavior
• Company C: experts need to validate chemical simulations and clinical mechanisms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integration: governance is not overhead; it is part of the activity system that makes the strategy workable.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revised definition of strategy for the AI era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is the design of a unique, continually evolving system of human and AI-enabled activities that creates superior customer value through deliberate choices about where intelligence is embedded, how it is governed, and how complementary organizational capabilities reinforce one another.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77240" y="4526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position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4526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067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Human–AI activities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4526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3095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4526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7123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4526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11512" y="45811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adaptation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Classroom exercise: run an AI strategy audit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138074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we deploy AI?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4480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20370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competitive value does it create?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4480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2971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02666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it affect revenue or cost?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4480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384962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data, model, talent, and governance are required?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4480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4617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1832" y="467258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will we monitor AI change over time?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4846320"/>
            <a:ext cx="448056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240" y="507492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6F1E7"/>
          </a:solidFill>
          <a:ln w="12700">
            <a:solidFill>
              <a:srgbClr val="F6F1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20256" y="5148072"/>
            <a:ext cx="413308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one-page activity-system map showing how AI supports a distinctive position.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takeaway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B54949"/>
          </a:solidFill>
          <a:ln w="12700">
            <a:solidFill>
              <a:srgbClr val="B549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6930" y="1810512"/>
            <a:ext cx="2818181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is not automatically strategy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adoption often produces operational convergence.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73736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2A6F97"/>
          </a:solidFill>
          <a:ln w="12700">
            <a:solidFill>
              <a:srgbClr val="2A6F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4530" y="1810512"/>
            <a:ext cx="2818181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becomes strategy through choices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to deploy, what to automate, what to govern, what to avoid.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4E944F"/>
          </a:solidFill>
          <a:ln w="12700">
            <a:solidFill>
              <a:srgbClr val="4E94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2130" y="1810512"/>
            <a:ext cx="2818181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 is the source of durability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Models, data, workflows, people, and governance must reinforce one another.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still matters. AI makes his core question sharper: what will we do differently that rivals cannot easily copy?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6F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 used in this deck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Porter (1996) × Hutzschenreuter &amp; Lämmermann (2025)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readings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0149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Porter, M. E. (1996). “What Is Strategy?” Harvard Business Review.
• Hutzschenreuter, T., &amp; Lämmermann, T. (2025). “What Is Your AI Strategy? Systematically Integrating Self-Learning Technologies into Your Business Strategy.” Academy of Management Perspectives.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41480" y="64739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2492</Words>
  <Application>Microsoft Office PowerPoint</Application>
  <PresentationFormat>Widescreen</PresentationFormat>
  <Paragraphs>393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Strategy in the Age of AI?</dc:title>
  <dc:subject>Integrating AI Strategy with Porter (1996)</dc:subject>
  <dc:creator>OpenAI</dc:creator>
  <cp:lastModifiedBy>Omar Rasid Malik</cp:lastModifiedBy>
  <cp:revision>2</cp:revision>
  <dcterms:created xsi:type="dcterms:W3CDTF">2026-07-17T22:27:58Z</dcterms:created>
  <dcterms:modified xsi:type="dcterms:W3CDTF">2026-07-19T17:33:43Z</dcterms:modified>
</cp:coreProperties>
</file>