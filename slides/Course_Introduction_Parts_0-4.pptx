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21808"/>
            <a:ext cx="12191969" cy="15361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3232" y="841248"/>
            <a:ext cx="1737360" cy="3200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78992"/>
            <a:ext cx="6583680" cy="274320"/>
          </a:xfrm>
          <a:prstGeom prst="rect">
            <a:avLst/>
          </a:prstGeom>
          <a:noFill/>
        </p:spPr>
        <p:txBody>
          <a:bodyPr wrap="square" anchor="t" lIns="0" rIns="0" tIns="0" bIns="0">
            <a:spAutoFit/>
          </a:bodyPr>
          <a:lstStyle/>
          <a:p>
            <a:pPr algn="l"/>
            <a:r>
              <a:rPr sz="1200" b="1" i="0">
                <a:solidFill>
                  <a:srgbClr val="D4A017"/>
                </a:solidFill>
                <a:latin typeface="Times New Roman"/>
              </a:rPr>
              <a:t>MGMT 465 / 665  ·  KETTERING UNIVERSITY  ·  SUMMER 2026</a:t>
            </a:r>
          </a:p>
        </p:txBody>
      </p:sp>
      <p:sp>
        <p:nvSpPr>
          <p:cNvPr id="6" name="TextBox 5"/>
          <p:cNvSpPr txBox="1"/>
          <p:nvPr/>
        </p:nvSpPr>
        <p:spPr>
          <a:xfrm>
            <a:off x="713232" y="1572768"/>
            <a:ext cx="9692640" cy="1828800"/>
          </a:xfrm>
          <a:prstGeom prst="rect">
            <a:avLst/>
          </a:prstGeom>
          <a:noFill/>
        </p:spPr>
        <p:txBody>
          <a:bodyPr wrap="square" anchor="t" lIns="0" rIns="0" tIns="0" bIns="0">
            <a:spAutoFit/>
          </a:bodyPr>
          <a:lstStyle/>
          <a:p>
            <a:pPr algn="l">
              <a:lnSpc>
                <a:spcPct val="100000"/>
              </a:lnSpc>
            </a:pPr>
            <a:r>
              <a:rPr sz="4000" b="1" i="0">
                <a:solidFill>
                  <a:srgbClr val="FFFFFF"/>
                </a:solidFill>
                <a:latin typeface="Times New Roman"/>
              </a:rPr>
              <a:t>Strategic Management</a:t>
            </a:r>
          </a:p>
          <a:p>
            <a:pPr algn="l">
              <a:lnSpc>
                <a:spcPct val="100000"/>
              </a:lnSpc>
            </a:pPr>
            <a:r>
              <a:rPr sz="4000" b="1" i="0">
                <a:solidFill>
                  <a:srgbClr val="FFFFFF"/>
                </a:solidFill>
                <a:latin typeface="Times New Roman"/>
              </a:rPr>
              <a:t>in the Age of Artificial Intelligence</a:t>
            </a:r>
          </a:p>
        </p:txBody>
      </p:sp>
      <p:sp>
        <p:nvSpPr>
          <p:cNvPr id="7" name="TextBox 6"/>
          <p:cNvSpPr txBox="1"/>
          <p:nvPr/>
        </p:nvSpPr>
        <p:spPr>
          <a:xfrm>
            <a:off x="713232" y="3218688"/>
            <a:ext cx="8961120" cy="365760"/>
          </a:xfrm>
          <a:prstGeom prst="rect">
            <a:avLst/>
          </a:prstGeom>
          <a:noFill/>
        </p:spPr>
        <p:txBody>
          <a:bodyPr wrap="square" anchor="t" lIns="0" rIns="0" tIns="0" bIns="0">
            <a:spAutoFit/>
          </a:bodyPr>
          <a:lstStyle/>
          <a:p>
            <a:pPr algn="l"/>
            <a:r>
              <a:rPr sz="2100" b="0" i="1">
                <a:solidFill>
                  <a:srgbClr val="C9D2DE"/>
                </a:solidFill>
                <a:latin typeface="Times New Roman"/>
              </a:rPr>
              <a:t>Course Introduction  —  Parts 0 through IV</a:t>
            </a:r>
          </a:p>
        </p:txBody>
      </p:sp>
      <p:sp>
        <p:nvSpPr>
          <p:cNvPr id="8" name="Rectangle 7"/>
          <p:cNvSpPr/>
          <p:nvPr/>
        </p:nvSpPr>
        <p:spPr>
          <a:xfrm>
            <a:off x="713232" y="3840480"/>
            <a:ext cx="1865376" cy="3840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3890772"/>
            <a:ext cx="1865376" cy="292608"/>
          </a:xfrm>
          <a:prstGeom prst="rect">
            <a:avLst/>
          </a:prstGeom>
          <a:noFill/>
        </p:spPr>
        <p:txBody>
          <a:bodyPr wrap="square" anchor="t" lIns="0" rIns="0" tIns="0" bIns="0">
            <a:spAutoFit/>
          </a:bodyPr>
          <a:lstStyle/>
          <a:p>
            <a:pPr algn="ctr"/>
            <a:r>
              <a:rPr sz="1300" b="1" i="0">
                <a:solidFill>
                  <a:srgbClr val="10233F"/>
                </a:solidFill>
                <a:latin typeface="Times New Roman"/>
              </a:rPr>
              <a:t>PHILOSOPHY</a:t>
            </a:r>
          </a:p>
        </p:txBody>
      </p:sp>
      <p:sp>
        <p:nvSpPr>
          <p:cNvPr id="10" name="Rectangle 9"/>
          <p:cNvSpPr/>
          <p:nvPr/>
        </p:nvSpPr>
        <p:spPr>
          <a:xfrm>
            <a:off x="2779776" y="3840480"/>
            <a:ext cx="2020824" cy="3840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9776" y="3890772"/>
            <a:ext cx="2020824" cy="292608"/>
          </a:xfrm>
          <a:prstGeom prst="rect">
            <a:avLst/>
          </a:prstGeom>
          <a:noFill/>
        </p:spPr>
        <p:txBody>
          <a:bodyPr wrap="square" anchor="t" lIns="0" rIns="0" tIns="0" bIns="0">
            <a:spAutoFit/>
          </a:bodyPr>
          <a:lstStyle/>
          <a:p>
            <a:pPr algn="ctr"/>
            <a:r>
              <a:rPr sz="1300" b="1" i="0">
                <a:solidFill>
                  <a:srgbClr val="FFFFFF"/>
                </a:solidFill>
                <a:latin typeface="Times New Roman"/>
              </a:rPr>
              <a:t>FOUNDATIONS</a:t>
            </a:r>
          </a:p>
        </p:txBody>
      </p:sp>
      <p:sp>
        <p:nvSpPr>
          <p:cNvPr id="12" name="Rectangle 11"/>
          <p:cNvSpPr/>
          <p:nvPr/>
        </p:nvSpPr>
        <p:spPr>
          <a:xfrm>
            <a:off x="5001768" y="3840480"/>
            <a:ext cx="1243584" cy="3840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890772"/>
            <a:ext cx="1243584" cy="292608"/>
          </a:xfrm>
          <a:prstGeom prst="rect">
            <a:avLst/>
          </a:prstGeom>
          <a:noFill/>
        </p:spPr>
        <p:txBody>
          <a:bodyPr wrap="square" anchor="t" lIns="0" rIns="0" tIns="0" bIns="0">
            <a:spAutoFit/>
          </a:bodyPr>
          <a:lstStyle/>
          <a:p>
            <a:pPr algn="ctr"/>
            <a:r>
              <a:rPr sz="1300" b="1" i="0">
                <a:solidFill>
                  <a:srgbClr val="FFFFFF"/>
                </a:solidFill>
                <a:latin typeface="Times New Roman"/>
              </a:rPr>
              <a:t>DESIGN</a:t>
            </a:r>
          </a:p>
        </p:txBody>
      </p:sp>
      <p:sp>
        <p:nvSpPr>
          <p:cNvPr id="14" name="Rectangle 13"/>
          <p:cNvSpPr/>
          <p:nvPr/>
        </p:nvSpPr>
        <p:spPr>
          <a:xfrm>
            <a:off x="6446520" y="3840480"/>
            <a:ext cx="1709928" cy="3840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890772"/>
            <a:ext cx="1709928" cy="292608"/>
          </a:xfrm>
          <a:prstGeom prst="rect">
            <a:avLst/>
          </a:prstGeom>
          <a:noFill/>
        </p:spPr>
        <p:txBody>
          <a:bodyPr wrap="square" anchor="t" lIns="0" rIns="0" tIns="0" bIns="0">
            <a:spAutoFit/>
          </a:bodyPr>
          <a:lstStyle/>
          <a:p>
            <a:pPr algn="ctr"/>
            <a:r>
              <a:rPr sz="1300" b="1" i="0">
                <a:solidFill>
                  <a:srgbClr val="FFFFFF"/>
                </a:solidFill>
                <a:latin typeface="Times New Roman"/>
              </a:rPr>
              <a:t>THE CANON</a:t>
            </a:r>
          </a:p>
        </p:txBody>
      </p:sp>
      <p:sp>
        <p:nvSpPr>
          <p:cNvPr id="16" name="Rectangle 15"/>
          <p:cNvSpPr/>
          <p:nvPr/>
        </p:nvSpPr>
        <p:spPr>
          <a:xfrm>
            <a:off x="8357616" y="3840480"/>
            <a:ext cx="3108960" cy="3840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6" y="3890772"/>
            <a:ext cx="3108960" cy="292608"/>
          </a:xfrm>
          <a:prstGeom prst="rect">
            <a:avLst/>
          </a:prstGeom>
          <a:noFill/>
        </p:spPr>
        <p:txBody>
          <a:bodyPr wrap="square" anchor="t" lIns="0" rIns="0" tIns="0" bIns="0">
            <a:spAutoFit/>
          </a:bodyPr>
          <a:lstStyle/>
          <a:p>
            <a:pPr algn="ctr"/>
            <a:r>
              <a:rPr sz="1300" b="1" i="0">
                <a:solidFill>
                  <a:srgbClr val="10233F"/>
                </a:solidFill>
                <a:latin typeface="Times New Roman"/>
              </a:rPr>
              <a:t>THE AISE FRAMEWORK</a:t>
            </a:r>
          </a:p>
        </p:txBody>
      </p:sp>
      <p:sp>
        <p:nvSpPr>
          <p:cNvPr id="18" name="TextBox 17"/>
          <p:cNvSpPr txBox="1"/>
          <p:nvPr/>
        </p:nvSpPr>
        <p:spPr>
          <a:xfrm>
            <a:off x="713232" y="5559552"/>
            <a:ext cx="10241280" cy="548640"/>
          </a:xfrm>
          <a:prstGeom prst="rect">
            <a:avLst/>
          </a:prstGeom>
          <a:noFill/>
        </p:spPr>
        <p:txBody>
          <a:bodyPr wrap="square" anchor="t" lIns="0" rIns="0" tIns="0" bIns="0">
            <a:spAutoFit/>
          </a:bodyPr>
          <a:lstStyle/>
          <a:p>
            <a:pPr algn="l"/>
            <a:r>
              <a:rPr sz="1800" b="1" i="0">
                <a:solidFill>
                  <a:srgbClr val="111827"/>
                </a:solidFill>
                <a:latin typeface="Times New Roman"/>
              </a:rPr>
              <a:t>Classical strategy remains essential. Artificial intelligence changes the assumptions beneath it.</a:t>
            </a:r>
          </a:p>
        </p:txBody>
      </p:sp>
      <p:sp>
        <p:nvSpPr>
          <p:cNvPr id="19" name="TextBox 18"/>
          <p:cNvSpPr txBox="1"/>
          <p:nvPr/>
        </p:nvSpPr>
        <p:spPr>
          <a:xfrm>
            <a:off x="713232" y="6199632"/>
            <a:ext cx="10241280" cy="274320"/>
          </a:xfrm>
          <a:prstGeom prst="rect">
            <a:avLst/>
          </a:prstGeom>
          <a:noFill/>
        </p:spPr>
        <p:txBody>
          <a:bodyPr wrap="square" anchor="t" lIns="0" rIns="0" tIns="0" bIns="0">
            <a:spAutoFit/>
          </a:bodyPr>
          <a:lstStyle/>
          <a:p>
            <a:pPr algn="l"/>
            <a:r>
              <a:rPr sz="1100" b="0" i="0">
                <a:solidFill>
                  <a:srgbClr val="4B5563"/>
                </a:solidFill>
                <a:latin typeface="Times New Roman"/>
              </a:rPr>
              <a:t>Omar R. Malik, Ph.D.  ·  Monday &amp; Thursday, 1:20–3:25 p.m.  ·  AB 3336  ·  Office hours Mon/Thu 12:20–1:15 p.m., AB 4304C</a:t>
            </a:r>
          </a:p>
        </p:txBody>
      </p:sp>
      <p:sp>
        <p:nvSpPr>
          <p:cNvPr id="20" name="TextBox 19"/>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D4A017"/>
                </a:solidFill>
                <a:latin typeface="Times New Roman"/>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COURSE INTRODUCTION</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What this introduction covers</a:t>
            </a:r>
          </a:p>
        </p:txBody>
      </p:sp>
      <p:sp>
        <p:nvSpPr>
          <p:cNvPr id="7" name="TextBox 6"/>
          <p:cNvSpPr txBox="1"/>
          <p:nvPr/>
        </p:nvSpPr>
        <p:spPr>
          <a:xfrm>
            <a:off x="502920" y="1106424"/>
            <a:ext cx="10698480" cy="274320"/>
          </a:xfrm>
          <a:prstGeom prst="rect">
            <a:avLst/>
          </a:prstGeom>
          <a:noFill/>
        </p:spPr>
        <p:txBody>
          <a:bodyPr wrap="square" anchor="t" lIns="0" rIns="0" tIns="0" bIns="0">
            <a:spAutoFit/>
          </a:bodyPr>
          <a:lstStyle/>
          <a:p>
            <a:pPr algn="l"/>
            <a:r>
              <a:rPr sz="1250" b="0" i="1">
                <a:solidFill>
                  <a:srgbClr val="4B5563"/>
                </a:solidFill>
                <a:latin typeface="Times New Roman"/>
              </a:rPr>
              <a:t>Five parts, one argument: strategy endures, its assumptions do not.</a:t>
            </a:r>
          </a:p>
        </p:txBody>
      </p:sp>
      <p:sp>
        <p:nvSpPr>
          <p:cNvPr id="8" name="Rectangle 7"/>
          <p:cNvSpPr/>
          <p:nvPr/>
        </p:nvSpPr>
        <p:spPr>
          <a:xfrm>
            <a:off x="868680" y="1645920"/>
            <a:ext cx="1078992" cy="45720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60220"/>
            <a:ext cx="1078992" cy="274320"/>
          </a:xfrm>
          <a:prstGeom prst="rect">
            <a:avLst/>
          </a:prstGeom>
          <a:noFill/>
        </p:spPr>
        <p:txBody>
          <a:bodyPr wrap="square" anchor="t" lIns="0" rIns="0" tIns="0" bIns="0">
            <a:spAutoFit/>
          </a:bodyPr>
          <a:lstStyle/>
          <a:p>
            <a:pPr algn="ctr"/>
            <a:r>
              <a:rPr sz="1150" b="1" i="0">
                <a:solidFill>
                  <a:srgbClr val="FFFFFF"/>
                </a:solidFill>
                <a:latin typeface="Times New Roman"/>
              </a:rPr>
              <a:t>PART 0</a:t>
            </a:r>
          </a:p>
        </p:txBody>
      </p:sp>
      <p:sp>
        <p:nvSpPr>
          <p:cNvPr id="10" name="TextBox 9"/>
          <p:cNvSpPr txBox="1"/>
          <p:nvPr/>
        </p:nvSpPr>
        <p:spPr>
          <a:xfrm>
            <a:off x="2103120" y="1673352"/>
            <a:ext cx="3383280" cy="292608"/>
          </a:xfrm>
          <a:prstGeom prst="rect">
            <a:avLst/>
          </a:prstGeom>
          <a:noFill/>
        </p:spPr>
        <p:txBody>
          <a:bodyPr wrap="square" anchor="t" lIns="0" rIns="0" tIns="0" bIns="0">
            <a:spAutoFit/>
          </a:bodyPr>
          <a:lstStyle/>
          <a:p>
            <a:pPr algn="l"/>
            <a:r>
              <a:rPr sz="1550" b="1" i="0">
                <a:solidFill>
                  <a:srgbClr val="111827"/>
                </a:solidFill>
                <a:latin typeface="Times New Roman"/>
              </a:rPr>
              <a:t>Course Philosophy</a:t>
            </a:r>
          </a:p>
        </p:txBody>
      </p:sp>
      <p:sp>
        <p:nvSpPr>
          <p:cNvPr id="11" name="TextBox 10"/>
          <p:cNvSpPr txBox="1"/>
          <p:nvPr/>
        </p:nvSpPr>
        <p:spPr>
          <a:xfrm>
            <a:off x="5623560" y="1709928"/>
            <a:ext cx="5669280" cy="36576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Why the course exists, the central question, and the shift from student to scholar</a:t>
            </a:r>
          </a:p>
        </p:txBody>
      </p:sp>
      <p:sp>
        <p:nvSpPr>
          <p:cNvPr id="12" name="Rectangle 11"/>
          <p:cNvSpPr/>
          <p:nvPr/>
        </p:nvSpPr>
        <p:spPr>
          <a:xfrm>
            <a:off x="868680" y="2212848"/>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2468880"/>
            <a:ext cx="1078992" cy="45720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583180"/>
            <a:ext cx="1078992" cy="274320"/>
          </a:xfrm>
          <a:prstGeom prst="rect">
            <a:avLst/>
          </a:prstGeom>
          <a:noFill/>
        </p:spPr>
        <p:txBody>
          <a:bodyPr wrap="square" anchor="t" lIns="0" rIns="0" tIns="0" bIns="0">
            <a:spAutoFit/>
          </a:bodyPr>
          <a:lstStyle/>
          <a:p>
            <a:pPr algn="ctr"/>
            <a:r>
              <a:rPr sz="1150" b="1" i="0">
                <a:solidFill>
                  <a:srgbClr val="FFFFFF"/>
                </a:solidFill>
                <a:latin typeface="Times New Roman"/>
              </a:rPr>
              <a:t>PART I</a:t>
            </a:r>
          </a:p>
        </p:txBody>
      </p:sp>
      <p:sp>
        <p:nvSpPr>
          <p:cNvPr id="15" name="TextBox 14"/>
          <p:cNvSpPr txBox="1"/>
          <p:nvPr/>
        </p:nvSpPr>
        <p:spPr>
          <a:xfrm>
            <a:off x="2103120" y="2496312"/>
            <a:ext cx="3383280" cy="292608"/>
          </a:xfrm>
          <a:prstGeom prst="rect">
            <a:avLst/>
          </a:prstGeom>
          <a:noFill/>
        </p:spPr>
        <p:txBody>
          <a:bodyPr wrap="square" anchor="t" lIns="0" rIns="0" tIns="0" bIns="0">
            <a:spAutoFit/>
          </a:bodyPr>
          <a:lstStyle/>
          <a:p>
            <a:pPr algn="l"/>
            <a:r>
              <a:rPr sz="1550" b="1" i="0">
                <a:solidFill>
                  <a:srgbClr val="111827"/>
                </a:solidFill>
                <a:latin typeface="Times New Roman"/>
              </a:rPr>
              <a:t>Course Foundations</a:t>
            </a:r>
          </a:p>
        </p:txBody>
      </p:sp>
      <p:sp>
        <p:nvSpPr>
          <p:cNvPr id="16" name="TextBox 15"/>
          <p:cNvSpPr txBox="1"/>
          <p:nvPr/>
        </p:nvSpPr>
        <p:spPr>
          <a:xfrm>
            <a:off x="5623560" y="2532888"/>
            <a:ext cx="5669280" cy="36576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The educational philosophy, weekly rhythm, and signature learning experience</a:t>
            </a:r>
          </a:p>
        </p:txBody>
      </p:sp>
      <p:sp>
        <p:nvSpPr>
          <p:cNvPr id="17" name="Rectangle 16"/>
          <p:cNvSpPr/>
          <p:nvPr/>
        </p:nvSpPr>
        <p:spPr>
          <a:xfrm>
            <a:off x="868680" y="3035808"/>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291840"/>
            <a:ext cx="1078992" cy="45720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06140"/>
            <a:ext cx="1078992" cy="274320"/>
          </a:xfrm>
          <a:prstGeom prst="rect">
            <a:avLst/>
          </a:prstGeom>
          <a:noFill/>
        </p:spPr>
        <p:txBody>
          <a:bodyPr wrap="square" anchor="t" lIns="0" rIns="0" tIns="0" bIns="0">
            <a:spAutoFit/>
          </a:bodyPr>
          <a:lstStyle/>
          <a:p>
            <a:pPr algn="ctr"/>
            <a:r>
              <a:rPr sz="1150" b="1" i="0">
                <a:solidFill>
                  <a:srgbClr val="FFFFFF"/>
                </a:solidFill>
                <a:latin typeface="Times New Roman"/>
              </a:rPr>
              <a:t>PART II</a:t>
            </a:r>
          </a:p>
        </p:txBody>
      </p:sp>
      <p:sp>
        <p:nvSpPr>
          <p:cNvPr id="20" name="TextBox 19"/>
          <p:cNvSpPr txBox="1"/>
          <p:nvPr/>
        </p:nvSpPr>
        <p:spPr>
          <a:xfrm>
            <a:off x="2103120" y="3319272"/>
            <a:ext cx="3383280" cy="292608"/>
          </a:xfrm>
          <a:prstGeom prst="rect">
            <a:avLst/>
          </a:prstGeom>
          <a:noFill/>
        </p:spPr>
        <p:txBody>
          <a:bodyPr wrap="square" anchor="t" lIns="0" rIns="0" tIns="0" bIns="0">
            <a:spAutoFit/>
          </a:bodyPr>
          <a:lstStyle/>
          <a:p>
            <a:pPr algn="l"/>
            <a:r>
              <a:rPr sz="1550" b="1" i="0">
                <a:solidFill>
                  <a:srgbClr val="111827"/>
                </a:solidFill>
                <a:latin typeface="Times New Roman"/>
              </a:rPr>
              <a:t>Course Design</a:t>
            </a:r>
          </a:p>
        </p:txBody>
      </p:sp>
      <p:sp>
        <p:nvSpPr>
          <p:cNvPr id="21" name="TextBox 20"/>
          <p:cNvSpPr txBox="1"/>
          <p:nvPr/>
        </p:nvSpPr>
        <p:spPr>
          <a:xfrm>
            <a:off x="5623560" y="3355848"/>
            <a:ext cx="5669280" cy="36576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Objectives, learning outcomes, assessment, and the ten-week progression</a:t>
            </a:r>
          </a:p>
        </p:txBody>
      </p:sp>
      <p:sp>
        <p:nvSpPr>
          <p:cNvPr id="22" name="Rectangle 21"/>
          <p:cNvSpPr/>
          <p:nvPr/>
        </p:nvSpPr>
        <p:spPr>
          <a:xfrm>
            <a:off x="868680" y="3858768"/>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4114800"/>
            <a:ext cx="1078992" cy="45720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229100"/>
            <a:ext cx="1078992" cy="274320"/>
          </a:xfrm>
          <a:prstGeom prst="rect">
            <a:avLst/>
          </a:prstGeom>
          <a:noFill/>
        </p:spPr>
        <p:txBody>
          <a:bodyPr wrap="square" anchor="t" lIns="0" rIns="0" tIns="0" bIns="0">
            <a:spAutoFit/>
          </a:bodyPr>
          <a:lstStyle/>
          <a:p>
            <a:pPr algn="ctr"/>
            <a:r>
              <a:rPr sz="1150" b="1" i="0">
                <a:solidFill>
                  <a:srgbClr val="FFFFFF"/>
                </a:solidFill>
                <a:latin typeface="Times New Roman"/>
              </a:rPr>
              <a:t>PART III</a:t>
            </a:r>
          </a:p>
        </p:txBody>
      </p:sp>
      <p:sp>
        <p:nvSpPr>
          <p:cNvPr id="25" name="TextBox 24"/>
          <p:cNvSpPr txBox="1"/>
          <p:nvPr/>
        </p:nvSpPr>
        <p:spPr>
          <a:xfrm>
            <a:off x="2103120" y="4142232"/>
            <a:ext cx="3383280" cy="292608"/>
          </a:xfrm>
          <a:prstGeom prst="rect">
            <a:avLst/>
          </a:prstGeom>
          <a:noFill/>
        </p:spPr>
        <p:txBody>
          <a:bodyPr wrap="square" anchor="t" lIns="0" rIns="0" tIns="0" bIns="0">
            <a:spAutoFit/>
          </a:bodyPr>
          <a:lstStyle/>
          <a:p>
            <a:pPr algn="l"/>
            <a:r>
              <a:rPr sz="1550" b="1" i="0">
                <a:solidFill>
                  <a:srgbClr val="111827"/>
                </a:solidFill>
                <a:latin typeface="Times New Roman"/>
              </a:rPr>
              <a:t>Intellectual Foundations</a:t>
            </a:r>
          </a:p>
        </p:txBody>
      </p:sp>
      <p:sp>
        <p:nvSpPr>
          <p:cNvPr id="26" name="TextBox 25"/>
          <p:cNvSpPr txBox="1"/>
          <p:nvPr/>
        </p:nvSpPr>
        <p:spPr>
          <a:xfrm>
            <a:off x="5623560" y="4178808"/>
            <a:ext cx="5669280" cy="36576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Two canons in dialogue — classical strategy and contemporary AI research</a:t>
            </a:r>
          </a:p>
        </p:txBody>
      </p:sp>
      <p:sp>
        <p:nvSpPr>
          <p:cNvPr id="27" name="Rectangle 26"/>
          <p:cNvSpPr/>
          <p:nvPr/>
        </p:nvSpPr>
        <p:spPr>
          <a:xfrm>
            <a:off x="868680" y="4681728"/>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8680" y="4937760"/>
            <a:ext cx="1078992" cy="45720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052060"/>
            <a:ext cx="1078992" cy="274320"/>
          </a:xfrm>
          <a:prstGeom prst="rect">
            <a:avLst/>
          </a:prstGeom>
          <a:noFill/>
        </p:spPr>
        <p:txBody>
          <a:bodyPr wrap="square" anchor="t" lIns="0" rIns="0" tIns="0" bIns="0">
            <a:spAutoFit/>
          </a:bodyPr>
          <a:lstStyle/>
          <a:p>
            <a:pPr algn="ctr"/>
            <a:r>
              <a:rPr sz="1150" b="1" i="0">
                <a:solidFill>
                  <a:srgbClr val="FFFFFF"/>
                </a:solidFill>
                <a:latin typeface="Times New Roman"/>
              </a:rPr>
              <a:t>PART IV</a:t>
            </a:r>
          </a:p>
        </p:txBody>
      </p:sp>
      <p:sp>
        <p:nvSpPr>
          <p:cNvPr id="30" name="TextBox 29"/>
          <p:cNvSpPr txBox="1"/>
          <p:nvPr/>
        </p:nvSpPr>
        <p:spPr>
          <a:xfrm>
            <a:off x="2103120" y="4965192"/>
            <a:ext cx="3383280" cy="292608"/>
          </a:xfrm>
          <a:prstGeom prst="rect">
            <a:avLst/>
          </a:prstGeom>
          <a:noFill/>
        </p:spPr>
        <p:txBody>
          <a:bodyPr wrap="square" anchor="t" lIns="0" rIns="0" tIns="0" bIns="0">
            <a:spAutoFit/>
          </a:bodyPr>
          <a:lstStyle/>
          <a:p>
            <a:pPr algn="l"/>
            <a:r>
              <a:rPr sz="1550" b="1" i="0">
                <a:solidFill>
                  <a:srgbClr val="111827"/>
                </a:solidFill>
                <a:latin typeface="Times New Roman"/>
              </a:rPr>
              <a:t>The AISE Framework</a:t>
            </a:r>
          </a:p>
        </p:txBody>
      </p:sp>
      <p:sp>
        <p:nvSpPr>
          <p:cNvPr id="31" name="TextBox 30"/>
          <p:cNvSpPr txBox="1"/>
          <p:nvPr/>
        </p:nvSpPr>
        <p:spPr>
          <a:xfrm>
            <a:off x="5623560" y="5001768"/>
            <a:ext cx="5669280" cy="36576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A seven-stage executive process that organizes every activity in the course</a:t>
            </a:r>
          </a:p>
        </p:txBody>
      </p:sp>
      <p:sp>
        <p:nvSpPr>
          <p:cNvPr id="32" name="Rectangle 31"/>
          <p:cNvSpPr/>
          <p:nvPr/>
        </p:nvSpPr>
        <p:spPr>
          <a:xfrm>
            <a:off x="868680" y="5504688"/>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8680" y="5925312"/>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 y="5925312"/>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One question runs through all five: how should strategic management evolve in the age of artificial intelligence?</a:t>
            </a:r>
          </a:p>
        </p:txBody>
      </p:sp>
      <p:sp>
        <p:nvSpPr>
          <p:cNvPr id="35" name="TextBox 34"/>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2</a:t>
            </a:r>
          </a:p>
        </p:txBody>
      </p:sp>
      <p:sp>
        <p:nvSpPr>
          <p:cNvPr id="36" name="TextBox 35"/>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0 · COURSE PHILOSOPHY</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Every technological revolution reshapes management</a:t>
            </a:r>
          </a:p>
        </p:txBody>
      </p:sp>
      <p:sp>
        <p:nvSpPr>
          <p:cNvPr id="7" name="Rectangle 6"/>
          <p:cNvSpPr/>
          <p:nvPr/>
        </p:nvSpPr>
        <p:spPr>
          <a:xfrm>
            <a:off x="868680" y="1444752"/>
            <a:ext cx="1901952" cy="74980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444752"/>
            <a:ext cx="1755648" cy="749808"/>
          </a:xfrm>
          <a:prstGeom prst="rect">
            <a:avLst/>
          </a:prstGeom>
          <a:noFill/>
        </p:spPr>
        <p:txBody>
          <a:bodyPr wrap="square" anchor="ctr" lIns="0" rIns="0" tIns="0" bIns="0">
            <a:spAutoFit/>
          </a:bodyPr>
          <a:lstStyle/>
          <a:p>
            <a:pPr algn="ctr">
              <a:lnSpc>
                <a:spcPct val="105000"/>
              </a:lnSpc>
            </a:pPr>
            <a:r>
              <a:rPr sz="1200" b="1" i="0">
                <a:solidFill>
                  <a:srgbClr val="FFFFFF"/>
                </a:solidFill>
                <a:latin typeface="Times New Roman"/>
              </a:rPr>
              <a:t>Industrial
Revolution</a:t>
            </a:r>
          </a:p>
        </p:txBody>
      </p:sp>
      <p:sp>
        <p:nvSpPr>
          <p:cNvPr id="9" name="TextBox 8"/>
          <p:cNvSpPr txBox="1"/>
          <p:nvPr/>
        </p:nvSpPr>
        <p:spPr>
          <a:xfrm>
            <a:off x="2770632" y="1444752"/>
            <a:ext cx="237744" cy="749808"/>
          </a:xfrm>
          <a:prstGeom prst="rect">
            <a:avLst/>
          </a:prstGeom>
          <a:noFill/>
        </p:spPr>
        <p:txBody>
          <a:bodyPr wrap="square" anchor="ctr" lIns="0" rIns="0" tIns="0" bIns="0">
            <a:spAutoFit/>
          </a:bodyPr>
          <a:lstStyle/>
          <a:p>
            <a:pPr algn="ctr"/>
            <a:r>
              <a:rPr sz="1300" b="1" i="0">
                <a:solidFill>
                  <a:srgbClr val="D4A017"/>
                </a:solidFill>
                <a:latin typeface="Times New Roman"/>
              </a:rPr>
              <a:t>❯</a:t>
            </a:r>
          </a:p>
        </p:txBody>
      </p:sp>
      <p:sp>
        <p:nvSpPr>
          <p:cNvPr id="10" name="Rectangle 9"/>
          <p:cNvSpPr/>
          <p:nvPr/>
        </p:nvSpPr>
        <p:spPr>
          <a:xfrm>
            <a:off x="3008376" y="1444752"/>
            <a:ext cx="1901952" cy="74980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1528" y="1444752"/>
            <a:ext cx="1755648" cy="749808"/>
          </a:xfrm>
          <a:prstGeom prst="rect">
            <a:avLst/>
          </a:prstGeom>
          <a:noFill/>
        </p:spPr>
        <p:txBody>
          <a:bodyPr wrap="square" anchor="ctr" lIns="0" rIns="0" tIns="0" bIns="0">
            <a:spAutoFit/>
          </a:bodyPr>
          <a:lstStyle/>
          <a:p>
            <a:pPr algn="ctr">
              <a:lnSpc>
                <a:spcPct val="105000"/>
              </a:lnSpc>
            </a:pPr>
            <a:r>
              <a:rPr sz="1200" b="1" i="0">
                <a:solidFill>
                  <a:srgbClr val="FFFFFF"/>
                </a:solidFill>
                <a:latin typeface="Times New Roman"/>
              </a:rPr>
              <a:t>Electrification</a:t>
            </a:r>
          </a:p>
        </p:txBody>
      </p:sp>
      <p:sp>
        <p:nvSpPr>
          <p:cNvPr id="12" name="TextBox 11"/>
          <p:cNvSpPr txBox="1"/>
          <p:nvPr/>
        </p:nvSpPr>
        <p:spPr>
          <a:xfrm>
            <a:off x="4910328" y="1444752"/>
            <a:ext cx="237744" cy="749808"/>
          </a:xfrm>
          <a:prstGeom prst="rect">
            <a:avLst/>
          </a:prstGeom>
          <a:noFill/>
        </p:spPr>
        <p:txBody>
          <a:bodyPr wrap="square" anchor="ctr" lIns="0" rIns="0" tIns="0" bIns="0">
            <a:spAutoFit/>
          </a:bodyPr>
          <a:lstStyle/>
          <a:p>
            <a:pPr algn="ctr"/>
            <a:r>
              <a:rPr sz="1300" b="1" i="0">
                <a:solidFill>
                  <a:srgbClr val="D4A017"/>
                </a:solidFill>
                <a:latin typeface="Times New Roman"/>
              </a:rPr>
              <a:t>❯</a:t>
            </a:r>
          </a:p>
        </p:txBody>
      </p:sp>
      <p:sp>
        <p:nvSpPr>
          <p:cNvPr id="13" name="Rectangle 12"/>
          <p:cNvSpPr/>
          <p:nvPr/>
        </p:nvSpPr>
        <p:spPr>
          <a:xfrm>
            <a:off x="5148072" y="1444752"/>
            <a:ext cx="1901952" cy="74980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1444752"/>
            <a:ext cx="1755648" cy="749808"/>
          </a:xfrm>
          <a:prstGeom prst="rect">
            <a:avLst/>
          </a:prstGeom>
          <a:noFill/>
        </p:spPr>
        <p:txBody>
          <a:bodyPr wrap="square" anchor="ctr" lIns="0" rIns="0" tIns="0" bIns="0">
            <a:spAutoFit/>
          </a:bodyPr>
          <a:lstStyle/>
          <a:p>
            <a:pPr algn="ctr">
              <a:lnSpc>
                <a:spcPct val="105000"/>
              </a:lnSpc>
            </a:pPr>
            <a:r>
              <a:rPr sz="1200" b="1" i="0">
                <a:solidFill>
                  <a:srgbClr val="FFFFFF"/>
                </a:solidFill>
                <a:latin typeface="Times New Roman"/>
              </a:rPr>
              <a:t>The Internet</a:t>
            </a:r>
          </a:p>
        </p:txBody>
      </p:sp>
      <p:sp>
        <p:nvSpPr>
          <p:cNvPr id="15" name="TextBox 14"/>
          <p:cNvSpPr txBox="1"/>
          <p:nvPr/>
        </p:nvSpPr>
        <p:spPr>
          <a:xfrm>
            <a:off x="7050024" y="1444752"/>
            <a:ext cx="237744" cy="749808"/>
          </a:xfrm>
          <a:prstGeom prst="rect">
            <a:avLst/>
          </a:prstGeom>
          <a:noFill/>
        </p:spPr>
        <p:txBody>
          <a:bodyPr wrap="square" anchor="ctr" lIns="0" rIns="0" tIns="0" bIns="0">
            <a:spAutoFit/>
          </a:bodyPr>
          <a:lstStyle/>
          <a:p>
            <a:pPr algn="ctr"/>
            <a:r>
              <a:rPr sz="1300" b="1" i="0">
                <a:solidFill>
                  <a:srgbClr val="D4A017"/>
                </a:solidFill>
                <a:latin typeface="Times New Roman"/>
              </a:rPr>
              <a:t>❯</a:t>
            </a:r>
          </a:p>
        </p:txBody>
      </p:sp>
      <p:sp>
        <p:nvSpPr>
          <p:cNvPr id="16" name="Rectangle 15"/>
          <p:cNvSpPr/>
          <p:nvPr/>
        </p:nvSpPr>
        <p:spPr>
          <a:xfrm>
            <a:off x="7287768" y="1444752"/>
            <a:ext cx="1901952" cy="74980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19" y="1444752"/>
            <a:ext cx="1755648" cy="749808"/>
          </a:xfrm>
          <a:prstGeom prst="rect">
            <a:avLst/>
          </a:prstGeom>
          <a:noFill/>
        </p:spPr>
        <p:txBody>
          <a:bodyPr wrap="square" anchor="ctr" lIns="0" rIns="0" tIns="0" bIns="0">
            <a:spAutoFit/>
          </a:bodyPr>
          <a:lstStyle/>
          <a:p>
            <a:pPr algn="ctr">
              <a:lnSpc>
                <a:spcPct val="105000"/>
              </a:lnSpc>
            </a:pPr>
            <a:r>
              <a:rPr sz="1200" b="1" i="0">
                <a:solidFill>
                  <a:srgbClr val="FFFFFF"/>
                </a:solidFill>
                <a:latin typeface="Times New Roman"/>
              </a:rPr>
              <a:t>Cloud
Computing</a:t>
            </a:r>
          </a:p>
        </p:txBody>
      </p:sp>
      <p:sp>
        <p:nvSpPr>
          <p:cNvPr id="18" name="TextBox 17"/>
          <p:cNvSpPr txBox="1"/>
          <p:nvPr/>
        </p:nvSpPr>
        <p:spPr>
          <a:xfrm>
            <a:off x="9189720" y="1444752"/>
            <a:ext cx="237744" cy="749808"/>
          </a:xfrm>
          <a:prstGeom prst="rect">
            <a:avLst/>
          </a:prstGeom>
          <a:noFill/>
        </p:spPr>
        <p:txBody>
          <a:bodyPr wrap="square" anchor="ctr" lIns="0" rIns="0" tIns="0" bIns="0">
            <a:spAutoFit/>
          </a:bodyPr>
          <a:lstStyle/>
          <a:p>
            <a:pPr algn="ctr"/>
            <a:r>
              <a:rPr sz="1300" b="1" i="0">
                <a:solidFill>
                  <a:srgbClr val="D4A017"/>
                </a:solidFill>
                <a:latin typeface="Times New Roman"/>
              </a:rPr>
              <a:t>❯</a:t>
            </a:r>
          </a:p>
        </p:txBody>
      </p:sp>
      <p:sp>
        <p:nvSpPr>
          <p:cNvPr id="19" name="Rectangle 18"/>
          <p:cNvSpPr/>
          <p:nvPr/>
        </p:nvSpPr>
        <p:spPr>
          <a:xfrm>
            <a:off x="9427463" y="1444752"/>
            <a:ext cx="1901952" cy="74980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0615" y="1444752"/>
            <a:ext cx="1755648" cy="749808"/>
          </a:xfrm>
          <a:prstGeom prst="rect">
            <a:avLst/>
          </a:prstGeom>
          <a:noFill/>
        </p:spPr>
        <p:txBody>
          <a:bodyPr wrap="square" anchor="ctr" lIns="0" rIns="0" tIns="0" bIns="0">
            <a:spAutoFit/>
          </a:bodyPr>
          <a:lstStyle/>
          <a:p>
            <a:pPr algn="ctr">
              <a:lnSpc>
                <a:spcPct val="105000"/>
              </a:lnSpc>
            </a:pPr>
            <a:r>
              <a:rPr sz="1200" b="1" i="0">
                <a:solidFill>
                  <a:srgbClr val="10233F"/>
                </a:solidFill>
                <a:latin typeface="Times New Roman"/>
              </a:rPr>
              <a:t>Artificial
Intelligence</a:t>
            </a:r>
          </a:p>
        </p:txBody>
      </p:sp>
      <p:sp>
        <p:nvSpPr>
          <p:cNvPr id="21" name="Rectangle 20"/>
          <p:cNvSpPr/>
          <p:nvPr/>
        </p:nvSpPr>
        <p:spPr>
          <a:xfrm>
            <a:off x="868680" y="2560320"/>
            <a:ext cx="5047488" cy="230428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2560320"/>
            <a:ext cx="5047488" cy="411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7" y="2752344"/>
            <a:ext cx="4736592" cy="1993392"/>
          </a:xfrm>
          <a:prstGeom prst="rect">
            <a:avLst/>
          </a:prstGeom>
          <a:noFill/>
        </p:spPr>
        <p:txBody>
          <a:bodyPr wrap="square" anchor="t" lIns="0" rIns="0" tIns="0" bIns="0">
            <a:spAutoFit/>
          </a:bodyPr>
          <a:lstStyle/>
          <a:p>
            <a:pPr algn="l">
              <a:lnSpc>
                <a:spcPct val="105000"/>
              </a:lnSpc>
              <a:spcAft>
                <a:spcPts val="500"/>
              </a:spcAft>
            </a:pPr>
            <a:r>
              <a:rPr sz="1300" b="1" i="0">
                <a:solidFill>
                  <a:srgbClr val="10233F"/>
                </a:solidFill>
                <a:latin typeface="Times New Roman"/>
              </a:rPr>
              <a:t>What has not changed</a:t>
            </a:r>
          </a:p>
          <a:p>
            <a:pPr algn="l">
              <a:lnSpc>
                <a:spcPct val="126000"/>
              </a:lnSpc>
              <a:spcAft>
                <a:spcPts val="300"/>
              </a:spcAft>
            </a:pPr>
            <a:r>
              <a:rPr sz="1200" b="0" i="0">
                <a:solidFill>
                  <a:srgbClr val="111827"/>
                </a:solidFill>
                <a:latin typeface="Times New Roman"/>
              </a:rPr>
              <a:t>Strategy still concerns the creation of value under uncertainty.</a:t>
            </a:r>
          </a:p>
          <a:p>
            <a:pPr algn="l">
              <a:lnSpc>
                <a:spcPct val="126000"/>
              </a:lnSpc>
              <a:spcAft>
                <a:spcPts val="300"/>
              </a:spcAft>
            </a:pPr>
            <a:r>
              <a:rPr sz="1200" b="0" i="0">
                <a:solidFill>
                  <a:srgbClr val="111827"/>
                </a:solidFill>
                <a:latin typeface="Times New Roman"/>
              </a:rPr>
              <a:t>Some organizations still consistently outperform others.</a:t>
            </a:r>
          </a:p>
          <a:p>
            <a:pPr algn="l">
              <a:lnSpc>
                <a:spcPct val="126000"/>
              </a:lnSpc>
              <a:spcAft>
                <a:spcPts val="300"/>
              </a:spcAft>
            </a:pPr>
            <a:r>
              <a:rPr sz="1200" b="0" i="0">
                <a:solidFill>
                  <a:srgbClr val="111827"/>
                </a:solidFill>
                <a:latin typeface="Times New Roman"/>
              </a:rPr>
              <a:t>Managers must still choose what to do — and what not to do.</a:t>
            </a:r>
          </a:p>
          <a:p>
            <a:pPr algn="l">
              <a:lnSpc>
                <a:spcPct val="126000"/>
              </a:lnSpc>
              <a:spcAft>
                <a:spcPts val="300"/>
              </a:spcAft>
            </a:pPr>
            <a:r>
              <a:rPr sz="1200" b="0" i="0">
                <a:solidFill>
                  <a:srgbClr val="111827"/>
                </a:solidFill>
                <a:latin typeface="Times New Roman"/>
              </a:rPr>
              <a:t/>
            </a:r>
          </a:p>
          <a:p>
            <a:pPr algn="l">
              <a:lnSpc>
                <a:spcPct val="126000"/>
              </a:lnSpc>
              <a:spcAft>
                <a:spcPts val="300"/>
              </a:spcAft>
            </a:pPr>
            <a:r>
              <a:rPr sz="1200" b="0" i="0">
                <a:solidFill>
                  <a:srgbClr val="111827"/>
                </a:solidFill>
                <a:latin typeface="Times New Roman"/>
              </a:rPr>
              <a:t>Fifty years of scholarship still explain why: industry structure, positioning, resources, capabilities, learning, and governance.</a:t>
            </a:r>
          </a:p>
        </p:txBody>
      </p:sp>
      <p:sp>
        <p:nvSpPr>
          <p:cNvPr id="24" name="Rectangle 23"/>
          <p:cNvSpPr/>
          <p:nvPr/>
        </p:nvSpPr>
        <p:spPr>
          <a:xfrm>
            <a:off x="6245352" y="2560320"/>
            <a:ext cx="5047488" cy="2304288"/>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5352" y="2560320"/>
            <a:ext cx="5047488" cy="411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752344"/>
            <a:ext cx="4736592" cy="1993392"/>
          </a:xfrm>
          <a:prstGeom prst="rect">
            <a:avLst/>
          </a:prstGeom>
          <a:noFill/>
        </p:spPr>
        <p:txBody>
          <a:bodyPr wrap="square" anchor="t" lIns="0" rIns="0" tIns="0" bIns="0">
            <a:spAutoFit/>
          </a:bodyPr>
          <a:lstStyle/>
          <a:p>
            <a:pPr algn="l">
              <a:lnSpc>
                <a:spcPct val="105000"/>
              </a:lnSpc>
              <a:spcAft>
                <a:spcPts val="500"/>
              </a:spcAft>
            </a:pPr>
            <a:r>
              <a:rPr sz="1300" b="1" i="0">
                <a:solidFill>
                  <a:srgbClr val="10233F"/>
                </a:solidFill>
                <a:latin typeface="Times New Roman"/>
              </a:rPr>
              <a:t>What artificial intelligence changes</a:t>
            </a:r>
          </a:p>
          <a:p>
            <a:pPr algn="l">
              <a:lnSpc>
                <a:spcPct val="126000"/>
              </a:lnSpc>
              <a:spcAft>
                <a:spcPts val="300"/>
              </a:spcAft>
            </a:pPr>
            <a:r>
              <a:rPr sz="1200" b="0" i="0">
                <a:solidFill>
                  <a:srgbClr val="111827"/>
                </a:solidFill>
                <a:latin typeface="Times New Roman"/>
              </a:rPr>
              <a:t>Managers no longer decide using only human expertise.</a:t>
            </a:r>
          </a:p>
          <a:p>
            <a:pPr algn="l">
              <a:lnSpc>
                <a:spcPct val="126000"/>
              </a:lnSpc>
              <a:spcAft>
                <a:spcPts val="300"/>
              </a:spcAft>
            </a:pPr>
            <a:r>
              <a:rPr sz="1200" b="0" i="0">
                <a:solidFill>
                  <a:srgbClr val="111827"/>
                </a:solidFill>
                <a:latin typeface="Times New Roman"/>
              </a:rPr>
              <a:t>Knowledge is no longer created exclusively by people.</a:t>
            </a:r>
          </a:p>
          <a:p>
            <a:pPr algn="l">
              <a:lnSpc>
                <a:spcPct val="126000"/>
              </a:lnSpc>
              <a:spcAft>
                <a:spcPts val="300"/>
              </a:spcAft>
            </a:pPr>
            <a:r>
              <a:rPr sz="1200" b="0" i="0">
                <a:solidFill>
                  <a:srgbClr val="111827"/>
                </a:solidFill>
                <a:latin typeface="Times New Roman"/>
              </a:rPr>
              <a:t>Advantage increasingly rests on data, algorithms, platforms, and human–AI collaboration.</a:t>
            </a:r>
          </a:p>
          <a:p>
            <a:pPr algn="l">
              <a:lnSpc>
                <a:spcPct val="126000"/>
              </a:lnSpc>
              <a:spcAft>
                <a:spcPts val="300"/>
              </a:spcAft>
            </a:pPr>
            <a:r>
              <a:rPr sz="1200" b="0" i="0">
                <a:solidFill>
                  <a:srgbClr val="111827"/>
                </a:solidFill>
                <a:latin typeface="Times New Roman"/>
              </a:rPr>
              <a:t/>
            </a:r>
          </a:p>
          <a:p>
            <a:pPr algn="l">
              <a:lnSpc>
                <a:spcPct val="126000"/>
              </a:lnSpc>
              <a:spcAft>
                <a:spcPts val="300"/>
              </a:spcAft>
            </a:pPr>
            <a:r>
              <a:rPr sz="1200" b="0" i="0">
                <a:solidFill>
                  <a:srgbClr val="111827"/>
                </a:solidFill>
                <a:latin typeface="Times New Roman"/>
              </a:rPr>
              <a:t>Information once taking weeks is synthesized in minutes; costly trials become simulations.</a:t>
            </a:r>
          </a:p>
        </p:txBody>
      </p:sp>
      <p:sp>
        <p:nvSpPr>
          <p:cNvPr id="27" name="Rectangle 26"/>
          <p:cNvSpPr/>
          <p:nvPr/>
        </p:nvSpPr>
        <p:spPr>
          <a:xfrm>
            <a:off x="868680" y="5138928"/>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9848" y="5138928"/>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Organizations have changed dramatically. The theoretical foundations of strategic management have evolved more slowly.</a:t>
            </a:r>
          </a:p>
        </p:txBody>
      </p:sp>
      <p:sp>
        <p:nvSpPr>
          <p:cNvPr id="29" name="TextBox 28"/>
          <p:cNvSpPr txBox="1"/>
          <p:nvPr/>
        </p:nvSpPr>
        <p:spPr>
          <a:xfrm>
            <a:off x="868680" y="5687568"/>
            <a:ext cx="10424160" cy="548640"/>
          </a:xfrm>
          <a:prstGeom prst="rect">
            <a:avLst/>
          </a:prstGeom>
          <a:noFill/>
        </p:spPr>
        <p:txBody>
          <a:bodyPr wrap="square" anchor="t" lIns="0" rIns="0" tIns="0" bIns="0">
            <a:spAutoFit/>
          </a:bodyPr>
          <a:lstStyle/>
          <a:p>
            <a:pPr algn="l">
              <a:lnSpc>
                <a:spcPct val="125000"/>
              </a:lnSpc>
            </a:pPr>
            <a:r>
              <a:rPr sz="1250" b="0" i="0">
                <a:solidFill>
                  <a:srgbClr val="4B5563"/>
                </a:solidFill>
                <a:latin typeface="Times New Roman"/>
              </a:rPr>
              <a:t>When the cost of prediction, information, and experimentation falls, the assumptions behind strategic advantage must be re-examined.</a:t>
            </a:r>
          </a:p>
        </p:txBody>
      </p:sp>
      <p:sp>
        <p:nvSpPr>
          <p:cNvPr id="30" name="TextBox 29"/>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3</a:t>
            </a:r>
          </a:p>
        </p:txBody>
      </p:sp>
      <p:sp>
        <p:nvSpPr>
          <p:cNvPr id="31" name="TextBox 30"/>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0 · THE CENTRAL QUESTION</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One question organizes the entire course</a:t>
            </a:r>
          </a:p>
        </p:txBody>
      </p:sp>
      <p:sp>
        <p:nvSpPr>
          <p:cNvPr id="7" name="Rectangle 6"/>
          <p:cNvSpPr/>
          <p:nvPr/>
        </p:nvSpPr>
        <p:spPr>
          <a:xfrm>
            <a:off x="868680" y="1481328"/>
            <a:ext cx="10424160" cy="138988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1042416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627632"/>
            <a:ext cx="9692640" cy="1097280"/>
          </a:xfrm>
          <a:prstGeom prst="rect">
            <a:avLst/>
          </a:prstGeom>
          <a:noFill/>
        </p:spPr>
        <p:txBody>
          <a:bodyPr wrap="square" anchor="ctr" lIns="0" rIns="0" tIns="0" bIns="0">
            <a:spAutoFit/>
          </a:bodyPr>
          <a:lstStyle/>
          <a:p>
            <a:pPr algn="l">
              <a:lnSpc>
                <a:spcPct val="105000"/>
              </a:lnSpc>
            </a:pPr>
            <a:r>
              <a:rPr sz="2900" b="1" i="0">
                <a:solidFill>
                  <a:srgbClr val="FFFFFF"/>
                </a:solidFill>
                <a:latin typeface="Times New Roman"/>
              </a:rPr>
              <a:t>How should strategic management evolve in the age of artificial intelligence?</a:t>
            </a:r>
          </a:p>
        </p:txBody>
      </p:sp>
      <p:sp>
        <p:nvSpPr>
          <p:cNvPr id="10" name="Rectangle 9"/>
          <p:cNvSpPr/>
          <p:nvPr/>
        </p:nvSpPr>
        <p:spPr>
          <a:xfrm>
            <a:off x="868680" y="3127248"/>
            <a:ext cx="5047488" cy="21031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127248"/>
            <a:ext cx="5047488" cy="41148"/>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3319272"/>
            <a:ext cx="4736592" cy="1792223"/>
          </a:xfrm>
          <a:prstGeom prst="rect">
            <a:avLst/>
          </a:prstGeom>
          <a:noFill/>
        </p:spPr>
        <p:txBody>
          <a:bodyPr wrap="square" anchor="t" lIns="0" rIns="0" tIns="0" bIns="0">
            <a:spAutoFit/>
          </a:bodyPr>
          <a:lstStyle/>
          <a:p>
            <a:pPr algn="l">
              <a:lnSpc>
                <a:spcPct val="105000"/>
              </a:lnSpc>
              <a:spcAft>
                <a:spcPts val="500"/>
              </a:spcAft>
            </a:pPr>
            <a:r>
              <a:rPr sz="1300" b="1" i="0">
                <a:solidFill>
                  <a:srgbClr val="10233F"/>
                </a:solidFill>
                <a:latin typeface="Times New Roman"/>
              </a:rPr>
              <a:t>Traditional strategy courses ask</a:t>
            </a:r>
          </a:p>
          <a:p>
            <a:pPr algn="l">
              <a:lnSpc>
                <a:spcPct val="130000"/>
              </a:lnSpc>
              <a:spcAft>
                <a:spcPts val="300"/>
              </a:spcAft>
            </a:pPr>
            <a:r>
              <a:rPr sz="1250" b="0" i="0">
                <a:solidFill>
                  <a:srgbClr val="111827"/>
                </a:solidFill>
                <a:latin typeface="Times New Roman"/>
              </a:rPr>
              <a:t>How do firms create competitive advantage?</a:t>
            </a:r>
          </a:p>
          <a:p>
            <a:pPr algn="l">
              <a:lnSpc>
                <a:spcPct val="130000"/>
              </a:lnSpc>
              <a:spcAft>
                <a:spcPts val="300"/>
              </a:spcAft>
            </a:pPr>
            <a:r>
              <a:rPr sz="1250" b="0" i="0">
                <a:solidFill>
                  <a:srgbClr val="111827"/>
                </a:solidFill>
                <a:latin typeface="Times New Roman"/>
              </a:rPr>
              <a:t>Why do some firms outperform others?</a:t>
            </a:r>
          </a:p>
          <a:p>
            <a:pPr algn="l">
              <a:lnSpc>
                <a:spcPct val="130000"/>
              </a:lnSpc>
              <a:spcAft>
                <a:spcPts val="300"/>
              </a:spcAft>
            </a:pPr>
            <a:r>
              <a:rPr sz="1250" b="0" i="0">
                <a:solidFill>
                  <a:srgbClr val="111827"/>
                </a:solidFill>
                <a:latin typeface="Times New Roman"/>
              </a:rPr>
              <a:t>How should managers formulate strategy?</a:t>
            </a:r>
          </a:p>
          <a:p>
            <a:pPr algn="l">
              <a:lnSpc>
                <a:spcPct val="130000"/>
              </a:lnSpc>
              <a:spcAft>
                <a:spcPts val="300"/>
              </a:spcAft>
            </a:pPr>
            <a:r>
              <a:rPr sz="1250" b="0" i="0">
                <a:solidFill>
                  <a:srgbClr val="111827"/>
                </a:solidFill>
                <a:latin typeface="Times New Roman"/>
              </a:rPr>
              <a:t/>
            </a:r>
          </a:p>
          <a:p>
            <a:pPr algn="l">
              <a:lnSpc>
                <a:spcPct val="130000"/>
              </a:lnSpc>
              <a:spcAft>
                <a:spcPts val="300"/>
              </a:spcAft>
            </a:pPr>
            <a:r>
              <a:rPr sz="1250" b="0" i="0">
                <a:solidFill>
                  <a:srgbClr val="111827"/>
                </a:solidFill>
                <a:latin typeface="Times New Roman"/>
              </a:rPr>
              <a:t>These questions remain important.</a:t>
            </a:r>
          </a:p>
        </p:txBody>
      </p:sp>
      <p:sp>
        <p:nvSpPr>
          <p:cNvPr id="13" name="Rectangle 12"/>
          <p:cNvSpPr/>
          <p:nvPr/>
        </p:nvSpPr>
        <p:spPr>
          <a:xfrm>
            <a:off x="6245352" y="3127248"/>
            <a:ext cx="5047488" cy="2103120"/>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3127248"/>
            <a:ext cx="5047488" cy="411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319272"/>
            <a:ext cx="4736592" cy="1792223"/>
          </a:xfrm>
          <a:prstGeom prst="rect">
            <a:avLst/>
          </a:prstGeom>
          <a:noFill/>
        </p:spPr>
        <p:txBody>
          <a:bodyPr wrap="square" anchor="t" lIns="0" rIns="0" tIns="0" bIns="0">
            <a:spAutoFit/>
          </a:bodyPr>
          <a:lstStyle/>
          <a:p>
            <a:pPr algn="l">
              <a:lnSpc>
                <a:spcPct val="105000"/>
              </a:lnSpc>
              <a:spcAft>
                <a:spcPts val="500"/>
              </a:spcAft>
            </a:pPr>
            <a:r>
              <a:rPr sz="1300" b="1" i="0">
                <a:solidFill>
                  <a:srgbClr val="10233F"/>
                </a:solidFill>
                <a:latin typeface="Times New Roman"/>
              </a:rPr>
              <a:t>This course asks an additional question</a:t>
            </a:r>
          </a:p>
          <a:p>
            <a:pPr algn="l">
              <a:lnSpc>
                <a:spcPct val="130000"/>
              </a:lnSpc>
              <a:spcAft>
                <a:spcPts val="300"/>
              </a:spcAft>
            </a:pPr>
            <a:r>
              <a:rPr sz="1250" b="0" i="0">
                <a:solidFill>
                  <a:srgbClr val="111827"/>
                </a:solidFill>
                <a:latin typeface="Times New Roman"/>
              </a:rPr>
              <a:t>If the foundational theories of strategic management were written today, in a world shaped by artificial intelligence, what would they look like?</a:t>
            </a:r>
          </a:p>
          <a:p>
            <a:pPr algn="l">
              <a:lnSpc>
                <a:spcPct val="130000"/>
              </a:lnSpc>
              <a:spcAft>
                <a:spcPts val="300"/>
              </a:spcAft>
            </a:pPr>
            <a:r>
              <a:rPr sz="1250" b="0" i="0">
                <a:solidFill>
                  <a:srgbClr val="111827"/>
                </a:solidFill>
                <a:latin typeface="Times New Roman"/>
              </a:rPr>
              <a:t/>
            </a:r>
          </a:p>
          <a:p>
            <a:pPr algn="l">
              <a:lnSpc>
                <a:spcPct val="130000"/>
              </a:lnSpc>
              <a:spcAft>
                <a:spcPts val="300"/>
              </a:spcAft>
            </a:pPr>
            <a:r>
              <a:rPr sz="1250" b="0" i="0">
                <a:solidFill>
                  <a:srgbClr val="111827"/>
                </a:solidFill>
                <a:latin typeface="Times New Roman"/>
              </a:rPr>
              <a:t>You revisit this question every week from a new theoretical angle.</a:t>
            </a:r>
          </a:p>
        </p:txBody>
      </p:sp>
      <p:sp>
        <p:nvSpPr>
          <p:cNvPr id="16" name="Rectangle 15"/>
          <p:cNvSpPr/>
          <p:nvPr/>
        </p:nvSpPr>
        <p:spPr>
          <a:xfrm>
            <a:off x="868680" y="5559552"/>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5559552"/>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The answer is not given to you. You will build it over ten weeks.</a:t>
            </a:r>
          </a:p>
        </p:txBody>
      </p:sp>
      <p:sp>
        <p:nvSpPr>
          <p:cNvPr id="18" name="TextBox 17"/>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4</a:t>
            </a:r>
          </a:p>
        </p:txBody>
      </p:sp>
      <p:sp>
        <p:nvSpPr>
          <p:cNvPr id="19" name="TextBox 18"/>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0 · WHAT THIS COURSE IS ABOUT</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Artificial intelligence is not the subject</a:t>
            </a:r>
          </a:p>
        </p:txBody>
      </p:sp>
      <p:sp>
        <p:nvSpPr>
          <p:cNvPr id="7" name="Rectangle 6"/>
          <p:cNvSpPr/>
          <p:nvPr/>
        </p:nvSpPr>
        <p:spPr>
          <a:xfrm>
            <a:off x="868680" y="1481328"/>
            <a:ext cx="5047488" cy="1298448"/>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5047488" cy="411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1673352"/>
            <a:ext cx="4736592" cy="987551"/>
          </a:xfrm>
          <a:prstGeom prst="rect">
            <a:avLst/>
          </a:prstGeom>
          <a:noFill/>
        </p:spPr>
        <p:txBody>
          <a:bodyPr wrap="square" anchor="t" lIns="0" rIns="0" tIns="0" bIns="0">
            <a:spAutoFit/>
          </a:bodyPr>
          <a:lstStyle/>
          <a:p>
            <a:pPr algn="l">
              <a:lnSpc>
                <a:spcPct val="105000"/>
              </a:lnSpc>
              <a:spcAft>
                <a:spcPts val="500"/>
              </a:spcAft>
            </a:pPr>
            <a:r>
              <a:rPr sz="1500" b="1" i="0">
                <a:solidFill>
                  <a:srgbClr val="10233F"/>
                </a:solidFill>
                <a:latin typeface="Times New Roman"/>
              </a:rPr>
              <a:t>AI is the context</a:t>
            </a:r>
          </a:p>
          <a:p>
            <a:pPr algn="l">
              <a:lnSpc>
                <a:spcPct val="128000"/>
              </a:lnSpc>
              <a:spcAft>
                <a:spcPts val="300"/>
              </a:spcAft>
            </a:pPr>
            <a:r>
              <a:rPr sz="1250" b="0" i="0">
                <a:solidFill>
                  <a:srgbClr val="111827"/>
                </a:solidFill>
                <a:latin typeface="Times New Roman"/>
              </a:rPr>
              <a:t>The catalyst that prompts us to reconsider how organizations compete, innovate, learn, govern, and create value.</a:t>
            </a:r>
          </a:p>
        </p:txBody>
      </p:sp>
      <p:sp>
        <p:nvSpPr>
          <p:cNvPr id="10" name="Rectangle 9"/>
          <p:cNvSpPr/>
          <p:nvPr/>
        </p:nvSpPr>
        <p:spPr>
          <a:xfrm>
            <a:off x="6245352" y="1481328"/>
            <a:ext cx="5047488" cy="129844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481328"/>
            <a:ext cx="5047488" cy="411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73352"/>
            <a:ext cx="4736592" cy="987551"/>
          </a:xfrm>
          <a:prstGeom prst="rect">
            <a:avLst/>
          </a:prstGeom>
          <a:noFill/>
        </p:spPr>
        <p:txBody>
          <a:bodyPr wrap="square" anchor="t" lIns="0" rIns="0" tIns="0" bIns="0">
            <a:spAutoFit/>
          </a:bodyPr>
          <a:lstStyle/>
          <a:p>
            <a:pPr algn="l">
              <a:lnSpc>
                <a:spcPct val="105000"/>
              </a:lnSpc>
              <a:spcAft>
                <a:spcPts val="500"/>
              </a:spcAft>
            </a:pPr>
            <a:r>
              <a:rPr sz="1500" b="1" i="0">
                <a:solidFill>
                  <a:srgbClr val="10233F"/>
                </a:solidFill>
                <a:latin typeface="Times New Roman"/>
              </a:rPr>
              <a:t>Strategic management is the subject</a:t>
            </a:r>
          </a:p>
          <a:p>
            <a:pPr algn="l">
              <a:lnSpc>
                <a:spcPct val="128000"/>
              </a:lnSpc>
              <a:spcAft>
                <a:spcPts val="300"/>
              </a:spcAft>
            </a:pPr>
            <a:r>
              <a:rPr sz="1250" b="0" i="0">
                <a:solidFill>
                  <a:srgbClr val="111827"/>
                </a:solidFill>
                <a:latin typeface="Times New Roman"/>
              </a:rPr>
              <a:t>The discipline being examined, tested, extended — and, where necessary, rewritten.</a:t>
            </a:r>
          </a:p>
        </p:txBody>
      </p:sp>
      <p:sp>
        <p:nvSpPr>
          <p:cNvPr id="13" name="TextBox 12"/>
          <p:cNvSpPr txBox="1"/>
          <p:nvPr/>
        </p:nvSpPr>
        <p:spPr>
          <a:xfrm>
            <a:off x="868680" y="2980944"/>
            <a:ext cx="10424160" cy="274320"/>
          </a:xfrm>
          <a:prstGeom prst="rect">
            <a:avLst/>
          </a:prstGeom>
          <a:noFill/>
        </p:spPr>
        <p:txBody>
          <a:bodyPr wrap="square" anchor="t" lIns="0" rIns="0" tIns="0" bIns="0">
            <a:spAutoFit/>
          </a:bodyPr>
          <a:lstStyle/>
          <a:p>
            <a:pPr algn="l"/>
            <a:r>
              <a:rPr sz="950" b="1" i="0">
                <a:solidFill>
                  <a:srgbClr val="2A6F97"/>
                </a:solidFill>
                <a:latin typeface="Times New Roman"/>
              </a:rPr>
              <a:t>EACH WEEK, TWO LITERATURES IN DIALOGUE</a:t>
            </a:r>
          </a:p>
        </p:txBody>
      </p:sp>
      <p:sp>
        <p:nvSpPr>
          <p:cNvPr id="14" name="Rectangle 13"/>
          <p:cNvSpPr/>
          <p:nvPr/>
        </p:nvSpPr>
        <p:spPr>
          <a:xfrm>
            <a:off x="868680" y="3310128"/>
            <a:ext cx="4846320" cy="118872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310128"/>
            <a:ext cx="4846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3364992"/>
            <a:ext cx="4352544" cy="1097280"/>
          </a:xfrm>
          <a:prstGeom prst="rect">
            <a:avLst/>
          </a:prstGeom>
          <a:noFill/>
        </p:spPr>
        <p:txBody>
          <a:bodyPr wrap="square" anchor="ctr" lIns="0" rIns="0" tIns="0" bIns="0">
            <a:spAutoFit/>
          </a:bodyPr>
          <a:lstStyle/>
          <a:p>
            <a:pPr algn="l">
              <a:spcAft>
                <a:spcPts val="700"/>
              </a:spcAft>
            </a:pPr>
            <a:r>
              <a:rPr sz="900" b="1" i="0">
                <a:solidFill>
                  <a:srgbClr val="D4A017"/>
                </a:solidFill>
                <a:latin typeface="Times New Roman"/>
              </a:rPr>
              <a:t>THE CLASSICAL CANON</a:t>
            </a:r>
          </a:p>
          <a:p>
            <a:pPr algn="l">
              <a:lnSpc>
                <a:spcPct val="106000"/>
              </a:lnSpc>
            </a:pPr>
            <a:r>
              <a:rPr sz="1800" b="1" i="0">
                <a:solidFill>
                  <a:srgbClr val="FFFFFF"/>
                </a:solidFill>
                <a:latin typeface="Times New Roman"/>
              </a:rPr>
              <a:t>Why do organizations succeed?</a:t>
            </a:r>
          </a:p>
        </p:txBody>
      </p:sp>
      <p:sp>
        <p:nvSpPr>
          <p:cNvPr id="17" name="Rectangle 16"/>
          <p:cNvSpPr/>
          <p:nvPr/>
        </p:nvSpPr>
        <p:spPr>
          <a:xfrm>
            <a:off x="6446520" y="3310128"/>
            <a:ext cx="4846320" cy="1188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3310128"/>
            <a:ext cx="4846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3408" y="3364992"/>
            <a:ext cx="4352544" cy="1097280"/>
          </a:xfrm>
          <a:prstGeom prst="rect">
            <a:avLst/>
          </a:prstGeom>
          <a:noFill/>
        </p:spPr>
        <p:txBody>
          <a:bodyPr wrap="square" anchor="ctr" lIns="0" rIns="0" tIns="0" bIns="0">
            <a:spAutoFit/>
          </a:bodyPr>
          <a:lstStyle/>
          <a:p>
            <a:pPr algn="l">
              <a:spcAft>
                <a:spcPts val="700"/>
              </a:spcAft>
            </a:pPr>
            <a:r>
              <a:rPr sz="900" b="1" i="0">
                <a:solidFill>
                  <a:srgbClr val="FFFFFF"/>
                </a:solidFill>
                <a:latin typeface="Times New Roman"/>
              </a:rPr>
              <a:t>THE CONTEMPORARY AI CANON</a:t>
            </a:r>
          </a:p>
          <a:p>
            <a:pPr algn="l">
              <a:lnSpc>
                <a:spcPct val="106000"/>
              </a:lnSpc>
            </a:pPr>
            <a:r>
              <a:rPr sz="1800" b="1" i="0">
                <a:solidFill>
                  <a:srgbClr val="FFFFFF"/>
                </a:solidFill>
                <a:latin typeface="Times New Roman"/>
              </a:rPr>
              <a:t>How does AI change the answer?</a:t>
            </a:r>
          </a:p>
        </p:txBody>
      </p:sp>
      <p:sp>
        <p:nvSpPr>
          <p:cNvPr id="20" name="Rectangle 19"/>
          <p:cNvSpPr/>
          <p:nvPr/>
        </p:nvSpPr>
        <p:spPr>
          <a:xfrm>
            <a:off x="5870448" y="3730752"/>
            <a:ext cx="512064" cy="3474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70448" y="3767328"/>
            <a:ext cx="512064" cy="274320"/>
          </a:xfrm>
          <a:prstGeom prst="rect">
            <a:avLst/>
          </a:prstGeom>
          <a:noFill/>
        </p:spPr>
        <p:txBody>
          <a:bodyPr wrap="square" anchor="t" lIns="0" rIns="0" tIns="0" bIns="0">
            <a:spAutoFit/>
          </a:bodyPr>
          <a:lstStyle/>
          <a:p>
            <a:pPr algn="ctr"/>
            <a:r>
              <a:rPr sz="1500" b="1" i="0">
                <a:solidFill>
                  <a:srgbClr val="10233F"/>
                </a:solidFill>
                <a:latin typeface="Times New Roman"/>
              </a:rPr>
              <a:t>⇄</a:t>
            </a:r>
          </a:p>
        </p:txBody>
      </p:sp>
      <p:sp>
        <p:nvSpPr>
          <p:cNvPr id="22" name="Rectangle 21"/>
          <p:cNvSpPr/>
          <p:nvPr/>
        </p:nvSpPr>
        <p:spPr>
          <a:xfrm>
            <a:off x="868680" y="4736592"/>
            <a:ext cx="811987"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800600"/>
            <a:ext cx="811987" cy="274320"/>
          </a:xfrm>
          <a:prstGeom prst="rect">
            <a:avLst/>
          </a:prstGeom>
          <a:noFill/>
        </p:spPr>
        <p:txBody>
          <a:bodyPr wrap="square" anchor="t" lIns="0" rIns="0" tIns="0" bIns="0">
            <a:spAutoFit/>
          </a:bodyPr>
          <a:lstStyle/>
          <a:p>
            <a:pPr algn="ctr"/>
            <a:r>
              <a:rPr sz="1150" b="1" i="0">
                <a:solidFill>
                  <a:srgbClr val="FFFFFF"/>
                </a:solidFill>
                <a:latin typeface="Times New Roman"/>
              </a:rPr>
              <a:t>Porter</a:t>
            </a:r>
          </a:p>
        </p:txBody>
      </p:sp>
      <p:sp>
        <p:nvSpPr>
          <p:cNvPr id="24" name="Rectangle 23"/>
          <p:cNvSpPr/>
          <p:nvPr/>
        </p:nvSpPr>
        <p:spPr>
          <a:xfrm>
            <a:off x="1790395" y="4736592"/>
            <a:ext cx="811987"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90395" y="4800600"/>
            <a:ext cx="811987" cy="274320"/>
          </a:xfrm>
          <a:prstGeom prst="rect">
            <a:avLst/>
          </a:prstGeom>
          <a:noFill/>
        </p:spPr>
        <p:txBody>
          <a:bodyPr wrap="square" anchor="t" lIns="0" rIns="0" tIns="0" bIns="0">
            <a:spAutoFit/>
          </a:bodyPr>
          <a:lstStyle/>
          <a:p>
            <a:pPr algn="ctr"/>
            <a:r>
              <a:rPr sz="1150" b="1" i="0">
                <a:solidFill>
                  <a:srgbClr val="FFFFFF"/>
                </a:solidFill>
                <a:latin typeface="Times New Roman"/>
              </a:rPr>
              <a:t>Barney</a:t>
            </a:r>
          </a:p>
        </p:txBody>
      </p:sp>
      <p:sp>
        <p:nvSpPr>
          <p:cNvPr id="26" name="Rectangle 25"/>
          <p:cNvSpPr/>
          <p:nvPr/>
        </p:nvSpPr>
        <p:spPr>
          <a:xfrm>
            <a:off x="2712110" y="4736592"/>
            <a:ext cx="722376"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12110" y="4800600"/>
            <a:ext cx="722376" cy="274320"/>
          </a:xfrm>
          <a:prstGeom prst="rect">
            <a:avLst/>
          </a:prstGeom>
          <a:noFill/>
        </p:spPr>
        <p:txBody>
          <a:bodyPr wrap="square" anchor="t" lIns="0" rIns="0" tIns="0" bIns="0">
            <a:spAutoFit/>
          </a:bodyPr>
          <a:lstStyle/>
          <a:p>
            <a:pPr algn="ctr"/>
            <a:r>
              <a:rPr sz="1150" b="1" i="0">
                <a:solidFill>
                  <a:srgbClr val="FFFFFF"/>
                </a:solidFill>
                <a:latin typeface="Times New Roman"/>
              </a:rPr>
              <a:t>Teece</a:t>
            </a:r>
          </a:p>
        </p:txBody>
      </p:sp>
      <p:sp>
        <p:nvSpPr>
          <p:cNvPr id="28" name="Rectangle 27"/>
          <p:cNvSpPr/>
          <p:nvPr/>
        </p:nvSpPr>
        <p:spPr>
          <a:xfrm>
            <a:off x="3544214" y="4736592"/>
            <a:ext cx="722376"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44214" y="4800600"/>
            <a:ext cx="722376" cy="274320"/>
          </a:xfrm>
          <a:prstGeom prst="rect">
            <a:avLst/>
          </a:prstGeom>
          <a:noFill/>
        </p:spPr>
        <p:txBody>
          <a:bodyPr wrap="square" anchor="t" lIns="0" rIns="0" tIns="0" bIns="0">
            <a:spAutoFit/>
          </a:bodyPr>
          <a:lstStyle/>
          <a:p>
            <a:pPr algn="ctr"/>
            <a:r>
              <a:rPr sz="1150" b="1" i="0">
                <a:solidFill>
                  <a:srgbClr val="FFFFFF"/>
                </a:solidFill>
                <a:latin typeface="Times New Roman"/>
              </a:rPr>
              <a:t>Grant</a:t>
            </a:r>
          </a:p>
        </p:txBody>
      </p:sp>
      <p:sp>
        <p:nvSpPr>
          <p:cNvPr id="30" name="Rectangle 29"/>
          <p:cNvSpPr/>
          <p:nvPr/>
        </p:nvSpPr>
        <p:spPr>
          <a:xfrm>
            <a:off x="4376318" y="4736592"/>
            <a:ext cx="722376"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6318" y="4800600"/>
            <a:ext cx="722376" cy="274320"/>
          </a:xfrm>
          <a:prstGeom prst="rect">
            <a:avLst/>
          </a:prstGeom>
          <a:noFill/>
        </p:spPr>
        <p:txBody>
          <a:bodyPr wrap="square" anchor="t" lIns="0" rIns="0" tIns="0" bIns="0">
            <a:spAutoFit/>
          </a:bodyPr>
          <a:lstStyle/>
          <a:p>
            <a:pPr algn="ctr"/>
            <a:r>
              <a:rPr sz="1150" b="1" i="0">
                <a:solidFill>
                  <a:srgbClr val="FFFFFF"/>
                </a:solidFill>
                <a:latin typeface="Times New Roman"/>
              </a:rPr>
              <a:t>March</a:t>
            </a:r>
          </a:p>
        </p:txBody>
      </p:sp>
      <p:sp>
        <p:nvSpPr>
          <p:cNvPr id="32" name="Rectangle 31"/>
          <p:cNvSpPr/>
          <p:nvPr/>
        </p:nvSpPr>
        <p:spPr>
          <a:xfrm>
            <a:off x="5208422" y="4736592"/>
            <a:ext cx="991209"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08422" y="4800600"/>
            <a:ext cx="991209" cy="274320"/>
          </a:xfrm>
          <a:prstGeom prst="rect">
            <a:avLst/>
          </a:prstGeom>
          <a:noFill/>
        </p:spPr>
        <p:txBody>
          <a:bodyPr wrap="square" anchor="t" lIns="0" rIns="0" tIns="0" bIns="0">
            <a:spAutoFit/>
          </a:bodyPr>
          <a:lstStyle/>
          <a:p>
            <a:pPr algn="ctr"/>
            <a:r>
              <a:rPr sz="1150" b="1" i="0">
                <a:solidFill>
                  <a:srgbClr val="FFFFFF"/>
                </a:solidFill>
                <a:latin typeface="Times New Roman"/>
              </a:rPr>
              <a:t>Prahalad</a:t>
            </a:r>
          </a:p>
        </p:txBody>
      </p:sp>
      <p:sp>
        <p:nvSpPr>
          <p:cNvPr id="34" name="Rectangle 33"/>
          <p:cNvSpPr/>
          <p:nvPr/>
        </p:nvSpPr>
        <p:spPr>
          <a:xfrm>
            <a:off x="6309360" y="4736592"/>
            <a:ext cx="722376"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800600"/>
            <a:ext cx="722376" cy="274320"/>
          </a:xfrm>
          <a:prstGeom prst="rect">
            <a:avLst/>
          </a:prstGeom>
          <a:noFill/>
        </p:spPr>
        <p:txBody>
          <a:bodyPr wrap="square" anchor="t" lIns="0" rIns="0" tIns="0" bIns="0">
            <a:spAutoFit/>
          </a:bodyPr>
          <a:lstStyle/>
          <a:p>
            <a:pPr algn="ctr"/>
            <a:r>
              <a:rPr sz="1150" b="1" i="0">
                <a:solidFill>
                  <a:srgbClr val="FFFFFF"/>
                </a:solidFill>
                <a:latin typeface="Times New Roman"/>
              </a:rPr>
              <a:t>Hamel</a:t>
            </a:r>
          </a:p>
        </p:txBody>
      </p:sp>
      <p:sp>
        <p:nvSpPr>
          <p:cNvPr id="36" name="Rectangle 35"/>
          <p:cNvSpPr/>
          <p:nvPr/>
        </p:nvSpPr>
        <p:spPr>
          <a:xfrm>
            <a:off x="7141464" y="4736592"/>
            <a:ext cx="1170432"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41464" y="4800600"/>
            <a:ext cx="1170432" cy="274320"/>
          </a:xfrm>
          <a:prstGeom prst="rect">
            <a:avLst/>
          </a:prstGeom>
          <a:noFill/>
        </p:spPr>
        <p:txBody>
          <a:bodyPr wrap="square" anchor="t" lIns="0" rIns="0" tIns="0" bIns="0">
            <a:spAutoFit/>
          </a:bodyPr>
          <a:lstStyle/>
          <a:p>
            <a:pPr algn="ctr"/>
            <a:r>
              <a:rPr sz="1150" b="1" i="0">
                <a:solidFill>
                  <a:srgbClr val="FFFFFF"/>
                </a:solidFill>
                <a:latin typeface="Times New Roman"/>
              </a:rPr>
              <a:t>Wernerfelt</a:t>
            </a:r>
          </a:p>
        </p:txBody>
      </p:sp>
      <p:sp>
        <p:nvSpPr>
          <p:cNvPr id="38" name="Rectangle 37"/>
          <p:cNvSpPr/>
          <p:nvPr/>
        </p:nvSpPr>
        <p:spPr>
          <a:xfrm>
            <a:off x="8421624" y="4736592"/>
            <a:ext cx="1170432"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21624" y="4800600"/>
            <a:ext cx="1170432" cy="274320"/>
          </a:xfrm>
          <a:prstGeom prst="rect">
            <a:avLst/>
          </a:prstGeom>
          <a:noFill/>
        </p:spPr>
        <p:txBody>
          <a:bodyPr wrap="square" anchor="t" lIns="0" rIns="0" tIns="0" bIns="0">
            <a:spAutoFit/>
          </a:bodyPr>
          <a:lstStyle/>
          <a:p>
            <a:pPr algn="ctr"/>
            <a:r>
              <a:rPr sz="1150" b="1" i="0">
                <a:solidFill>
                  <a:srgbClr val="FFFFFF"/>
                </a:solidFill>
                <a:latin typeface="Times New Roman"/>
              </a:rPr>
              <a:t>Williamson</a:t>
            </a:r>
          </a:p>
        </p:txBody>
      </p:sp>
      <p:sp>
        <p:nvSpPr>
          <p:cNvPr id="40" name="Rectangle 39"/>
          <p:cNvSpPr/>
          <p:nvPr/>
        </p:nvSpPr>
        <p:spPr>
          <a:xfrm>
            <a:off x="9701784" y="4736592"/>
            <a:ext cx="1170432" cy="40233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01784" y="4800600"/>
            <a:ext cx="1170432" cy="274320"/>
          </a:xfrm>
          <a:prstGeom prst="rect">
            <a:avLst/>
          </a:prstGeom>
          <a:noFill/>
        </p:spPr>
        <p:txBody>
          <a:bodyPr wrap="square" anchor="t" lIns="0" rIns="0" tIns="0" bIns="0">
            <a:spAutoFit/>
          </a:bodyPr>
          <a:lstStyle/>
          <a:p>
            <a:pPr algn="ctr"/>
            <a:r>
              <a:rPr sz="1150" b="1" i="0">
                <a:solidFill>
                  <a:srgbClr val="FFFFFF"/>
                </a:solidFill>
                <a:latin typeface="Times New Roman"/>
              </a:rPr>
              <a:t>Eisenhardt</a:t>
            </a:r>
          </a:p>
        </p:txBody>
      </p:sp>
      <p:sp>
        <p:nvSpPr>
          <p:cNvPr id="42" name="TextBox 41"/>
          <p:cNvSpPr txBox="1"/>
          <p:nvPr/>
        </p:nvSpPr>
        <p:spPr>
          <a:xfrm>
            <a:off x="868680" y="5303520"/>
            <a:ext cx="10424160" cy="365760"/>
          </a:xfrm>
          <a:prstGeom prst="rect">
            <a:avLst/>
          </a:prstGeom>
          <a:noFill/>
        </p:spPr>
        <p:txBody>
          <a:bodyPr wrap="square" anchor="t" lIns="0" rIns="0" tIns="0" bIns="0">
            <a:spAutoFit/>
          </a:bodyPr>
          <a:lstStyle/>
          <a:p>
            <a:pPr algn="l"/>
            <a:r>
              <a:rPr sz="1250" b="0" i="0">
                <a:solidFill>
                  <a:srgbClr val="4B5563"/>
                </a:solidFill>
                <a:latin typeface="Times New Roman"/>
              </a:rPr>
              <a:t>You will spend as much time reading these scholars as you spend reading contemporary AI research.</a:t>
            </a:r>
          </a:p>
        </p:txBody>
      </p:sp>
      <p:sp>
        <p:nvSpPr>
          <p:cNvPr id="43" name="Rectangle 42"/>
          <p:cNvSpPr/>
          <p:nvPr/>
        </p:nvSpPr>
        <p:spPr>
          <a:xfrm>
            <a:off x="868680" y="5797296"/>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9848" y="5797296"/>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Neither literature is complete without the other. The objective is not to replace classical theory — it is to reinterpret it.</a:t>
            </a:r>
          </a:p>
        </p:txBody>
      </p:sp>
      <p:sp>
        <p:nvSpPr>
          <p:cNvPr id="45" name="TextBox 44"/>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5</a:t>
            </a:r>
          </a:p>
        </p:txBody>
      </p:sp>
      <p:sp>
        <p:nvSpPr>
          <p:cNvPr id="46" name="TextBox 45"/>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0 · FROM STUDENT TO SCHOLAR</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You will not only consume scholarship — you will contribute to it</a:t>
            </a:r>
          </a:p>
        </p:txBody>
      </p:sp>
      <p:sp>
        <p:nvSpPr>
          <p:cNvPr id="7" name="Rectangle 6"/>
          <p:cNvSpPr/>
          <p:nvPr/>
        </p:nvSpPr>
        <p:spPr>
          <a:xfrm>
            <a:off x="868680" y="1481328"/>
            <a:ext cx="10424160" cy="91440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45720" cy="91440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481328"/>
            <a:ext cx="9875520" cy="914400"/>
          </a:xfrm>
          <a:prstGeom prst="rect">
            <a:avLst/>
          </a:prstGeom>
          <a:noFill/>
        </p:spPr>
        <p:txBody>
          <a:bodyPr wrap="square" anchor="ctr" lIns="0" rIns="0" tIns="0" bIns="0">
            <a:spAutoFit/>
          </a:bodyPr>
          <a:lstStyle/>
          <a:p>
            <a:pPr algn="l">
              <a:spcAft>
                <a:spcPts val="700"/>
              </a:spcAft>
            </a:pPr>
            <a:r>
              <a:rPr sz="950" b="1" i="0">
                <a:solidFill>
                  <a:srgbClr val="2A6F97"/>
                </a:solidFill>
                <a:latin typeface="Times New Roman"/>
              </a:rPr>
              <a:t>THE THEORY EVOLUTION EXERCISE — EVERY WEEK, ONE PROMPT</a:t>
            </a:r>
          </a:p>
          <a:p>
            <a:pPr algn="l"/>
            <a:r>
              <a:rPr sz="2200" b="1" i="1">
                <a:solidFill>
                  <a:srgbClr val="10233F"/>
                </a:solidFill>
                <a:latin typeface="Times New Roman"/>
              </a:rPr>
              <a:t>“If I were rewriting this theory in 2026, I would…”</a:t>
            </a:r>
          </a:p>
        </p:txBody>
      </p:sp>
      <p:sp>
        <p:nvSpPr>
          <p:cNvPr id="10" name="TextBox 9"/>
          <p:cNvSpPr txBox="1"/>
          <p:nvPr/>
        </p:nvSpPr>
        <p:spPr>
          <a:xfrm>
            <a:off x="868680" y="2670048"/>
            <a:ext cx="10424160" cy="274320"/>
          </a:xfrm>
          <a:prstGeom prst="rect">
            <a:avLst/>
          </a:prstGeom>
          <a:noFill/>
        </p:spPr>
        <p:txBody>
          <a:bodyPr wrap="square" anchor="t" lIns="0" rIns="0" tIns="0" bIns="0">
            <a:spAutoFit/>
          </a:bodyPr>
          <a:lstStyle/>
          <a:p>
            <a:pPr algn="l"/>
            <a:r>
              <a:rPr sz="950" b="1" i="0">
                <a:solidFill>
                  <a:srgbClr val="2A6F97"/>
                </a:solidFill>
                <a:latin typeface="Times New Roman"/>
              </a:rPr>
              <a:t>WHAT EACH REFLECTION DOES</a:t>
            </a:r>
          </a:p>
        </p:txBody>
      </p:sp>
      <p:sp>
        <p:nvSpPr>
          <p:cNvPr id="11" name="Rectangle 10"/>
          <p:cNvSpPr/>
          <p:nvPr/>
        </p:nvSpPr>
        <p:spPr>
          <a:xfrm>
            <a:off x="868680" y="2980944"/>
            <a:ext cx="411480" cy="38404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31236"/>
            <a:ext cx="411480" cy="320040"/>
          </a:xfrm>
          <a:prstGeom prst="rect">
            <a:avLst/>
          </a:prstGeom>
          <a:noFill/>
        </p:spPr>
        <p:txBody>
          <a:bodyPr wrap="square" anchor="t" lIns="0" rIns="0" tIns="0" bIns="0">
            <a:spAutoFit/>
          </a:bodyPr>
          <a:lstStyle/>
          <a:p>
            <a:pPr algn="ctr"/>
            <a:r>
              <a:rPr sz="1500" b="1" i="0">
                <a:solidFill>
                  <a:srgbClr val="FFFFFF"/>
                </a:solidFill>
                <a:latin typeface="Times New Roman"/>
              </a:rPr>
              <a:t>1</a:t>
            </a:r>
          </a:p>
        </p:txBody>
      </p:sp>
      <p:sp>
        <p:nvSpPr>
          <p:cNvPr id="13" name="TextBox 12"/>
          <p:cNvSpPr txBox="1"/>
          <p:nvPr/>
        </p:nvSpPr>
        <p:spPr>
          <a:xfrm>
            <a:off x="1463040" y="2971800"/>
            <a:ext cx="3291840" cy="292608"/>
          </a:xfrm>
          <a:prstGeom prst="rect">
            <a:avLst/>
          </a:prstGeom>
          <a:noFill/>
        </p:spPr>
        <p:txBody>
          <a:bodyPr wrap="square" anchor="t" lIns="0" rIns="0" tIns="0" bIns="0">
            <a:spAutoFit/>
          </a:bodyPr>
          <a:lstStyle/>
          <a:p>
            <a:pPr algn="l"/>
            <a:r>
              <a:rPr sz="1400" b="1" i="0">
                <a:solidFill>
                  <a:srgbClr val="111827"/>
                </a:solidFill>
                <a:latin typeface="Times New Roman"/>
              </a:rPr>
              <a:t>Identify assumptions</a:t>
            </a:r>
          </a:p>
        </p:txBody>
      </p:sp>
      <p:sp>
        <p:nvSpPr>
          <p:cNvPr id="14" name="TextBox 13"/>
          <p:cNvSpPr txBox="1"/>
          <p:nvPr/>
        </p:nvSpPr>
        <p:spPr>
          <a:xfrm>
            <a:off x="4892040" y="3008375"/>
            <a:ext cx="6035040" cy="45720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Surface what the classical theory takes for granted</a:t>
            </a:r>
          </a:p>
        </p:txBody>
      </p:sp>
      <p:sp>
        <p:nvSpPr>
          <p:cNvPr id="15" name="Rectangle 14"/>
          <p:cNvSpPr/>
          <p:nvPr/>
        </p:nvSpPr>
        <p:spPr>
          <a:xfrm>
            <a:off x="868680" y="3493008"/>
            <a:ext cx="411480" cy="3840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43300"/>
            <a:ext cx="411480" cy="320040"/>
          </a:xfrm>
          <a:prstGeom prst="rect">
            <a:avLst/>
          </a:prstGeom>
          <a:noFill/>
        </p:spPr>
        <p:txBody>
          <a:bodyPr wrap="square" anchor="t" lIns="0" rIns="0" tIns="0" bIns="0">
            <a:spAutoFit/>
          </a:bodyPr>
          <a:lstStyle/>
          <a:p>
            <a:pPr algn="ctr"/>
            <a:r>
              <a:rPr sz="1500" b="1" i="0">
                <a:solidFill>
                  <a:srgbClr val="FFFFFF"/>
                </a:solidFill>
                <a:latin typeface="Times New Roman"/>
              </a:rPr>
              <a:t>2</a:t>
            </a:r>
          </a:p>
        </p:txBody>
      </p:sp>
      <p:sp>
        <p:nvSpPr>
          <p:cNvPr id="17" name="TextBox 16"/>
          <p:cNvSpPr txBox="1"/>
          <p:nvPr/>
        </p:nvSpPr>
        <p:spPr>
          <a:xfrm>
            <a:off x="1463040" y="3483864"/>
            <a:ext cx="3291840" cy="292608"/>
          </a:xfrm>
          <a:prstGeom prst="rect">
            <a:avLst/>
          </a:prstGeom>
          <a:noFill/>
        </p:spPr>
        <p:txBody>
          <a:bodyPr wrap="square" anchor="t" lIns="0" rIns="0" tIns="0" bIns="0">
            <a:spAutoFit/>
          </a:bodyPr>
          <a:lstStyle/>
          <a:p>
            <a:pPr algn="l"/>
            <a:r>
              <a:rPr sz="1400" b="1" i="0">
                <a:solidFill>
                  <a:srgbClr val="111827"/>
                </a:solidFill>
                <a:latin typeface="Times New Roman"/>
              </a:rPr>
              <a:t>Evaluate the evidence</a:t>
            </a:r>
          </a:p>
        </p:txBody>
      </p:sp>
      <p:sp>
        <p:nvSpPr>
          <p:cNvPr id="18" name="TextBox 17"/>
          <p:cNvSpPr txBox="1"/>
          <p:nvPr/>
        </p:nvSpPr>
        <p:spPr>
          <a:xfrm>
            <a:off x="4892040" y="3520439"/>
            <a:ext cx="6035040" cy="45720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Assess how AI reinforces or challenges each assumption</a:t>
            </a:r>
          </a:p>
        </p:txBody>
      </p:sp>
      <p:sp>
        <p:nvSpPr>
          <p:cNvPr id="19" name="Rectangle 18"/>
          <p:cNvSpPr/>
          <p:nvPr/>
        </p:nvSpPr>
        <p:spPr>
          <a:xfrm>
            <a:off x="868680" y="4005072"/>
            <a:ext cx="411480" cy="38404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55363"/>
            <a:ext cx="411480" cy="320040"/>
          </a:xfrm>
          <a:prstGeom prst="rect">
            <a:avLst/>
          </a:prstGeom>
          <a:noFill/>
        </p:spPr>
        <p:txBody>
          <a:bodyPr wrap="square" anchor="t" lIns="0" rIns="0" tIns="0" bIns="0">
            <a:spAutoFit/>
          </a:bodyPr>
          <a:lstStyle/>
          <a:p>
            <a:pPr algn="ctr"/>
            <a:r>
              <a:rPr sz="1500" b="1" i="0">
                <a:solidFill>
                  <a:srgbClr val="FFFFFF"/>
                </a:solidFill>
                <a:latin typeface="Times New Roman"/>
              </a:rPr>
              <a:t>3</a:t>
            </a:r>
          </a:p>
        </p:txBody>
      </p:sp>
      <p:sp>
        <p:nvSpPr>
          <p:cNvPr id="21" name="TextBox 20"/>
          <p:cNvSpPr txBox="1"/>
          <p:nvPr/>
        </p:nvSpPr>
        <p:spPr>
          <a:xfrm>
            <a:off x="1463040" y="3995928"/>
            <a:ext cx="3291840" cy="292608"/>
          </a:xfrm>
          <a:prstGeom prst="rect">
            <a:avLst/>
          </a:prstGeom>
          <a:noFill/>
        </p:spPr>
        <p:txBody>
          <a:bodyPr wrap="square" anchor="t" lIns="0" rIns="0" tIns="0" bIns="0">
            <a:spAutoFit/>
          </a:bodyPr>
          <a:lstStyle/>
          <a:p>
            <a:pPr algn="l"/>
            <a:r>
              <a:rPr sz="1400" b="1" i="0">
                <a:solidFill>
                  <a:srgbClr val="111827"/>
                </a:solidFill>
                <a:latin typeface="Times New Roman"/>
              </a:rPr>
              <a:t>Propose a revision</a:t>
            </a:r>
          </a:p>
        </p:txBody>
      </p:sp>
      <p:sp>
        <p:nvSpPr>
          <p:cNvPr id="22" name="TextBox 21"/>
          <p:cNvSpPr txBox="1"/>
          <p:nvPr/>
        </p:nvSpPr>
        <p:spPr>
          <a:xfrm>
            <a:off x="4892040" y="4032504"/>
            <a:ext cx="6035040" cy="457200"/>
          </a:xfrm>
          <a:prstGeom prst="rect">
            <a:avLst/>
          </a:prstGeom>
          <a:noFill/>
        </p:spPr>
        <p:txBody>
          <a:bodyPr wrap="square" anchor="t" lIns="0" rIns="0" tIns="0" bIns="0">
            <a:spAutoFit/>
          </a:bodyPr>
          <a:lstStyle/>
          <a:p>
            <a:pPr algn="l">
              <a:lnSpc>
                <a:spcPct val="115000"/>
              </a:lnSpc>
            </a:pPr>
            <a:r>
              <a:rPr sz="1200" b="0" i="0">
                <a:solidFill>
                  <a:srgbClr val="4B5563"/>
                </a:solidFill>
                <a:latin typeface="Times New Roman"/>
              </a:rPr>
              <a:t>Offer a theoretically grounded extension of the theory</a:t>
            </a:r>
          </a:p>
        </p:txBody>
      </p:sp>
      <p:sp>
        <p:nvSpPr>
          <p:cNvPr id="23" name="Rectangle 22"/>
          <p:cNvSpPr/>
          <p:nvPr/>
        </p:nvSpPr>
        <p:spPr>
          <a:xfrm>
            <a:off x="868680" y="4590288"/>
            <a:ext cx="2194560" cy="65836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4590288"/>
            <a:ext cx="2066543" cy="658368"/>
          </a:xfrm>
          <a:prstGeom prst="rect">
            <a:avLst/>
          </a:prstGeom>
          <a:noFill/>
        </p:spPr>
        <p:txBody>
          <a:bodyPr wrap="square" anchor="ctr" lIns="0" rIns="0" tIns="0" bIns="0">
            <a:spAutoFit/>
          </a:bodyPr>
          <a:lstStyle/>
          <a:p>
            <a:pPr algn="ctr">
              <a:lnSpc>
                <a:spcPct val="108000"/>
              </a:lnSpc>
            </a:pPr>
            <a:r>
              <a:rPr sz="1200" b="1" i="0">
                <a:solidFill>
                  <a:srgbClr val="FFFFFF"/>
                </a:solidFill>
                <a:latin typeface="Times New Roman"/>
              </a:rPr>
              <a:t>Ten weekly
reflections</a:t>
            </a:r>
          </a:p>
        </p:txBody>
      </p:sp>
      <p:sp>
        <p:nvSpPr>
          <p:cNvPr id="25" name="TextBox 24"/>
          <p:cNvSpPr txBox="1"/>
          <p:nvPr/>
        </p:nvSpPr>
        <p:spPr>
          <a:xfrm>
            <a:off x="3063239" y="4590288"/>
            <a:ext cx="237744" cy="658368"/>
          </a:xfrm>
          <a:prstGeom prst="rect">
            <a:avLst/>
          </a:prstGeom>
          <a:noFill/>
        </p:spPr>
        <p:txBody>
          <a:bodyPr wrap="square" anchor="ctr" lIns="0" rIns="0" tIns="0" bIns="0">
            <a:spAutoFit/>
          </a:bodyPr>
          <a:lstStyle/>
          <a:p>
            <a:pPr algn="ctr"/>
            <a:r>
              <a:rPr sz="1300" b="1" i="0">
                <a:solidFill>
                  <a:srgbClr val="D4A017"/>
                </a:solidFill>
                <a:latin typeface="Times New Roman"/>
              </a:rPr>
              <a:t>❯</a:t>
            </a:r>
          </a:p>
        </p:txBody>
      </p:sp>
      <p:sp>
        <p:nvSpPr>
          <p:cNvPr id="26" name="Rectangle 25"/>
          <p:cNvSpPr/>
          <p:nvPr/>
        </p:nvSpPr>
        <p:spPr>
          <a:xfrm>
            <a:off x="3300984" y="4590288"/>
            <a:ext cx="2194560" cy="65836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4992" y="4590288"/>
            <a:ext cx="2066543" cy="658368"/>
          </a:xfrm>
          <a:prstGeom prst="rect">
            <a:avLst/>
          </a:prstGeom>
          <a:noFill/>
        </p:spPr>
        <p:txBody>
          <a:bodyPr wrap="square" anchor="ctr" lIns="0" rIns="0" tIns="0" bIns="0">
            <a:spAutoFit/>
          </a:bodyPr>
          <a:lstStyle/>
          <a:p>
            <a:pPr algn="ctr">
              <a:lnSpc>
                <a:spcPct val="108000"/>
              </a:lnSpc>
            </a:pPr>
            <a:r>
              <a:rPr sz="1200" b="1" i="0">
                <a:solidFill>
                  <a:srgbClr val="FFFFFF"/>
                </a:solidFill>
                <a:latin typeface="Times New Roman"/>
              </a:rPr>
              <a:t>Cumulative
synthesis</a:t>
            </a:r>
          </a:p>
        </p:txBody>
      </p:sp>
      <p:sp>
        <p:nvSpPr>
          <p:cNvPr id="28" name="TextBox 27"/>
          <p:cNvSpPr txBox="1"/>
          <p:nvPr/>
        </p:nvSpPr>
        <p:spPr>
          <a:xfrm>
            <a:off x="5495544" y="4590288"/>
            <a:ext cx="237744" cy="658368"/>
          </a:xfrm>
          <a:prstGeom prst="rect">
            <a:avLst/>
          </a:prstGeom>
          <a:noFill/>
        </p:spPr>
        <p:txBody>
          <a:bodyPr wrap="square" anchor="ctr" lIns="0" rIns="0" tIns="0" bIns="0">
            <a:spAutoFit/>
          </a:bodyPr>
          <a:lstStyle/>
          <a:p>
            <a:pPr algn="ctr"/>
            <a:r>
              <a:rPr sz="1300" b="1" i="0">
                <a:solidFill>
                  <a:srgbClr val="D4A017"/>
                </a:solidFill>
                <a:latin typeface="Times New Roman"/>
              </a:rPr>
              <a:t>❯</a:t>
            </a:r>
          </a:p>
        </p:txBody>
      </p:sp>
      <p:sp>
        <p:nvSpPr>
          <p:cNvPr id="29" name="Rectangle 28"/>
          <p:cNvSpPr/>
          <p:nvPr/>
        </p:nvSpPr>
        <p:spPr>
          <a:xfrm>
            <a:off x="5733288" y="4590288"/>
            <a:ext cx="2194560" cy="65836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97296" y="4590288"/>
            <a:ext cx="2066543" cy="658368"/>
          </a:xfrm>
          <a:prstGeom prst="rect">
            <a:avLst/>
          </a:prstGeom>
          <a:noFill/>
        </p:spPr>
        <p:txBody>
          <a:bodyPr wrap="square" anchor="ctr" lIns="0" rIns="0" tIns="0" bIns="0">
            <a:spAutoFit/>
          </a:bodyPr>
          <a:lstStyle/>
          <a:p>
            <a:pPr algn="ctr">
              <a:lnSpc>
                <a:spcPct val="108000"/>
              </a:lnSpc>
            </a:pPr>
            <a:r>
              <a:rPr sz="1200" b="1" i="0">
                <a:solidFill>
                  <a:srgbClr val="FFFFFF"/>
                </a:solidFill>
                <a:latin typeface="Times New Roman"/>
              </a:rPr>
              <a:t>An original
manuscript</a:t>
            </a:r>
          </a:p>
        </p:txBody>
      </p:sp>
      <p:sp>
        <p:nvSpPr>
          <p:cNvPr id="31" name="Rectangle 30"/>
          <p:cNvSpPr/>
          <p:nvPr/>
        </p:nvSpPr>
        <p:spPr>
          <a:xfrm>
            <a:off x="8001000" y="4590288"/>
            <a:ext cx="3291840" cy="65836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60" y="4590288"/>
            <a:ext cx="3017520" cy="658368"/>
          </a:xfrm>
          <a:prstGeom prst="rect">
            <a:avLst/>
          </a:prstGeom>
          <a:noFill/>
        </p:spPr>
        <p:txBody>
          <a:bodyPr wrap="square" anchor="ctr" lIns="0" rIns="0" tIns="0" bIns="0">
            <a:spAutoFit/>
          </a:bodyPr>
          <a:lstStyle/>
          <a:p>
            <a:pPr algn="ctr">
              <a:lnSpc>
                <a:spcPct val="106000"/>
              </a:lnSpc>
            </a:pPr>
            <a:r>
              <a:rPr sz="1100" b="1" i="1">
                <a:solidFill>
                  <a:srgbClr val="FFFFFF"/>
                </a:solidFill>
                <a:latin typeface="Times New Roman"/>
              </a:rPr>
              <a:t>Toward a Theory of Strategic Management in the Age of Artificial Intelligence</a:t>
            </a:r>
          </a:p>
        </p:txBody>
      </p:sp>
      <p:sp>
        <p:nvSpPr>
          <p:cNvPr id="33" name="Rectangle 32"/>
          <p:cNvSpPr/>
          <p:nvPr/>
        </p:nvSpPr>
        <p:spPr>
          <a:xfrm>
            <a:off x="868680" y="5724144"/>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 y="5724144"/>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Graduate education should extend beyond mastering existing knowledge.</a:t>
            </a:r>
          </a:p>
        </p:txBody>
      </p:sp>
      <p:sp>
        <p:nvSpPr>
          <p:cNvPr id="35" name="TextBox 34"/>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6</a:t>
            </a:r>
          </a:p>
        </p:txBody>
      </p:sp>
      <p:sp>
        <p:nvSpPr>
          <p:cNvPr id="36" name="TextBox 35"/>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 · COURSE FOUNDATIONS</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One belief, three perspectives on every framework</a:t>
            </a:r>
          </a:p>
        </p:txBody>
      </p:sp>
      <p:sp>
        <p:nvSpPr>
          <p:cNvPr id="7" name="Rectangle 6"/>
          <p:cNvSpPr/>
          <p:nvPr/>
        </p:nvSpPr>
        <p:spPr>
          <a:xfrm>
            <a:off x="868680" y="1463040"/>
            <a:ext cx="10424160" cy="93268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63040"/>
            <a:ext cx="45720" cy="93268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463040"/>
            <a:ext cx="9875520" cy="932688"/>
          </a:xfrm>
          <a:prstGeom prst="rect">
            <a:avLst/>
          </a:prstGeom>
          <a:noFill/>
        </p:spPr>
        <p:txBody>
          <a:bodyPr wrap="square" anchor="ctr" lIns="0" rIns="0" tIns="0" bIns="0">
            <a:spAutoFit/>
          </a:bodyPr>
          <a:lstStyle/>
          <a:p>
            <a:pPr algn="l">
              <a:lnSpc>
                <a:spcPct val="122000"/>
              </a:lnSpc>
            </a:pPr>
            <a:r>
              <a:rPr sz="1600" b="1" i="1">
                <a:solidFill>
                  <a:srgbClr val="FFFFFF"/>
                </a:solidFill>
                <a:latin typeface="Times New Roman"/>
              </a:rPr>
              <a:t>The principles of strategic management remain essential, but the assumptions underlying many of those principles are being transformed by artificial intelligence.</a:t>
            </a:r>
          </a:p>
        </p:txBody>
      </p:sp>
      <p:sp>
        <p:nvSpPr>
          <p:cNvPr id="10" name="Rectangle 9"/>
          <p:cNvSpPr/>
          <p:nvPr/>
        </p:nvSpPr>
        <p:spPr>
          <a:xfrm>
            <a:off x="868680" y="2670048"/>
            <a:ext cx="3383280" cy="283464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670048"/>
            <a:ext cx="33832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2871216"/>
            <a:ext cx="2980944" cy="2505456"/>
          </a:xfrm>
          <a:prstGeom prst="rect">
            <a:avLst/>
          </a:prstGeom>
          <a:noFill/>
        </p:spPr>
        <p:txBody>
          <a:bodyPr wrap="square" anchor="t" lIns="0" rIns="0" tIns="0" bIns="0">
            <a:spAutoFit/>
          </a:bodyPr>
          <a:lstStyle/>
          <a:p>
            <a:pPr algn="l">
              <a:spcAft>
                <a:spcPts val="600"/>
              </a:spcAft>
            </a:pPr>
            <a:r>
              <a:rPr sz="900" b="1" i="0">
                <a:solidFill>
                  <a:srgbClr val="2A6F97"/>
                </a:solidFill>
                <a:latin typeface="Times New Roman"/>
              </a:rPr>
              <a:t>PERSPECTIVE ONE</a:t>
            </a:r>
          </a:p>
          <a:p>
            <a:pPr algn="l">
              <a:spcAft>
                <a:spcPts val="1000"/>
              </a:spcAft>
            </a:pPr>
            <a:r>
              <a:rPr sz="1700" b="1" i="0">
                <a:solidFill>
                  <a:srgbClr val="10233F"/>
                </a:solidFill>
                <a:latin typeface="Times New Roman"/>
              </a:rPr>
              <a:t>Classical Theory</a:t>
            </a:r>
          </a:p>
          <a:p>
            <a:pPr algn="l">
              <a:lnSpc>
                <a:spcPct val="118000"/>
              </a:lnSpc>
              <a:spcAft>
                <a:spcPts val="500"/>
              </a:spcAft>
            </a:pPr>
            <a:r>
              <a:rPr sz="1200" b="0" i="0">
                <a:solidFill>
                  <a:srgbClr val="111827"/>
                </a:solidFill>
                <a:latin typeface="Times New Roman"/>
              </a:rPr>
              <a:t>—  Historical context</a:t>
            </a:r>
          </a:p>
          <a:p>
            <a:pPr algn="l">
              <a:lnSpc>
                <a:spcPct val="118000"/>
              </a:lnSpc>
              <a:spcAft>
                <a:spcPts val="500"/>
              </a:spcAft>
            </a:pPr>
            <a:r>
              <a:rPr sz="1200" b="0" i="0">
                <a:solidFill>
                  <a:srgbClr val="111827"/>
                </a:solidFill>
                <a:latin typeface="Times New Roman"/>
              </a:rPr>
              <a:t>—  Underlying assumptions</a:t>
            </a:r>
          </a:p>
          <a:p>
            <a:pPr algn="l">
              <a:lnSpc>
                <a:spcPct val="118000"/>
              </a:lnSpc>
              <a:spcAft>
                <a:spcPts val="500"/>
              </a:spcAft>
            </a:pPr>
            <a:r>
              <a:rPr sz="1200" b="0" i="0">
                <a:solidFill>
                  <a:srgbClr val="111827"/>
                </a:solidFill>
                <a:latin typeface="Times New Roman"/>
              </a:rPr>
              <a:t>—  Empirical support</a:t>
            </a:r>
          </a:p>
          <a:p>
            <a:pPr algn="l">
              <a:lnSpc>
                <a:spcPct val="118000"/>
              </a:lnSpc>
              <a:spcAft>
                <a:spcPts val="500"/>
              </a:spcAft>
            </a:pPr>
            <a:r>
              <a:rPr sz="1200" b="0" i="0">
                <a:solidFill>
                  <a:srgbClr val="111827"/>
                </a:solidFill>
                <a:latin typeface="Times New Roman"/>
              </a:rPr>
              <a:t>—  Managerial implications</a:t>
            </a:r>
          </a:p>
          <a:p>
            <a:pPr algn="l">
              <a:lnSpc>
                <a:spcPct val="118000"/>
              </a:lnSpc>
              <a:spcBef>
                <a:spcPts val="1000"/>
              </a:spcBef>
            </a:pPr>
            <a:r>
              <a:rPr sz="1150" b="1" i="1">
                <a:solidFill>
                  <a:srgbClr val="4B5563"/>
                </a:solidFill>
                <a:latin typeface="Times New Roman"/>
              </a:rPr>
              <a:t>Why did this theory become influential?</a:t>
            </a:r>
          </a:p>
        </p:txBody>
      </p:sp>
      <p:sp>
        <p:nvSpPr>
          <p:cNvPr id="13" name="Rectangle 12"/>
          <p:cNvSpPr/>
          <p:nvPr/>
        </p:nvSpPr>
        <p:spPr>
          <a:xfrm>
            <a:off x="4389120" y="2670048"/>
            <a:ext cx="3383280" cy="28346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2670048"/>
            <a:ext cx="3383280" cy="4572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871216"/>
            <a:ext cx="2980944" cy="2505456"/>
          </a:xfrm>
          <a:prstGeom prst="rect">
            <a:avLst/>
          </a:prstGeom>
          <a:noFill/>
        </p:spPr>
        <p:txBody>
          <a:bodyPr wrap="square" anchor="t" lIns="0" rIns="0" tIns="0" bIns="0">
            <a:spAutoFit/>
          </a:bodyPr>
          <a:lstStyle/>
          <a:p>
            <a:pPr algn="l">
              <a:spcAft>
                <a:spcPts val="600"/>
              </a:spcAft>
            </a:pPr>
            <a:r>
              <a:rPr sz="900" b="1" i="0">
                <a:solidFill>
                  <a:srgbClr val="2A6F97"/>
                </a:solidFill>
                <a:latin typeface="Times New Roman"/>
              </a:rPr>
              <a:t>PERSPECTIVE TWO</a:t>
            </a:r>
          </a:p>
          <a:p>
            <a:pPr algn="l">
              <a:spcAft>
                <a:spcPts val="1000"/>
              </a:spcAft>
            </a:pPr>
            <a:r>
              <a:rPr sz="1700" b="1" i="0">
                <a:solidFill>
                  <a:srgbClr val="10233F"/>
                </a:solidFill>
                <a:latin typeface="Times New Roman"/>
              </a:rPr>
              <a:t>Critical Evaluation</a:t>
            </a:r>
          </a:p>
          <a:p>
            <a:pPr algn="l">
              <a:lnSpc>
                <a:spcPct val="118000"/>
              </a:lnSpc>
              <a:spcAft>
                <a:spcPts val="500"/>
              </a:spcAft>
            </a:pPr>
            <a:r>
              <a:rPr sz="1200" b="0" i="0">
                <a:solidFill>
                  <a:srgbClr val="111827"/>
                </a:solidFill>
                <a:latin typeface="Times New Roman"/>
              </a:rPr>
              <a:t>—  Which assumptions hold?</a:t>
            </a:r>
          </a:p>
          <a:p>
            <a:pPr algn="l">
              <a:lnSpc>
                <a:spcPct val="118000"/>
              </a:lnSpc>
              <a:spcAft>
                <a:spcPts val="500"/>
              </a:spcAft>
            </a:pPr>
            <a:r>
              <a:rPr sz="1200" b="0" i="0">
                <a:solidFill>
                  <a:srgbClr val="111827"/>
                </a:solidFill>
                <a:latin typeface="Times New Roman"/>
              </a:rPr>
              <a:t>—  Which have weakened?</a:t>
            </a:r>
          </a:p>
          <a:p>
            <a:pPr algn="l">
              <a:lnSpc>
                <a:spcPct val="118000"/>
              </a:lnSpc>
              <a:spcAft>
                <a:spcPts val="500"/>
              </a:spcAft>
            </a:pPr>
            <a:r>
              <a:rPr sz="1200" b="0" i="0">
                <a:solidFill>
                  <a:srgbClr val="111827"/>
                </a:solidFill>
                <a:latin typeface="Times New Roman"/>
              </a:rPr>
              <a:t>—  Which belong to an earlier era?</a:t>
            </a:r>
          </a:p>
          <a:p>
            <a:pPr algn="l">
              <a:lnSpc>
                <a:spcPct val="118000"/>
              </a:lnSpc>
              <a:spcBef>
                <a:spcPts val="1000"/>
              </a:spcBef>
            </a:pPr>
            <a:r>
              <a:rPr sz="1150" b="1" i="1">
                <a:solidFill>
                  <a:srgbClr val="4B5563"/>
                </a:solidFill>
                <a:latin typeface="Times New Roman"/>
              </a:rPr>
              <a:t>Critique the theory rather than memorize it.</a:t>
            </a:r>
          </a:p>
        </p:txBody>
      </p:sp>
      <p:sp>
        <p:nvSpPr>
          <p:cNvPr id="16" name="Rectangle 15"/>
          <p:cNvSpPr/>
          <p:nvPr/>
        </p:nvSpPr>
        <p:spPr>
          <a:xfrm>
            <a:off x="7909560" y="2670048"/>
            <a:ext cx="3383280" cy="2834640"/>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09560" y="2670048"/>
            <a:ext cx="3383280" cy="45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2871216"/>
            <a:ext cx="2980944" cy="2505456"/>
          </a:xfrm>
          <a:prstGeom prst="rect">
            <a:avLst/>
          </a:prstGeom>
          <a:noFill/>
        </p:spPr>
        <p:txBody>
          <a:bodyPr wrap="square" anchor="t" lIns="0" rIns="0" tIns="0" bIns="0">
            <a:spAutoFit/>
          </a:bodyPr>
          <a:lstStyle/>
          <a:p>
            <a:pPr algn="l">
              <a:spcAft>
                <a:spcPts val="600"/>
              </a:spcAft>
            </a:pPr>
            <a:r>
              <a:rPr sz="900" b="1" i="0">
                <a:solidFill>
                  <a:srgbClr val="2A6F97"/>
                </a:solidFill>
                <a:latin typeface="Times New Roman"/>
              </a:rPr>
              <a:t>PERSPECTIVE THREE</a:t>
            </a:r>
          </a:p>
          <a:p>
            <a:pPr algn="l">
              <a:spcAft>
                <a:spcPts val="1000"/>
              </a:spcAft>
            </a:pPr>
            <a:r>
              <a:rPr sz="1700" b="1" i="0">
                <a:solidFill>
                  <a:srgbClr val="10233F"/>
                </a:solidFill>
                <a:latin typeface="Times New Roman"/>
              </a:rPr>
              <a:t>AI Extension</a:t>
            </a:r>
          </a:p>
          <a:p>
            <a:pPr algn="l">
              <a:lnSpc>
                <a:spcPct val="118000"/>
              </a:lnSpc>
              <a:spcAft>
                <a:spcPts val="500"/>
              </a:spcAft>
            </a:pPr>
            <a:r>
              <a:rPr sz="1200" b="0" i="0">
                <a:solidFill>
                  <a:srgbClr val="111827"/>
                </a:solidFill>
                <a:latin typeface="Times New Roman"/>
              </a:rPr>
              <a:t>—  Intelligent systems</a:t>
            </a:r>
          </a:p>
          <a:p>
            <a:pPr algn="l">
              <a:lnSpc>
                <a:spcPct val="118000"/>
              </a:lnSpc>
              <a:spcAft>
                <a:spcPts val="500"/>
              </a:spcAft>
            </a:pPr>
            <a:r>
              <a:rPr sz="1200" b="0" i="0">
                <a:solidFill>
                  <a:srgbClr val="111827"/>
                </a:solidFill>
                <a:latin typeface="Times New Roman"/>
              </a:rPr>
              <a:t>—  Abundant data</a:t>
            </a:r>
          </a:p>
          <a:p>
            <a:pPr algn="l">
              <a:lnSpc>
                <a:spcPct val="118000"/>
              </a:lnSpc>
              <a:spcAft>
                <a:spcPts val="500"/>
              </a:spcAft>
            </a:pPr>
            <a:r>
              <a:rPr sz="1200" b="0" i="0">
                <a:solidFill>
                  <a:srgbClr val="111827"/>
                </a:solidFill>
                <a:latin typeface="Times New Roman"/>
              </a:rPr>
              <a:t>—  Digital ecosystems</a:t>
            </a:r>
          </a:p>
          <a:p>
            <a:pPr algn="l">
              <a:lnSpc>
                <a:spcPct val="118000"/>
              </a:lnSpc>
              <a:spcAft>
                <a:spcPts val="500"/>
              </a:spcAft>
            </a:pPr>
            <a:r>
              <a:rPr sz="1200" b="0" i="0">
                <a:solidFill>
                  <a:srgbClr val="111827"/>
                </a:solidFill>
                <a:latin typeface="Times New Roman"/>
              </a:rPr>
              <a:t>—  Continuous learning</a:t>
            </a:r>
          </a:p>
          <a:p>
            <a:pPr algn="l">
              <a:lnSpc>
                <a:spcPct val="118000"/>
              </a:lnSpc>
              <a:spcBef>
                <a:spcPts val="1000"/>
              </a:spcBef>
            </a:pPr>
            <a:r>
              <a:rPr sz="1150" b="1" i="1">
                <a:solidFill>
                  <a:srgbClr val="4B5563"/>
                </a:solidFill>
                <a:latin typeface="Times New Roman"/>
              </a:rPr>
              <a:t>How should strategy itself evolve?</a:t>
            </a:r>
          </a:p>
        </p:txBody>
      </p:sp>
      <p:sp>
        <p:nvSpPr>
          <p:cNvPr id="19" name="Rectangle 18"/>
          <p:cNvSpPr/>
          <p:nvPr/>
        </p:nvSpPr>
        <p:spPr>
          <a:xfrm>
            <a:off x="868680" y="5742432"/>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5742432"/>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Rethink not only how organizations execute strategy, but how strategy itself is formulated.</a:t>
            </a:r>
          </a:p>
        </p:txBody>
      </p:sp>
      <p:sp>
        <p:nvSpPr>
          <p:cNvPr id="21" name="TextBox 20"/>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7</a:t>
            </a:r>
          </a:p>
        </p:txBody>
      </p:sp>
      <p:sp>
        <p:nvSpPr>
          <p:cNvPr id="22" name="TextBox 21"/>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 · LEARNING APPROACH</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Every module follows the same ten moves</a:t>
            </a:r>
          </a:p>
        </p:txBody>
      </p:sp>
      <p:sp>
        <p:nvSpPr>
          <p:cNvPr id="7" name="TextBox 6"/>
          <p:cNvSpPr txBox="1"/>
          <p:nvPr/>
        </p:nvSpPr>
        <p:spPr>
          <a:xfrm>
            <a:off x="502920" y="1106424"/>
            <a:ext cx="10698480" cy="274320"/>
          </a:xfrm>
          <a:prstGeom prst="rect">
            <a:avLst/>
          </a:prstGeom>
          <a:noFill/>
        </p:spPr>
        <p:txBody>
          <a:bodyPr wrap="square" anchor="t" lIns="0" rIns="0" tIns="0" bIns="0">
            <a:spAutoFit/>
          </a:bodyPr>
          <a:lstStyle/>
          <a:p>
            <a:pPr algn="l"/>
            <a:r>
              <a:rPr sz="1250" b="0" i="1">
                <a:solidFill>
                  <a:srgbClr val="4B5563"/>
                </a:solidFill>
                <a:latin typeface="Times New Roman"/>
              </a:rPr>
              <a:t>A repeated structure lets you compare theories across contexts while building higher-order reasoning.</a:t>
            </a:r>
          </a:p>
        </p:txBody>
      </p:sp>
      <p:sp>
        <p:nvSpPr>
          <p:cNvPr id="8" name="Rectangle 7"/>
          <p:cNvSpPr/>
          <p:nvPr/>
        </p:nvSpPr>
        <p:spPr>
          <a:xfrm>
            <a:off x="868680" y="1773936"/>
            <a:ext cx="5047488" cy="49377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773936"/>
            <a:ext cx="365760" cy="49377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92807"/>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1</a:t>
            </a:r>
          </a:p>
        </p:txBody>
      </p:sp>
      <p:sp>
        <p:nvSpPr>
          <p:cNvPr id="11" name="TextBox 10"/>
          <p:cNvSpPr txBox="1"/>
          <p:nvPr/>
        </p:nvSpPr>
        <p:spPr>
          <a:xfrm>
            <a:off x="1399031" y="1773936"/>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A strategic question</a:t>
            </a:r>
          </a:p>
        </p:txBody>
      </p:sp>
      <p:sp>
        <p:nvSpPr>
          <p:cNvPr id="12" name="Rectangle 11"/>
          <p:cNvSpPr/>
          <p:nvPr/>
        </p:nvSpPr>
        <p:spPr>
          <a:xfrm>
            <a:off x="6245352" y="1773936"/>
            <a:ext cx="5047488" cy="49377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773936"/>
            <a:ext cx="365760" cy="49377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1892807"/>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2</a:t>
            </a:r>
          </a:p>
        </p:txBody>
      </p:sp>
      <p:sp>
        <p:nvSpPr>
          <p:cNvPr id="15" name="TextBox 14"/>
          <p:cNvSpPr txBox="1"/>
          <p:nvPr/>
        </p:nvSpPr>
        <p:spPr>
          <a:xfrm>
            <a:off x="6775704" y="1773936"/>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Why the question matters</a:t>
            </a:r>
          </a:p>
        </p:txBody>
      </p:sp>
      <p:sp>
        <p:nvSpPr>
          <p:cNvPr id="16" name="Rectangle 15"/>
          <p:cNvSpPr/>
          <p:nvPr/>
        </p:nvSpPr>
        <p:spPr>
          <a:xfrm>
            <a:off x="868680" y="2377440"/>
            <a:ext cx="5047488" cy="49377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2377440"/>
            <a:ext cx="365760" cy="49377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496312"/>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3</a:t>
            </a:r>
          </a:p>
        </p:txBody>
      </p:sp>
      <p:sp>
        <p:nvSpPr>
          <p:cNvPr id="19" name="TextBox 18"/>
          <p:cNvSpPr txBox="1"/>
          <p:nvPr/>
        </p:nvSpPr>
        <p:spPr>
          <a:xfrm>
            <a:off x="1399031" y="2377440"/>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Classical strategic theory</a:t>
            </a:r>
          </a:p>
        </p:txBody>
      </p:sp>
      <p:sp>
        <p:nvSpPr>
          <p:cNvPr id="20" name="Rectangle 19"/>
          <p:cNvSpPr/>
          <p:nvPr/>
        </p:nvSpPr>
        <p:spPr>
          <a:xfrm>
            <a:off x="6245352" y="2377440"/>
            <a:ext cx="5047488" cy="49377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5352" y="2377440"/>
            <a:ext cx="365760" cy="49377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5352" y="2496312"/>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4</a:t>
            </a:r>
          </a:p>
        </p:txBody>
      </p:sp>
      <p:sp>
        <p:nvSpPr>
          <p:cNvPr id="23" name="TextBox 22"/>
          <p:cNvSpPr txBox="1"/>
          <p:nvPr/>
        </p:nvSpPr>
        <p:spPr>
          <a:xfrm>
            <a:off x="6775704" y="2377440"/>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Contemporary AI scholarship</a:t>
            </a:r>
          </a:p>
        </p:txBody>
      </p:sp>
      <p:sp>
        <p:nvSpPr>
          <p:cNvPr id="24" name="Rectangle 23"/>
          <p:cNvSpPr/>
          <p:nvPr/>
        </p:nvSpPr>
        <p:spPr>
          <a:xfrm>
            <a:off x="868680" y="2980944"/>
            <a:ext cx="5047488" cy="49377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2980944"/>
            <a:ext cx="365760" cy="49377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099815"/>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5</a:t>
            </a:r>
          </a:p>
        </p:txBody>
      </p:sp>
      <p:sp>
        <p:nvSpPr>
          <p:cNvPr id="27" name="TextBox 26"/>
          <p:cNvSpPr txBox="1"/>
          <p:nvPr/>
        </p:nvSpPr>
        <p:spPr>
          <a:xfrm>
            <a:off x="1399031" y="2980944"/>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Comparative analysis</a:t>
            </a:r>
          </a:p>
        </p:txBody>
      </p:sp>
      <p:sp>
        <p:nvSpPr>
          <p:cNvPr id="28" name="Rectangle 27"/>
          <p:cNvSpPr/>
          <p:nvPr/>
        </p:nvSpPr>
        <p:spPr>
          <a:xfrm>
            <a:off x="6245352" y="2980944"/>
            <a:ext cx="5047488" cy="49377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2980944"/>
            <a:ext cx="365760" cy="49377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45352" y="3099815"/>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6</a:t>
            </a:r>
          </a:p>
        </p:txBody>
      </p:sp>
      <p:sp>
        <p:nvSpPr>
          <p:cNvPr id="31" name="TextBox 30"/>
          <p:cNvSpPr txBox="1"/>
          <p:nvPr/>
        </p:nvSpPr>
        <p:spPr>
          <a:xfrm>
            <a:off x="6775704" y="2980944"/>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Executive perspectives</a:t>
            </a:r>
          </a:p>
        </p:txBody>
      </p:sp>
      <p:sp>
        <p:nvSpPr>
          <p:cNvPr id="32" name="Rectangle 31"/>
          <p:cNvSpPr/>
          <p:nvPr/>
        </p:nvSpPr>
        <p:spPr>
          <a:xfrm>
            <a:off x="868680" y="3584448"/>
            <a:ext cx="5047488" cy="49377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8680" y="3584448"/>
            <a:ext cx="365760" cy="49377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3703320"/>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7</a:t>
            </a:r>
          </a:p>
        </p:txBody>
      </p:sp>
      <p:sp>
        <p:nvSpPr>
          <p:cNvPr id="35" name="TextBox 34"/>
          <p:cNvSpPr txBox="1"/>
          <p:nvPr/>
        </p:nvSpPr>
        <p:spPr>
          <a:xfrm>
            <a:off x="1399031" y="3584448"/>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Applied organizational case</a:t>
            </a:r>
          </a:p>
        </p:txBody>
      </p:sp>
      <p:sp>
        <p:nvSpPr>
          <p:cNvPr id="36" name="Rectangle 35"/>
          <p:cNvSpPr/>
          <p:nvPr/>
        </p:nvSpPr>
        <p:spPr>
          <a:xfrm>
            <a:off x="6245352" y="3584448"/>
            <a:ext cx="5047488" cy="49377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45352" y="3584448"/>
            <a:ext cx="365760" cy="49377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45352" y="3703320"/>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8</a:t>
            </a:r>
          </a:p>
        </p:txBody>
      </p:sp>
      <p:sp>
        <p:nvSpPr>
          <p:cNvPr id="39" name="TextBox 38"/>
          <p:cNvSpPr txBox="1"/>
          <p:nvPr/>
        </p:nvSpPr>
        <p:spPr>
          <a:xfrm>
            <a:off x="6775704" y="3584448"/>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AI laboratory</a:t>
            </a:r>
          </a:p>
        </p:txBody>
      </p:sp>
      <p:sp>
        <p:nvSpPr>
          <p:cNvPr id="40" name="Rectangle 39"/>
          <p:cNvSpPr/>
          <p:nvPr/>
        </p:nvSpPr>
        <p:spPr>
          <a:xfrm>
            <a:off x="868680" y="4187952"/>
            <a:ext cx="5047488" cy="49377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 y="4187952"/>
            <a:ext cx="365760" cy="49377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306824"/>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9</a:t>
            </a:r>
          </a:p>
        </p:txBody>
      </p:sp>
      <p:sp>
        <p:nvSpPr>
          <p:cNvPr id="43" name="TextBox 42"/>
          <p:cNvSpPr txBox="1"/>
          <p:nvPr/>
        </p:nvSpPr>
        <p:spPr>
          <a:xfrm>
            <a:off x="1399031" y="4187952"/>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Consulting milestone</a:t>
            </a:r>
          </a:p>
        </p:txBody>
      </p:sp>
      <p:sp>
        <p:nvSpPr>
          <p:cNvPr id="44" name="Rectangle 43"/>
          <p:cNvSpPr/>
          <p:nvPr/>
        </p:nvSpPr>
        <p:spPr>
          <a:xfrm>
            <a:off x="6245352" y="4187952"/>
            <a:ext cx="5047488" cy="49377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245352" y="4187952"/>
            <a:ext cx="365760" cy="49377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4306824"/>
            <a:ext cx="365760" cy="274320"/>
          </a:xfrm>
          <a:prstGeom prst="rect">
            <a:avLst/>
          </a:prstGeom>
          <a:noFill/>
        </p:spPr>
        <p:txBody>
          <a:bodyPr wrap="square" anchor="t" lIns="0" rIns="0" tIns="0" bIns="0">
            <a:spAutoFit/>
          </a:bodyPr>
          <a:lstStyle/>
          <a:p>
            <a:pPr algn="ctr"/>
            <a:r>
              <a:rPr sz="1300" b="1" i="0">
                <a:solidFill>
                  <a:srgbClr val="FFFFFF"/>
                </a:solidFill>
                <a:latin typeface="Times New Roman"/>
              </a:rPr>
              <a:t>10</a:t>
            </a:r>
          </a:p>
        </p:txBody>
      </p:sp>
      <p:sp>
        <p:nvSpPr>
          <p:cNvPr id="47" name="TextBox 46"/>
          <p:cNvSpPr txBox="1"/>
          <p:nvPr/>
        </p:nvSpPr>
        <p:spPr>
          <a:xfrm>
            <a:off x="6775704" y="4187952"/>
            <a:ext cx="4389120" cy="493776"/>
          </a:xfrm>
          <a:prstGeom prst="rect">
            <a:avLst/>
          </a:prstGeom>
          <a:noFill/>
        </p:spPr>
        <p:txBody>
          <a:bodyPr wrap="square" anchor="ctr" lIns="0" rIns="0" tIns="0" bIns="0">
            <a:spAutoFit/>
          </a:bodyPr>
          <a:lstStyle/>
          <a:p>
            <a:pPr algn="l"/>
            <a:r>
              <a:rPr sz="1350" b="1" i="0">
                <a:solidFill>
                  <a:srgbClr val="111827"/>
                </a:solidFill>
                <a:latin typeface="Times New Roman"/>
              </a:rPr>
              <a:t>Reflection</a:t>
            </a:r>
          </a:p>
        </p:txBody>
      </p:sp>
      <p:sp>
        <p:nvSpPr>
          <p:cNvPr id="48" name="TextBox 47"/>
          <p:cNvSpPr txBox="1"/>
          <p:nvPr/>
        </p:nvSpPr>
        <p:spPr>
          <a:xfrm>
            <a:off x="868680" y="4956048"/>
            <a:ext cx="10424160" cy="274320"/>
          </a:xfrm>
          <a:prstGeom prst="rect">
            <a:avLst/>
          </a:prstGeom>
          <a:noFill/>
        </p:spPr>
        <p:txBody>
          <a:bodyPr wrap="square" anchor="t" lIns="0" rIns="0" tIns="0" bIns="0">
            <a:spAutoFit/>
          </a:bodyPr>
          <a:lstStyle/>
          <a:p>
            <a:pPr algn="l"/>
            <a:r>
              <a:rPr sz="950" b="1" i="0">
                <a:solidFill>
                  <a:srgbClr val="2A6F97"/>
                </a:solidFill>
                <a:latin typeface="Times New Roman"/>
              </a:rPr>
              <a:t>FOUR COMPLEMENTARY PERSPECTIVES RUN THROUGH ALL TEN WEEKS</a:t>
            </a:r>
          </a:p>
        </p:txBody>
      </p:sp>
      <p:sp>
        <p:nvSpPr>
          <p:cNvPr id="49" name="Rectangle 48"/>
          <p:cNvSpPr/>
          <p:nvPr/>
        </p:nvSpPr>
        <p:spPr>
          <a:xfrm>
            <a:off x="868680" y="5266944"/>
            <a:ext cx="2505456" cy="64008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1" y="5266944"/>
            <a:ext cx="2176272" cy="640080"/>
          </a:xfrm>
          <a:prstGeom prst="rect">
            <a:avLst/>
          </a:prstGeom>
          <a:noFill/>
        </p:spPr>
        <p:txBody>
          <a:bodyPr wrap="square" anchor="ctr" lIns="0" rIns="0" tIns="0" bIns="0">
            <a:spAutoFit/>
          </a:bodyPr>
          <a:lstStyle/>
          <a:p>
            <a:pPr algn="l">
              <a:spcAft>
                <a:spcPts val="200"/>
              </a:spcAft>
            </a:pPr>
            <a:r>
              <a:rPr sz="1350" b="1" i="0">
                <a:solidFill>
                  <a:srgbClr val="FFFFFF"/>
                </a:solidFill>
                <a:latin typeface="Times New Roman"/>
              </a:rPr>
              <a:t>Theory</a:t>
            </a:r>
          </a:p>
          <a:p>
            <a:pPr algn="l">
              <a:lnSpc>
                <a:spcPct val="108000"/>
              </a:lnSpc>
            </a:pPr>
            <a:r>
              <a:rPr sz="950" b="0" i="0">
                <a:solidFill>
                  <a:srgbClr val="C9D2DE"/>
                </a:solidFill>
                <a:latin typeface="Times New Roman"/>
              </a:rPr>
              <a:t>The foundational literature</a:t>
            </a:r>
          </a:p>
        </p:txBody>
      </p:sp>
      <p:sp>
        <p:nvSpPr>
          <p:cNvPr id="51" name="Rectangle 50"/>
          <p:cNvSpPr/>
          <p:nvPr/>
        </p:nvSpPr>
        <p:spPr>
          <a:xfrm>
            <a:off x="3575304" y="5266944"/>
            <a:ext cx="2505456" cy="64008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39896" y="5266944"/>
            <a:ext cx="2176272" cy="640080"/>
          </a:xfrm>
          <a:prstGeom prst="rect">
            <a:avLst/>
          </a:prstGeom>
          <a:noFill/>
        </p:spPr>
        <p:txBody>
          <a:bodyPr wrap="square" anchor="ctr" lIns="0" rIns="0" tIns="0" bIns="0">
            <a:spAutoFit/>
          </a:bodyPr>
          <a:lstStyle/>
          <a:p>
            <a:pPr algn="l">
              <a:spcAft>
                <a:spcPts val="200"/>
              </a:spcAft>
            </a:pPr>
            <a:r>
              <a:rPr sz="1350" b="1" i="0">
                <a:solidFill>
                  <a:srgbClr val="FFFFFF"/>
                </a:solidFill>
                <a:latin typeface="Times New Roman"/>
              </a:rPr>
              <a:t>Research</a:t>
            </a:r>
          </a:p>
          <a:p>
            <a:pPr algn="l">
              <a:lnSpc>
                <a:spcPct val="108000"/>
              </a:lnSpc>
            </a:pPr>
            <a:r>
              <a:rPr sz="950" b="0" i="0">
                <a:solidFill>
                  <a:srgbClr val="C9D2DE"/>
                </a:solidFill>
                <a:latin typeface="Times New Roman"/>
              </a:rPr>
              <a:t>Contemporary AI scholarship</a:t>
            </a:r>
          </a:p>
        </p:txBody>
      </p:sp>
      <p:sp>
        <p:nvSpPr>
          <p:cNvPr id="53" name="Rectangle 52"/>
          <p:cNvSpPr/>
          <p:nvPr/>
        </p:nvSpPr>
        <p:spPr>
          <a:xfrm>
            <a:off x="6281928" y="5266944"/>
            <a:ext cx="2505456" cy="64008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46520" y="5266944"/>
            <a:ext cx="2176272" cy="640080"/>
          </a:xfrm>
          <a:prstGeom prst="rect">
            <a:avLst/>
          </a:prstGeom>
          <a:noFill/>
        </p:spPr>
        <p:txBody>
          <a:bodyPr wrap="square" anchor="ctr" lIns="0" rIns="0" tIns="0" bIns="0">
            <a:spAutoFit/>
          </a:bodyPr>
          <a:lstStyle/>
          <a:p>
            <a:pPr algn="l">
              <a:spcAft>
                <a:spcPts val="200"/>
              </a:spcAft>
            </a:pPr>
            <a:r>
              <a:rPr sz="1350" b="1" i="0">
                <a:solidFill>
                  <a:srgbClr val="FFFFFF"/>
                </a:solidFill>
                <a:latin typeface="Times New Roman"/>
              </a:rPr>
              <a:t>Practice</a:t>
            </a:r>
          </a:p>
          <a:p>
            <a:pPr algn="l">
              <a:lnSpc>
                <a:spcPct val="108000"/>
              </a:lnSpc>
            </a:pPr>
            <a:r>
              <a:rPr sz="950" b="0" i="0">
                <a:solidFill>
                  <a:srgbClr val="C9D2DE"/>
                </a:solidFill>
                <a:latin typeface="Times New Roman"/>
              </a:rPr>
              <a:t>HBS cases and executive reports</a:t>
            </a:r>
          </a:p>
        </p:txBody>
      </p:sp>
      <p:sp>
        <p:nvSpPr>
          <p:cNvPr id="55" name="Rectangle 54"/>
          <p:cNvSpPr/>
          <p:nvPr/>
        </p:nvSpPr>
        <p:spPr>
          <a:xfrm>
            <a:off x="8988552" y="5266944"/>
            <a:ext cx="2505456" cy="64008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53144" y="5266944"/>
            <a:ext cx="2176272" cy="640080"/>
          </a:xfrm>
          <a:prstGeom prst="rect">
            <a:avLst/>
          </a:prstGeom>
          <a:noFill/>
        </p:spPr>
        <p:txBody>
          <a:bodyPr wrap="square" anchor="ctr" lIns="0" rIns="0" tIns="0" bIns="0">
            <a:spAutoFit/>
          </a:bodyPr>
          <a:lstStyle/>
          <a:p>
            <a:pPr algn="l">
              <a:spcAft>
                <a:spcPts val="200"/>
              </a:spcAft>
            </a:pPr>
            <a:r>
              <a:rPr sz="1350" b="1" i="0">
                <a:solidFill>
                  <a:srgbClr val="FFFFFF"/>
                </a:solidFill>
                <a:latin typeface="Times New Roman"/>
              </a:rPr>
              <a:t>Application</a:t>
            </a:r>
          </a:p>
          <a:p>
            <a:pPr algn="l">
              <a:lnSpc>
                <a:spcPct val="108000"/>
              </a:lnSpc>
            </a:pPr>
            <a:r>
              <a:rPr sz="950" b="0" i="0">
                <a:solidFill>
                  <a:srgbClr val="C9D2DE"/>
                </a:solidFill>
                <a:latin typeface="Times New Roman"/>
              </a:rPr>
              <a:t>A semester-long consulting engagement</a:t>
            </a:r>
          </a:p>
        </p:txBody>
      </p:sp>
      <p:sp>
        <p:nvSpPr>
          <p:cNvPr id="57" name="Rectangle 56"/>
          <p:cNvSpPr/>
          <p:nvPr/>
        </p:nvSpPr>
        <p:spPr>
          <a:xfrm>
            <a:off x="868680" y="6053328"/>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9848" y="6053328"/>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Theory, critique, comparison, application, reflection — ten times over.</a:t>
            </a:r>
          </a:p>
        </p:txBody>
      </p:sp>
      <p:sp>
        <p:nvSpPr>
          <p:cNvPr id="59" name="TextBox 58"/>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8</a:t>
            </a:r>
          </a:p>
        </p:txBody>
      </p:sp>
      <p:sp>
        <p:nvSpPr>
          <p:cNvPr id="60" name="TextBox 59"/>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 · SIGNATURE LEARNING EXPERIENCE</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The AI Strategy Consulting Project</a:t>
            </a:r>
          </a:p>
        </p:txBody>
      </p:sp>
      <p:sp>
        <p:nvSpPr>
          <p:cNvPr id="7" name="Rectangle 6"/>
          <p:cNvSpPr/>
          <p:nvPr/>
        </p:nvSpPr>
        <p:spPr>
          <a:xfrm>
            <a:off x="868680" y="1481328"/>
            <a:ext cx="10424160" cy="109728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1042416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481328"/>
            <a:ext cx="9875520" cy="1097280"/>
          </a:xfrm>
          <a:prstGeom prst="rect">
            <a:avLst/>
          </a:prstGeom>
          <a:noFill/>
        </p:spPr>
        <p:txBody>
          <a:bodyPr wrap="square" anchor="ctr" lIns="0" rIns="0" tIns="0" bIns="0">
            <a:spAutoFit/>
          </a:bodyPr>
          <a:lstStyle/>
          <a:p>
            <a:pPr algn="l">
              <a:lnSpc>
                <a:spcPct val="124000"/>
              </a:lnSpc>
            </a:pPr>
            <a:r>
              <a:rPr sz="1550" b="1" i="0">
                <a:solidFill>
                  <a:srgbClr val="FFFFFF"/>
                </a:solidFill>
                <a:latin typeface="Times New Roman"/>
              </a:rPr>
              <a:t>Working in consulting teams, you advise an existing organization on how artificial intelligence should influence its competitive strategy, organizational capabilities, governance, operating model, and long-term positioning.</a:t>
            </a:r>
          </a:p>
        </p:txBody>
      </p:sp>
      <p:sp>
        <p:nvSpPr>
          <p:cNvPr id="10" name="TextBox 9"/>
          <p:cNvSpPr txBox="1"/>
          <p:nvPr/>
        </p:nvSpPr>
        <p:spPr>
          <a:xfrm>
            <a:off x="868680" y="2816352"/>
            <a:ext cx="10424160" cy="274320"/>
          </a:xfrm>
          <a:prstGeom prst="rect">
            <a:avLst/>
          </a:prstGeom>
          <a:noFill/>
        </p:spPr>
        <p:txBody>
          <a:bodyPr wrap="square" anchor="t" lIns="0" rIns="0" tIns="0" bIns="0">
            <a:spAutoFit/>
          </a:bodyPr>
          <a:lstStyle/>
          <a:p>
            <a:pPr algn="l"/>
            <a:r>
              <a:rPr sz="950" b="1" i="0">
                <a:solidFill>
                  <a:srgbClr val="2A6F97"/>
                </a:solidFill>
                <a:latin typeface="Times New Roman"/>
              </a:rPr>
              <a:t>THE COURSE CONCLUDES WITH THREE DELIVERABLES</a:t>
            </a:r>
          </a:p>
        </p:txBody>
      </p:sp>
      <p:sp>
        <p:nvSpPr>
          <p:cNvPr id="11" name="Rectangle 10"/>
          <p:cNvSpPr/>
          <p:nvPr/>
        </p:nvSpPr>
        <p:spPr>
          <a:xfrm>
            <a:off x="868680" y="3145536"/>
            <a:ext cx="3383280" cy="157276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3145536"/>
            <a:ext cx="33832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383280"/>
            <a:ext cx="2980944" cy="1243584"/>
          </a:xfrm>
          <a:prstGeom prst="rect">
            <a:avLst/>
          </a:prstGeom>
          <a:noFill/>
        </p:spPr>
        <p:txBody>
          <a:bodyPr wrap="square" anchor="t" lIns="0" rIns="0" tIns="0" bIns="0">
            <a:spAutoFit/>
          </a:bodyPr>
          <a:lstStyle/>
          <a:p>
            <a:pPr algn="l">
              <a:lnSpc>
                <a:spcPct val="106000"/>
              </a:lnSpc>
              <a:spcAft>
                <a:spcPts val="800"/>
              </a:spcAft>
            </a:pPr>
            <a:r>
              <a:rPr sz="1500" b="1" i="0">
                <a:solidFill>
                  <a:srgbClr val="10233F"/>
                </a:solidFill>
                <a:latin typeface="Times New Roman"/>
              </a:rPr>
              <a:t>Consulting Report</a:t>
            </a:r>
          </a:p>
          <a:p>
            <a:pPr algn="l">
              <a:lnSpc>
                <a:spcPct val="124000"/>
              </a:lnSpc>
            </a:pPr>
            <a:r>
              <a:rPr sz="1200" b="0" i="0">
                <a:solidFill>
                  <a:srgbClr val="4B5563"/>
                </a:solidFill>
                <a:latin typeface="Times New Roman"/>
              </a:rPr>
              <a:t>A professional document of executive quality, grounded in theory and evidence.</a:t>
            </a:r>
          </a:p>
        </p:txBody>
      </p:sp>
      <p:sp>
        <p:nvSpPr>
          <p:cNvPr id="14" name="Rectangle 13"/>
          <p:cNvSpPr/>
          <p:nvPr/>
        </p:nvSpPr>
        <p:spPr>
          <a:xfrm>
            <a:off x="4389120" y="3145536"/>
            <a:ext cx="3383280" cy="1572768"/>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3145536"/>
            <a:ext cx="3383280" cy="45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3383280"/>
            <a:ext cx="2980944" cy="1243584"/>
          </a:xfrm>
          <a:prstGeom prst="rect">
            <a:avLst/>
          </a:prstGeom>
          <a:noFill/>
        </p:spPr>
        <p:txBody>
          <a:bodyPr wrap="square" anchor="t" lIns="0" rIns="0" tIns="0" bIns="0">
            <a:spAutoFit/>
          </a:bodyPr>
          <a:lstStyle/>
          <a:p>
            <a:pPr algn="l">
              <a:lnSpc>
                <a:spcPct val="106000"/>
              </a:lnSpc>
              <a:spcAft>
                <a:spcPts val="800"/>
              </a:spcAft>
            </a:pPr>
            <a:r>
              <a:rPr sz="1500" b="1" i="0">
                <a:solidFill>
                  <a:srgbClr val="10233F"/>
                </a:solidFill>
                <a:latin typeface="Times New Roman"/>
              </a:rPr>
              <a:t>Executive Presentation</a:t>
            </a:r>
          </a:p>
          <a:p>
            <a:pPr algn="l">
              <a:lnSpc>
                <a:spcPct val="124000"/>
              </a:lnSpc>
            </a:pPr>
            <a:r>
              <a:rPr sz="1200" b="0" i="0">
                <a:solidFill>
                  <a:srgbClr val="4B5563"/>
                </a:solidFill>
                <a:latin typeface="Times New Roman"/>
              </a:rPr>
              <a:t>A concise, decision-oriented briefing for senior leadership.</a:t>
            </a:r>
          </a:p>
        </p:txBody>
      </p:sp>
      <p:sp>
        <p:nvSpPr>
          <p:cNvPr id="17" name="Rectangle 16"/>
          <p:cNvSpPr/>
          <p:nvPr/>
        </p:nvSpPr>
        <p:spPr>
          <a:xfrm>
            <a:off x="7909560" y="3145536"/>
            <a:ext cx="3383280" cy="157276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09560" y="3145536"/>
            <a:ext cx="33832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0728" y="3383280"/>
            <a:ext cx="2980944" cy="1243584"/>
          </a:xfrm>
          <a:prstGeom prst="rect">
            <a:avLst/>
          </a:prstGeom>
          <a:noFill/>
        </p:spPr>
        <p:txBody>
          <a:bodyPr wrap="square" anchor="t" lIns="0" rIns="0" tIns="0" bIns="0">
            <a:spAutoFit/>
          </a:bodyPr>
          <a:lstStyle/>
          <a:p>
            <a:pPr algn="l">
              <a:lnSpc>
                <a:spcPct val="106000"/>
              </a:lnSpc>
              <a:spcAft>
                <a:spcPts val="800"/>
              </a:spcAft>
            </a:pPr>
            <a:r>
              <a:rPr sz="1500" b="1" i="0">
                <a:solidFill>
                  <a:srgbClr val="10233F"/>
                </a:solidFill>
                <a:latin typeface="Times New Roman"/>
              </a:rPr>
              <a:t>Board of Directors Meeting</a:t>
            </a:r>
          </a:p>
          <a:p>
            <a:pPr algn="l">
              <a:lnSpc>
                <a:spcPct val="124000"/>
              </a:lnSpc>
            </a:pPr>
            <a:r>
              <a:rPr sz="1200" b="0" i="0">
                <a:solidFill>
                  <a:srgbClr val="4B5563"/>
                </a:solidFill>
                <a:latin typeface="Times New Roman"/>
              </a:rPr>
              <a:t>A simulated board session in which you defend your recommendations under challenge.</a:t>
            </a:r>
          </a:p>
        </p:txBody>
      </p:sp>
      <p:sp>
        <p:nvSpPr>
          <p:cNvPr id="20" name="TextBox 19"/>
          <p:cNvSpPr txBox="1"/>
          <p:nvPr/>
        </p:nvSpPr>
        <p:spPr>
          <a:xfrm>
            <a:off x="868680" y="4956048"/>
            <a:ext cx="10424160" cy="731520"/>
          </a:xfrm>
          <a:prstGeom prst="rect">
            <a:avLst/>
          </a:prstGeom>
          <a:noFill/>
        </p:spPr>
        <p:txBody>
          <a:bodyPr wrap="square" anchor="t" lIns="0" rIns="0" tIns="0" bIns="0">
            <a:spAutoFit/>
          </a:bodyPr>
          <a:lstStyle/>
          <a:p>
            <a:pPr algn="l">
              <a:lnSpc>
                <a:spcPct val="130000"/>
              </a:lnSpc>
            </a:pPr>
            <a:r>
              <a:rPr sz="1350" b="0" i="0">
                <a:solidFill>
                  <a:srgbClr val="4B5563"/>
                </a:solidFill>
                <a:latin typeface="Times New Roman"/>
              </a:rPr>
              <a:t>Each weekly assignment contributes toward the cumulative engagement. You will defend your recommendations using scholarly research, strategic theory, empirical evidence, and executive reasoning.</a:t>
            </a:r>
          </a:p>
        </p:txBody>
      </p:sp>
      <p:sp>
        <p:nvSpPr>
          <p:cNvPr id="21" name="Rectangle 20"/>
          <p:cNvSpPr/>
          <p:nvPr/>
        </p:nvSpPr>
        <p:spPr>
          <a:xfrm>
            <a:off x="868680" y="5870448"/>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5870448"/>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This is the centerpiece of the course — everything else feeds into it.</a:t>
            </a:r>
          </a:p>
        </p:txBody>
      </p:sp>
      <p:sp>
        <p:nvSpPr>
          <p:cNvPr id="23" name="TextBox 22"/>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9</a:t>
            </a:r>
          </a:p>
        </p:txBody>
      </p:sp>
      <p:sp>
        <p:nvSpPr>
          <p:cNvPr id="24" name="TextBox 23"/>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 · EXPECTATIONS</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Approach this course as a corporate strategy group</a:t>
            </a:r>
          </a:p>
        </p:txBody>
      </p:sp>
      <p:sp>
        <p:nvSpPr>
          <p:cNvPr id="7" name="Rectangle 6"/>
          <p:cNvSpPr/>
          <p:nvPr/>
        </p:nvSpPr>
        <p:spPr>
          <a:xfrm>
            <a:off x="868680" y="1517904"/>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517904"/>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517904"/>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Question assumptions</a:t>
            </a:r>
          </a:p>
        </p:txBody>
      </p:sp>
      <p:sp>
        <p:nvSpPr>
          <p:cNvPr id="10" name="Rectangle 9"/>
          <p:cNvSpPr/>
          <p:nvPr/>
        </p:nvSpPr>
        <p:spPr>
          <a:xfrm>
            <a:off x="6245352" y="1517904"/>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517904"/>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517904"/>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Compare competing theories</a:t>
            </a:r>
          </a:p>
        </p:txBody>
      </p:sp>
      <p:sp>
        <p:nvSpPr>
          <p:cNvPr id="13" name="Rectangle 12"/>
          <p:cNvSpPr/>
          <p:nvPr/>
        </p:nvSpPr>
        <p:spPr>
          <a:xfrm>
            <a:off x="868680" y="2240280"/>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2240280"/>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2240280"/>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Evaluate evidence critically</a:t>
            </a:r>
          </a:p>
        </p:txBody>
      </p:sp>
      <p:sp>
        <p:nvSpPr>
          <p:cNvPr id="16" name="Rectangle 15"/>
          <p:cNvSpPr/>
          <p:nvPr/>
        </p:nvSpPr>
        <p:spPr>
          <a:xfrm>
            <a:off x="6245352" y="2240280"/>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2240280"/>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240280"/>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Challenge AI-generated recommendations</a:t>
            </a:r>
          </a:p>
        </p:txBody>
      </p:sp>
      <p:sp>
        <p:nvSpPr>
          <p:cNvPr id="19" name="Rectangle 18"/>
          <p:cNvSpPr/>
          <p:nvPr/>
        </p:nvSpPr>
        <p:spPr>
          <a:xfrm>
            <a:off x="868680" y="2962656"/>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2962656"/>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2962656"/>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Defend positions with scholarly support</a:t>
            </a:r>
          </a:p>
        </p:txBody>
      </p:sp>
      <p:sp>
        <p:nvSpPr>
          <p:cNvPr id="22" name="Rectangle 21"/>
          <p:cNvSpPr/>
          <p:nvPr/>
        </p:nvSpPr>
        <p:spPr>
          <a:xfrm>
            <a:off x="6245352" y="2962656"/>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5352" y="2962656"/>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962656"/>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Communicate professionally</a:t>
            </a:r>
          </a:p>
        </p:txBody>
      </p:sp>
      <p:sp>
        <p:nvSpPr>
          <p:cNvPr id="25" name="Rectangle 24"/>
          <p:cNvSpPr/>
          <p:nvPr/>
        </p:nvSpPr>
        <p:spPr>
          <a:xfrm>
            <a:off x="868680" y="3685032"/>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3685032"/>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9848" y="3685032"/>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Demonstrate ethical judgment</a:t>
            </a:r>
          </a:p>
        </p:txBody>
      </p:sp>
      <p:sp>
        <p:nvSpPr>
          <p:cNvPr id="28" name="Rectangle 27"/>
          <p:cNvSpPr/>
          <p:nvPr/>
        </p:nvSpPr>
        <p:spPr>
          <a:xfrm>
            <a:off x="6245352" y="3685032"/>
            <a:ext cx="5047488" cy="56692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3685032"/>
            <a:ext cx="41148"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3685032"/>
            <a:ext cx="4681727" cy="566928"/>
          </a:xfrm>
          <a:prstGeom prst="rect">
            <a:avLst/>
          </a:prstGeom>
          <a:noFill/>
        </p:spPr>
        <p:txBody>
          <a:bodyPr wrap="square" anchor="ctr" lIns="0" rIns="0" tIns="0" bIns="0">
            <a:spAutoFit/>
          </a:bodyPr>
          <a:lstStyle/>
          <a:p>
            <a:pPr algn="l">
              <a:lnSpc>
                <a:spcPct val="110000"/>
              </a:lnSpc>
            </a:pPr>
            <a:r>
              <a:rPr sz="1350" b="1" i="0">
                <a:solidFill>
                  <a:srgbClr val="10233F"/>
                </a:solidFill>
                <a:latin typeface="Times New Roman"/>
              </a:rPr>
              <a:t>Refine thinking as evidence emerges</a:t>
            </a:r>
          </a:p>
        </p:txBody>
      </p:sp>
      <p:sp>
        <p:nvSpPr>
          <p:cNvPr id="31" name="Rectangle 30"/>
          <p:cNvSpPr/>
          <p:nvPr/>
        </p:nvSpPr>
        <p:spPr>
          <a:xfrm>
            <a:off x="868680" y="4480560"/>
            <a:ext cx="5047488" cy="1042415"/>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480560"/>
            <a:ext cx="4590288" cy="1042415"/>
          </a:xfrm>
          <a:prstGeom prst="rect">
            <a:avLst/>
          </a:prstGeom>
          <a:noFill/>
        </p:spPr>
        <p:txBody>
          <a:bodyPr wrap="square" anchor="ctr" lIns="0" rIns="0" tIns="0" bIns="0">
            <a:spAutoFit/>
          </a:bodyPr>
          <a:lstStyle/>
          <a:p>
            <a:pPr algn="l">
              <a:spcAft>
                <a:spcPts val="700"/>
              </a:spcAft>
            </a:pPr>
            <a:r>
              <a:rPr sz="900" b="1" i="0">
                <a:solidFill>
                  <a:srgbClr val="D4A017"/>
                </a:solidFill>
                <a:latin typeface="Times New Roman"/>
              </a:rPr>
              <a:t>USING AI WELL REQUIRES</a:t>
            </a:r>
          </a:p>
          <a:p>
            <a:pPr algn="l">
              <a:lnSpc>
                <a:spcPct val="115000"/>
              </a:lnSpc>
            </a:pPr>
            <a:r>
              <a:rPr sz="1350" b="1" i="0">
                <a:solidFill>
                  <a:srgbClr val="FFFFFF"/>
                </a:solidFill>
                <a:latin typeface="Times New Roman"/>
              </a:rPr>
              <a:t>Skepticism · Verification · Reflection · Intellectual humility</a:t>
            </a:r>
          </a:p>
        </p:txBody>
      </p:sp>
      <p:sp>
        <p:nvSpPr>
          <p:cNvPr id="33" name="Rectangle 32"/>
          <p:cNvSpPr/>
          <p:nvPr/>
        </p:nvSpPr>
        <p:spPr>
          <a:xfrm>
            <a:off x="6245352" y="4480560"/>
            <a:ext cx="5047488" cy="1042415"/>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4480560"/>
            <a:ext cx="45720" cy="1042415"/>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3952" y="4480560"/>
            <a:ext cx="4590288" cy="1042415"/>
          </a:xfrm>
          <a:prstGeom prst="rect">
            <a:avLst/>
          </a:prstGeom>
          <a:noFill/>
        </p:spPr>
        <p:txBody>
          <a:bodyPr wrap="square" anchor="ctr" lIns="0" rIns="0" tIns="0" bIns="0">
            <a:spAutoFit/>
          </a:bodyPr>
          <a:lstStyle/>
          <a:p>
            <a:pPr algn="l">
              <a:spcAft>
                <a:spcPts val="700"/>
              </a:spcAft>
            </a:pPr>
            <a:r>
              <a:rPr sz="900" b="1" i="0">
                <a:solidFill>
                  <a:srgbClr val="2A6F97"/>
                </a:solidFill>
                <a:latin typeface="Times New Roman"/>
              </a:rPr>
              <a:t>RESPONSIBLE LEADERSHIP</a:t>
            </a:r>
          </a:p>
          <a:p>
            <a:pPr algn="l">
              <a:lnSpc>
                <a:spcPct val="120000"/>
              </a:lnSpc>
            </a:pPr>
            <a:r>
              <a:rPr sz="1150" b="0" i="0">
                <a:solidFill>
                  <a:srgbClr val="111827"/>
                </a:solidFill>
                <a:latin typeface="Times New Roman"/>
              </a:rPr>
              <a:t>Innovation, governance, stakeholders, sustainability and societal impact are integrated into every module — not isolated in one.</a:t>
            </a:r>
          </a:p>
        </p:txBody>
      </p:sp>
      <p:sp>
        <p:nvSpPr>
          <p:cNvPr id="36" name="Rectangle 35"/>
          <p:cNvSpPr/>
          <p:nvPr/>
        </p:nvSpPr>
        <p:spPr>
          <a:xfrm>
            <a:off x="868680" y="5724144"/>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9848" y="5724144"/>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AI is a thinking partner, not an answer generator. Every recommendation remains your responsibility.</a:t>
            </a:r>
          </a:p>
        </p:txBody>
      </p:sp>
      <p:sp>
        <p:nvSpPr>
          <p:cNvPr id="38" name="TextBox 37"/>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10</a:t>
            </a:r>
          </a:p>
        </p:txBody>
      </p:sp>
      <p:sp>
        <p:nvSpPr>
          <p:cNvPr id="39" name="TextBox 38"/>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II · COURSE DESIGN</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MGMT 465 / 665 — catalog description</a:t>
            </a:r>
          </a:p>
        </p:txBody>
      </p:sp>
      <p:sp>
        <p:nvSpPr>
          <p:cNvPr id="7" name="Rectangle 6"/>
          <p:cNvSpPr/>
          <p:nvPr/>
        </p:nvSpPr>
        <p:spPr>
          <a:xfrm>
            <a:off x="868680" y="1481328"/>
            <a:ext cx="7040880" cy="3749039"/>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45720" cy="3749039"/>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737360"/>
            <a:ext cx="6446520" cy="3291840"/>
          </a:xfrm>
          <a:prstGeom prst="rect">
            <a:avLst/>
          </a:prstGeom>
          <a:noFill/>
        </p:spPr>
        <p:txBody>
          <a:bodyPr wrap="square" anchor="t" lIns="0" rIns="0" tIns="0" bIns="0">
            <a:spAutoFit/>
          </a:bodyPr>
          <a:lstStyle/>
          <a:p>
            <a:pPr algn="l">
              <a:lnSpc>
                <a:spcPct val="132000"/>
              </a:lnSpc>
              <a:spcAft>
                <a:spcPts val="1000"/>
              </a:spcAft>
            </a:pPr>
            <a:r>
              <a:rPr sz="1250" b="0" i="0">
                <a:solidFill>
                  <a:srgbClr val="111827"/>
                </a:solidFill>
                <a:latin typeface="Times New Roman"/>
              </a:rPr>
              <a:t>Strategic Management in the Age of Artificial Intelligence examines how AI is transforming competitive strategy, organizational capabilities, executive decision making, innovation, and enterprise performance. The course integrates classical strategic management theories — industry analysis, the Resource-Based View, Dynamic Capabilities, Organizational Learning, Transaction Cost Economics, and Strategic Leadership — with contemporary scholarship on artificial intelligence, digital transformation, platform ecosystems, and human–AI collaboration.</a:t>
            </a:r>
          </a:p>
          <a:p>
            <a:pPr algn="l">
              <a:lnSpc>
                <a:spcPct val="132000"/>
              </a:lnSpc>
            </a:pPr>
            <a:r>
              <a:rPr sz="1250" b="0" i="0">
                <a:solidFill>
                  <a:srgbClr val="111827"/>
                </a:solidFill>
                <a:latin typeface="Times New Roman"/>
              </a:rPr>
              <a:t>Students critically evaluate how AI influences the assumptions underlying strategic management while developing practical competencies through case analyses, AI laboratories, executive briefings, and a semester-long consulting engagement.</a:t>
            </a:r>
          </a:p>
        </p:txBody>
      </p:sp>
      <p:sp>
        <p:nvSpPr>
          <p:cNvPr id="10" name="Rectangle 9"/>
          <p:cNvSpPr/>
          <p:nvPr/>
        </p:nvSpPr>
        <p:spPr>
          <a:xfrm>
            <a:off x="8229600" y="1481328"/>
            <a:ext cx="3063240" cy="178308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481328"/>
            <a:ext cx="3063240" cy="411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5048" y="1673352"/>
            <a:ext cx="2752344" cy="1472184"/>
          </a:xfrm>
          <a:prstGeom prst="rect">
            <a:avLst/>
          </a:prstGeom>
          <a:noFill/>
        </p:spPr>
        <p:txBody>
          <a:bodyPr wrap="square" anchor="t" lIns="0" rIns="0" tIns="0" bIns="0">
            <a:spAutoFit/>
          </a:bodyPr>
          <a:lstStyle/>
          <a:p>
            <a:pPr algn="l">
              <a:lnSpc>
                <a:spcPct val="105000"/>
              </a:lnSpc>
              <a:spcAft>
                <a:spcPts val="500"/>
              </a:spcAft>
            </a:pPr>
            <a:r>
              <a:rPr sz="1300" b="1" i="0">
                <a:solidFill>
                  <a:srgbClr val="10233F"/>
                </a:solidFill>
                <a:latin typeface="Times New Roman"/>
              </a:rPr>
              <a:t>Course facts</a:t>
            </a:r>
          </a:p>
          <a:p>
            <a:pPr algn="l">
              <a:lnSpc>
                <a:spcPct val="130000"/>
              </a:lnSpc>
              <a:spcAft>
                <a:spcPts val="300"/>
              </a:spcAft>
            </a:pPr>
            <a:r>
              <a:rPr sz="1200" b="0" i="0">
                <a:solidFill>
                  <a:srgbClr val="111827"/>
                </a:solidFill>
                <a:latin typeface="Times New Roman"/>
              </a:rPr>
              <a:t>MGMT 465 / MGMT 665</a:t>
            </a:r>
          </a:p>
          <a:p>
            <a:pPr algn="l">
              <a:lnSpc>
                <a:spcPct val="130000"/>
              </a:lnSpc>
              <a:spcAft>
                <a:spcPts val="300"/>
              </a:spcAft>
            </a:pPr>
            <a:r>
              <a:rPr sz="1200" b="0" i="0">
                <a:solidFill>
                  <a:srgbClr val="111827"/>
                </a:solidFill>
                <a:latin typeface="Times New Roman"/>
              </a:rPr>
              <a:t>3 credit hours</a:t>
            </a:r>
          </a:p>
          <a:p>
            <a:pPr algn="l">
              <a:lnSpc>
                <a:spcPct val="130000"/>
              </a:lnSpc>
              <a:spcAft>
                <a:spcPts val="300"/>
              </a:spcAft>
            </a:pPr>
            <a:r>
              <a:rPr sz="1200" b="0" i="0">
                <a:solidFill>
                  <a:srgbClr val="111827"/>
                </a:solidFill>
                <a:latin typeface="Times New Roman"/>
              </a:rPr>
              <a:t>Summer 2026</a:t>
            </a:r>
          </a:p>
          <a:p>
            <a:pPr algn="l">
              <a:lnSpc>
                <a:spcPct val="130000"/>
              </a:lnSpc>
              <a:spcAft>
                <a:spcPts val="300"/>
              </a:spcAft>
            </a:pPr>
            <a:r>
              <a:rPr sz="1200" b="0" i="0">
                <a:solidFill>
                  <a:srgbClr val="111827"/>
                </a:solidFill>
                <a:latin typeface="Times New Roman"/>
              </a:rPr>
              <a:t>Mon &amp; Thu, 1:20–3:25 p.m.</a:t>
            </a:r>
          </a:p>
          <a:p>
            <a:pPr algn="l">
              <a:lnSpc>
                <a:spcPct val="130000"/>
              </a:lnSpc>
              <a:spcAft>
                <a:spcPts val="300"/>
              </a:spcAft>
            </a:pPr>
            <a:r>
              <a:rPr sz="1200" b="0" i="0">
                <a:solidFill>
                  <a:srgbClr val="111827"/>
                </a:solidFill>
                <a:latin typeface="Times New Roman"/>
              </a:rPr>
              <a:t>AB 3336 · In-person</a:t>
            </a:r>
          </a:p>
        </p:txBody>
      </p:sp>
      <p:sp>
        <p:nvSpPr>
          <p:cNvPr id="13" name="Rectangle 12"/>
          <p:cNvSpPr/>
          <p:nvPr/>
        </p:nvSpPr>
        <p:spPr>
          <a:xfrm>
            <a:off x="8229600" y="3438144"/>
            <a:ext cx="3063240" cy="1792224"/>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3438144"/>
            <a:ext cx="3063240" cy="4114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8" y="3630168"/>
            <a:ext cx="2752344" cy="1481328"/>
          </a:xfrm>
          <a:prstGeom prst="rect">
            <a:avLst/>
          </a:prstGeom>
          <a:noFill/>
        </p:spPr>
        <p:txBody>
          <a:bodyPr wrap="square" anchor="t" lIns="0" rIns="0" tIns="0" bIns="0">
            <a:spAutoFit/>
          </a:bodyPr>
          <a:lstStyle/>
          <a:p>
            <a:pPr algn="l">
              <a:lnSpc>
                <a:spcPct val="105000"/>
              </a:lnSpc>
              <a:spcAft>
                <a:spcPts val="500"/>
              </a:spcAft>
            </a:pPr>
            <a:r>
              <a:rPr sz="1300" b="1" i="0">
                <a:solidFill>
                  <a:srgbClr val="10233F"/>
                </a:solidFill>
                <a:latin typeface="Times New Roman"/>
              </a:rPr>
              <a:t>Prerequisites</a:t>
            </a:r>
          </a:p>
          <a:p>
            <a:pPr algn="l">
              <a:lnSpc>
                <a:spcPct val="126000"/>
              </a:lnSpc>
              <a:spcAft>
                <a:spcPts val="300"/>
              </a:spcAft>
            </a:pPr>
            <a:r>
              <a:rPr sz="1150" b="0" i="0">
                <a:solidFill>
                  <a:srgbClr val="111827"/>
                </a:solidFill>
                <a:latin typeface="Times New Roman"/>
              </a:rPr>
              <a:t>An introductory course in strategic management, or equivalent knowledge of organizational behavior, management, marketing, finance, or economics.</a:t>
            </a:r>
          </a:p>
          <a:p>
            <a:pPr algn="l">
              <a:lnSpc>
                <a:spcPct val="126000"/>
              </a:lnSpc>
              <a:spcAft>
                <a:spcPts val="300"/>
              </a:spcAft>
            </a:pPr>
            <a:r>
              <a:rPr sz="1150" b="0" i="0">
                <a:solidFill>
                  <a:srgbClr val="111827"/>
                </a:solidFill>
                <a:latin typeface="Times New Roman"/>
              </a:rPr>
              <a:t/>
            </a:r>
          </a:p>
          <a:p>
            <a:pPr algn="l">
              <a:lnSpc>
                <a:spcPct val="126000"/>
              </a:lnSpc>
              <a:spcAft>
                <a:spcPts val="300"/>
              </a:spcAft>
            </a:pPr>
            <a:r>
              <a:rPr sz="1150" b="0" i="0">
                <a:solidFill>
                  <a:srgbClr val="111827"/>
                </a:solidFill>
                <a:latin typeface="Times New Roman"/>
              </a:rPr>
              <a:t>No programming experience is required.</a:t>
            </a:r>
          </a:p>
        </p:txBody>
      </p:sp>
      <p:sp>
        <p:nvSpPr>
          <p:cNvPr id="16" name="Rectangle 15"/>
          <p:cNvSpPr/>
          <p:nvPr/>
        </p:nvSpPr>
        <p:spPr>
          <a:xfrm>
            <a:off x="868680" y="5486400"/>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5486400"/>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Graduate-level reading, writing, and analytical skills are assumed.</a:t>
            </a:r>
          </a:p>
        </p:txBody>
      </p:sp>
      <p:sp>
        <p:nvSpPr>
          <p:cNvPr id="18" name="TextBox 17"/>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11</a:t>
            </a:r>
          </a:p>
        </p:txBody>
      </p:sp>
      <p:sp>
        <p:nvSpPr>
          <p:cNvPr id="19" name="TextBox 18"/>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II · COURSE LEARNING OUTCOMES</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Ten outcomes mapped to Bloom's revised taxonomy</a:t>
            </a:r>
          </a:p>
        </p:txBody>
      </p:sp>
      <p:sp>
        <p:nvSpPr>
          <p:cNvPr id="7" name="TextBox 6"/>
          <p:cNvSpPr txBox="1"/>
          <p:nvPr/>
        </p:nvSpPr>
        <p:spPr>
          <a:xfrm>
            <a:off x="502920" y="1106424"/>
            <a:ext cx="10698480" cy="274320"/>
          </a:xfrm>
          <a:prstGeom prst="rect">
            <a:avLst/>
          </a:prstGeom>
          <a:noFill/>
        </p:spPr>
        <p:txBody>
          <a:bodyPr wrap="square" anchor="t" lIns="0" rIns="0" tIns="0" bIns="0">
            <a:spAutoFit/>
          </a:bodyPr>
          <a:lstStyle/>
          <a:p>
            <a:pPr algn="l"/>
            <a:r>
              <a:rPr sz="1250" b="0" i="1">
                <a:solidFill>
                  <a:srgbClr val="4B5563"/>
                </a:solidFill>
                <a:latin typeface="Times New Roman"/>
              </a:rPr>
              <a:t>Outcomes emphasize higher-order cognition, consistent with AACSB standards.</a:t>
            </a:r>
          </a:p>
        </p:txBody>
      </p:sp>
      <p:sp>
        <p:nvSpPr>
          <p:cNvPr id="8" name="Rectangle 7"/>
          <p:cNvSpPr/>
          <p:nvPr/>
        </p:nvSpPr>
        <p:spPr>
          <a:xfrm>
            <a:off x="868680" y="1810512"/>
            <a:ext cx="10424160" cy="329184"/>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7" y="1810512"/>
            <a:ext cx="877824" cy="329184"/>
          </a:xfrm>
          <a:prstGeom prst="rect">
            <a:avLst/>
          </a:prstGeom>
          <a:noFill/>
        </p:spPr>
        <p:txBody>
          <a:bodyPr wrap="square" anchor="ctr" lIns="0" rIns="0" tIns="0" bIns="0">
            <a:spAutoFit/>
          </a:bodyPr>
          <a:lstStyle/>
          <a:p>
            <a:pPr algn="l"/>
            <a:r>
              <a:rPr sz="950" b="1" i="0">
                <a:solidFill>
                  <a:srgbClr val="FFFFFF"/>
                </a:solidFill>
                <a:latin typeface="Times New Roman"/>
              </a:rPr>
              <a:t>CLO</a:t>
            </a:r>
          </a:p>
        </p:txBody>
      </p:sp>
      <p:sp>
        <p:nvSpPr>
          <p:cNvPr id="10" name="TextBox 9"/>
          <p:cNvSpPr txBox="1"/>
          <p:nvPr/>
        </p:nvSpPr>
        <p:spPr>
          <a:xfrm>
            <a:off x="2075688" y="1810512"/>
            <a:ext cx="7552944" cy="329184"/>
          </a:xfrm>
          <a:prstGeom prst="rect">
            <a:avLst/>
          </a:prstGeom>
          <a:noFill/>
        </p:spPr>
        <p:txBody>
          <a:bodyPr wrap="square" anchor="ctr" lIns="0" rIns="0" tIns="0" bIns="0">
            <a:spAutoFit/>
          </a:bodyPr>
          <a:lstStyle/>
          <a:p>
            <a:pPr algn="l"/>
            <a:r>
              <a:rPr sz="950" b="1" i="0">
                <a:solidFill>
                  <a:srgbClr val="FFFFFF"/>
                </a:solidFill>
                <a:latin typeface="Times New Roman"/>
              </a:rPr>
              <a:t>LEARNING OUTCOME</a:t>
            </a:r>
          </a:p>
        </p:txBody>
      </p:sp>
      <p:sp>
        <p:nvSpPr>
          <p:cNvPr id="11" name="TextBox 10"/>
          <p:cNvSpPr txBox="1"/>
          <p:nvPr/>
        </p:nvSpPr>
        <p:spPr>
          <a:xfrm>
            <a:off x="9848088" y="1810512"/>
            <a:ext cx="1335024" cy="329184"/>
          </a:xfrm>
          <a:prstGeom prst="rect">
            <a:avLst/>
          </a:prstGeom>
          <a:noFill/>
        </p:spPr>
        <p:txBody>
          <a:bodyPr wrap="square" anchor="ctr" lIns="0" rIns="0" tIns="0" bIns="0">
            <a:spAutoFit/>
          </a:bodyPr>
          <a:lstStyle/>
          <a:p>
            <a:pPr algn="l"/>
            <a:r>
              <a:rPr sz="950" b="1" i="0">
                <a:solidFill>
                  <a:srgbClr val="FFFFFF"/>
                </a:solidFill>
                <a:latin typeface="Times New Roman"/>
              </a:rPr>
              <a:t>BLOOM'S LEVEL</a:t>
            </a:r>
          </a:p>
        </p:txBody>
      </p:sp>
      <p:sp>
        <p:nvSpPr>
          <p:cNvPr id="12" name="Rectangle 11"/>
          <p:cNvSpPr/>
          <p:nvPr/>
        </p:nvSpPr>
        <p:spPr>
          <a:xfrm>
            <a:off x="868680" y="2139696"/>
            <a:ext cx="10424160"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249448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213969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1</a:t>
            </a:r>
          </a:p>
        </p:txBody>
      </p:sp>
      <p:sp>
        <p:nvSpPr>
          <p:cNvPr id="15" name="TextBox 14"/>
          <p:cNvSpPr txBox="1"/>
          <p:nvPr/>
        </p:nvSpPr>
        <p:spPr>
          <a:xfrm>
            <a:off x="2075688" y="213969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Analyze competitive environments using classical and AI-enabled strategic frameworks.</a:t>
            </a:r>
          </a:p>
        </p:txBody>
      </p:sp>
      <p:sp>
        <p:nvSpPr>
          <p:cNvPr id="16" name="TextBox 15"/>
          <p:cNvSpPr txBox="1"/>
          <p:nvPr/>
        </p:nvSpPr>
        <p:spPr>
          <a:xfrm>
            <a:off x="9848088" y="213969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Analyze</a:t>
            </a:r>
          </a:p>
        </p:txBody>
      </p:sp>
      <p:sp>
        <p:nvSpPr>
          <p:cNvPr id="17" name="Rectangle 16"/>
          <p:cNvSpPr/>
          <p:nvPr/>
        </p:nvSpPr>
        <p:spPr>
          <a:xfrm>
            <a:off x="868680" y="286024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7" y="250545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2</a:t>
            </a:r>
          </a:p>
        </p:txBody>
      </p:sp>
      <p:sp>
        <p:nvSpPr>
          <p:cNvPr id="19" name="TextBox 18"/>
          <p:cNvSpPr txBox="1"/>
          <p:nvPr/>
        </p:nvSpPr>
        <p:spPr>
          <a:xfrm>
            <a:off x="2075688" y="250545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Evaluate organizational capabilities and AI readiness.</a:t>
            </a:r>
          </a:p>
        </p:txBody>
      </p:sp>
      <p:sp>
        <p:nvSpPr>
          <p:cNvPr id="20" name="TextBox 19"/>
          <p:cNvSpPr txBox="1"/>
          <p:nvPr/>
        </p:nvSpPr>
        <p:spPr>
          <a:xfrm>
            <a:off x="9848088" y="250545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Evaluate</a:t>
            </a:r>
          </a:p>
        </p:txBody>
      </p:sp>
      <p:sp>
        <p:nvSpPr>
          <p:cNvPr id="21" name="Rectangle 20"/>
          <p:cNvSpPr/>
          <p:nvPr/>
        </p:nvSpPr>
        <p:spPr>
          <a:xfrm>
            <a:off x="868680" y="2871215"/>
            <a:ext cx="10424160"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22600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7" y="2871215"/>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3</a:t>
            </a:r>
          </a:p>
        </p:txBody>
      </p:sp>
      <p:sp>
        <p:nvSpPr>
          <p:cNvPr id="24" name="TextBox 23"/>
          <p:cNvSpPr txBox="1"/>
          <p:nvPr/>
        </p:nvSpPr>
        <p:spPr>
          <a:xfrm>
            <a:off x="2075688" y="2871215"/>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Formulate AI-enabled competitive strategies.</a:t>
            </a:r>
          </a:p>
        </p:txBody>
      </p:sp>
      <p:sp>
        <p:nvSpPr>
          <p:cNvPr id="25" name="TextBox 24"/>
          <p:cNvSpPr txBox="1"/>
          <p:nvPr/>
        </p:nvSpPr>
        <p:spPr>
          <a:xfrm>
            <a:off x="9848088" y="2871215"/>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Create</a:t>
            </a:r>
          </a:p>
        </p:txBody>
      </p:sp>
      <p:sp>
        <p:nvSpPr>
          <p:cNvPr id="26" name="Rectangle 25"/>
          <p:cNvSpPr/>
          <p:nvPr/>
        </p:nvSpPr>
        <p:spPr>
          <a:xfrm>
            <a:off x="868680" y="359176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7" y="3236975"/>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4</a:t>
            </a:r>
          </a:p>
        </p:txBody>
      </p:sp>
      <p:sp>
        <p:nvSpPr>
          <p:cNvPr id="28" name="TextBox 27"/>
          <p:cNvSpPr txBox="1"/>
          <p:nvPr/>
        </p:nvSpPr>
        <p:spPr>
          <a:xfrm>
            <a:off x="2075688" y="3236975"/>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Assess governance, ethical, legal, and societal implications of AI.</a:t>
            </a:r>
          </a:p>
        </p:txBody>
      </p:sp>
      <p:sp>
        <p:nvSpPr>
          <p:cNvPr id="29" name="TextBox 28"/>
          <p:cNvSpPr txBox="1"/>
          <p:nvPr/>
        </p:nvSpPr>
        <p:spPr>
          <a:xfrm>
            <a:off x="9848088" y="3236975"/>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Evaluate</a:t>
            </a:r>
          </a:p>
        </p:txBody>
      </p:sp>
      <p:sp>
        <p:nvSpPr>
          <p:cNvPr id="30" name="Rectangle 29"/>
          <p:cNvSpPr/>
          <p:nvPr/>
        </p:nvSpPr>
        <p:spPr>
          <a:xfrm>
            <a:off x="868680" y="3602735"/>
            <a:ext cx="10424160"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8680" y="395752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7" y="3602735"/>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5</a:t>
            </a:r>
          </a:p>
        </p:txBody>
      </p:sp>
      <p:sp>
        <p:nvSpPr>
          <p:cNvPr id="33" name="TextBox 32"/>
          <p:cNvSpPr txBox="1"/>
          <p:nvPr/>
        </p:nvSpPr>
        <p:spPr>
          <a:xfrm>
            <a:off x="2075688" y="3602735"/>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Integrate multiple strategic theories into comprehensive organizational analyses.</a:t>
            </a:r>
          </a:p>
        </p:txBody>
      </p:sp>
      <p:sp>
        <p:nvSpPr>
          <p:cNvPr id="34" name="TextBox 33"/>
          <p:cNvSpPr txBox="1"/>
          <p:nvPr/>
        </p:nvSpPr>
        <p:spPr>
          <a:xfrm>
            <a:off x="9848088" y="3602735"/>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Create</a:t>
            </a:r>
          </a:p>
        </p:txBody>
      </p:sp>
      <p:sp>
        <p:nvSpPr>
          <p:cNvPr id="35" name="Rectangle 34"/>
          <p:cNvSpPr/>
          <p:nvPr/>
        </p:nvSpPr>
        <p:spPr>
          <a:xfrm>
            <a:off x="868680" y="432328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7" y="396849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6</a:t>
            </a:r>
          </a:p>
        </p:txBody>
      </p:sp>
      <p:sp>
        <p:nvSpPr>
          <p:cNvPr id="37" name="TextBox 36"/>
          <p:cNvSpPr txBox="1"/>
          <p:nvPr/>
        </p:nvSpPr>
        <p:spPr>
          <a:xfrm>
            <a:off x="2075688" y="396849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Employ AI responsibly to support strategic decision making.</a:t>
            </a:r>
          </a:p>
        </p:txBody>
      </p:sp>
      <p:sp>
        <p:nvSpPr>
          <p:cNvPr id="38" name="TextBox 37"/>
          <p:cNvSpPr txBox="1"/>
          <p:nvPr/>
        </p:nvSpPr>
        <p:spPr>
          <a:xfrm>
            <a:off x="9848088" y="396849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Evaluate</a:t>
            </a:r>
          </a:p>
        </p:txBody>
      </p:sp>
      <p:sp>
        <p:nvSpPr>
          <p:cNvPr id="39" name="Rectangle 38"/>
          <p:cNvSpPr/>
          <p:nvPr/>
        </p:nvSpPr>
        <p:spPr>
          <a:xfrm>
            <a:off x="868680" y="4334256"/>
            <a:ext cx="10424160"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8680" y="468904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8407" y="433425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7</a:t>
            </a:r>
          </a:p>
        </p:txBody>
      </p:sp>
      <p:sp>
        <p:nvSpPr>
          <p:cNvPr id="42" name="TextBox 41"/>
          <p:cNvSpPr txBox="1"/>
          <p:nvPr/>
        </p:nvSpPr>
        <p:spPr>
          <a:xfrm>
            <a:off x="2075688" y="433425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Communicate executive-quality strategic recommendations.</a:t>
            </a:r>
          </a:p>
        </p:txBody>
      </p:sp>
      <p:sp>
        <p:nvSpPr>
          <p:cNvPr id="43" name="TextBox 42"/>
          <p:cNvSpPr txBox="1"/>
          <p:nvPr/>
        </p:nvSpPr>
        <p:spPr>
          <a:xfrm>
            <a:off x="9848088" y="433425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Create</a:t>
            </a:r>
          </a:p>
        </p:txBody>
      </p:sp>
      <p:sp>
        <p:nvSpPr>
          <p:cNvPr id="44" name="Rectangle 43"/>
          <p:cNvSpPr/>
          <p:nvPr/>
        </p:nvSpPr>
        <p:spPr>
          <a:xfrm>
            <a:off x="868680" y="505480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7" y="470001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8</a:t>
            </a:r>
          </a:p>
        </p:txBody>
      </p:sp>
      <p:sp>
        <p:nvSpPr>
          <p:cNvPr id="46" name="TextBox 45"/>
          <p:cNvSpPr txBox="1"/>
          <p:nvPr/>
        </p:nvSpPr>
        <p:spPr>
          <a:xfrm>
            <a:off x="2075688" y="470001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Design organizational transformation strategies for AI adoption.</a:t>
            </a:r>
          </a:p>
        </p:txBody>
      </p:sp>
      <p:sp>
        <p:nvSpPr>
          <p:cNvPr id="47" name="TextBox 46"/>
          <p:cNvSpPr txBox="1"/>
          <p:nvPr/>
        </p:nvSpPr>
        <p:spPr>
          <a:xfrm>
            <a:off x="9848088" y="470001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Create</a:t>
            </a:r>
          </a:p>
        </p:txBody>
      </p:sp>
      <p:sp>
        <p:nvSpPr>
          <p:cNvPr id="48" name="Rectangle 47"/>
          <p:cNvSpPr/>
          <p:nvPr/>
        </p:nvSpPr>
        <p:spPr>
          <a:xfrm>
            <a:off x="868680" y="5065776"/>
            <a:ext cx="10424160"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8680" y="542056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8407" y="506577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9</a:t>
            </a:r>
          </a:p>
        </p:txBody>
      </p:sp>
      <p:sp>
        <p:nvSpPr>
          <p:cNvPr id="51" name="TextBox 50"/>
          <p:cNvSpPr txBox="1"/>
          <p:nvPr/>
        </p:nvSpPr>
        <p:spPr>
          <a:xfrm>
            <a:off x="2075688" y="506577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Critically evaluate the continuing relevance of strategic management theory.</a:t>
            </a:r>
          </a:p>
        </p:txBody>
      </p:sp>
      <p:sp>
        <p:nvSpPr>
          <p:cNvPr id="52" name="TextBox 51"/>
          <p:cNvSpPr txBox="1"/>
          <p:nvPr/>
        </p:nvSpPr>
        <p:spPr>
          <a:xfrm>
            <a:off x="9848088" y="506577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Evaluate</a:t>
            </a:r>
          </a:p>
        </p:txBody>
      </p:sp>
      <p:sp>
        <p:nvSpPr>
          <p:cNvPr id="53" name="Rectangle 52"/>
          <p:cNvSpPr/>
          <p:nvPr/>
        </p:nvSpPr>
        <p:spPr>
          <a:xfrm>
            <a:off x="868680" y="5786323"/>
            <a:ext cx="10424160"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8407" y="5431536"/>
            <a:ext cx="87782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CLO 10</a:t>
            </a:r>
          </a:p>
        </p:txBody>
      </p:sp>
      <p:sp>
        <p:nvSpPr>
          <p:cNvPr id="55" name="TextBox 54"/>
          <p:cNvSpPr txBox="1"/>
          <p:nvPr/>
        </p:nvSpPr>
        <p:spPr>
          <a:xfrm>
            <a:off x="2075688" y="5431536"/>
            <a:ext cx="755294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Integrate strategy, leadership, technology, and capabilities into a coherent executive perspective.</a:t>
            </a:r>
          </a:p>
        </p:txBody>
      </p:sp>
      <p:sp>
        <p:nvSpPr>
          <p:cNvPr id="56" name="TextBox 55"/>
          <p:cNvSpPr txBox="1"/>
          <p:nvPr/>
        </p:nvSpPr>
        <p:spPr>
          <a:xfrm>
            <a:off x="9848088" y="5431536"/>
            <a:ext cx="1335024"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Create</a:t>
            </a:r>
          </a:p>
        </p:txBody>
      </p:sp>
      <p:sp>
        <p:nvSpPr>
          <p:cNvPr id="57" name="Rectangle 56"/>
          <p:cNvSpPr/>
          <p:nvPr/>
        </p:nvSpPr>
        <p:spPr>
          <a:xfrm>
            <a:off x="868680" y="5907024"/>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9848" y="5907024"/>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Analyze, evaluate, create — no outcome in this course stops at remembering.</a:t>
            </a:r>
          </a:p>
        </p:txBody>
      </p:sp>
      <p:sp>
        <p:nvSpPr>
          <p:cNvPr id="59" name="TextBox 58"/>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12</a:t>
            </a:r>
          </a:p>
        </p:txBody>
      </p:sp>
      <p:sp>
        <p:nvSpPr>
          <p:cNvPr id="60" name="TextBox 59"/>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II · LEARNING PROGRESSION</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A ten-week developmental arc</a:t>
            </a:r>
          </a:p>
        </p:txBody>
      </p:sp>
      <p:sp>
        <p:nvSpPr>
          <p:cNvPr id="7" name="Rectangle 6"/>
          <p:cNvSpPr/>
          <p:nvPr/>
        </p:nvSpPr>
        <p:spPr>
          <a:xfrm>
            <a:off x="868680" y="1536192"/>
            <a:ext cx="2505456" cy="237744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536192"/>
            <a:ext cx="25054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792224"/>
            <a:ext cx="2103120" cy="2011680"/>
          </a:xfrm>
          <a:prstGeom prst="rect">
            <a:avLst/>
          </a:prstGeom>
          <a:noFill/>
        </p:spPr>
        <p:txBody>
          <a:bodyPr wrap="square" anchor="t" lIns="0" rIns="0" tIns="0" bIns="0">
            <a:spAutoFit/>
          </a:bodyPr>
          <a:lstStyle/>
          <a:p>
            <a:pPr algn="l">
              <a:spcAft>
                <a:spcPts val="1000"/>
              </a:spcAft>
            </a:pPr>
            <a:r>
              <a:rPr sz="1000" b="1" i="0">
                <a:solidFill>
                  <a:srgbClr val="D4A017"/>
                </a:solidFill>
                <a:latin typeface="Times New Roman"/>
              </a:rPr>
              <a:t>WEEKS 1–2</a:t>
            </a:r>
          </a:p>
          <a:p>
            <a:pPr algn="l">
              <a:lnSpc>
                <a:spcPct val="105000"/>
              </a:lnSpc>
              <a:spcAft>
                <a:spcPts val="1200"/>
              </a:spcAft>
            </a:pPr>
            <a:r>
              <a:rPr sz="1600" b="1" i="0">
                <a:solidFill>
                  <a:srgbClr val="FFFFFF"/>
                </a:solidFill>
                <a:latin typeface="Times New Roman"/>
              </a:rPr>
              <a:t>Foundations</a:t>
            </a:r>
          </a:p>
          <a:p>
            <a:pPr algn="l">
              <a:lnSpc>
                <a:spcPct val="126000"/>
              </a:lnSpc>
            </a:pPr>
            <a:r>
              <a:rPr sz="1150" b="0" i="0">
                <a:solidFill>
                  <a:srgbClr val="C9D2DE"/>
                </a:solidFill>
                <a:latin typeface="Times New Roman"/>
              </a:rPr>
              <a:t>Strategic thinking, AI fundamentals, competitive analysis</a:t>
            </a:r>
          </a:p>
        </p:txBody>
      </p:sp>
      <p:sp>
        <p:nvSpPr>
          <p:cNvPr id="10" name="Rectangle 9"/>
          <p:cNvSpPr/>
          <p:nvPr/>
        </p:nvSpPr>
        <p:spPr>
          <a:xfrm>
            <a:off x="3575304" y="1536192"/>
            <a:ext cx="2505456" cy="2377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75304" y="1536192"/>
            <a:ext cx="25054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1792224"/>
            <a:ext cx="2103120" cy="2011680"/>
          </a:xfrm>
          <a:prstGeom prst="rect">
            <a:avLst/>
          </a:prstGeom>
          <a:noFill/>
        </p:spPr>
        <p:txBody>
          <a:bodyPr wrap="square" anchor="t" lIns="0" rIns="0" tIns="0" bIns="0">
            <a:spAutoFit/>
          </a:bodyPr>
          <a:lstStyle/>
          <a:p>
            <a:pPr algn="l">
              <a:spcAft>
                <a:spcPts val="1000"/>
              </a:spcAft>
            </a:pPr>
            <a:r>
              <a:rPr sz="1000" b="1" i="0">
                <a:solidFill>
                  <a:srgbClr val="D4A017"/>
                </a:solidFill>
                <a:latin typeface="Times New Roman"/>
              </a:rPr>
              <a:t>WEEKS 3–6</a:t>
            </a:r>
          </a:p>
          <a:p>
            <a:pPr algn="l">
              <a:lnSpc>
                <a:spcPct val="105000"/>
              </a:lnSpc>
              <a:spcAft>
                <a:spcPts val="1200"/>
              </a:spcAft>
            </a:pPr>
            <a:r>
              <a:rPr sz="1600" b="1" i="0">
                <a:solidFill>
                  <a:srgbClr val="FFFFFF"/>
                </a:solidFill>
                <a:latin typeface="Times New Roman"/>
              </a:rPr>
              <a:t>Theoretical Development</a:t>
            </a:r>
          </a:p>
          <a:p>
            <a:pPr algn="l">
              <a:lnSpc>
                <a:spcPct val="126000"/>
              </a:lnSpc>
            </a:pPr>
            <a:r>
              <a:rPr sz="1150" b="0" i="0">
                <a:solidFill>
                  <a:srgbClr val="C9D2DE"/>
                </a:solidFill>
                <a:latin typeface="Times New Roman"/>
              </a:rPr>
              <a:t>Reinterpreting classical strategy through AI</a:t>
            </a:r>
          </a:p>
        </p:txBody>
      </p:sp>
      <p:sp>
        <p:nvSpPr>
          <p:cNvPr id="13" name="Rectangle 12"/>
          <p:cNvSpPr/>
          <p:nvPr/>
        </p:nvSpPr>
        <p:spPr>
          <a:xfrm>
            <a:off x="6281928" y="1536192"/>
            <a:ext cx="2505456" cy="237744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81928" y="1536192"/>
            <a:ext cx="25054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1792224"/>
            <a:ext cx="2103120" cy="2011680"/>
          </a:xfrm>
          <a:prstGeom prst="rect">
            <a:avLst/>
          </a:prstGeom>
          <a:noFill/>
        </p:spPr>
        <p:txBody>
          <a:bodyPr wrap="square" anchor="t" lIns="0" rIns="0" tIns="0" bIns="0">
            <a:spAutoFit/>
          </a:bodyPr>
          <a:lstStyle/>
          <a:p>
            <a:pPr algn="l">
              <a:spcAft>
                <a:spcPts val="1000"/>
              </a:spcAft>
            </a:pPr>
            <a:r>
              <a:rPr sz="1000" b="1" i="0">
                <a:solidFill>
                  <a:srgbClr val="D4A017"/>
                </a:solidFill>
                <a:latin typeface="Times New Roman"/>
              </a:rPr>
              <a:t>WEEKS 7–8</a:t>
            </a:r>
          </a:p>
          <a:p>
            <a:pPr algn="l">
              <a:lnSpc>
                <a:spcPct val="105000"/>
              </a:lnSpc>
              <a:spcAft>
                <a:spcPts val="1200"/>
              </a:spcAft>
            </a:pPr>
            <a:r>
              <a:rPr sz="1600" b="1" i="0">
                <a:solidFill>
                  <a:srgbClr val="FFFFFF"/>
                </a:solidFill>
                <a:latin typeface="Times New Roman"/>
              </a:rPr>
              <a:t>Organizational Transformation</a:t>
            </a:r>
          </a:p>
          <a:p>
            <a:pPr algn="l">
              <a:lnSpc>
                <a:spcPct val="126000"/>
              </a:lnSpc>
            </a:pPr>
            <a:r>
              <a:rPr sz="1150" b="0" i="0">
                <a:solidFill>
                  <a:srgbClr val="C9D2DE"/>
                </a:solidFill>
                <a:latin typeface="Times New Roman"/>
              </a:rPr>
              <a:t>Governance, leadership, implementation</a:t>
            </a:r>
          </a:p>
        </p:txBody>
      </p:sp>
      <p:sp>
        <p:nvSpPr>
          <p:cNvPr id="16" name="Rectangle 15"/>
          <p:cNvSpPr/>
          <p:nvPr/>
        </p:nvSpPr>
        <p:spPr>
          <a:xfrm>
            <a:off x="8988552" y="1536192"/>
            <a:ext cx="2505456" cy="2377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88552" y="1536192"/>
            <a:ext cx="25054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1792224"/>
            <a:ext cx="2103120" cy="2011680"/>
          </a:xfrm>
          <a:prstGeom prst="rect">
            <a:avLst/>
          </a:prstGeom>
          <a:noFill/>
        </p:spPr>
        <p:txBody>
          <a:bodyPr wrap="square" anchor="t" lIns="0" rIns="0" tIns="0" bIns="0">
            <a:spAutoFit/>
          </a:bodyPr>
          <a:lstStyle/>
          <a:p>
            <a:pPr algn="l">
              <a:spcAft>
                <a:spcPts val="1000"/>
              </a:spcAft>
            </a:pPr>
            <a:r>
              <a:rPr sz="1000" b="1" i="0">
                <a:solidFill>
                  <a:srgbClr val="D4A017"/>
                </a:solidFill>
                <a:latin typeface="Times New Roman"/>
              </a:rPr>
              <a:t>WEEKS 9–10</a:t>
            </a:r>
          </a:p>
          <a:p>
            <a:pPr algn="l">
              <a:lnSpc>
                <a:spcPct val="105000"/>
              </a:lnSpc>
              <a:spcAft>
                <a:spcPts val="1200"/>
              </a:spcAft>
            </a:pPr>
            <a:r>
              <a:rPr sz="1600" b="1" i="0">
                <a:solidFill>
                  <a:srgbClr val="FFFFFF"/>
                </a:solidFill>
                <a:latin typeface="Times New Roman"/>
              </a:rPr>
              <a:t>Strategic Integration</a:t>
            </a:r>
          </a:p>
          <a:p>
            <a:pPr algn="l">
              <a:lnSpc>
                <a:spcPct val="126000"/>
              </a:lnSpc>
            </a:pPr>
            <a:r>
              <a:rPr sz="1150" b="0" i="0">
                <a:solidFill>
                  <a:srgbClr val="C9D2DE"/>
                </a:solidFill>
                <a:latin typeface="Times New Roman"/>
              </a:rPr>
              <a:t>Consulting engagement, synthesis, executive communication</a:t>
            </a:r>
          </a:p>
        </p:txBody>
      </p:sp>
      <p:sp>
        <p:nvSpPr>
          <p:cNvPr id="19" name="TextBox 18"/>
          <p:cNvSpPr txBox="1"/>
          <p:nvPr/>
        </p:nvSpPr>
        <p:spPr>
          <a:xfrm>
            <a:off x="3374136" y="2578608"/>
            <a:ext cx="219456" cy="292608"/>
          </a:xfrm>
          <a:prstGeom prst="rect">
            <a:avLst/>
          </a:prstGeom>
          <a:noFill/>
        </p:spPr>
        <p:txBody>
          <a:bodyPr wrap="square" anchor="t" lIns="0" rIns="0" tIns="0" bIns="0">
            <a:spAutoFit/>
          </a:bodyPr>
          <a:lstStyle/>
          <a:p>
            <a:pPr algn="ctr"/>
            <a:r>
              <a:rPr sz="1300" b="1" i="0">
                <a:solidFill>
                  <a:srgbClr val="D4A017"/>
                </a:solidFill>
                <a:latin typeface="Times New Roman"/>
              </a:rPr>
              <a:t>❯</a:t>
            </a:r>
          </a:p>
        </p:txBody>
      </p:sp>
      <p:sp>
        <p:nvSpPr>
          <p:cNvPr id="20" name="TextBox 19"/>
          <p:cNvSpPr txBox="1"/>
          <p:nvPr/>
        </p:nvSpPr>
        <p:spPr>
          <a:xfrm>
            <a:off x="6080760" y="2578608"/>
            <a:ext cx="219456" cy="292608"/>
          </a:xfrm>
          <a:prstGeom prst="rect">
            <a:avLst/>
          </a:prstGeom>
          <a:noFill/>
        </p:spPr>
        <p:txBody>
          <a:bodyPr wrap="square" anchor="t" lIns="0" rIns="0" tIns="0" bIns="0">
            <a:spAutoFit/>
          </a:bodyPr>
          <a:lstStyle/>
          <a:p>
            <a:pPr algn="ctr"/>
            <a:r>
              <a:rPr sz="1300" b="1" i="0">
                <a:solidFill>
                  <a:srgbClr val="D4A017"/>
                </a:solidFill>
                <a:latin typeface="Times New Roman"/>
              </a:rPr>
              <a:t>❯</a:t>
            </a:r>
          </a:p>
        </p:txBody>
      </p:sp>
      <p:sp>
        <p:nvSpPr>
          <p:cNvPr id="21" name="TextBox 20"/>
          <p:cNvSpPr txBox="1"/>
          <p:nvPr/>
        </p:nvSpPr>
        <p:spPr>
          <a:xfrm>
            <a:off x="8787384" y="2578608"/>
            <a:ext cx="219456" cy="292608"/>
          </a:xfrm>
          <a:prstGeom prst="rect">
            <a:avLst/>
          </a:prstGeom>
          <a:noFill/>
        </p:spPr>
        <p:txBody>
          <a:bodyPr wrap="square" anchor="t" lIns="0" rIns="0" tIns="0" bIns="0">
            <a:spAutoFit/>
          </a:bodyPr>
          <a:lstStyle/>
          <a:p>
            <a:pPr algn="ctr"/>
            <a:r>
              <a:rPr sz="1300" b="1" i="0">
                <a:solidFill>
                  <a:srgbClr val="D4A017"/>
                </a:solidFill>
                <a:latin typeface="Times New Roman"/>
              </a:rPr>
              <a:t>❯</a:t>
            </a:r>
          </a:p>
        </p:txBody>
      </p:sp>
      <p:sp>
        <p:nvSpPr>
          <p:cNvPr id="22" name="Rectangle 21"/>
          <p:cNvSpPr/>
          <p:nvPr/>
        </p:nvSpPr>
        <p:spPr>
          <a:xfrm>
            <a:off x="868680" y="4169663"/>
            <a:ext cx="10424160" cy="822960"/>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4169663"/>
            <a:ext cx="9875520" cy="822960"/>
          </a:xfrm>
          <a:prstGeom prst="rect">
            <a:avLst/>
          </a:prstGeom>
          <a:noFill/>
        </p:spPr>
        <p:txBody>
          <a:bodyPr wrap="square" anchor="ctr" lIns="0" rIns="0" tIns="0" bIns="0">
            <a:spAutoFit/>
          </a:bodyPr>
          <a:lstStyle/>
          <a:p>
            <a:pPr algn="l">
              <a:lnSpc>
                <a:spcPct val="126000"/>
              </a:lnSpc>
            </a:pPr>
            <a:r>
              <a:rPr sz="1400" b="0" i="0">
                <a:solidFill>
                  <a:srgbClr val="111827"/>
                </a:solidFill>
                <a:latin typeface="Times New Roman"/>
              </a:rPr>
              <a:t>You begin by understanding individual theories, then integrate them into increasingly complex organizational analyses. Complexity rises deliberately, week by week.</a:t>
            </a:r>
          </a:p>
        </p:txBody>
      </p:sp>
      <p:sp>
        <p:nvSpPr>
          <p:cNvPr id="24" name="TextBox 23"/>
          <p:cNvSpPr txBox="1"/>
          <p:nvPr/>
        </p:nvSpPr>
        <p:spPr>
          <a:xfrm>
            <a:off x="868680" y="5248656"/>
            <a:ext cx="10424160" cy="365760"/>
          </a:xfrm>
          <a:prstGeom prst="rect">
            <a:avLst/>
          </a:prstGeom>
          <a:noFill/>
        </p:spPr>
        <p:txBody>
          <a:bodyPr wrap="square" anchor="t" lIns="0" rIns="0" tIns="0" bIns="0">
            <a:spAutoFit/>
          </a:bodyPr>
          <a:lstStyle/>
          <a:p>
            <a:pPr algn="l"/>
            <a:r>
              <a:rPr sz="1300" b="1" i="0">
                <a:solidFill>
                  <a:srgbClr val="10233F"/>
                </a:solidFill>
                <a:latin typeface="Times New Roman"/>
              </a:rPr>
              <a:t>Learning occurs through repeated cycles: theory → critique → comparison → application → reflection → synthesis.</a:t>
            </a:r>
          </a:p>
        </p:txBody>
      </p:sp>
      <p:sp>
        <p:nvSpPr>
          <p:cNvPr id="25" name="Rectangle 24"/>
          <p:cNvSpPr/>
          <p:nvPr/>
        </p:nvSpPr>
        <p:spPr>
          <a:xfrm>
            <a:off x="868680" y="5724144"/>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9848" y="5724144"/>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Rather than mastering isolated frameworks, you build an integrated understanding of strategy.</a:t>
            </a:r>
          </a:p>
        </p:txBody>
      </p:sp>
      <p:sp>
        <p:nvSpPr>
          <p:cNvPr id="27" name="TextBox 26"/>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13</a:t>
            </a:r>
          </a:p>
        </p:txBody>
      </p:sp>
      <p:sp>
        <p:nvSpPr>
          <p:cNvPr id="28" name="TextBox 27"/>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II · ASSURANCE OF LEARNING</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Eight authentic assessments</a:t>
            </a:r>
          </a:p>
        </p:txBody>
      </p:sp>
      <p:sp>
        <p:nvSpPr>
          <p:cNvPr id="7" name="TextBox 6"/>
          <p:cNvSpPr txBox="1"/>
          <p:nvPr/>
        </p:nvSpPr>
        <p:spPr>
          <a:xfrm>
            <a:off x="502920" y="1106424"/>
            <a:ext cx="10698480" cy="274320"/>
          </a:xfrm>
          <a:prstGeom prst="rect">
            <a:avLst/>
          </a:prstGeom>
          <a:noFill/>
        </p:spPr>
        <p:txBody>
          <a:bodyPr wrap="square" anchor="t" lIns="0" rIns="0" tIns="0" bIns="0">
            <a:spAutoFit/>
          </a:bodyPr>
          <a:lstStyle/>
          <a:p>
            <a:pPr algn="l"/>
            <a:r>
              <a:rPr sz="1250" b="0" i="1">
                <a:solidFill>
                  <a:srgbClr val="4B5563"/>
                </a:solidFill>
                <a:latin typeface="Times New Roman"/>
              </a:rPr>
              <a:t>Designed to measure executive-level strategic thinking rather than factual recall.</a:t>
            </a:r>
          </a:p>
        </p:txBody>
      </p:sp>
      <p:sp>
        <p:nvSpPr>
          <p:cNvPr id="8" name="Rectangle 7"/>
          <p:cNvSpPr/>
          <p:nvPr/>
        </p:nvSpPr>
        <p:spPr>
          <a:xfrm>
            <a:off x="868680" y="1792224"/>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792224"/>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1792224"/>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Industry Analysis</a:t>
            </a:r>
          </a:p>
        </p:txBody>
      </p:sp>
      <p:sp>
        <p:nvSpPr>
          <p:cNvPr id="11" name="Rectangle 10"/>
          <p:cNvSpPr/>
          <p:nvPr/>
        </p:nvSpPr>
        <p:spPr>
          <a:xfrm>
            <a:off x="6245352" y="1792224"/>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792224"/>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92224"/>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Strategic Reflection Papers</a:t>
            </a:r>
          </a:p>
        </p:txBody>
      </p:sp>
      <p:sp>
        <p:nvSpPr>
          <p:cNvPr id="14" name="Rectangle 13"/>
          <p:cNvSpPr/>
          <p:nvPr/>
        </p:nvSpPr>
        <p:spPr>
          <a:xfrm>
            <a:off x="868680" y="2578608"/>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78608"/>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2578608"/>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Harvard Business School Case Analyses</a:t>
            </a:r>
          </a:p>
        </p:txBody>
      </p:sp>
      <p:sp>
        <p:nvSpPr>
          <p:cNvPr id="17" name="Rectangle 16"/>
          <p:cNvSpPr/>
          <p:nvPr/>
        </p:nvSpPr>
        <p:spPr>
          <a:xfrm>
            <a:off x="6245352" y="2578608"/>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5352" y="2578608"/>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578608"/>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AI Laboratory Portfolio</a:t>
            </a:r>
          </a:p>
        </p:txBody>
      </p:sp>
      <p:sp>
        <p:nvSpPr>
          <p:cNvPr id="20" name="Rectangle 19"/>
          <p:cNvSpPr/>
          <p:nvPr/>
        </p:nvSpPr>
        <p:spPr>
          <a:xfrm>
            <a:off x="868680" y="3364992"/>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364992"/>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3364992"/>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Executive Memoranda</a:t>
            </a:r>
          </a:p>
        </p:txBody>
      </p:sp>
      <p:sp>
        <p:nvSpPr>
          <p:cNvPr id="23" name="Rectangle 22"/>
          <p:cNvSpPr/>
          <p:nvPr/>
        </p:nvSpPr>
        <p:spPr>
          <a:xfrm>
            <a:off x="6245352" y="3364992"/>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3364992"/>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364992"/>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AI Strategy Consulting Project</a:t>
            </a:r>
          </a:p>
        </p:txBody>
      </p:sp>
      <p:sp>
        <p:nvSpPr>
          <p:cNvPr id="26" name="Rectangle 25"/>
          <p:cNvSpPr/>
          <p:nvPr/>
        </p:nvSpPr>
        <p:spPr>
          <a:xfrm>
            <a:off x="868680" y="4151376"/>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8680" y="4151376"/>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9848" y="4151376"/>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Executive Board Presentation</a:t>
            </a:r>
          </a:p>
        </p:txBody>
      </p:sp>
      <p:sp>
        <p:nvSpPr>
          <p:cNvPr id="29" name="Rectangle 28"/>
          <p:cNvSpPr/>
          <p:nvPr/>
        </p:nvSpPr>
        <p:spPr>
          <a:xfrm>
            <a:off x="6245352" y="4151376"/>
            <a:ext cx="5047488" cy="621792"/>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45352" y="4151376"/>
            <a:ext cx="41148" cy="6217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151376"/>
            <a:ext cx="4681727" cy="621792"/>
          </a:xfrm>
          <a:prstGeom prst="rect">
            <a:avLst/>
          </a:prstGeom>
          <a:noFill/>
        </p:spPr>
        <p:txBody>
          <a:bodyPr wrap="square" anchor="ctr" lIns="0" rIns="0" tIns="0" bIns="0">
            <a:spAutoFit/>
          </a:bodyPr>
          <a:lstStyle/>
          <a:p>
            <a:pPr algn="l">
              <a:lnSpc>
                <a:spcPct val="110000"/>
              </a:lnSpc>
            </a:pPr>
            <a:r>
              <a:rPr sz="1400" b="1" i="0">
                <a:solidFill>
                  <a:srgbClr val="10233F"/>
                </a:solidFill>
                <a:latin typeface="Times New Roman"/>
              </a:rPr>
              <a:t>Final Consulting Report</a:t>
            </a:r>
          </a:p>
        </p:txBody>
      </p:sp>
      <p:sp>
        <p:nvSpPr>
          <p:cNvPr id="32" name="Rectangle 31"/>
          <p:cNvSpPr/>
          <p:nvPr/>
        </p:nvSpPr>
        <p:spPr>
          <a:xfrm>
            <a:off x="868680" y="5120640"/>
            <a:ext cx="10424160" cy="658368"/>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8680" y="5120640"/>
            <a:ext cx="45720" cy="65836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88720" y="5120640"/>
            <a:ext cx="9875520" cy="658368"/>
          </a:xfrm>
          <a:prstGeom prst="rect">
            <a:avLst/>
          </a:prstGeom>
          <a:noFill/>
        </p:spPr>
        <p:txBody>
          <a:bodyPr wrap="square" anchor="ctr" lIns="0" rIns="0" tIns="0" bIns="0">
            <a:spAutoFit/>
          </a:bodyPr>
          <a:lstStyle/>
          <a:p>
            <a:pPr algn="l"/>
            <a:r>
              <a:rPr sz="1300" b="0" i="0">
                <a:solidFill>
                  <a:srgbClr val="111827"/>
                </a:solidFill>
                <a:latin typeface="Times New Roman"/>
              </a:rPr>
              <a:t>Each assessment measures multiple learning outcomes while progressively increasing analytical complexity through the semester.</a:t>
            </a:r>
          </a:p>
        </p:txBody>
      </p:sp>
      <p:sp>
        <p:nvSpPr>
          <p:cNvPr id="35" name="Rectangle 34"/>
          <p:cNvSpPr/>
          <p:nvPr/>
        </p:nvSpPr>
        <p:spPr>
          <a:xfrm>
            <a:off x="868680" y="5961888"/>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9848" y="5961888"/>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Nothing in this course is assessed by recall alone.</a:t>
            </a:r>
          </a:p>
        </p:txBody>
      </p:sp>
      <p:sp>
        <p:nvSpPr>
          <p:cNvPr id="37" name="TextBox 36"/>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14</a:t>
            </a:r>
          </a:p>
        </p:txBody>
      </p:sp>
      <p:sp>
        <p:nvSpPr>
          <p:cNvPr id="38" name="TextBox 37"/>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III · INTELLECTUAL FOUNDATIONS</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Two canons, paired week by week</a:t>
            </a:r>
          </a:p>
        </p:txBody>
      </p:sp>
      <p:sp>
        <p:nvSpPr>
          <p:cNvPr id="7" name="TextBox 6"/>
          <p:cNvSpPr txBox="1"/>
          <p:nvPr/>
        </p:nvSpPr>
        <p:spPr>
          <a:xfrm>
            <a:off x="502920" y="1106424"/>
            <a:ext cx="10698480" cy="274320"/>
          </a:xfrm>
          <a:prstGeom prst="rect">
            <a:avLst/>
          </a:prstGeom>
          <a:noFill/>
        </p:spPr>
        <p:txBody>
          <a:bodyPr wrap="square" anchor="t" lIns="0" rIns="0" tIns="0" bIns="0">
            <a:spAutoFit/>
          </a:bodyPr>
          <a:lstStyle/>
          <a:p>
            <a:pPr algn="l"/>
            <a:r>
              <a:rPr sz="1250" b="0" i="1">
                <a:solidFill>
                  <a:srgbClr val="4B5563"/>
                </a:solidFill>
                <a:latin typeface="Times New Roman"/>
              </a:rPr>
              <a:t>The defining feature of this course: deliberate pairing of classical and contemporary scholarship.</a:t>
            </a:r>
          </a:p>
        </p:txBody>
      </p:sp>
      <p:sp>
        <p:nvSpPr>
          <p:cNvPr id="8" name="Rectangle 7"/>
          <p:cNvSpPr/>
          <p:nvPr/>
        </p:nvSpPr>
        <p:spPr>
          <a:xfrm>
            <a:off x="868680" y="1810512"/>
            <a:ext cx="10424159" cy="329184"/>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7" y="1810512"/>
            <a:ext cx="694944" cy="329184"/>
          </a:xfrm>
          <a:prstGeom prst="rect">
            <a:avLst/>
          </a:prstGeom>
          <a:noFill/>
        </p:spPr>
        <p:txBody>
          <a:bodyPr wrap="square" anchor="ctr" lIns="0" rIns="0" tIns="0" bIns="0">
            <a:spAutoFit/>
          </a:bodyPr>
          <a:lstStyle/>
          <a:p>
            <a:pPr algn="l"/>
            <a:r>
              <a:rPr sz="950" b="1" i="0">
                <a:solidFill>
                  <a:srgbClr val="FFFFFF"/>
                </a:solidFill>
                <a:latin typeface="Times New Roman"/>
              </a:rPr>
              <a:t>WEEK</a:t>
            </a:r>
          </a:p>
        </p:txBody>
      </p:sp>
      <p:sp>
        <p:nvSpPr>
          <p:cNvPr id="10" name="TextBox 9"/>
          <p:cNvSpPr txBox="1"/>
          <p:nvPr/>
        </p:nvSpPr>
        <p:spPr>
          <a:xfrm>
            <a:off x="1892807" y="1810512"/>
            <a:ext cx="4901183" cy="329184"/>
          </a:xfrm>
          <a:prstGeom prst="rect">
            <a:avLst/>
          </a:prstGeom>
          <a:noFill/>
        </p:spPr>
        <p:txBody>
          <a:bodyPr wrap="square" anchor="ctr" lIns="0" rIns="0" tIns="0" bIns="0">
            <a:spAutoFit/>
          </a:bodyPr>
          <a:lstStyle/>
          <a:p>
            <a:pPr algn="l"/>
            <a:r>
              <a:rPr sz="950" b="1" i="0">
                <a:solidFill>
                  <a:srgbClr val="FFFFFF"/>
                </a:solidFill>
                <a:latin typeface="Times New Roman"/>
              </a:rPr>
              <a:t>CLASSICAL STRATEGY</a:t>
            </a:r>
          </a:p>
        </p:txBody>
      </p:sp>
      <p:sp>
        <p:nvSpPr>
          <p:cNvPr id="11" name="TextBox 10"/>
          <p:cNvSpPr txBox="1"/>
          <p:nvPr/>
        </p:nvSpPr>
        <p:spPr>
          <a:xfrm>
            <a:off x="7013448" y="1810512"/>
            <a:ext cx="4169663" cy="329184"/>
          </a:xfrm>
          <a:prstGeom prst="rect">
            <a:avLst/>
          </a:prstGeom>
          <a:noFill/>
        </p:spPr>
        <p:txBody>
          <a:bodyPr wrap="square" anchor="ctr" lIns="0" rIns="0" tIns="0" bIns="0">
            <a:spAutoFit/>
          </a:bodyPr>
          <a:lstStyle/>
          <a:p>
            <a:pPr algn="l"/>
            <a:r>
              <a:rPr sz="950" b="1" i="0">
                <a:solidFill>
                  <a:srgbClr val="FFFFFF"/>
                </a:solidFill>
                <a:latin typeface="Times New Roman"/>
              </a:rPr>
              <a:t>CONTEMPORARY AI</a:t>
            </a:r>
          </a:p>
        </p:txBody>
      </p:sp>
      <p:sp>
        <p:nvSpPr>
          <p:cNvPr id="12" name="Rectangle 11"/>
          <p:cNvSpPr/>
          <p:nvPr/>
        </p:nvSpPr>
        <p:spPr>
          <a:xfrm>
            <a:off x="868680" y="2139696"/>
            <a:ext cx="10424159"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249448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7" y="213969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1</a:t>
            </a:r>
          </a:p>
        </p:txBody>
      </p:sp>
      <p:sp>
        <p:nvSpPr>
          <p:cNvPr id="15" name="TextBox 14"/>
          <p:cNvSpPr txBox="1"/>
          <p:nvPr/>
        </p:nvSpPr>
        <p:spPr>
          <a:xfrm>
            <a:off x="1892807" y="213969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Porter (1996), What Is Strategy?</a:t>
            </a:r>
          </a:p>
        </p:txBody>
      </p:sp>
      <p:sp>
        <p:nvSpPr>
          <p:cNvPr id="16" name="TextBox 15"/>
          <p:cNvSpPr txBox="1"/>
          <p:nvPr/>
        </p:nvSpPr>
        <p:spPr>
          <a:xfrm>
            <a:off x="7013448" y="213969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Hutzschenreuter &amp; Lämmermann (2025)</a:t>
            </a:r>
          </a:p>
        </p:txBody>
      </p:sp>
      <p:sp>
        <p:nvSpPr>
          <p:cNvPr id="17" name="Rectangle 16"/>
          <p:cNvSpPr/>
          <p:nvPr/>
        </p:nvSpPr>
        <p:spPr>
          <a:xfrm>
            <a:off x="868680" y="286024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7" y="250545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2</a:t>
            </a:r>
          </a:p>
        </p:txBody>
      </p:sp>
      <p:sp>
        <p:nvSpPr>
          <p:cNvPr id="19" name="TextBox 18"/>
          <p:cNvSpPr txBox="1"/>
          <p:nvPr/>
        </p:nvSpPr>
        <p:spPr>
          <a:xfrm>
            <a:off x="1892807" y="250545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Barney (1991), Firm resources</a:t>
            </a:r>
          </a:p>
        </p:txBody>
      </p:sp>
      <p:sp>
        <p:nvSpPr>
          <p:cNvPr id="20" name="TextBox 19"/>
          <p:cNvSpPr txBox="1"/>
          <p:nvPr/>
        </p:nvSpPr>
        <p:spPr>
          <a:xfrm>
            <a:off x="7013448" y="250545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Biloslavo et al. (2024)</a:t>
            </a:r>
          </a:p>
        </p:txBody>
      </p:sp>
      <p:sp>
        <p:nvSpPr>
          <p:cNvPr id="21" name="Rectangle 20"/>
          <p:cNvSpPr/>
          <p:nvPr/>
        </p:nvSpPr>
        <p:spPr>
          <a:xfrm>
            <a:off x="868680" y="2871215"/>
            <a:ext cx="10424159"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22600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7" y="2871215"/>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3</a:t>
            </a:r>
          </a:p>
        </p:txBody>
      </p:sp>
      <p:sp>
        <p:nvSpPr>
          <p:cNvPr id="24" name="TextBox 23"/>
          <p:cNvSpPr txBox="1"/>
          <p:nvPr/>
        </p:nvSpPr>
        <p:spPr>
          <a:xfrm>
            <a:off x="1892807" y="2871215"/>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Teece, Pisano &amp; Shuen (1997)</a:t>
            </a:r>
          </a:p>
        </p:txBody>
      </p:sp>
      <p:sp>
        <p:nvSpPr>
          <p:cNvPr id="25" name="TextBox 24"/>
          <p:cNvSpPr txBox="1"/>
          <p:nvPr/>
        </p:nvSpPr>
        <p:spPr>
          <a:xfrm>
            <a:off x="7013448" y="2871215"/>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Recent AI &amp; dynamic capabilities article</a:t>
            </a:r>
          </a:p>
        </p:txBody>
      </p:sp>
      <p:sp>
        <p:nvSpPr>
          <p:cNvPr id="26" name="Rectangle 25"/>
          <p:cNvSpPr/>
          <p:nvPr/>
        </p:nvSpPr>
        <p:spPr>
          <a:xfrm>
            <a:off x="868680" y="359176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7" y="3236975"/>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4</a:t>
            </a:r>
          </a:p>
        </p:txBody>
      </p:sp>
      <p:sp>
        <p:nvSpPr>
          <p:cNvPr id="28" name="TextBox 27"/>
          <p:cNvSpPr txBox="1"/>
          <p:nvPr/>
        </p:nvSpPr>
        <p:spPr>
          <a:xfrm>
            <a:off x="1892807" y="3236975"/>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March (1991), Exploration/exploitation</a:t>
            </a:r>
          </a:p>
        </p:txBody>
      </p:sp>
      <p:sp>
        <p:nvSpPr>
          <p:cNvPr id="29" name="TextBox 28"/>
          <p:cNvSpPr txBox="1"/>
          <p:nvPr/>
        </p:nvSpPr>
        <p:spPr>
          <a:xfrm>
            <a:off x="7013448" y="3236975"/>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Jarrahi (2018)</a:t>
            </a:r>
          </a:p>
        </p:txBody>
      </p:sp>
      <p:sp>
        <p:nvSpPr>
          <p:cNvPr id="30" name="Rectangle 29"/>
          <p:cNvSpPr/>
          <p:nvPr/>
        </p:nvSpPr>
        <p:spPr>
          <a:xfrm>
            <a:off x="868680" y="3602735"/>
            <a:ext cx="10424159"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8680" y="395752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7" y="3602735"/>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5</a:t>
            </a:r>
          </a:p>
        </p:txBody>
      </p:sp>
      <p:sp>
        <p:nvSpPr>
          <p:cNvPr id="33" name="TextBox 32"/>
          <p:cNvSpPr txBox="1"/>
          <p:nvPr/>
        </p:nvSpPr>
        <p:spPr>
          <a:xfrm>
            <a:off x="1892807" y="3602735"/>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Grant (1996), Knowledge-based view</a:t>
            </a:r>
          </a:p>
        </p:txBody>
      </p:sp>
      <p:sp>
        <p:nvSpPr>
          <p:cNvPr id="34" name="TextBox 33"/>
          <p:cNvSpPr txBox="1"/>
          <p:nvPr/>
        </p:nvSpPr>
        <p:spPr>
          <a:xfrm>
            <a:off x="7013448" y="3602735"/>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Shrestha et al. (2019)</a:t>
            </a:r>
          </a:p>
        </p:txBody>
      </p:sp>
      <p:sp>
        <p:nvSpPr>
          <p:cNvPr id="35" name="Rectangle 34"/>
          <p:cNvSpPr/>
          <p:nvPr/>
        </p:nvSpPr>
        <p:spPr>
          <a:xfrm>
            <a:off x="868680" y="432328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7" y="396849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6</a:t>
            </a:r>
          </a:p>
        </p:txBody>
      </p:sp>
      <p:sp>
        <p:nvSpPr>
          <p:cNvPr id="37" name="TextBox 36"/>
          <p:cNvSpPr txBox="1"/>
          <p:nvPr/>
        </p:nvSpPr>
        <p:spPr>
          <a:xfrm>
            <a:off x="1892807" y="396849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Prahalad &amp; Hamel (1990), Core competence</a:t>
            </a:r>
          </a:p>
        </p:txBody>
      </p:sp>
      <p:sp>
        <p:nvSpPr>
          <p:cNvPr id="38" name="TextBox 37"/>
          <p:cNvSpPr txBox="1"/>
          <p:nvPr/>
        </p:nvSpPr>
        <p:spPr>
          <a:xfrm>
            <a:off x="7013448" y="396849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Dellermann et al. (2019)</a:t>
            </a:r>
          </a:p>
        </p:txBody>
      </p:sp>
      <p:sp>
        <p:nvSpPr>
          <p:cNvPr id="39" name="Rectangle 38"/>
          <p:cNvSpPr/>
          <p:nvPr/>
        </p:nvSpPr>
        <p:spPr>
          <a:xfrm>
            <a:off x="868680" y="4334256"/>
            <a:ext cx="10424159"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8680" y="468904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8407" y="433425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7</a:t>
            </a:r>
          </a:p>
        </p:txBody>
      </p:sp>
      <p:sp>
        <p:nvSpPr>
          <p:cNvPr id="42" name="TextBox 41"/>
          <p:cNvSpPr txBox="1"/>
          <p:nvPr/>
        </p:nvSpPr>
        <p:spPr>
          <a:xfrm>
            <a:off x="1892807" y="433425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Williamson (1979), Transaction costs</a:t>
            </a:r>
          </a:p>
        </p:txBody>
      </p:sp>
      <p:sp>
        <p:nvSpPr>
          <p:cNvPr id="43" name="TextBox 42"/>
          <p:cNvSpPr txBox="1"/>
          <p:nvPr/>
        </p:nvSpPr>
        <p:spPr>
          <a:xfrm>
            <a:off x="7013448" y="433425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Kellogg et al. (2020)</a:t>
            </a:r>
          </a:p>
        </p:txBody>
      </p:sp>
      <p:sp>
        <p:nvSpPr>
          <p:cNvPr id="44" name="Rectangle 43"/>
          <p:cNvSpPr/>
          <p:nvPr/>
        </p:nvSpPr>
        <p:spPr>
          <a:xfrm>
            <a:off x="868680" y="505480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7" y="470001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8</a:t>
            </a:r>
          </a:p>
        </p:txBody>
      </p:sp>
      <p:sp>
        <p:nvSpPr>
          <p:cNvPr id="46" name="TextBox 45"/>
          <p:cNvSpPr txBox="1"/>
          <p:nvPr/>
        </p:nvSpPr>
        <p:spPr>
          <a:xfrm>
            <a:off x="1892807" y="470001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Wernerfelt (1984), Resource-based view</a:t>
            </a:r>
          </a:p>
        </p:txBody>
      </p:sp>
      <p:sp>
        <p:nvSpPr>
          <p:cNvPr id="47" name="TextBox 46"/>
          <p:cNvSpPr txBox="1"/>
          <p:nvPr/>
        </p:nvSpPr>
        <p:spPr>
          <a:xfrm>
            <a:off x="7013448" y="470001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Rai et al. (2019)</a:t>
            </a:r>
          </a:p>
        </p:txBody>
      </p:sp>
      <p:sp>
        <p:nvSpPr>
          <p:cNvPr id="48" name="Rectangle 47"/>
          <p:cNvSpPr/>
          <p:nvPr/>
        </p:nvSpPr>
        <p:spPr>
          <a:xfrm>
            <a:off x="868680" y="5065776"/>
            <a:ext cx="10424159" cy="36576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8680" y="542056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8407" y="506577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9</a:t>
            </a:r>
          </a:p>
        </p:txBody>
      </p:sp>
      <p:sp>
        <p:nvSpPr>
          <p:cNvPr id="51" name="TextBox 50"/>
          <p:cNvSpPr txBox="1"/>
          <p:nvPr/>
        </p:nvSpPr>
        <p:spPr>
          <a:xfrm>
            <a:off x="1892807" y="506577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Teece (2007), Microfoundations</a:t>
            </a:r>
          </a:p>
        </p:txBody>
      </p:sp>
      <p:sp>
        <p:nvSpPr>
          <p:cNvPr id="52" name="TextBox 51"/>
          <p:cNvSpPr txBox="1"/>
          <p:nvPr/>
        </p:nvSpPr>
        <p:spPr>
          <a:xfrm>
            <a:off x="7013448" y="506577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von Krogh (2018)</a:t>
            </a:r>
          </a:p>
        </p:txBody>
      </p:sp>
      <p:sp>
        <p:nvSpPr>
          <p:cNvPr id="53" name="Rectangle 52"/>
          <p:cNvSpPr/>
          <p:nvPr/>
        </p:nvSpPr>
        <p:spPr>
          <a:xfrm>
            <a:off x="868680" y="578632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8407" y="5431536"/>
            <a:ext cx="694944" cy="365760"/>
          </a:xfrm>
          <a:prstGeom prst="rect">
            <a:avLst/>
          </a:prstGeom>
          <a:noFill/>
        </p:spPr>
        <p:txBody>
          <a:bodyPr wrap="square" anchor="ctr" lIns="0" rIns="0" tIns="0" bIns="0">
            <a:spAutoFit/>
          </a:bodyPr>
          <a:lstStyle/>
          <a:p>
            <a:pPr algn="l">
              <a:lnSpc>
                <a:spcPct val="106000"/>
              </a:lnSpc>
            </a:pPr>
            <a:r>
              <a:rPr sz="1100" b="1" i="0">
                <a:solidFill>
                  <a:srgbClr val="10233F"/>
                </a:solidFill>
                <a:latin typeface="Times New Roman"/>
              </a:rPr>
              <a:t>10</a:t>
            </a:r>
          </a:p>
        </p:txBody>
      </p:sp>
      <p:sp>
        <p:nvSpPr>
          <p:cNvPr id="55" name="TextBox 54"/>
          <p:cNvSpPr txBox="1"/>
          <p:nvPr/>
        </p:nvSpPr>
        <p:spPr>
          <a:xfrm>
            <a:off x="1892807" y="5431536"/>
            <a:ext cx="490118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Course synthesis</a:t>
            </a:r>
          </a:p>
        </p:txBody>
      </p:sp>
      <p:sp>
        <p:nvSpPr>
          <p:cNvPr id="56" name="TextBox 55"/>
          <p:cNvSpPr txBox="1"/>
          <p:nvPr/>
        </p:nvSpPr>
        <p:spPr>
          <a:xfrm>
            <a:off x="7013448" y="5431536"/>
            <a:ext cx="4169663" cy="365760"/>
          </a:xfrm>
          <a:prstGeom prst="rect">
            <a:avLst/>
          </a:prstGeom>
          <a:noFill/>
        </p:spPr>
        <p:txBody>
          <a:bodyPr wrap="square" anchor="ctr" lIns="0" rIns="0" tIns="0" bIns="0">
            <a:spAutoFit/>
          </a:bodyPr>
          <a:lstStyle/>
          <a:p>
            <a:pPr algn="l">
              <a:lnSpc>
                <a:spcPct val="106000"/>
              </a:lnSpc>
            </a:pPr>
            <a:r>
              <a:rPr sz="1100" b="0" i="0">
                <a:solidFill>
                  <a:srgbClr val="111827"/>
                </a:solidFill>
                <a:latin typeface="Times New Roman"/>
              </a:rPr>
              <a:t>Makarius et al. (2020)</a:t>
            </a:r>
          </a:p>
        </p:txBody>
      </p:sp>
      <p:sp>
        <p:nvSpPr>
          <p:cNvPr id="57" name="Rectangle 56"/>
          <p:cNvSpPr/>
          <p:nvPr/>
        </p:nvSpPr>
        <p:spPr>
          <a:xfrm>
            <a:off x="868680" y="5907024"/>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9848" y="5907024"/>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Every week asks the same question of a different theory.</a:t>
            </a:r>
          </a:p>
        </p:txBody>
      </p:sp>
      <p:sp>
        <p:nvSpPr>
          <p:cNvPr id="59" name="TextBox 58"/>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15</a:t>
            </a:r>
          </a:p>
        </p:txBody>
      </p:sp>
      <p:sp>
        <p:nvSpPr>
          <p:cNvPr id="60" name="TextBox 59"/>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III · READING STRATEGY</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Four questions to bring to every reading</a:t>
            </a:r>
          </a:p>
        </p:txBody>
      </p:sp>
      <p:sp>
        <p:nvSpPr>
          <p:cNvPr id="7" name="Rectangle 6"/>
          <p:cNvSpPr/>
          <p:nvPr/>
        </p:nvSpPr>
        <p:spPr>
          <a:xfrm>
            <a:off x="868680" y="1481328"/>
            <a:ext cx="5047488" cy="1609344"/>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50474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 y="1719072"/>
            <a:ext cx="4608576" cy="1243584"/>
          </a:xfrm>
          <a:prstGeom prst="rect">
            <a:avLst/>
          </a:prstGeom>
          <a:noFill/>
        </p:spPr>
        <p:txBody>
          <a:bodyPr wrap="square" anchor="t" lIns="0" rIns="0" tIns="0" bIns="0">
            <a:spAutoFit/>
          </a:bodyPr>
          <a:lstStyle/>
          <a:p>
            <a:pPr algn="l">
              <a:spcAft>
                <a:spcPts val="800"/>
              </a:spcAft>
            </a:pPr>
            <a:r>
              <a:rPr sz="900" b="1" i="0">
                <a:solidFill>
                  <a:srgbClr val="2A6F97"/>
                </a:solidFill>
                <a:latin typeface="Times New Roman"/>
              </a:rPr>
              <a:t>QUESTION 1</a:t>
            </a:r>
          </a:p>
          <a:p>
            <a:pPr algn="l">
              <a:lnSpc>
                <a:spcPct val="108000"/>
              </a:lnSpc>
              <a:spcAft>
                <a:spcPts val="900"/>
              </a:spcAft>
            </a:pPr>
            <a:r>
              <a:rPr sz="1500" b="1" i="0">
                <a:solidFill>
                  <a:srgbClr val="10233F"/>
                </a:solidFill>
                <a:latin typeface="Times New Roman"/>
              </a:rPr>
              <a:t>What is the central theoretical contribution?</a:t>
            </a:r>
          </a:p>
          <a:p>
            <a:pPr algn="l">
              <a:lnSpc>
                <a:spcPct val="118000"/>
              </a:lnSpc>
            </a:pPr>
            <a:r>
              <a:rPr sz="1150" b="0" i="1">
                <a:solidFill>
                  <a:srgbClr val="4B5563"/>
                </a:solidFill>
                <a:latin typeface="Times New Roman"/>
              </a:rPr>
              <a:t>State the argument in your own words before you evaluate it.</a:t>
            </a:r>
          </a:p>
        </p:txBody>
      </p:sp>
      <p:sp>
        <p:nvSpPr>
          <p:cNvPr id="10" name="Rectangle 9"/>
          <p:cNvSpPr/>
          <p:nvPr/>
        </p:nvSpPr>
        <p:spPr>
          <a:xfrm>
            <a:off x="6245352" y="1481328"/>
            <a:ext cx="5047488" cy="1609344"/>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481328"/>
            <a:ext cx="5047488" cy="45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719072"/>
            <a:ext cx="4608576" cy="1243584"/>
          </a:xfrm>
          <a:prstGeom prst="rect">
            <a:avLst/>
          </a:prstGeom>
          <a:noFill/>
        </p:spPr>
        <p:txBody>
          <a:bodyPr wrap="square" anchor="t" lIns="0" rIns="0" tIns="0" bIns="0">
            <a:spAutoFit/>
          </a:bodyPr>
          <a:lstStyle/>
          <a:p>
            <a:pPr algn="l">
              <a:spcAft>
                <a:spcPts val="800"/>
              </a:spcAft>
            </a:pPr>
            <a:r>
              <a:rPr sz="900" b="1" i="0">
                <a:solidFill>
                  <a:srgbClr val="2A6F97"/>
                </a:solidFill>
                <a:latin typeface="Times New Roman"/>
              </a:rPr>
              <a:t>QUESTION 2</a:t>
            </a:r>
          </a:p>
          <a:p>
            <a:pPr algn="l">
              <a:lnSpc>
                <a:spcPct val="108000"/>
              </a:lnSpc>
              <a:spcAft>
                <a:spcPts val="900"/>
              </a:spcAft>
            </a:pPr>
            <a:r>
              <a:rPr sz="1500" b="1" i="0">
                <a:solidFill>
                  <a:srgbClr val="10233F"/>
                </a:solidFill>
                <a:latin typeface="Times New Roman"/>
              </a:rPr>
              <a:t>What assumptions does the author make?</a:t>
            </a:r>
          </a:p>
          <a:p>
            <a:pPr algn="l">
              <a:lnSpc>
                <a:spcPct val="118000"/>
              </a:lnSpc>
            </a:pPr>
            <a:r>
              <a:rPr sz="1150" b="0" i="1">
                <a:solidFill>
                  <a:srgbClr val="4B5563"/>
                </a:solidFill>
                <a:latin typeface="Times New Roman"/>
              </a:rPr>
              <a:t>About organizations, managers, technology, and competition.</a:t>
            </a:r>
          </a:p>
        </p:txBody>
      </p:sp>
      <p:sp>
        <p:nvSpPr>
          <p:cNvPr id="13" name="Rectangle 12"/>
          <p:cNvSpPr/>
          <p:nvPr/>
        </p:nvSpPr>
        <p:spPr>
          <a:xfrm>
            <a:off x="868680" y="3273552"/>
            <a:ext cx="5047488" cy="1609344"/>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273552"/>
            <a:ext cx="50474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 y="3511296"/>
            <a:ext cx="4608576" cy="1243584"/>
          </a:xfrm>
          <a:prstGeom prst="rect">
            <a:avLst/>
          </a:prstGeom>
          <a:noFill/>
        </p:spPr>
        <p:txBody>
          <a:bodyPr wrap="square" anchor="t" lIns="0" rIns="0" tIns="0" bIns="0">
            <a:spAutoFit/>
          </a:bodyPr>
          <a:lstStyle/>
          <a:p>
            <a:pPr algn="l">
              <a:spcAft>
                <a:spcPts val="800"/>
              </a:spcAft>
            </a:pPr>
            <a:r>
              <a:rPr sz="900" b="1" i="0">
                <a:solidFill>
                  <a:srgbClr val="2A6F97"/>
                </a:solidFill>
                <a:latin typeface="Times New Roman"/>
              </a:rPr>
              <a:t>QUESTION 3</a:t>
            </a:r>
          </a:p>
          <a:p>
            <a:pPr algn="l">
              <a:lnSpc>
                <a:spcPct val="108000"/>
              </a:lnSpc>
              <a:spcAft>
                <a:spcPts val="900"/>
              </a:spcAft>
            </a:pPr>
            <a:r>
              <a:rPr sz="1500" b="1" i="0">
                <a:solidFill>
                  <a:srgbClr val="10233F"/>
                </a:solidFill>
                <a:latin typeface="Times New Roman"/>
              </a:rPr>
              <a:t>How does the AI reading reinforce, extend, or challenge them?</a:t>
            </a:r>
          </a:p>
          <a:p>
            <a:pPr algn="l">
              <a:lnSpc>
                <a:spcPct val="118000"/>
              </a:lnSpc>
            </a:pPr>
            <a:r>
              <a:rPr sz="1150" b="0" i="1">
                <a:solidFill>
                  <a:srgbClr val="4B5563"/>
                </a:solidFill>
                <a:latin typeface="Times New Roman"/>
              </a:rPr>
              <a:t>Be specific about which assumption is at stake.</a:t>
            </a:r>
          </a:p>
        </p:txBody>
      </p:sp>
      <p:sp>
        <p:nvSpPr>
          <p:cNvPr id="16" name="Rectangle 15"/>
          <p:cNvSpPr/>
          <p:nvPr/>
        </p:nvSpPr>
        <p:spPr>
          <a:xfrm>
            <a:off x="6245352" y="3273552"/>
            <a:ext cx="5047488" cy="1609344"/>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3273552"/>
            <a:ext cx="5047488" cy="45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3511296"/>
            <a:ext cx="4608576" cy="1243584"/>
          </a:xfrm>
          <a:prstGeom prst="rect">
            <a:avLst/>
          </a:prstGeom>
          <a:noFill/>
        </p:spPr>
        <p:txBody>
          <a:bodyPr wrap="square" anchor="t" lIns="0" rIns="0" tIns="0" bIns="0">
            <a:spAutoFit/>
          </a:bodyPr>
          <a:lstStyle/>
          <a:p>
            <a:pPr algn="l">
              <a:spcAft>
                <a:spcPts val="800"/>
              </a:spcAft>
            </a:pPr>
            <a:r>
              <a:rPr sz="900" b="1" i="0">
                <a:solidFill>
                  <a:srgbClr val="2A6F97"/>
                </a:solidFill>
                <a:latin typeface="Times New Roman"/>
              </a:rPr>
              <a:t>QUESTION 4</a:t>
            </a:r>
          </a:p>
          <a:p>
            <a:pPr algn="l">
              <a:lnSpc>
                <a:spcPct val="108000"/>
              </a:lnSpc>
              <a:spcAft>
                <a:spcPts val="900"/>
              </a:spcAft>
            </a:pPr>
            <a:r>
              <a:rPr sz="1500" b="1" i="0">
                <a:solidFill>
                  <a:srgbClr val="10233F"/>
                </a:solidFill>
                <a:latin typeface="Times New Roman"/>
              </a:rPr>
              <a:t>If the author were writing today, how might the theory change?</a:t>
            </a:r>
          </a:p>
          <a:p>
            <a:pPr algn="l">
              <a:lnSpc>
                <a:spcPct val="118000"/>
              </a:lnSpc>
            </a:pPr>
            <a:r>
              <a:rPr sz="1150" b="0" i="1">
                <a:solidFill>
                  <a:srgbClr val="4B5563"/>
                </a:solidFill>
                <a:latin typeface="Times New Roman"/>
              </a:rPr>
              <a:t>This is where your own contribution begins.</a:t>
            </a:r>
          </a:p>
        </p:txBody>
      </p:sp>
      <p:sp>
        <p:nvSpPr>
          <p:cNvPr id="19" name="TextBox 18"/>
          <p:cNvSpPr txBox="1"/>
          <p:nvPr/>
        </p:nvSpPr>
        <p:spPr>
          <a:xfrm>
            <a:off x="868680" y="5175504"/>
            <a:ext cx="10424160" cy="274320"/>
          </a:xfrm>
          <a:prstGeom prst="rect">
            <a:avLst/>
          </a:prstGeom>
          <a:noFill/>
        </p:spPr>
        <p:txBody>
          <a:bodyPr wrap="square" anchor="t" lIns="0" rIns="0" tIns="0" bIns="0">
            <a:spAutoFit/>
          </a:bodyPr>
          <a:lstStyle/>
          <a:p>
            <a:pPr algn="l"/>
            <a:r>
              <a:rPr sz="950" b="1" i="0">
                <a:solidFill>
                  <a:srgbClr val="2A6F97"/>
                </a:solidFill>
                <a:latin typeface="Times New Roman"/>
              </a:rPr>
              <a:t>THE WEEKLY READING PROGRESSION</a:t>
            </a:r>
          </a:p>
        </p:txBody>
      </p:sp>
      <p:sp>
        <p:nvSpPr>
          <p:cNvPr id="20" name="TextBox 19"/>
          <p:cNvSpPr txBox="1"/>
          <p:nvPr/>
        </p:nvSpPr>
        <p:spPr>
          <a:xfrm>
            <a:off x="868680" y="5468112"/>
            <a:ext cx="10424160" cy="365760"/>
          </a:xfrm>
          <a:prstGeom prst="rect">
            <a:avLst/>
          </a:prstGeom>
          <a:noFill/>
        </p:spPr>
        <p:txBody>
          <a:bodyPr wrap="square" anchor="t" lIns="0" rIns="0" tIns="0" bIns="0">
            <a:spAutoFit/>
          </a:bodyPr>
          <a:lstStyle/>
          <a:p>
            <a:pPr algn="l">
              <a:lnSpc>
                <a:spcPct val="120000"/>
              </a:lnSpc>
            </a:pPr>
            <a:r>
              <a:rPr sz="1250" b="1" i="0">
                <a:solidFill>
                  <a:srgbClr val="10233F"/>
                </a:solidFill>
                <a:latin typeface="Times New Roman"/>
              </a:rPr>
              <a:t>Classical theory → assumptions → AI research → critical comparison → managerial implications → application → future theory</a:t>
            </a:r>
          </a:p>
        </p:txBody>
      </p:sp>
      <p:sp>
        <p:nvSpPr>
          <p:cNvPr id="21" name="Rectangle 20"/>
          <p:cNvSpPr/>
          <p:nvPr/>
        </p:nvSpPr>
        <p:spPr>
          <a:xfrm>
            <a:off x="868680" y="5961888"/>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5961888"/>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Move beyond understanding theories to evaluating how they should change.</a:t>
            </a:r>
          </a:p>
        </p:txBody>
      </p:sp>
      <p:sp>
        <p:nvSpPr>
          <p:cNvPr id="23" name="TextBox 22"/>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16</a:t>
            </a:r>
          </a:p>
        </p:txBody>
      </p:sp>
      <p:sp>
        <p:nvSpPr>
          <p:cNvPr id="24" name="TextBox 23"/>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IV · THE AISE FRAMEWORK</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Seven stages, seven questions</a:t>
            </a:r>
          </a:p>
        </p:txBody>
      </p:sp>
      <p:sp>
        <p:nvSpPr>
          <p:cNvPr id="7" name="TextBox 6"/>
          <p:cNvSpPr txBox="1"/>
          <p:nvPr/>
        </p:nvSpPr>
        <p:spPr>
          <a:xfrm>
            <a:off x="868680" y="1188720"/>
            <a:ext cx="10424160" cy="274320"/>
          </a:xfrm>
          <a:prstGeom prst="rect">
            <a:avLst/>
          </a:prstGeom>
          <a:noFill/>
        </p:spPr>
        <p:txBody>
          <a:bodyPr wrap="square" anchor="t" lIns="0" rIns="0" tIns="0" bIns="0">
            <a:spAutoFit/>
          </a:bodyPr>
          <a:lstStyle/>
          <a:p>
            <a:pPr algn="l"/>
            <a:r>
              <a:rPr sz="950" b="1" i="0">
                <a:solidFill>
                  <a:srgbClr val="2A6F97"/>
                </a:solidFill>
                <a:latin typeface="Times New Roman"/>
              </a:rPr>
              <a:t>ENVIRONMENTAL CHANGE  →  STRATEGIC RESPONSE</a:t>
            </a:r>
          </a:p>
        </p:txBody>
      </p:sp>
      <p:sp>
        <p:nvSpPr>
          <p:cNvPr id="8" name="Rectangle 7"/>
          <p:cNvSpPr/>
          <p:nvPr/>
        </p:nvSpPr>
        <p:spPr>
          <a:xfrm>
            <a:off x="868680" y="1463040"/>
            <a:ext cx="10424160" cy="58521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463040"/>
            <a:ext cx="548640" cy="58521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548640" cy="585216"/>
          </a:xfrm>
          <a:prstGeom prst="rect">
            <a:avLst/>
          </a:prstGeom>
          <a:noFill/>
        </p:spPr>
        <p:txBody>
          <a:bodyPr wrap="square" anchor="ctr" lIns="0" rIns="0" tIns="0" bIns="0">
            <a:spAutoFit/>
          </a:bodyPr>
          <a:lstStyle/>
          <a:p>
            <a:pPr algn="ctr"/>
            <a:r>
              <a:rPr sz="1800" b="1" i="0">
                <a:solidFill>
                  <a:srgbClr val="FFFFFF"/>
                </a:solidFill>
                <a:latin typeface="Times New Roman"/>
              </a:rPr>
              <a:t>1</a:t>
            </a:r>
          </a:p>
        </p:txBody>
      </p:sp>
      <p:sp>
        <p:nvSpPr>
          <p:cNvPr id="11" name="TextBox 10"/>
          <p:cNvSpPr txBox="1"/>
          <p:nvPr/>
        </p:nvSpPr>
        <p:spPr>
          <a:xfrm>
            <a:off x="1645920" y="146304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Strategic Diagnosis</a:t>
            </a:r>
          </a:p>
        </p:txBody>
      </p:sp>
      <p:sp>
        <p:nvSpPr>
          <p:cNvPr id="12" name="TextBox 11"/>
          <p:cNvSpPr txBox="1"/>
          <p:nvPr/>
        </p:nvSpPr>
        <p:spPr>
          <a:xfrm>
            <a:off x="5852160" y="146304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What strategic problem should the organization solve?</a:t>
            </a:r>
          </a:p>
        </p:txBody>
      </p:sp>
      <p:sp>
        <p:nvSpPr>
          <p:cNvPr id="13" name="Rectangle 12"/>
          <p:cNvSpPr/>
          <p:nvPr/>
        </p:nvSpPr>
        <p:spPr>
          <a:xfrm>
            <a:off x="868680" y="2103120"/>
            <a:ext cx="10424160" cy="58521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2103120"/>
            <a:ext cx="548640" cy="58521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103120"/>
            <a:ext cx="548640" cy="585216"/>
          </a:xfrm>
          <a:prstGeom prst="rect">
            <a:avLst/>
          </a:prstGeom>
          <a:noFill/>
        </p:spPr>
        <p:txBody>
          <a:bodyPr wrap="square" anchor="ctr" lIns="0" rIns="0" tIns="0" bIns="0">
            <a:spAutoFit/>
          </a:bodyPr>
          <a:lstStyle/>
          <a:p>
            <a:pPr algn="ctr"/>
            <a:r>
              <a:rPr sz="1800" b="1" i="0">
                <a:solidFill>
                  <a:srgbClr val="FFFFFF"/>
                </a:solidFill>
                <a:latin typeface="Times New Roman"/>
              </a:rPr>
              <a:t>2</a:t>
            </a:r>
          </a:p>
        </p:txBody>
      </p:sp>
      <p:sp>
        <p:nvSpPr>
          <p:cNvPr id="16" name="TextBox 15"/>
          <p:cNvSpPr txBox="1"/>
          <p:nvPr/>
        </p:nvSpPr>
        <p:spPr>
          <a:xfrm>
            <a:off x="1645920" y="210312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Capability Assessment</a:t>
            </a:r>
          </a:p>
        </p:txBody>
      </p:sp>
      <p:sp>
        <p:nvSpPr>
          <p:cNvPr id="17" name="TextBox 16"/>
          <p:cNvSpPr txBox="1"/>
          <p:nvPr/>
        </p:nvSpPr>
        <p:spPr>
          <a:xfrm>
            <a:off x="5852160" y="210312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What strategic capabilities does the organization possess?</a:t>
            </a:r>
          </a:p>
        </p:txBody>
      </p:sp>
      <p:sp>
        <p:nvSpPr>
          <p:cNvPr id="18" name="Rectangle 17"/>
          <p:cNvSpPr/>
          <p:nvPr/>
        </p:nvSpPr>
        <p:spPr>
          <a:xfrm>
            <a:off x="868680" y="2743200"/>
            <a:ext cx="10424160" cy="58521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2743200"/>
            <a:ext cx="548640" cy="58521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743200"/>
            <a:ext cx="548640" cy="585216"/>
          </a:xfrm>
          <a:prstGeom prst="rect">
            <a:avLst/>
          </a:prstGeom>
          <a:noFill/>
        </p:spPr>
        <p:txBody>
          <a:bodyPr wrap="square" anchor="ctr" lIns="0" rIns="0" tIns="0" bIns="0">
            <a:spAutoFit/>
          </a:bodyPr>
          <a:lstStyle/>
          <a:p>
            <a:pPr algn="ctr"/>
            <a:r>
              <a:rPr sz="1800" b="1" i="0">
                <a:solidFill>
                  <a:srgbClr val="FFFFFF"/>
                </a:solidFill>
                <a:latin typeface="Times New Roman"/>
              </a:rPr>
              <a:t>3</a:t>
            </a:r>
          </a:p>
        </p:txBody>
      </p:sp>
      <p:sp>
        <p:nvSpPr>
          <p:cNvPr id="21" name="TextBox 20"/>
          <p:cNvSpPr txBox="1"/>
          <p:nvPr/>
        </p:nvSpPr>
        <p:spPr>
          <a:xfrm>
            <a:off x="1645920" y="274320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AI Opportunity Identification</a:t>
            </a:r>
          </a:p>
        </p:txBody>
      </p:sp>
      <p:sp>
        <p:nvSpPr>
          <p:cNvPr id="22" name="TextBox 21"/>
          <p:cNvSpPr txBox="1"/>
          <p:nvPr/>
        </p:nvSpPr>
        <p:spPr>
          <a:xfrm>
            <a:off x="5852160" y="274320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Where can AI create strategic value?</a:t>
            </a:r>
          </a:p>
        </p:txBody>
      </p:sp>
      <p:sp>
        <p:nvSpPr>
          <p:cNvPr id="23" name="Rectangle 22"/>
          <p:cNvSpPr/>
          <p:nvPr/>
        </p:nvSpPr>
        <p:spPr>
          <a:xfrm>
            <a:off x="868680" y="3383280"/>
            <a:ext cx="10424160" cy="58521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8680" y="3383280"/>
            <a:ext cx="548640" cy="58521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383280"/>
            <a:ext cx="548640" cy="585216"/>
          </a:xfrm>
          <a:prstGeom prst="rect">
            <a:avLst/>
          </a:prstGeom>
          <a:noFill/>
        </p:spPr>
        <p:txBody>
          <a:bodyPr wrap="square" anchor="ctr" lIns="0" rIns="0" tIns="0" bIns="0">
            <a:spAutoFit/>
          </a:bodyPr>
          <a:lstStyle/>
          <a:p>
            <a:pPr algn="ctr"/>
            <a:r>
              <a:rPr sz="1800" b="1" i="0">
                <a:solidFill>
                  <a:srgbClr val="FFFFFF"/>
                </a:solidFill>
                <a:latin typeface="Times New Roman"/>
              </a:rPr>
              <a:t>4</a:t>
            </a:r>
          </a:p>
        </p:txBody>
      </p:sp>
      <p:sp>
        <p:nvSpPr>
          <p:cNvPr id="26" name="TextBox 25"/>
          <p:cNvSpPr txBox="1"/>
          <p:nvPr/>
        </p:nvSpPr>
        <p:spPr>
          <a:xfrm>
            <a:off x="1645920" y="338328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Strategic Choice</a:t>
            </a:r>
          </a:p>
        </p:txBody>
      </p:sp>
      <p:sp>
        <p:nvSpPr>
          <p:cNvPr id="27" name="TextBox 26"/>
          <p:cNvSpPr txBox="1"/>
          <p:nvPr/>
        </p:nvSpPr>
        <p:spPr>
          <a:xfrm>
            <a:off x="5852160" y="338328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What alternative creates the greatest long-term value?</a:t>
            </a:r>
          </a:p>
        </p:txBody>
      </p:sp>
      <p:sp>
        <p:nvSpPr>
          <p:cNvPr id="28" name="Rectangle 27"/>
          <p:cNvSpPr/>
          <p:nvPr/>
        </p:nvSpPr>
        <p:spPr>
          <a:xfrm>
            <a:off x="868680" y="4023360"/>
            <a:ext cx="10424160" cy="58521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023360"/>
            <a:ext cx="548640" cy="585216"/>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023360"/>
            <a:ext cx="548640" cy="585216"/>
          </a:xfrm>
          <a:prstGeom prst="rect">
            <a:avLst/>
          </a:prstGeom>
          <a:noFill/>
        </p:spPr>
        <p:txBody>
          <a:bodyPr wrap="square" anchor="ctr" lIns="0" rIns="0" tIns="0" bIns="0">
            <a:spAutoFit/>
          </a:bodyPr>
          <a:lstStyle/>
          <a:p>
            <a:pPr algn="ctr"/>
            <a:r>
              <a:rPr sz="1800" b="1" i="0">
                <a:solidFill>
                  <a:srgbClr val="FFFFFF"/>
                </a:solidFill>
                <a:latin typeface="Times New Roman"/>
              </a:rPr>
              <a:t>5</a:t>
            </a:r>
          </a:p>
        </p:txBody>
      </p:sp>
      <p:sp>
        <p:nvSpPr>
          <p:cNvPr id="31" name="TextBox 30"/>
          <p:cNvSpPr txBox="1"/>
          <p:nvPr/>
        </p:nvSpPr>
        <p:spPr>
          <a:xfrm>
            <a:off x="1645920" y="402336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Governance &amp; Risk</a:t>
            </a:r>
          </a:p>
        </p:txBody>
      </p:sp>
      <p:sp>
        <p:nvSpPr>
          <p:cNvPr id="32" name="TextBox 31"/>
          <p:cNvSpPr txBox="1"/>
          <p:nvPr/>
        </p:nvSpPr>
        <p:spPr>
          <a:xfrm>
            <a:off x="5852160" y="402336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How should AI be governed responsibly?</a:t>
            </a:r>
          </a:p>
        </p:txBody>
      </p:sp>
      <p:sp>
        <p:nvSpPr>
          <p:cNvPr id="33" name="Rectangle 32"/>
          <p:cNvSpPr/>
          <p:nvPr/>
        </p:nvSpPr>
        <p:spPr>
          <a:xfrm>
            <a:off x="868680" y="4663440"/>
            <a:ext cx="10424160" cy="585216"/>
          </a:xfrm>
          <a:prstGeom prst="rect">
            <a:avLst/>
          </a:prstGeom>
          <a:solidFill>
            <a:srgbClr val="FFFFFF"/>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680" y="4663440"/>
            <a:ext cx="548640" cy="585216"/>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663440"/>
            <a:ext cx="548640" cy="585216"/>
          </a:xfrm>
          <a:prstGeom prst="rect">
            <a:avLst/>
          </a:prstGeom>
          <a:noFill/>
        </p:spPr>
        <p:txBody>
          <a:bodyPr wrap="square" anchor="ctr" lIns="0" rIns="0" tIns="0" bIns="0">
            <a:spAutoFit/>
          </a:bodyPr>
          <a:lstStyle/>
          <a:p>
            <a:pPr algn="ctr"/>
            <a:r>
              <a:rPr sz="1800" b="1" i="0">
                <a:solidFill>
                  <a:srgbClr val="FFFFFF"/>
                </a:solidFill>
                <a:latin typeface="Times New Roman"/>
              </a:rPr>
              <a:t>6</a:t>
            </a:r>
          </a:p>
        </p:txBody>
      </p:sp>
      <p:sp>
        <p:nvSpPr>
          <p:cNvPr id="36" name="TextBox 35"/>
          <p:cNvSpPr txBox="1"/>
          <p:nvPr/>
        </p:nvSpPr>
        <p:spPr>
          <a:xfrm>
            <a:off x="1645920" y="466344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Organizational Transformation</a:t>
            </a:r>
          </a:p>
        </p:txBody>
      </p:sp>
      <p:sp>
        <p:nvSpPr>
          <p:cNvPr id="37" name="TextBox 36"/>
          <p:cNvSpPr txBox="1"/>
          <p:nvPr/>
        </p:nvSpPr>
        <p:spPr>
          <a:xfrm>
            <a:off x="5852160" y="466344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How should the organization change?</a:t>
            </a:r>
          </a:p>
        </p:txBody>
      </p:sp>
      <p:sp>
        <p:nvSpPr>
          <p:cNvPr id="38" name="Rectangle 37"/>
          <p:cNvSpPr/>
          <p:nvPr/>
        </p:nvSpPr>
        <p:spPr>
          <a:xfrm>
            <a:off x="868680" y="5303520"/>
            <a:ext cx="10424160" cy="585216"/>
          </a:xfrm>
          <a:prstGeom prst="rect">
            <a:avLst/>
          </a:prstGeom>
          <a:solidFill>
            <a:srgbClr val="F7F8FA"/>
          </a:solidFill>
          <a:ln w="9525">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8680" y="5303520"/>
            <a:ext cx="548640" cy="58521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303520"/>
            <a:ext cx="548640" cy="585216"/>
          </a:xfrm>
          <a:prstGeom prst="rect">
            <a:avLst/>
          </a:prstGeom>
          <a:noFill/>
        </p:spPr>
        <p:txBody>
          <a:bodyPr wrap="square" anchor="ctr" lIns="0" rIns="0" tIns="0" bIns="0">
            <a:spAutoFit/>
          </a:bodyPr>
          <a:lstStyle/>
          <a:p>
            <a:pPr algn="ctr"/>
            <a:r>
              <a:rPr sz="1800" b="1" i="0">
                <a:solidFill>
                  <a:srgbClr val="10233F"/>
                </a:solidFill>
                <a:latin typeface="Times New Roman"/>
              </a:rPr>
              <a:t>7</a:t>
            </a:r>
          </a:p>
        </p:txBody>
      </p:sp>
      <p:sp>
        <p:nvSpPr>
          <p:cNvPr id="41" name="TextBox 40"/>
          <p:cNvSpPr txBox="1"/>
          <p:nvPr/>
        </p:nvSpPr>
        <p:spPr>
          <a:xfrm>
            <a:off x="1645920" y="5303520"/>
            <a:ext cx="4023360" cy="585216"/>
          </a:xfrm>
          <a:prstGeom prst="rect">
            <a:avLst/>
          </a:prstGeom>
          <a:noFill/>
        </p:spPr>
        <p:txBody>
          <a:bodyPr wrap="square" anchor="ctr" lIns="0" rIns="0" tIns="0" bIns="0">
            <a:spAutoFit/>
          </a:bodyPr>
          <a:lstStyle/>
          <a:p>
            <a:pPr algn="l"/>
            <a:r>
              <a:rPr sz="1500" b="1" i="0">
                <a:solidFill>
                  <a:srgbClr val="10233F"/>
                </a:solidFill>
                <a:latin typeface="Times New Roman"/>
              </a:rPr>
              <a:t>Continuous Learning &amp; Renewal</a:t>
            </a:r>
          </a:p>
        </p:txBody>
      </p:sp>
      <p:sp>
        <p:nvSpPr>
          <p:cNvPr id="42" name="TextBox 41"/>
          <p:cNvSpPr txBox="1"/>
          <p:nvPr/>
        </p:nvSpPr>
        <p:spPr>
          <a:xfrm>
            <a:off x="5852160" y="5303520"/>
            <a:ext cx="5257800" cy="585216"/>
          </a:xfrm>
          <a:prstGeom prst="rect">
            <a:avLst/>
          </a:prstGeom>
          <a:noFill/>
        </p:spPr>
        <p:txBody>
          <a:bodyPr wrap="square" anchor="ctr" lIns="0" rIns="0" tIns="0" bIns="0">
            <a:spAutoFit/>
          </a:bodyPr>
          <a:lstStyle/>
          <a:p>
            <a:pPr algn="l"/>
            <a:r>
              <a:rPr sz="1250" b="0" i="1">
                <a:solidFill>
                  <a:srgbClr val="4B5563"/>
                </a:solidFill>
                <a:latin typeface="Times New Roman"/>
              </a:rPr>
              <a:t>How will the organization sustain advantage?</a:t>
            </a:r>
          </a:p>
        </p:txBody>
      </p:sp>
      <p:sp>
        <p:nvSpPr>
          <p:cNvPr id="43" name="Rectangle 42"/>
          <p:cNvSpPr/>
          <p:nvPr/>
        </p:nvSpPr>
        <p:spPr>
          <a:xfrm>
            <a:off x="868680" y="5961888"/>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9848" y="5961888"/>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Strategy is an ongoing process, not a one-time plan — stage seven returns you to stage one.</a:t>
            </a:r>
          </a:p>
        </p:txBody>
      </p:sp>
      <p:sp>
        <p:nvSpPr>
          <p:cNvPr id="45" name="TextBox 44"/>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17</a:t>
            </a:r>
          </a:p>
        </p:txBody>
      </p:sp>
      <p:sp>
        <p:nvSpPr>
          <p:cNvPr id="46" name="TextBox 45"/>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IV · INSIDE THE FRAMEWORK</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What you evaluate at each stage</a:t>
            </a:r>
          </a:p>
        </p:txBody>
      </p:sp>
      <p:sp>
        <p:nvSpPr>
          <p:cNvPr id="7" name="Rectangle 6"/>
          <p:cNvSpPr/>
          <p:nvPr/>
        </p:nvSpPr>
        <p:spPr>
          <a:xfrm>
            <a:off x="868680" y="1481328"/>
            <a:ext cx="2505456" cy="56692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1481328"/>
            <a:ext cx="2212848" cy="566928"/>
          </a:xfrm>
          <a:prstGeom prst="rect">
            <a:avLst/>
          </a:prstGeom>
          <a:noFill/>
        </p:spPr>
        <p:txBody>
          <a:bodyPr wrap="square" anchor="ctr" lIns="0" rIns="0" tIns="0" bIns="0">
            <a:spAutoFit/>
          </a:bodyPr>
          <a:lstStyle/>
          <a:p>
            <a:pPr algn="l">
              <a:lnSpc>
                <a:spcPct val="106000"/>
              </a:lnSpc>
            </a:pPr>
            <a:r>
              <a:rPr sz="1150" b="1" i="0">
                <a:solidFill>
                  <a:srgbClr val="FFFFFF"/>
                </a:solidFill>
                <a:latin typeface="Times New Roman"/>
              </a:rPr>
              <a:t>01   Strategic Diagnosis</a:t>
            </a:r>
          </a:p>
        </p:txBody>
      </p:sp>
      <p:sp>
        <p:nvSpPr>
          <p:cNvPr id="9" name="Rectangle 8"/>
          <p:cNvSpPr/>
          <p:nvPr/>
        </p:nvSpPr>
        <p:spPr>
          <a:xfrm>
            <a:off x="868680" y="2048256"/>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2194560"/>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Industry analysis</a:t>
            </a:r>
          </a:p>
          <a:p>
            <a:pPr algn="l">
              <a:lnSpc>
                <a:spcPct val="114000"/>
              </a:lnSpc>
              <a:spcAft>
                <a:spcPts val="300"/>
              </a:spcAft>
            </a:pPr>
            <a:r>
              <a:rPr sz="1050" b="0" i="0">
                <a:solidFill>
                  <a:srgbClr val="111827"/>
                </a:solidFill>
                <a:latin typeface="Times New Roman"/>
              </a:rPr>
              <a:t>—  Competitive positioning</a:t>
            </a:r>
          </a:p>
          <a:p>
            <a:pPr algn="l">
              <a:lnSpc>
                <a:spcPct val="114000"/>
              </a:lnSpc>
              <a:spcAft>
                <a:spcPts val="300"/>
              </a:spcAft>
            </a:pPr>
            <a:r>
              <a:rPr sz="1050" b="0" i="0">
                <a:solidFill>
                  <a:srgbClr val="111827"/>
                </a:solidFill>
                <a:latin typeface="Times New Roman"/>
              </a:rPr>
              <a:t>—  Technology disruption</a:t>
            </a:r>
          </a:p>
          <a:p>
            <a:pPr algn="l">
              <a:lnSpc>
                <a:spcPct val="114000"/>
              </a:lnSpc>
              <a:spcAft>
                <a:spcPts val="300"/>
              </a:spcAft>
            </a:pPr>
            <a:r>
              <a:rPr sz="1050" b="0" i="0">
                <a:solidFill>
                  <a:srgbClr val="111827"/>
                </a:solidFill>
                <a:latin typeface="Times New Roman"/>
              </a:rPr>
              <a:t>—  Stakeholder analysis</a:t>
            </a:r>
          </a:p>
        </p:txBody>
      </p:sp>
      <p:sp>
        <p:nvSpPr>
          <p:cNvPr id="11" name="Rectangle 10"/>
          <p:cNvSpPr/>
          <p:nvPr/>
        </p:nvSpPr>
        <p:spPr>
          <a:xfrm>
            <a:off x="3575304" y="1481328"/>
            <a:ext cx="2505456" cy="56692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1481328"/>
            <a:ext cx="2212848" cy="566928"/>
          </a:xfrm>
          <a:prstGeom prst="rect">
            <a:avLst/>
          </a:prstGeom>
          <a:noFill/>
        </p:spPr>
        <p:txBody>
          <a:bodyPr wrap="square" anchor="ctr" lIns="0" rIns="0" tIns="0" bIns="0">
            <a:spAutoFit/>
          </a:bodyPr>
          <a:lstStyle/>
          <a:p>
            <a:pPr algn="l">
              <a:lnSpc>
                <a:spcPct val="106000"/>
              </a:lnSpc>
            </a:pPr>
            <a:r>
              <a:rPr sz="1150" b="1" i="0">
                <a:solidFill>
                  <a:srgbClr val="FFFFFF"/>
                </a:solidFill>
                <a:latin typeface="Times New Roman"/>
              </a:rPr>
              <a:t>02   Capability Assessment</a:t>
            </a:r>
          </a:p>
        </p:txBody>
      </p:sp>
      <p:sp>
        <p:nvSpPr>
          <p:cNvPr id="13" name="Rectangle 12"/>
          <p:cNvSpPr/>
          <p:nvPr/>
        </p:nvSpPr>
        <p:spPr>
          <a:xfrm>
            <a:off x="3575304" y="2048256"/>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2194560"/>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Resources and competencies</a:t>
            </a:r>
          </a:p>
          <a:p>
            <a:pPr algn="l">
              <a:lnSpc>
                <a:spcPct val="114000"/>
              </a:lnSpc>
              <a:spcAft>
                <a:spcPts val="300"/>
              </a:spcAft>
            </a:pPr>
            <a:r>
              <a:rPr sz="1050" b="0" i="0">
                <a:solidFill>
                  <a:srgbClr val="111827"/>
                </a:solidFill>
                <a:latin typeface="Times New Roman"/>
              </a:rPr>
              <a:t>—  Knowledge assets</a:t>
            </a:r>
          </a:p>
          <a:p>
            <a:pPr algn="l">
              <a:lnSpc>
                <a:spcPct val="114000"/>
              </a:lnSpc>
              <a:spcAft>
                <a:spcPts val="300"/>
              </a:spcAft>
            </a:pPr>
            <a:r>
              <a:rPr sz="1050" b="0" i="0">
                <a:solidFill>
                  <a:srgbClr val="111827"/>
                </a:solidFill>
                <a:latin typeface="Times New Roman"/>
              </a:rPr>
              <a:t>—  Data maturity</a:t>
            </a:r>
          </a:p>
          <a:p>
            <a:pPr algn="l">
              <a:lnSpc>
                <a:spcPct val="114000"/>
              </a:lnSpc>
              <a:spcAft>
                <a:spcPts val="300"/>
              </a:spcAft>
            </a:pPr>
            <a:r>
              <a:rPr sz="1050" b="0" i="0">
                <a:solidFill>
                  <a:srgbClr val="111827"/>
                </a:solidFill>
                <a:latin typeface="Times New Roman"/>
              </a:rPr>
              <a:t>—  AI readiness and culture</a:t>
            </a:r>
          </a:p>
        </p:txBody>
      </p:sp>
      <p:sp>
        <p:nvSpPr>
          <p:cNvPr id="15" name="Rectangle 14"/>
          <p:cNvSpPr/>
          <p:nvPr/>
        </p:nvSpPr>
        <p:spPr>
          <a:xfrm>
            <a:off x="6281928" y="1481328"/>
            <a:ext cx="2505456" cy="56692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481328"/>
            <a:ext cx="2212848" cy="566928"/>
          </a:xfrm>
          <a:prstGeom prst="rect">
            <a:avLst/>
          </a:prstGeom>
          <a:noFill/>
        </p:spPr>
        <p:txBody>
          <a:bodyPr wrap="square" anchor="ctr" lIns="0" rIns="0" tIns="0" bIns="0">
            <a:spAutoFit/>
          </a:bodyPr>
          <a:lstStyle/>
          <a:p>
            <a:pPr algn="l">
              <a:lnSpc>
                <a:spcPct val="106000"/>
              </a:lnSpc>
            </a:pPr>
            <a:r>
              <a:rPr sz="1150" b="1" i="0">
                <a:solidFill>
                  <a:srgbClr val="FFFFFF"/>
                </a:solidFill>
                <a:latin typeface="Times New Roman"/>
              </a:rPr>
              <a:t>03   AI Opportunity</a:t>
            </a:r>
          </a:p>
        </p:txBody>
      </p:sp>
      <p:sp>
        <p:nvSpPr>
          <p:cNvPr id="17" name="Rectangle 16"/>
          <p:cNvSpPr/>
          <p:nvPr/>
        </p:nvSpPr>
        <p:spPr>
          <a:xfrm>
            <a:off x="6281928" y="2048256"/>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2194560"/>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Decision making</a:t>
            </a:r>
          </a:p>
          <a:p>
            <a:pPr algn="l">
              <a:lnSpc>
                <a:spcPct val="114000"/>
              </a:lnSpc>
              <a:spcAft>
                <a:spcPts val="300"/>
              </a:spcAft>
            </a:pPr>
            <a:r>
              <a:rPr sz="1050" b="0" i="0">
                <a:solidFill>
                  <a:srgbClr val="111827"/>
                </a:solidFill>
                <a:latin typeface="Times New Roman"/>
              </a:rPr>
              <a:t>—  Customer experience</a:t>
            </a:r>
          </a:p>
          <a:p>
            <a:pPr algn="l">
              <a:lnSpc>
                <a:spcPct val="114000"/>
              </a:lnSpc>
              <a:spcAft>
                <a:spcPts val="300"/>
              </a:spcAft>
            </a:pPr>
            <a:r>
              <a:rPr sz="1050" b="0" i="0">
                <a:solidFill>
                  <a:srgbClr val="111827"/>
                </a:solidFill>
                <a:latin typeface="Times New Roman"/>
              </a:rPr>
              <a:t>—  Innovation and new services</a:t>
            </a:r>
          </a:p>
          <a:p>
            <a:pPr algn="l">
              <a:lnSpc>
                <a:spcPct val="114000"/>
              </a:lnSpc>
              <a:spcAft>
                <a:spcPts val="300"/>
              </a:spcAft>
            </a:pPr>
            <a:r>
              <a:rPr sz="1050" b="0" i="0">
                <a:solidFill>
                  <a:srgbClr val="111827"/>
                </a:solidFill>
                <a:latin typeface="Times New Roman"/>
              </a:rPr>
              <a:t>—  Platforms and business models</a:t>
            </a:r>
          </a:p>
        </p:txBody>
      </p:sp>
      <p:sp>
        <p:nvSpPr>
          <p:cNvPr id="19" name="Rectangle 18"/>
          <p:cNvSpPr/>
          <p:nvPr/>
        </p:nvSpPr>
        <p:spPr>
          <a:xfrm>
            <a:off x="8988551" y="1481328"/>
            <a:ext cx="2505456" cy="56692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5" y="1481328"/>
            <a:ext cx="2212848" cy="566928"/>
          </a:xfrm>
          <a:prstGeom prst="rect">
            <a:avLst/>
          </a:prstGeom>
          <a:noFill/>
        </p:spPr>
        <p:txBody>
          <a:bodyPr wrap="square" anchor="ctr" lIns="0" rIns="0" tIns="0" bIns="0">
            <a:spAutoFit/>
          </a:bodyPr>
          <a:lstStyle/>
          <a:p>
            <a:pPr algn="l">
              <a:lnSpc>
                <a:spcPct val="106000"/>
              </a:lnSpc>
            </a:pPr>
            <a:r>
              <a:rPr sz="1150" b="1" i="0">
                <a:solidFill>
                  <a:srgbClr val="FFFFFF"/>
                </a:solidFill>
                <a:latin typeface="Times New Roman"/>
              </a:rPr>
              <a:t>04   Strategic Choice</a:t>
            </a:r>
          </a:p>
        </p:txBody>
      </p:sp>
      <p:sp>
        <p:nvSpPr>
          <p:cNvPr id="21" name="Rectangle 20"/>
          <p:cNvSpPr/>
          <p:nvPr/>
        </p:nvSpPr>
        <p:spPr>
          <a:xfrm>
            <a:off x="8988551" y="2048256"/>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5" y="2194560"/>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Differentiation</a:t>
            </a:r>
          </a:p>
          <a:p>
            <a:pPr algn="l">
              <a:lnSpc>
                <a:spcPct val="114000"/>
              </a:lnSpc>
              <a:spcAft>
                <a:spcPts val="300"/>
              </a:spcAft>
            </a:pPr>
            <a:r>
              <a:rPr sz="1050" b="0" i="0">
                <a:solidFill>
                  <a:srgbClr val="111827"/>
                </a:solidFill>
                <a:latin typeface="Times New Roman"/>
              </a:rPr>
              <a:t>—  Cost leadership</a:t>
            </a:r>
          </a:p>
          <a:p>
            <a:pPr algn="l">
              <a:lnSpc>
                <a:spcPct val="114000"/>
              </a:lnSpc>
              <a:spcAft>
                <a:spcPts val="300"/>
              </a:spcAft>
            </a:pPr>
            <a:r>
              <a:rPr sz="1050" b="0" i="0">
                <a:solidFill>
                  <a:srgbClr val="111827"/>
                </a:solidFill>
                <a:latin typeface="Times New Roman"/>
              </a:rPr>
              <a:t>—  Ecosystem participation</a:t>
            </a:r>
          </a:p>
          <a:p>
            <a:pPr algn="l">
              <a:lnSpc>
                <a:spcPct val="114000"/>
              </a:lnSpc>
              <a:spcAft>
                <a:spcPts val="300"/>
              </a:spcAft>
            </a:pPr>
            <a:r>
              <a:rPr sz="1050" b="0" i="0">
                <a:solidFill>
                  <a:srgbClr val="111827"/>
                </a:solidFill>
                <a:latin typeface="Times New Roman"/>
              </a:rPr>
              <a:t>—  Investment priorities</a:t>
            </a:r>
          </a:p>
        </p:txBody>
      </p:sp>
      <p:sp>
        <p:nvSpPr>
          <p:cNvPr id="23" name="Rectangle 22"/>
          <p:cNvSpPr/>
          <p:nvPr/>
        </p:nvSpPr>
        <p:spPr>
          <a:xfrm>
            <a:off x="868680" y="3712463"/>
            <a:ext cx="2505456" cy="566928"/>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4983" y="3712463"/>
            <a:ext cx="2212848" cy="566928"/>
          </a:xfrm>
          <a:prstGeom prst="rect">
            <a:avLst/>
          </a:prstGeom>
          <a:noFill/>
        </p:spPr>
        <p:txBody>
          <a:bodyPr wrap="square" anchor="ctr" lIns="0" rIns="0" tIns="0" bIns="0">
            <a:spAutoFit/>
          </a:bodyPr>
          <a:lstStyle/>
          <a:p>
            <a:pPr algn="l">
              <a:lnSpc>
                <a:spcPct val="106000"/>
              </a:lnSpc>
            </a:pPr>
            <a:r>
              <a:rPr sz="1150" b="1" i="0">
                <a:solidFill>
                  <a:srgbClr val="FFFFFF"/>
                </a:solidFill>
                <a:latin typeface="Times New Roman"/>
              </a:rPr>
              <a:t>05   Governance &amp; Risk</a:t>
            </a:r>
          </a:p>
        </p:txBody>
      </p:sp>
      <p:sp>
        <p:nvSpPr>
          <p:cNvPr id="25" name="Rectangle 24"/>
          <p:cNvSpPr/>
          <p:nvPr/>
        </p:nvSpPr>
        <p:spPr>
          <a:xfrm>
            <a:off x="868680" y="4279392"/>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3" y="4425696"/>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Responsible AI and ethics</a:t>
            </a:r>
          </a:p>
          <a:p>
            <a:pPr algn="l">
              <a:lnSpc>
                <a:spcPct val="114000"/>
              </a:lnSpc>
              <a:spcAft>
                <a:spcPts val="300"/>
              </a:spcAft>
            </a:pPr>
            <a:r>
              <a:rPr sz="1050" b="0" i="0">
                <a:solidFill>
                  <a:srgbClr val="111827"/>
                </a:solidFill>
                <a:latin typeface="Times New Roman"/>
              </a:rPr>
              <a:t>—  Privacy, security, regulation</a:t>
            </a:r>
          </a:p>
          <a:p>
            <a:pPr algn="l">
              <a:lnSpc>
                <a:spcPct val="114000"/>
              </a:lnSpc>
              <a:spcAft>
                <a:spcPts val="300"/>
              </a:spcAft>
            </a:pPr>
            <a:r>
              <a:rPr sz="1050" b="0" i="0">
                <a:solidFill>
                  <a:srgbClr val="111827"/>
                </a:solidFill>
                <a:latin typeface="Times New Roman"/>
              </a:rPr>
              <a:t>—  Human oversight</a:t>
            </a:r>
          </a:p>
          <a:p>
            <a:pPr algn="l">
              <a:lnSpc>
                <a:spcPct val="114000"/>
              </a:lnSpc>
              <a:spcAft>
                <a:spcPts val="300"/>
              </a:spcAft>
            </a:pPr>
            <a:r>
              <a:rPr sz="1050" b="0" i="0">
                <a:solidFill>
                  <a:srgbClr val="111827"/>
                </a:solidFill>
                <a:latin typeface="Times New Roman"/>
              </a:rPr>
              <a:t>—  Board governance</a:t>
            </a:r>
          </a:p>
        </p:txBody>
      </p:sp>
      <p:sp>
        <p:nvSpPr>
          <p:cNvPr id="27" name="Rectangle 26"/>
          <p:cNvSpPr/>
          <p:nvPr/>
        </p:nvSpPr>
        <p:spPr>
          <a:xfrm>
            <a:off x="3575304" y="3712463"/>
            <a:ext cx="2505456" cy="566928"/>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21608" y="3712463"/>
            <a:ext cx="2212848" cy="566928"/>
          </a:xfrm>
          <a:prstGeom prst="rect">
            <a:avLst/>
          </a:prstGeom>
          <a:noFill/>
        </p:spPr>
        <p:txBody>
          <a:bodyPr wrap="square" anchor="ctr" lIns="0" rIns="0" tIns="0" bIns="0">
            <a:spAutoFit/>
          </a:bodyPr>
          <a:lstStyle/>
          <a:p>
            <a:pPr algn="l">
              <a:lnSpc>
                <a:spcPct val="106000"/>
              </a:lnSpc>
            </a:pPr>
            <a:r>
              <a:rPr sz="1150" b="1" i="0">
                <a:solidFill>
                  <a:srgbClr val="FFFFFF"/>
                </a:solidFill>
                <a:latin typeface="Times New Roman"/>
              </a:rPr>
              <a:t>06   Organizational Transformation</a:t>
            </a:r>
          </a:p>
        </p:txBody>
      </p:sp>
      <p:sp>
        <p:nvSpPr>
          <p:cNvPr id="29" name="Rectangle 28"/>
          <p:cNvSpPr/>
          <p:nvPr/>
        </p:nvSpPr>
        <p:spPr>
          <a:xfrm>
            <a:off x="3575304" y="4279392"/>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21608" y="4425696"/>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Leadership and structure</a:t>
            </a:r>
          </a:p>
          <a:p>
            <a:pPr algn="l">
              <a:lnSpc>
                <a:spcPct val="114000"/>
              </a:lnSpc>
              <a:spcAft>
                <a:spcPts val="300"/>
              </a:spcAft>
            </a:pPr>
            <a:r>
              <a:rPr sz="1050" b="0" i="0">
                <a:solidFill>
                  <a:srgbClr val="111827"/>
                </a:solidFill>
                <a:latin typeface="Times New Roman"/>
              </a:rPr>
              <a:t>—  Talent and change management</a:t>
            </a:r>
          </a:p>
          <a:p>
            <a:pPr algn="l">
              <a:lnSpc>
                <a:spcPct val="114000"/>
              </a:lnSpc>
              <a:spcAft>
                <a:spcPts val="300"/>
              </a:spcAft>
            </a:pPr>
            <a:r>
              <a:rPr sz="1050" b="0" i="0">
                <a:solidFill>
                  <a:srgbClr val="111827"/>
                </a:solidFill>
                <a:latin typeface="Times New Roman"/>
              </a:rPr>
              <a:t>—  AI operating model</a:t>
            </a:r>
          </a:p>
          <a:p>
            <a:pPr algn="l">
              <a:lnSpc>
                <a:spcPct val="114000"/>
              </a:lnSpc>
              <a:spcAft>
                <a:spcPts val="300"/>
              </a:spcAft>
            </a:pPr>
            <a:r>
              <a:rPr sz="1050" b="0" i="0">
                <a:solidFill>
                  <a:srgbClr val="111827"/>
                </a:solidFill>
                <a:latin typeface="Times New Roman"/>
              </a:rPr>
              <a:t>—  Performance measurement</a:t>
            </a:r>
          </a:p>
        </p:txBody>
      </p:sp>
      <p:sp>
        <p:nvSpPr>
          <p:cNvPr id="31" name="Rectangle 30"/>
          <p:cNvSpPr/>
          <p:nvPr/>
        </p:nvSpPr>
        <p:spPr>
          <a:xfrm>
            <a:off x="6281928" y="3712463"/>
            <a:ext cx="2505456" cy="56692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28232" y="3712463"/>
            <a:ext cx="2212848" cy="566928"/>
          </a:xfrm>
          <a:prstGeom prst="rect">
            <a:avLst/>
          </a:prstGeom>
          <a:noFill/>
        </p:spPr>
        <p:txBody>
          <a:bodyPr wrap="square" anchor="ctr" lIns="0" rIns="0" tIns="0" bIns="0">
            <a:spAutoFit/>
          </a:bodyPr>
          <a:lstStyle/>
          <a:p>
            <a:pPr algn="l">
              <a:lnSpc>
                <a:spcPct val="106000"/>
              </a:lnSpc>
            </a:pPr>
            <a:r>
              <a:rPr sz="1150" b="1" i="0">
                <a:solidFill>
                  <a:srgbClr val="10233F"/>
                </a:solidFill>
                <a:latin typeface="Times New Roman"/>
              </a:rPr>
              <a:t>07   Continuous Learning</a:t>
            </a:r>
          </a:p>
        </p:txBody>
      </p:sp>
      <p:sp>
        <p:nvSpPr>
          <p:cNvPr id="33" name="Rectangle 32"/>
          <p:cNvSpPr/>
          <p:nvPr/>
        </p:nvSpPr>
        <p:spPr>
          <a:xfrm>
            <a:off x="6281928" y="4279392"/>
            <a:ext cx="2505456" cy="14630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4425696"/>
            <a:ext cx="2212848" cy="1188720"/>
          </a:xfrm>
          <a:prstGeom prst="rect">
            <a:avLst/>
          </a:prstGeom>
          <a:noFill/>
        </p:spPr>
        <p:txBody>
          <a:bodyPr wrap="square" anchor="t" lIns="0" rIns="0" tIns="0" bIns="0">
            <a:spAutoFit/>
          </a:bodyPr>
          <a:lstStyle/>
          <a:p>
            <a:pPr algn="l">
              <a:lnSpc>
                <a:spcPct val="114000"/>
              </a:lnSpc>
              <a:spcAft>
                <a:spcPts val="300"/>
              </a:spcAft>
            </a:pPr>
            <a:r>
              <a:rPr sz="1050" b="0" i="0">
                <a:solidFill>
                  <a:srgbClr val="111827"/>
                </a:solidFill>
                <a:latin typeface="Times New Roman"/>
              </a:rPr>
              <a:t>—  Organizational learning</a:t>
            </a:r>
          </a:p>
          <a:p>
            <a:pPr algn="l">
              <a:lnSpc>
                <a:spcPct val="114000"/>
              </a:lnSpc>
              <a:spcAft>
                <a:spcPts val="300"/>
              </a:spcAft>
            </a:pPr>
            <a:r>
              <a:rPr sz="1050" b="0" i="0">
                <a:solidFill>
                  <a:srgbClr val="111827"/>
                </a:solidFill>
                <a:latin typeface="Times New Roman"/>
              </a:rPr>
              <a:t>—  Dynamic capabilities</a:t>
            </a:r>
          </a:p>
          <a:p>
            <a:pPr algn="l">
              <a:lnSpc>
                <a:spcPct val="114000"/>
              </a:lnSpc>
              <a:spcAft>
                <a:spcPts val="300"/>
              </a:spcAft>
            </a:pPr>
            <a:r>
              <a:rPr sz="1050" b="0" i="0">
                <a:solidFill>
                  <a:srgbClr val="111827"/>
                </a:solidFill>
                <a:latin typeface="Times New Roman"/>
              </a:rPr>
              <a:t>—  Continuous experimentation</a:t>
            </a:r>
          </a:p>
          <a:p>
            <a:pPr algn="l">
              <a:lnSpc>
                <a:spcPct val="114000"/>
              </a:lnSpc>
              <a:spcAft>
                <a:spcPts val="300"/>
              </a:spcAft>
            </a:pPr>
            <a:r>
              <a:rPr sz="1050" b="0" i="0">
                <a:solidFill>
                  <a:srgbClr val="111827"/>
                </a:solidFill>
                <a:latin typeface="Times New Roman"/>
              </a:rPr>
              <a:t>—  Innovation portfolios</a:t>
            </a:r>
          </a:p>
        </p:txBody>
      </p:sp>
      <p:sp>
        <p:nvSpPr>
          <p:cNvPr id="35" name="Rectangle 34"/>
          <p:cNvSpPr/>
          <p:nvPr/>
        </p:nvSpPr>
        <p:spPr>
          <a:xfrm>
            <a:off x="8988552" y="3712463"/>
            <a:ext cx="2304288" cy="2029968"/>
          </a:xfrm>
          <a:prstGeom prst="rect">
            <a:avLst/>
          </a:prstGeom>
          <a:solidFill>
            <a:srgbClr val="F6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88552" y="3712463"/>
            <a:ext cx="2304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62288" y="3968496"/>
            <a:ext cx="1956816" cy="1682496"/>
          </a:xfrm>
          <a:prstGeom prst="rect">
            <a:avLst/>
          </a:prstGeom>
          <a:noFill/>
        </p:spPr>
        <p:txBody>
          <a:bodyPr wrap="square" anchor="t" lIns="0" rIns="0" tIns="0" bIns="0">
            <a:spAutoFit/>
          </a:bodyPr>
          <a:lstStyle/>
          <a:p>
            <a:pPr algn="l">
              <a:spcAft>
                <a:spcPts val="800"/>
              </a:spcAft>
            </a:pPr>
            <a:r>
              <a:rPr sz="900" b="1" i="0">
                <a:solidFill>
                  <a:srgbClr val="2A6F97"/>
                </a:solidFill>
                <a:latin typeface="Times New Roman"/>
              </a:rPr>
              <a:t>THE LOOP</a:t>
            </a:r>
          </a:p>
          <a:p>
            <a:pPr algn="l">
              <a:lnSpc>
                <a:spcPct val="124000"/>
              </a:lnSpc>
            </a:pPr>
            <a:r>
              <a:rPr sz="1100" b="0" i="1">
                <a:solidFill>
                  <a:srgbClr val="10233F"/>
                </a:solidFill>
                <a:latin typeface="Times New Roman"/>
              </a:rPr>
              <a:t>Stage seven feeds back into stage one. Strategy is a process of continuous renewal, not a one-time plan.</a:t>
            </a:r>
          </a:p>
        </p:txBody>
      </p:sp>
      <p:sp>
        <p:nvSpPr>
          <p:cNvPr id="38" name="Rectangle 37"/>
          <p:cNvSpPr/>
          <p:nvPr/>
        </p:nvSpPr>
        <p:spPr>
          <a:xfrm>
            <a:off x="868680" y="5925312"/>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9848" y="5925312"/>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Diagnose, then assess, then choose — governance and transformation make the choice real.</a:t>
            </a:r>
          </a:p>
        </p:txBody>
      </p:sp>
      <p:sp>
        <p:nvSpPr>
          <p:cNvPr id="40" name="TextBox 39"/>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18</a:t>
            </a:r>
          </a:p>
        </p:txBody>
      </p:sp>
      <p:sp>
        <p:nvSpPr>
          <p:cNvPr id="41" name="TextBox 40"/>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PART IV · APPLYING AISE THROUGHOUT THE COURSE</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Every major activity runs on the same framework</a:t>
            </a:r>
          </a:p>
        </p:txBody>
      </p:sp>
      <p:sp>
        <p:nvSpPr>
          <p:cNvPr id="7" name="Rectangle 6"/>
          <p:cNvSpPr/>
          <p:nvPr/>
        </p:nvSpPr>
        <p:spPr>
          <a:xfrm>
            <a:off x="868680" y="1554480"/>
            <a:ext cx="10424159" cy="329184"/>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7" y="1554480"/>
            <a:ext cx="3712463" cy="329184"/>
          </a:xfrm>
          <a:prstGeom prst="rect">
            <a:avLst/>
          </a:prstGeom>
          <a:noFill/>
        </p:spPr>
        <p:txBody>
          <a:bodyPr wrap="square" anchor="ctr" lIns="0" rIns="0" tIns="0" bIns="0">
            <a:spAutoFit/>
          </a:bodyPr>
          <a:lstStyle/>
          <a:p>
            <a:pPr algn="l"/>
            <a:r>
              <a:rPr sz="950" b="1" i="0">
                <a:solidFill>
                  <a:srgbClr val="FFFFFF"/>
                </a:solidFill>
                <a:latin typeface="Times New Roman"/>
              </a:rPr>
              <a:t>COURSE COMPONENT</a:t>
            </a:r>
          </a:p>
        </p:txBody>
      </p:sp>
      <p:sp>
        <p:nvSpPr>
          <p:cNvPr id="9" name="TextBox 8"/>
          <p:cNvSpPr txBox="1"/>
          <p:nvPr/>
        </p:nvSpPr>
        <p:spPr>
          <a:xfrm>
            <a:off x="4910328" y="1554480"/>
            <a:ext cx="6272783" cy="329184"/>
          </a:xfrm>
          <a:prstGeom prst="rect">
            <a:avLst/>
          </a:prstGeom>
          <a:noFill/>
        </p:spPr>
        <p:txBody>
          <a:bodyPr wrap="square" anchor="ctr" lIns="0" rIns="0" tIns="0" bIns="0">
            <a:spAutoFit/>
          </a:bodyPr>
          <a:lstStyle/>
          <a:p>
            <a:pPr algn="l"/>
            <a:r>
              <a:rPr sz="950" b="1" i="0">
                <a:solidFill>
                  <a:srgbClr val="FFFFFF"/>
                </a:solidFill>
                <a:latin typeface="Times New Roman"/>
              </a:rPr>
              <a:t>AISE APPLICATION</a:t>
            </a:r>
          </a:p>
        </p:txBody>
      </p:sp>
      <p:sp>
        <p:nvSpPr>
          <p:cNvPr id="10" name="Rectangle 9"/>
          <p:cNvSpPr/>
          <p:nvPr/>
        </p:nvSpPr>
        <p:spPr>
          <a:xfrm>
            <a:off x="868680" y="1883664"/>
            <a:ext cx="10424159" cy="5120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384755"/>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7" y="1883664"/>
            <a:ext cx="3712463" cy="512064"/>
          </a:xfrm>
          <a:prstGeom prst="rect">
            <a:avLst/>
          </a:prstGeom>
          <a:noFill/>
        </p:spPr>
        <p:txBody>
          <a:bodyPr wrap="square" anchor="ctr" lIns="0" rIns="0" tIns="0" bIns="0">
            <a:spAutoFit/>
          </a:bodyPr>
          <a:lstStyle/>
          <a:p>
            <a:pPr algn="l">
              <a:lnSpc>
                <a:spcPct val="106000"/>
              </a:lnSpc>
            </a:pPr>
            <a:r>
              <a:rPr sz="1250" b="1" i="0">
                <a:solidFill>
                  <a:srgbClr val="10233F"/>
                </a:solidFill>
                <a:latin typeface="Times New Roman"/>
              </a:rPr>
              <a:t>Weekly Readings</a:t>
            </a:r>
          </a:p>
        </p:txBody>
      </p:sp>
      <p:sp>
        <p:nvSpPr>
          <p:cNvPr id="13" name="TextBox 12"/>
          <p:cNvSpPr txBox="1"/>
          <p:nvPr/>
        </p:nvSpPr>
        <p:spPr>
          <a:xfrm>
            <a:off x="4910328" y="1883664"/>
            <a:ext cx="6272783" cy="512064"/>
          </a:xfrm>
          <a:prstGeom prst="rect">
            <a:avLst/>
          </a:prstGeom>
          <a:noFill/>
        </p:spPr>
        <p:txBody>
          <a:bodyPr wrap="square" anchor="ctr" lIns="0" rIns="0" tIns="0" bIns="0">
            <a:spAutoFit/>
          </a:bodyPr>
          <a:lstStyle/>
          <a:p>
            <a:pPr algn="l">
              <a:lnSpc>
                <a:spcPct val="106000"/>
              </a:lnSpc>
            </a:pPr>
            <a:r>
              <a:rPr sz="1250" b="0" i="0">
                <a:solidFill>
                  <a:srgbClr val="111827"/>
                </a:solidFill>
                <a:latin typeface="Times New Roman"/>
              </a:rPr>
              <a:t>Evaluate how each theory contributes to one or more AISE stages</a:t>
            </a:r>
          </a:p>
        </p:txBody>
      </p:sp>
      <p:sp>
        <p:nvSpPr>
          <p:cNvPr id="14" name="Rectangle 13"/>
          <p:cNvSpPr/>
          <p:nvPr/>
        </p:nvSpPr>
        <p:spPr>
          <a:xfrm>
            <a:off x="868680" y="2896819"/>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7" y="2395728"/>
            <a:ext cx="3712463" cy="512064"/>
          </a:xfrm>
          <a:prstGeom prst="rect">
            <a:avLst/>
          </a:prstGeom>
          <a:noFill/>
        </p:spPr>
        <p:txBody>
          <a:bodyPr wrap="square" anchor="ctr" lIns="0" rIns="0" tIns="0" bIns="0">
            <a:spAutoFit/>
          </a:bodyPr>
          <a:lstStyle/>
          <a:p>
            <a:pPr algn="l">
              <a:lnSpc>
                <a:spcPct val="106000"/>
              </a:lnSpc>
            </a:pPr>
            <a:r>
              <a:rPr sz="1250" b="1" i="0">
                <a:solidFill>
                  <a:srgbClr val="10233F"/>
                </a:solidFill>
                <a:latin typeface="Times New Roman"/>
              </a:rPr>
              <a:t>Theory Evolution Exercise</a:t>
            </a:r>
          </a:p>
        </p:txBody>
      </p:sp>
      <p:sp>
        <p:nvSpPr>
          <p:cNvPr id="16" name="TextBox 15"/>
          <p:cNvSpPr txBox="1"/>
          <p:nvPr/>
        </p:nvSpPr>
        <p:spPr>
          <a:xfrm>
            <a:off x="4910328" y="2395728"/>
            <a:ext cx="6272783" cy="512064"/>
          </a:xfrm>
          <a:prstGeom prst="rect">
            <a:avLst/>
          </a:prstGeom>
          <a:noFill/>
        </p:spPr>
        <p:txBody>
          <a:bodyPr wrap="square" anchor="ctr" lIns="0" rIns="0" tIns="0" bIns="0">
            <a:spAutoFit/>
          </a:bodyPr>
          <a:lstStyle/>
          <a:p>
            <a:pPr algn="l">
              <a:lnSpc>
                <a:spcPct val="106000"/>
              </a:lnSpc>
            </a:pPr>
            <a:r>
              <a:rPr sz="1250" b="0" i="0">
                <a:solidFill>
                  <a:srgbClr val="111827"/>
                </a:solidFill>
                <a:latin typeface="Times New Roman"/>
              </a:rPr>
              <a:t>Explain how AI modifies the strategic assumptions within the relevant stage</a:t>
            </a:r>
          </a:p>
        </p:txBody>
      </p:sp>
      <p:sp>
        <p:nvSpPr>
          <p:cNvPr id="17" name="Rectangle 16"/>
          <p:cNvSpPr/>
          <p:nvPr/>
        </p:nvSpPr>
        <p:spPr>
          <a:xfrm>
            <a:off x="868680" y="2907792"/>
            <a:ext cx="10424159" cy="5120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408883"/>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7" y="2907792"/>
            <a:ext cx="3712463" cy="512064"/>
          </a:xfrm>
          <a:prstGeom prst="rect">
            <a:avLst/>
          </a:prstGeom>
          <a:noFill/>
        </p:spPr>
        <p:txBody>
          <a:bodyPr wrap="square" anchor="ctr" lIns="0" rIns="0" tIns="0" bIns="0">
            <a:spAutoFit/>
          </a:bodyPr>
          <a:lstStyle/>
          <a:p>
            <a:pPr algn="l">
              <a:lnSpc>
                <a:spcPct val="106000"/>
              </a:lnSpc>
            </a:pPr>
            <a:r>
              <a:rPr sz="1250" b="1" i="0">
                <a:solidFill>
                  <a:srgbClr val="10233F"/>
                </a:solidFill>
                <a:latin typeface="Times New Roman"/>
              </a:rPr>
              <a:t>Harvard Business School Cases</a:t>
            </a:r>
          </a:p>
        </p:txBody>
      </p:sp>
      <p:sp>
        <p:nvSpPr>
          <p:cNvPr id="20" name="TextBox 19"/>
          <p:cNvSpPr txBox="1"/>
          <p:nvPr/>
        </p:nvSpPr>
        <p:spPr>
          <a:xfrm>
            <a:off x="4910328" y="2907792"/>
            <a:ext cx="6272783" cy="512064"/>
          </a:xfrm>
          <a:prstGeom prst="rect">
            <a:avLst/>
          </a:prstGeom>
          <a:noFill/>
        </p:spPr>
        <p:txBody>
          <a:bodyPr wrap="square" anchor="ctr" lIns="0" rIns="0" tIns="0" bIns="0">
            <a:spAutoFit/>
          </a:bodyPr>
          <a:lstStyle/>
          <a:p>
            <a:pPr algn="l">
              <a:lnSpc>
                <a:spcPct val="106000"/>
              </a:lnSpc>
            </a:pPr>
            <a:r>
              <a:rPr sz="1250" b="0" i="0">
                <a:solidFill>
                  <a:srgbClr val="111827"/>
                </a:solidFill>
                <a:latin typeface="Times New Roman"/>
              </a:rPr>
              <a:t>Diagnose the organization's challenges using all seven stages</a:t>
            </a:r>
          </a:p>
        </p:txBody>
      </p:sp>
      <p:sp>
        <p:nvSpPr>
          <p:cNvPr id="21" name="Rectangle 20"/>
          <p:cNvSpPr/>
          <p:nvPr/>
        </p:nvSpPr>
        <p:spPr>
          <a:xfrm>
            <a:off x="868680" y="3920947"/>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7" y="3419856"/>
            <a:ext cx="3712463" cy="512064"/>
          </a:xfrm>
          <a:prstGeom prst="rect">
            <a:avLst/>
          </a:prstGeom>
          <a:noFill/>
        </p:spPr>
        <p:txBody>
          <a:bodyPr wrap="square" anchor="ctr" lIns="0" rIns="0" tIns="0" bIns="0">
            <a:spAutoFit/>
          </a:bodyPr>
          <a:lstStyle/>
          <a:p>
            <a:pPr algn="l">
              <a:lnSpc>
                <a:spcPct val="106000"/>
              </a:lnSpc>
            </a:pPr>
            <a:r>
              <a:rPr sz="1250" b="1" i="0">
                <a:solidFill>
                  <a:srgbClr val="10233F"/>
                </a:solidFill>
                <a:latin typeface="Times New Roman"/>
              </a:rPr>
              <a:t>AI Laboratories</a:t>
            </a:r>
          </a:p>
        </p:txBody>
      </p:sp>
      <p:sp>
        <p:nvSpPr>
          <p:cNvPr id="23" name="TextBox 22"/>
          <p:cNvSpPr txBox="1"/>
          <p:nvPr/>
        </p:nvSpPr>
        <p:spPr>
          <a:xfrm>
            <a:off x="4910328" y="3419856"/>
            <a:ext cx="6272783" cy="512064"/>
          </a:xfrm>
          <a:prstGeom prst="rect">
            <a:avLst/>
          </a:prstGeom>
          <a:noFill/>
        </p:spPr>
        <p:txBody>
          <a:bodyPr wrap="square" anchor="ctr" lIns="0" rIns="0" tIns="0" bIns="0">
            <a:spAutoFit/>
          </a:bodyPr>
          <a:lstStyle/>
          <a:p>
            <a:pPr algn="l">
              <a:lnSpc>
                <a:spcPct val="106000"/>
              </a:lnSpc>
            </a:pPr>
            <a:r>
              <a:rPr sz="1250" b="0" i="0">
                <a:solidFill>
                  <a:srgbClr val="111827"/>
                </a:solidFill>
                <a:latin typeface="Times New Roman"/>
              </a:rPr>
              <a:t>Apply AI tools to support analysis at each stage of the framework</a:t>
            </a:r>
          </a:p>
        </p:txBody>
      </p:sp>
      <p:sp>
        <p:nvSpPr>
          <p:cNvPr id="24" name="Rectangle 23"/>
          <p:cNvSpPr/>
          <p:nvPr/>
        </p:nvSpPr>
        <p:spPr>
          <a:xfrm>
            <a:off x="868680" y="3931920"/>
            <a:ext cx="10424159" cy="5120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4433011"/>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7" y="3931920"/>
            <a:ext cx="3712463" cy="512064"/>
          </a:xfrm>
          <a:prstGeom prst="rect">
            <a:avLst/>
          </a:prstGeom>
          <a:noFill/>
        </p:spPr>
        <p:txBody>
          <a:bodyPr wrap="square" anchor="ctr" lIns="0" rIns="0" tIns="0" bIns="0">
            <a:spAutoFit/>
          </a:bodyPr>
          <a:lstStyle/>
          <a:p>
            <a:pPr algn="l">
              <a:lnSpc>
                <a:spcPct val="106000"/>
              </a:lnSpc>
            </a:pPr>
            <a:r>
              <a:rPr sz="1250" b="1" i="0">
                <a:solidFill>
                  <a:srgbClr val="10233F"/>
                </a:solidFill>
                <a:latin typeface="Times New Roman"/>
              </a:rPr>
              <a:t>Consulting Project</a:t>
            </a:r>
          </a:p>
        </p:txBody>
      </p:sp>
      <p:sp>
        <p:nvSpPr>
          <p:cNvPr id="27" name="TextBox 26"/>
          <p:cNvSpPr txBox="1"/>
          <p:nvPr/>
        </p:nvSpPr>
        <p:spPr>
          <a:xfrm>
            <a:off x="4910328" y="3931920"/>
            <a:ext cx="6272783" cy="512064"/>
          </a:xfrm>
          <a:prstGeom prst="rect">
            <a:avLst/>
          </a:prstGeom>
          <a:noFill/>
        </p:spPr>
        <p:txBody>
          <a:bodyPr wrap="square" anchor="ctr" lIns="0" rIns="0" tIns="0" bIns="0">
            <a:spAutoFit/>
          </a:bodyPr>
          <a:lstStyle/>
          <a:p>
            <a:pPr algn="l">
              <a:lnSpc>
                <a:spcPct val="106000"/>
              </a:lnSpc>
            </a:pPr>
            <a:r>
              <a:rPr sz="1250" b="0" i="0">
                <a:solidFill>
                  <a:srgbClr val="111827"/>
                </a:solidFill>
                <a:latin typeface="Times New Roman"/>
              </a:rPr>
              <a:t>Develop a complete AI strategy organized around the seven stages</a:t>
            </a:r>
          </a:p>
        </p:txBody>
      </p:sp>
      <p:sp>
        <p:nvSpPr>
          <p:cNvPr id="28" name="Rectangle 27"/>
          <p:cNvSpPr/>
          <p:nvPr/>
        </p:nvSpPr>
        <p:spPr>
          <a:xfrm>
            <a:off x="868680" y="4945075"/>
            <a:ext cx="10424159" cy="10972"/>
          </a:xfrm>
          <a:prstGeom prst="rect">
            <a:avLst/>
          </a:prstGeom>
          <a:solidFill>
            <a:srgbClr val="E2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8407" y="4443984"/>
            <a:ext cx="3712463" cy="512064"/>
          </a:xfrm>
          <a:prstGeom prst="rect">
            <a:avLst/>
          </a:prstGeom>
          <a:noFill/>
        </p:spPr>
        <p:txBody>
          <a:bodyPr wrap="square" anchor="ctr" lIns="0" rIns="0" tIns="0" bIns="0">
            <a:spAutoFit/>
          </a:bodyPr>
          <a:lstStyle/>
          <a:p>
            <a:pPr algn="l">
              <a:lnSpc>
                <a:spcPct val="106000"/>
              </a:lnSpc>
            </a:pPr>
            <a:r>
              <a:rPr sz="1250" b="1" i="0">
                <a:solidFill>
                  <a:srgbClr val="10233F"/>
                </a:solidFill>
                <a:latin typeface="Times New Roman"/>
              </a:rPr>
              <a:t>Executive Board Presentation</a:t>
            </a:r>
          </a:p>
        </p:txBody>
      </p:sp>
      <p:sp>
        <p:nvSpPr>
          <p:cNvPr id="30" name="TextBox 29"/>
          <p:cNvSpPr txBox="1"/>
          <p:nvPr/>
        </p:nvSpPr>
        <p:spPr>
          <a:xfrm>
            <a:off x="4910328" y="4443984"/>
            <a:ext cx="6272783" cy="512064"/>
          </a:xfrm>
          <a:prstGeom prst="rect">
            <a:avLst/>
          </a:prstGeom>
          <a:noFill/>
        </p:spPr>
        <p:txBody>
          <a:bodyPr wrap="square" anchor="ctr" lIns="0" rIns="0" tIns="0" bIns="0">
            <a:spAutoFit/>
          </a:bodyPr>
          <a:lstStyle/>
          <a:p>
            <a:pPr algn="l">
              <a:lnSpc>
                <a:spcPct val="106000"/>
              </a:lnSpc>
            </a:pPr>
            <a:r>
              <a:rPr sz="1250" b="0" i="0">
                <a:solidFill>
                  <a:srgbClr val="111827"/>
                </a:solidFill>
                <a:latin typeface="Times New Roman"/>
              </a:rPr>
              <a:t>Present recommendations using AISE as the organizing structure</a:t>
            </a:r>
          </a:p>
        </p:txBody>
      </p:sp>
      <p:sp>
        <p:nvSpPr>
          <p:cNvPr id="31" name="Rectangle 30"/>
          <p:cNvSpPr/>
          <p:nvPr/>
        </p:nvSpPr>
        <p:spPr>
          <a:xfrm>
            <a:off x="868680" y="5175504"/>
            <a:ext cx="10424160" cy="786384"/>
          </a:xfrm>
          <a:prstGeom prst="rect">
            <a:avLst/>
          </a:prstGeom>
          <a:solidFill>
            <a:srgbClr val="EA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8680" y="5175504"/>
            <a:ext cx="45720" cy="786384"/>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88720" y="5175504"/>
            <a:ext cx="9875520" cy="786384"/>
          </a:xfrm>
          <a:prstGeom prst="rect">
            <a:avLst/>
          </a:prstGeom>
          <a:noFill/>
        </p:spPr>
        <p:txBody>
          <a:bodyPr wrap="square" anchor="ctr" lIns="0" rIns="0" tIns="0" bIns="0">
            <a:spAutoFit/>
          </a:bodyPr>
          <a:lstStyle/>
          <a:p>
            <a:pPr algn="l">
              <a:lnSpc>
                <a:spcPct val="124000"/>
              </a:lnSpc>
            </a:pPr>
            <a:r>
              <a:rPr sz="1350" b="0" i="0">
                <a:solidFill>
                  <a:srgbClr val="111827"/>
                </a:solidFill>
                <a:latin typeface="Times New Roman"/>
              </a:rPr>
              <a:t>AISE does not replace classical frameworks. It is the integrative structure that connects diverse theories, contemporary research, and real organizational challenges.</a:t>
            </a:r>
          </a:p>
        </p:txBody>
      </p:sp>
      <p:sp>
        <p:nvSpPr>
          <p:cNvPr id="34" name="Rectangle 33"/>
          <p:cNvSpPr/>
          <p:nvPr/>
        </p:nvSpPr>
        <p:spPr>
          <a:xfrm>
            <a:off x="868680" y="6071616"/>
            <a:ext cx="36576" cy="31089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9848" y="6071616"/>
            <a:ext cx="10424160" cy="365760"/>
          </a:xfrm>
          <a:prstGeom prst="rect">
            <a:avLst/>
          </a:prstGeom>
          <a:noFill/>
        </p:spPr>
        <p:txBody>
          <a:bodyPr wrap="square" anchor="ctr" lIns="0" rIns="0" tIns="0" bIns="0">
            <a:spAutoFit/>
          </a:bodyPr>
          <a:lstStyle/>
          <a:p>
            <a:pPr algn="l"/>
            <a:r>
              <a:rPr sz="1350" b="1" i="1">
                <a:solidFill>
                  <a:srgbClr val="10233F"/>
                </a:solidFill>
                <a:latin typeface="Times New Roman"/>
              </a:rPr>
              <a:t>One framework, applied repeatedly, until it becomes a habit of mind.</a:t>
            </a:r>
          </a:p>
        </p:txBody>
      </p:sp>
      <p:sp>
        <p:nvSpPr>
          <p:cNvPr id="36" name="TextBox 35"/>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19</a:t>
            </a:r>
          </a:p>
        </p:txBody>
      </p:sp>
      <p:sp>
        <p:nvSpPr>
          <p:cNvPr id="37" name="TextBox 36"/>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64592"/>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969"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11480"/>
            <a:ext cx="5943600" cy="228600"/>
          </a:xfrm>
          <a:prstGeom prst="rect">
            <a:avLst/>
          </a:prstGeom>
          <a:noFill/>
        </p:spPr>
        <p:txBody>
          <a:bodyPr wrap="square" anchor="t" lIns="0" rIns="0" tIns="0" bIns="0">
            <a:spAutoFit/>
          </a:bodyPr>
          <a:lstStyle/>
          <a:p>
            <a:pPr algn="l"/>
            <a:r>
              <a:rPr sz="850" b="1" i="0">
                <a:solidFill>
                  <a:srgbClr val="2A6F97"/>
                </a:solidFill>
                <a:latin typeface="Times New Roman"/>
              </a:rPr>
              <a:t>COURSE INTRODUCTION · CONCLUDING PERSPECTIVE</a:t>
            </a:r>
          </a:p>
        </p:txBody>
      </p:sp>
      <p:sp>
        <p:nvSpPr>
          <p:cNvPr id="6" name="TextBox 5"/>
          <p:cNvSpPr txBox="1"/>
          <p:nvPr/>
        </p:nvSpPr>
        <p:spPr>
          <a:xfrm>
            <a:off x="502920" y="640080"/>
            <a:ext cx="9509760" cy="457200"/>
          </a:xfrm>
          <a:prstGeom prst="rect">
            <a:avLst/>
          </a:prstGeom>
          <a:noFill/>
        </p:spPr>
        <p:txBody>
          <a:bodyPr wrap="square" anchor="t" lIns="0" rIns="0" tIns="0" bIns="0">
            <a:spAutoFit/>
          </a:bodyPr>
          <a:lstStyle/>
          <a:p>
            <a:pPr algn="l"/>
            <a:r>
              <a:rPr sz="2400" b="1" i="0">
                <a:solidFill>
                  <a:srgbClr val="111827"/>
                </a:solidFill>
                <a:latin typeface="Times New Roman"/>
              </a:rPr>
              <a:t>Where this leaves you</a:t>
            </a:r>
          </a:p>
        </p:txBody>
      </p:sp>
      <p:sp>
        <p:nvSpPr>
          <p:cNvPr id="7" name="Rectangle 6"/>
          <p:cNvSpPr/>
          <p:nvPr/>
        </p:nvSpPr>
        <p:spPr>
          <a:xfrm>
            <a:off x="868680" y="1481328"/>
            <a:ext cx="10424160" cy="1005840"/>
          </a:xfrm>
          <a:prstGeom prst="rect">
            <a:avLst/>
          </a:prstGeom>
          <a:solidFill>
            <a:srgbClr val="10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1481328"/>
            <a:ext cx="1042416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481328"/>
            <a:ext cx="9875520" cy="1005840"/>
          </a:xfrm>
          <a:prstGeom prst="rect">
            <a:avLst/>
          </a:prstGeom>
          <a:noFill/>
        </p:spPr>
        <p:txBody>
          <a:bodyPr wrap="square" anchor="ctr" lIns="0" rIns="0" tIns="0" bIns="0">
            <a:spAutoFit/>
          </a:bodyPr>
          <a:lstStyle/>
          <a:p>
            <a:pPr algn="l">
              <a:lnSpc>
                <a:spcPct val="120000"/>
              </a:lnSpc>
            </a:pPr>
            <a:r>
              <a:rPr sz="1700" b="1" i="1">
                <a:solidFill>
                  <a:srgbClr val="FFFFFF"/>
                </a:solidFill>
                <a:latin typeface="Times New Roman"/>
              </a:rPr>
              <a:t>The goal is not to prepare you for today's AI tools, but to give you the intellectual framework to evaluate technologies that have not yet emerged.</a:t>
            </a:r>
          </a:p>
        </p:txBody>
      </p:sp>
      <p:sp>
        <p:nvSpPr>
          <p:cNvPr id="10" name="Rectangle 9"/>
          <p:cNvSpPr/>
          <p:nvPr/>
        </p:nvSpPr>
        <p:spPr>
          <a:xfrm>
            <a:off x="868680" y="2706624"/>
            <a:ext cx="1975104" cy="18836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706624"/>
            <a:ext cx="1975104"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1" y="2907792"/>
            <a:ext cx="1645920" cy="1554480"/>
          </a:xfrm>
          <a:prstGeom prst="rect">
            <a:avLst/>
          </a:prstGeom>
          <a:noFill/>
        </p:spPr>
        <p:txBody>
          <a:bodyPr wrap="square" anchor="t" lIns="0" rIns="0" tIns="0" bIns="0">
            <a:spAutoFit/>
          </a:bodyPr>
          <a:lstStyle/>
          <a:p>
            <a:pPr algn="l">
              <a:spcAft>
                <a:spcPts val="700"/>
              </a:spcAft>
            </a:pPr>
            <a:r>
              <a:rPr sz="900" b="1" i="0">
                <a:solidFill>
                  <a:srgbClr val="2A6F97"/>
                </a:solidFill>
                <a:latin typeface="Times New Roman"/>
              </a:rPr>
              <a:t>PART 0</a:t>
            </a:r>
          </a:p>
          <a:p>
            <a:pPr algn="l">
              <a:lnSpc>
                <a:spcPct val="105000"/>
              </a:lnSpc>
              <a:spcAft>
                <a:spcPts val="800"/>
              </a:spcAft>
            </a:pPr>
            <a:r>
              <a:rPr sz="1300" b="1" i="0">
                <a:solidFill>
                  <a:srgbClr val="10233F"/>
                </a:solidFill>
                <a:latin typeface="Times New Roman"/>
              </a:rPr>
              <a:t>Course Philosophy</a:t>
            </a:r>
          </a:p>
          <a:p>
            <a:pPr algn="l">
              <a:lnSpc>
                <a:spcPct val="120000"/>
              </a:lnSpc>
            </a:pPr>
            <a:r>
              <a:rPr sz="1050" b="0" i="0">
                <a:solidFill>
                  <a:srgbClr val="4B5563"/>
                </a:solidFill>
                <a:latin typeface="Times New Roman"/>
              </a:rPr>
              <a:t>AI is the context; strategic management is the subject.</a:t>
            </a:r>
          </a:p>
        </p:txBody>
      </p:sp>
      <p:sp>
        <p:nvSpPr>
          <p:cNvPr id="13" name="Rectangle 12"/>
          <p:cNvSpPr/>
          <p:nvPr/>
        </p:nvSpPr>
        <p:spPr>
          <a:xfrm>
            <a:off x="2980944" y="2706624"/>
            <a:ext cx="1975104" cy="18836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80944" y="2706624"/>
            <a:ext cx="1975104" cy="45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45536" y="2907792"/>
            <a:ext cx="1645920" cy="1554480"/>
          </a:xfrm>
          <a:prstGeom prst="rect">
            <a:avLst/>
          </a:prstGeom>
          <a:noFill/>
        </p:spPr>
        <p:txBody>
          <a:bodyPr wrap="square" anchor="t" lIns="0" rIns="0" tIns="0" bIns="0">
            <a:spAutoFit/>
          </a:bodyPr>
          <a:lstStyle/>
          <a:p>
            <a:pPr algn="l">
              <a:spcAft>
                <a:spcPts val="700"/>
              </a:spcAft>
            </a:pPr>
            <a:r>
              <a:rPr sz="900" b="1" i="0">
                <a:solidFill>
                  <a:srgbClr val="2A6F97"/>
                </a:solidFill>
                <a:latin typeface="Times New Roman"/>
              </a:rPr>
              <a:t>PART I</a:t>
            </a:r>
          </a:p>
          <a:p>
            <a:pPr algn="l">
              <a:lnSpc>
                <a:spcPct val="105000"/>
              </a:lnSpc>
              <a:spcAft>
                <a:spcPts val="800"/>
              </a:spcAft>
            </a:pPr>
            <a:r>
              <a:rPr sz="1300" b="1" i="0">
                <a:solidFill>
                  <a:srgbClr val="10233F"/>
                </a:solidFill>
                <a:latin typeface="Times New Roman"/>
              </a:rPr>
              <a:t>Course Foundations</a:t>
            </a:r>
          </a:p>
          <a:p>
            <a:pPr algn="l">
              <a:lnSpc>
                <a:spcPct val="120000"/>
              </a:lnSpc>
            </a:pPr>
            <a:r>
              <a:rPr sz="1050" b="0" i="0">
                <a:solidFill>
                  <a:srgbClr val="4B5563"/>
                </a:solidFill>
                <a:latin typeface="Times New Roman"/>
              </a:rPr>
              <a:t>Classical theory, critical evaluation, AI extension — every week.</a:t>
            </a:r>
          </a:p>
        </p:txBody>
      </p:sp>
      <p:sp>
        <p:nvSpPr>
          <p:cNvPr id="16" name="Rectangle 15"/>
          <p:cNvSpPr/>
          <p:nvPr/>
        </p:nvSpPr>
        <p:spPr>
          <a:xfrm>
            <a:off x="5093208" y="2706624"/>
            <a:ext cx="1975104" cy="18836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93208" y="2706624"/>
            <a:ext cx="1975104"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2907792"/>
            <a:ext cx="1645920" cy="1554480"/>
          </a:xfrm>
          <a:prstGeom prst="rect">
            <a:avLst/>
          </a:prstGeom>
          <a:noFill/>
        </p:spPr>
        <p:txBody>
          <a:bodyPr wrap="square" anchor="t" lIns="0" rIns="0" tIns="0" bIns="0">
            <a:spAutoFit/>
          </a:bodyPr>
          <a:lstStyle/>
          <a:p>
            <a:pPr algn="l">
              <a:spcAft>
                <a:spcPts val="700"/>
              </a:spcAft>
            </a:pPr>
            <a:r>
              <a:rPr sz="900" b="1" i="0">
                <a:solidFill>
                  <a:srgbClr val="2A6F97"/>
                </a:solidFill>
                <a:latin typeface="Times New Roman"/>
              </a:rPr>
              <a:t>PART II</a:t>
            </a:r>
          </a:p>
          <a:p>
            <a:pPr algn="l">
              <a:lnSpc>
                <a:spcPct val="105000"/>
              </a:lnSpc>
              <a:spcAft>
                <a:spcPts val="800"/>
              </a:spcAft>
            </a:pPr>
            <a:r>
              <a:rPr sz="1300" b="1" i="0">
                <a:solidFill>
                  <a:srgbClr val="10233F"/>
                </a:solidFill>
                <a:latin typeface="Times New Roman"/>
              </a:rPr>
              <a:t>Course Design</a:t>
            </a:r>
          </a:p>
          <a:p>
            <a:pPr algn="l">
              <a:lnSpc>
                <a:spcPct val="120000"/>
              </a:lnSpc>
            </a:pPr>
            <a:r>
              <a:rPr sz="1050" b="0" i="0">
                <a:solidFill>
                  <a:srgbClr val="4B5563"/>
                </a:solidFill>
                <a:latin typeface="Times New Roman"/>
              </a:rPr>
              <a:t>Ten outcomes, eight assessments, a four-phase arc.</a:t>
            </a:r>
          </a:p>
        </p:txBody>
      </p:sp>
      <p:sp>
        <p:nvSpPr>
          <p:cNvPr id="19" name="Rectangle 18"/>
          <p:cNvSpPr/>
          <p:nvPr/>
        </p:nvSpPr>
        <p:spPr>
          <a:xfrm>
            <a:off x="7205472" y="2706624"/>
            <a:ext cx="1975104" cy="18836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05472" y="2706624"/>
            <a:ext cx="1975104" cy="4572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70064" y="2907792"/>
            <a:ext cx="1645920" cy="1554480"/>
          </a:xfrm>
          <a:prstGeom prst="rect">
            <a:avLst/>
          </a:prstGeom>
          <a:noFill/>
        </p:spPr>
        <p:txBody>
          <a:bodyPr wrap="square" anchor="t" lIns="0" rIns="0" tIns="0" bIns="0">
            <a:spAutoFit/>
          </a:bodyPr>
          <a:lstStyle/>
          <a:p>
            <a:pPr algn="l">
              <a:spcAft>
                <a:spcPts val="700"/>
              </a:spcAft>
            </a:pPr>
            <a:r>
              <a:rPr sz="900" b="1" i="0">
                <a:solidFill>
                  <a:srgbClr val="2A6F97"/>
                </a:solidFill>
                <a:latin typeface="Times New Roman"/>
              </a:rPr>
              <a:t>PART III</a:t>
            </a:r>
          </a:p>
          <a:p>
            <a:pPr algn="l">
              <a:lnSpc>
                <a:spcPct val="105000"/>
              </a:lnSpc>
              <a:spcAft>
                <a:spcPts val="800"/>
              </a:spcAft>
            </a:pPr>
            <a:r>
              <a:rPr sz="1300" b="1" i="0">
                <a:solidFill>
                  <a:srgbClr val="10233F"/>
                </a:solidFill>
                <a:latin typeface="Times New Roman"/>
              </a:rPr>
              <a:t>Intellectual Foundations</a:t>
            </a:r>
          </a:p>
          <a:p>
            <a:pPr algn="l">
              <a:lnSpc>
                <a:spcPct val="120000"/>
              </a:lnSpc>
            </a:pPr>
            <a:r>
              <a:rPr sz="1050" b="0" i="0">
                <a:solidFill>
                  <a:srgbClr val="4B5563"/>
                </a:solidFill>
                <a:latin typeface="Times New Roman"/>
              </a:rPr>
              <a:t>Two canons in deliberate dialogue, ten pairings.</a:t>
            </a:r>
          </a:p>
        </p:txBody>
      </p:sp>
      <p:sp>
        <p:nvSpPr>
          <p:cNvPr id="22" name="Rectangle 21"/>
          <p:cNvSpPr/>
          <p:nvPr/>
        </p:nvSpPr>
        <p:spPr>
          <a:xfrm>
            <a:off x="9317736" y="2706624"/>
            <a:ext cx="1975104" cy="188366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317736" y="2706624"/>
            <a:ext cx="1975104"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2328" y="2907792"/>
            <a:ext cx="1645920" cy="1554480"/>
          </a:xfrm>
          <a:prstGeom prst="rect">
            <a:avLst/>
          </a:prstGeom>
          <a:noFill/>
        </p:spPr>
        <p:txBody>
          <a:bodyPr wrap="square" anchor="t" lIns="0" rIns="0" tIns="0" bIns="0">
            <a:spAutoFit/>
          </a:bodyPr>
          <a:lstStyle/>
          <a:p>
            <a:pPr algn="l">
              <a:spcAft>
                <a:spcPts val="700"/>
              </a:spcAft>
            </a:pPr>
            <a:r>
              <a:rPr sz="900" b="1" i="0">
                <a:solidFill>
                  <a:srgbClr val="2A6F97"/>
                </a:solidFill>
                <a:latin typeface="Times New Roman"/>
              </a:rPr>
              <a:t>PART IV</a:t>
            </a:r>
          </a:p>
          <a:p>
            <a:pPr algn="l">
              <a:lnSpc>
                <a:spcPct val="105000"/>
              </a:lnSpc>
              <a:spcAft>
                <a:spcPts val="800"/>
              </a:spcAft>
            </a:pPr>
            <a:r>
              <a:rPr sz="1300" b="1" i="0">
                <a:solidFill>
                  <a:srgbClr val="10233F"/>
                </a:solidFill>
                <a:latin typeface="Times New Roman"/>
              </a:rPr>
              <a:t>The AISE Framework</a:t>
            </a:r>
          </a:p>
          <a:p>
            <a:pPr algn="l">
              <a:lnSpc>
                <a:spcPct val="120000"/>
              </a:lnSpc>
            </a:pPr>
            <a:r>
              <a:rPr sz="1050" b="0" i="0">
                <a:solidFill>
                  <a:srgbClr val="4B5563"/>
                </a:solidFill>
                <a:latin typeface="Times New Roman"/>
              </a:rPr>
              <a:t>Seven stages that organize everything you will do.</a:t>
            </a:r>
          </a:p>
        </p:txBody>
      </p:sp>
      <p:sp>
        <p:nvSpPr>
          <p:cNvPr id="25" name="Rectangle 24"/>
          <p:cNvSpPr/>
          <p:nvPr/>
        </p:nvSpPr>
        <p:spPr>
          <a:xfrm>
            <a:off x="868680" y="4846320"/>
            <a:ext cx="41148" cy="91440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4712" y="4846320"/>
            <a:ext cx="10168128" cy="914400"/>
          </a:xfrm>
          <a:prstGeom prst="rect">
            <a:avLst/>
          </a:prstGeom>
          <a:noFill/>
        </p:spPr>
        <p:txBody>
          <a:bodyPr wrap="square" anchor="t" lIns="0" rIns="0" tIns="0" bIns="0">
            <a:spAutoFit/>
          </a:bodyPr>
          <a:lstStyle/>
          <a:p>
            <a:pPr algn="l">
              <a:lnSpc>
                <a:spcPct val="125000"/>
              </a:lnSpc>
            </a:pPr>
            <a:r>
              <a:rPr sz="1600" b="0" i="1">
                <a:solidFill>
                  <a:srgbClr val="10233F"/>
                </a:solidFill>
                <a:latin typeface="Times New Roman"/>
              </a:rPr>
              <a:t>You are not asked only to learn strategy. You are asked to participate in the continuing evolution of one of management's most important disciplines.</a:t>
            </a:r>
          </a:p>
          <a:p>
            <a:pPr algn="l">
              <a:spcBef>
                <a:spcPts val="700"/>
              </a:spcBef>
            </a:pPr>
            <a:r>
              <a:rPr sz="1050" b="0" i="0">
                <a:solidFill>
                  <a:srgbClr val="6B7280"/>
                </a:solidFill>
                <a:latin typeface="Times New Roman"/>
              </a:rPr>
              <a:t>Next: Week 1 — What Is Strategy in the Age of AI? Porter (1996) paired with Hutzschenreuter &amp; Lämmermann (2025).</a:t>
            </a:r>
          </a:p>
        </p:txBody>
      </p:sp>
      <p:sp>
        <p:nvSpPr>
          <p:cNvPr id="27" name="TextBox 26"/>
          <p:cNvSpPr txBox="1"/>
          <p:nvPr/>
        </p:nvSpPr>
        <p:spPr>
          <a:xfrm>
            <a:off x="11475720" y="6473952"/>
            <a:ext cx="457200" cy="182880"/>
          </a:xfrm>
          <a:prstGeom prst="rect">
            <a:avLst/>
          </a:prstGeom>
          <a:noFill/>
        </p:spPr>
        <p:txBody>
          <a:bodyPr wrap="square" anchor="t" lIns="0" rIns="0" tIns="0" bIns="0">
            <a:spAutoFit/>
          </a:bodyPr>
          <a:lstStyle/>
          <a:p>
            <a:pPr algn="r"/>
            <a:r>
              <a:rPr sz="800" b="0" i="0">
                <a:solidFill>
                  <a:srgbClr val="9CA3AF"/>
                </a:solidFill>
                <a:latin typeface="Times New Roman"/>
              </a:rPr>
              <a:t>20</a:t>
            </a:r>
          </a:p>
        </p:txBody>
      </p:sp>
      <p:sp>
        <p:nvSpPr>
          <p:cNvPr id="28" name="TextBox 27"/>
          <p:cNvSpPr txBox="1"/>
          <p:nvPr/>
        </p:nvSpPr>
        <p:spPr>
          <a:xfrm>
            <a:off x="502920" y="6473952"/>
            <a:ext cx="6400800" cy="182880"/>
          </a:xfrm>
          <a:prstGeom prst="rect">
            <a:avLst/>
          </a:prstGeom>
          <a:noFill/>
        </p:spPr>
        <p:txBody>
          <a:bodyPr wrap="square" anchor="t" lIns="0" rIns="0" tIns="0" bIns="0">
            <a:spAutoFit/>
          </a:bodyPr>
          <a:lstStyle/>
          <a:p>
            <a:pPr algn="l"/>
            <a:r>
              <a:rPr sz="720" b="0" i="0">
                <a:solidFill>
                  <a:srgbClr val="6B7280"/>
                </a:solidFill>
                <a:latin typeface="Times New Roman"/>
              </a:rPr>
              <a:t>Strategic Management in the Age of AI · MGMT 465/665 · Course Introduction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