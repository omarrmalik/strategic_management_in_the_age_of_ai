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Lst>
  <p:sldSz cx="1219196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321808"/>
            <a:ext cx="12191969" cy="1536192"/>
          </a:xfrm>
          <a:prstGeom prst="rect">
            <a:avLst/>
          </a:prstGeom>
          <a:solidFill>
            <a:srgbClr val="F6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13232" y="841248"/>
            <a:ext cx="1737360" cy="32004"/>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13232" y="1078992"/>
            <a:ext cx="6583680" cy="274320"/>
          </a:xfrm>
          <a:prstGeom prst="rect">
            <a:avLst/>
          </a:prstGeom>
          <a:noFill/>
        </p:spPr>
        <p:txBody>
          <a:bodyPr wrap="square" anchor="t" lIns="0" rIns="0" tIns="0" bIns="0">
            <a:spAutoFit/>
          </a:bodyPr>
          <a:lstStyle/>
          <a:p>
            <a:pPr algn="l"/>
            <a:r>
              <a:rPr sz="1200" b="1" i="0">
                <a:solidFill>
                  <a:srgbClr val="D4A017"/>
                </a:solidFill>
                <a:latin typeface="Times New Roman"/>
              </a:rPr>
              <a:t>MGMT 465 / 665  ·  KETTERING UNIVERSITY  ·  SUMMER 2026</a:t>
            </a:r>
          </a:p>
        </p:txBody>
      </p:sp>
      <p:sp>
        <p:nvSpPr>
          <p:cNvPr id="6" name="TextBox 5"/>
          <p:cNvSpPr txBox="1"/>
          <p:nvPr/>
        </p:nvSpPr>
        <p:spPr>
          <a:xfrm>
            <a:off x="713232" y="1572768"/>
            <a:ext cx="9692640" cy="1828800"/>
          </a:xfrm>
          <a:prstGeom prst="rect">
            <a:avLst/>
          </a:prstGeom>
          <a:noFill/>
        </p:spPr>
        <p:txBody>
          <a:bodyPr wrap="square" anchor="t" lIns="0" rIns="0" tIns="0" bIns="0">
            <a:spAutoFit/>
          </a:bodyPr>
          <a:lstStyle/>
          <a:p>
            <a:pPr algn="l">
              <a:lnSpc>
                <a:spcPct val="100000"/>
              </a:lnSpc>
            </a:pPr>
            <a:r>
              <a:rPr sz="4000" b="1" i="0">
                <a:solidFill>
                  <a:srgbClr val="FFFFFF"/>
                </a:solidFill>
                <a:latin typeface="Times New Roman"/>
              </a:rPr>
              <a:t>Strategic Management</a:t>
            </a:r>
          </a:p>
          <a:p>
            <a:pPr algn="l">
              <a:lnSpc>
                <a:spcPct val="100000"/>
              </a:lnSpc>
            </a:pPr>
            <a:r>
              <a:rPr sz="4000" b="1" i="0">
                <a:solidFill>
                  <a:srgbClr val="FFFFFF"/>
                </a:solidFill>
                <a:latin typeface="Times New Roman"/>
              </a:rPr>
              <a:t>in the Age of Artificial Intelligence</a:t>
            </a:r>
          </a:p>
        </p:txBody>
      </p:sp>
      <p:sp>
        <p:nvSpPr>
          <p:cNvPr id="7" name="TextBox 6"/>
          <p:cNvSpPr txBox="1"/>
          <p:nvPr/>
        </p:nvSpPr>
        <p:spPr>
          <a:xfrm>
            <a:off x="713232" y="3218688"/>
            <a:ext cx="8961120" cy="365760"/>
          </a:xfrm>
          <a:prstGeom prst="rect">
            <a:avLst/>
          </a:prstGeom>
          <a:noFill/>
        </p:spPr>
        <p:txBody>
          <a:bodyPr wrap="square" anchor="t" lIns="0" rIns="0" tIns="0" bIns="0">
            <a:spAutoFit/>
          </a:bodyPr>
          <a:lstStyle/>
          <a:p>
            <a:pPr algn="l"/>
            <a:r>
              <a:rPr sz="2100" b="0" i="1">
                <a:solidFill>
                  <a:srgbClr val="C9D2DE"/>
                </a:solidFill>
                <a:latin typeface="Times New Roman"/>
              </a:rPr>
              <a:t>Course Introduction  —  Parts 0 through IV</a:t>
            </a:r>
          </a:p>
        </p:txBody>
      </p:sp>
      <p:sp>
        <p:nvSpPr>
          <p:cNvPr id="8" name="Rectangle 7"/>
          <p:cNvSpPr/>
          <p:nvPr/>
        </p:nvSpPr>
        <p:spPr>
          <a:xfrm>
            <a:off x="713232" y="3840480"/>
            <a:ext cx="1865376" cy="384048"/>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3890772"/>
            <a:ext cx="1865376" cy="292608"/>
          </a:xfrm>
          <a:prstGeom prst="rect">
            <a:avLst/>
          </a:prstGeom>
          <a:noFill/>
        </p:spPr>
        <p:txBody>
          <a:bodyPr wrap="square" anchor="t" lIns="0" rIns="0" tIns="0" bIns="0">
            <a:spAutoFit/>
          </a:bodyPr>
          <a:lstStyle/>
          <a:p>
            <a:pPr algn="ctr"/>
            <a:r>
              <a:rPr sz="1300" b="1" i="0">
                <a:solidFill>
                  <a:srgbClr val="10233F"/>
                </a:solidFill>
                <a:latin typeface="Times New Roman"/>
              </a:rPr>
              <a:t>PHILOSOPHY</a:t>
            </a:r>
          </a:p>
        </p:txBody>
      </p:sp>
      <p:sp>
        <p:nvSpPr>
          <p:cNvPr id="10" name="Rectangle 9"/>
          <p:cNvSpPr/>
          <p:nvPr/>
        </p:nvSpPr>
        <p:spPr>
          <a:xfrm>
            <a:off x="2779776" y="3840480"/>
            <a:ext cx="2020824" cy="384048"/>
          </a:xfrm>
          <a:prstGeom prst="rect">
            <a:avLst/>
          </a:prstGeom>
          <a:solidFill>
            <a:srgbClr val="2A6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79776" y="3890772"/>
            <a:ext cx="2020824" cy="292608"/>
          </a:xfrm>
          <a:prstGeom prst="rect">
            <a:avLst/>
          </a:prstGeom>
          <a:noFill/>
        </p:spPr>
        <p:txBody>
          <a:bodyPr wrap="square" anchor="t" lIns="0" rIns="0" tIns="0" bIns="0">
            <a:spAutoFit/>
          </a:bodyPr>
          <a:lstStyle/>
          <a:p>
            <a:pPr algn="ctr"/>
            <a:r>
              <a:rPr sz="1300" b="1" i="0">
                <a:solidFill>
                  <a:srgbClr val="FFFFFF"/>
                </a:solidFill>
                <a:latin typeface="Times New Roman"/>
              </a:rPr>
              <a:t>FOUNDATIONS</a:t>
            </a:r>
          </a:p>
        </p:txBody>
      </p:sp>
      <p:sp>
        <p:nvSpPr>
          <p:cNvPr id="12" name="Rectangle 11"/>
          <p:cNvSpPr/>
          <p:nvPr/>
        </p:nvSpPr>
        <p:spPr>
          <a:xfrm>
            <a:off x="5001768" y="3840480"/>
            <a:ext cx="1243584" cy="384048"/>
          </a:xfrm>
          <a:prstGeom prst="rect">
            <a:avLst/>
          </a:prstGeom>
          <a:solidFill>
            <a:srgbClr val="2A6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01768" y="3890772"/>
            <a:ext cx="1243584" cy="292608"/>
          </a:xfrm>
          <a:prstGeom prst="rect">
            <a:avLst/>
          </a:prstGeom>
          <a:noFill/>
        </p:spPr>
        <p:txBody>
          <a:bodyPr wrap="square" anchor="t" lIns="0" rIns="0" tIns="0" bIns="0">
            <a:spAutoFit/>
          </a:bodyPr>
          <a:lstStyle/>
          <a:p>
            <a:pPr algn="ctr"/>
            <a:r>
              <a:rPr sz="1300" b="1" i="0">
                <a:solidFill>
                  <a:srgbClr val="FFFFFF"/>
                </a:solidFill>
                <a:latin typeface="Times New Roman"/>
              </a:rPr>
              <a:t>DESIGN</a:t>
            </a:r>
          </a:p>
        </p:txBody>
      </p:sp>
      <p:sp>
        <p:nvSpPr>
          <p:cNvPr id="14" name="Rectangle 13"/>
          <p:cNvSpPr/>
          <p:nvPr/>
        </p:nvSpPr>
        <p:spPr>
          <a:xfrm>
            <a:off x="6446520" y="3840480"/>
            <a:ext cx="1709928" cy="384048"/>
          </a:xfrm>
          <a:prstGeom prst="rect">
            <a:avLst/>
          </a:prstGeom>
          <a:solidFill>
            <a:srgbClr val="2A6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6520" y="3890772"/>
            <a:ext cx="1709928" cy="292608"/>
          </a:xfrm>
          <a:prstGeom prst="rect">
            <a:avLst/>
          </a:prstGeom>
          <a:noFill/>
        </p:spPr>
        <p:txBody>
          <a:bodyPr wrap="square" anchor="t" lIns="0" rIns="0" tIns="0" bIns="0">
            <a:spAutoFit/>
          </a:bodyPr>
          <a:lstStyle/>
          <a:p>
            <a:pPr algn="ctr"/>
            <a:r>
              <a:rPr sz="1300" b="1" i="0">
                <a:solidFill>
                  <a:srgbClr val="FFFFFF"/>
                </a:solidFill>
                <a:latin typeface="Times New Roman"/>
              </a:rPr>
              <a:t>THE CANON</a:t>
            </a:r>
          </a:p>
        </p:txBody>
      </p:sp>
      <p:sp>
        <p:nvSpPr>
          <p:cNvPr id="16" name="Rectangle 15"/>
          <p:cNvSpPr/>
          <p:nvPr/>
        </p:nvSpPr>
        <p:spPr>
          <a:xfrm>
            <a:off x="8357616" y="3840480"/>
            <a:ext cx="3108960" cy="384048"/>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57616" y="3890772"/>
            <a:ext cx="3108960" cy="292608"/>
          </a:xfrm>
          <a:prstGeom prst="rect">
            <a:avLst/>
          </a:prstGeom>
          <a:noFill/>
        </p:spPr>
        <p:txBody>
          <a:bodyPr wrap="square" anchor="t" lIns="0" rIns="0" tIns="0" bIns="0">
            <a:spAutoFit/>
          </a:bodyPr>
          <a:lstStyle/>
          <a:p>
            <a:pPr algn="ctr"/>
            <a:r>
              <a:rPr sz="1300" b="1" i="0">
                <a:solidFill>
                  <a:srgbClr val="10233F"/>
                </a:solidFill>
                <a:latin typeface="Times New Roman"/>
              </a:rPr>
              <a:t>THE AISE FRAMEWORK</a:t>
            </a:r>
          </a:p>
        </p:txBody>
      </p:sp>
      <p:sp>
        <p:nvSpPr>
          <p:cNvPr id="18" name="TextBox 17"/>
          <p:cNvSpPr txBox="1"/>
          <p:nvPr/>
        </p:nvSpPr>
        <p:spPr>
          <a:xfrm>
            <a:off x="713232" y="5559552"/>
            <a:ext cx="10241280" cy="548640"/>
          </a:xfrm>
          <a:prstGeom prst="rect">
            <a:avLst/>
          </a:prstGeom>
          <a:noFill/>
        </p:spPr>
        <p:txBody>
          <a:bodyPr wrap="square" anchor="t" lIns="0" rIns="0" tIns="0" bIns="0">
            <a:spAutoFit/>
          </a:bodyPr>
          <a:lstStyle/>
          <a:p>
            <a:pPr algn="l"/>
            <a:r>
              <a:rPr sz="1800" b="1" i="0">
                <a:solidFill>
                  <a:srgbClr val="111827"/>
                </a:solidFill>
                <a:latin typeface="Times New Roman"/>
              </a:rPr>
              <a:t>Classical strategy remains essential. Artificial intelligence changes the assumptions beneath it.</a:t>
            </a:r>
          </a:p>
        </p:txBody>
      </p:sp>
      <p:sp>
        <p:nvSpPr>
          <p:cNvPr id="19" name="TextBox 18"/>
          <p:cNvSpPr txBox="1"/>
          <p:nvPr/>
        </p:nvSpPr>
        <p:spPr>
          <a:xfrm>
            <a:off x="713232" y="6199632"/>
            <a:ext cx="10241280" cy="274320"/>
          </a:xfrm>
          <a:prstGeom prst="rect">
            <a:avLst/>
          </a:prstGeom>
          <a:noFill/>
        </p:spPr>
        <p:txBody>
          <a:bodyPr wrap="square" anchor="t" lIns="0" rIns="0" tIns="0" bIns="0">
            <a:spAutoFit/>
          </a:bodyPr>
          <a:lstStyle/>
          <a:p>
            <a:pPr algn="l"/>
            <a:r>
              <a:rPr sz="1100" b="0" i="0">
                <a:solidFill>
                  <a:srgbClr val="4B5563"/>
                </a:solidFill>
                <a:latin typeface="Times New Roman"/>
              </a:rPr>
              <a:t>Omar R. Malik, Ph.D.  ·  Monday &amp; Thursday, 1:20–3:25 p.m.  ·  AB 3336  ·  Office hours Mon/Thu 12:20–1:15 p.m., AB 4304C</a:t>
            </a:r>
          </a:p>
        </p:txBody>
      </p:sp>
      <p:sp>
        <p:nvSpPr>
          <p:cNvPr id="20" name="TextBox 19"/>
          <p:cNvSpPr txBox="1"/>
          <p:nvPr/>
        </p:nvSpPr>
        <p:spPr>
          <a:xfrm>
            <a:off x="11475720" y="6473952"/>
            <a:ext cx="457200" cy="182880"/>
          </a:xfrm>
          <a:prstGeom prst="rect">
            <a:avLst/>
          </a:prstGeom>
          <a:noFill/>
        </p:spPr>
        <p:txBody>
          <a:bodyPr wrap="square" anchor="t" lIns="0" rIns="0" tIns="0" bIns="0">
            <a:spAutoFit/>
          </a:bodyPr>
          <a:lstStyle/>
          <a:p>
            <a:pPr algn="r"/>
            <a:r>
              <a:rPr sz="800" b="0" i="0">
                <a:solidFill>
                  <a:srgbClr val="D4A017"/>
                </a:solidFill>
                <a:latin typeface="Times New Roman"/>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969" cy="164592"/>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969" cy="3657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411480"/>
            <a:ext cx="5943600" cy="228600"/>
          </a:xfrm>
          <a:prstGeom prst="rect">
            <a:avLst/>
          </a:prstGeom>
          <a:noFill/>
        </p:spPr>
        <p:txBody>
          <a:bodyPr wrap="square" anchor="t" lIns="0" rIns="0" tIns="0" bIns="0">
            <a:spAutoFit/>
          </a:bodyPr>
          <a:lstStyle/>
          <a:p>
            <a:pPr algn="l"/>
            <a:r>
              <a:rPr sz="850" b="1" i="0">
                <a:solidFill>
                  <a:srgbClr val="2A6F97"/>
                </a:solidFill>
                <a:latin typeface="Times New Roman"/>
              </a:rPr>
              <a:t>COURSE INTRODUCTION</a:t>
            </a:r>
          </a:p>
        </p:txBody>
      </p:sp>
      <p:sp>
        <p:nvSpPr>
          <p:cNvPr id="6" name="TextBox 5"/>
          <p:cNvSpPr txBox="1"/>
          <p:nvPr/>
        </p:nvSpPr>
        <p:spPr>
          <a:xfrm>
            <a:off x="502920" y="640080"/>
            <a:ext cx="9509760" cy="457200"/>
          </a:xfrm>
          <a:prstGeom prst="rect">
            <a:avLst/>
          </a:prstGeom>
          <a:noFill/>
        </p:spPr>
        <p:txBody>
          <a:bodyPr wrap="square" anchor="t" lIns="0" rIns="0" tIns="0" bIns="0">
            <a:spAutoFit/>
          </a:bodyPr>
          <a:lstStyle/>
          <a:p>
            <a:pPr algn="l"/>
            <a:r>
              <a:rPr sz="2400" b="1" i="0">
                <a:solidFill>
                  <a:srgbClr val="111827"/>
                </a:solidFill>
                <a:latin typeface="Times New Roman"/>
              </a:rPr>
              <a:t>What this introduction covers</a:t>
            </a:r>
          </a:p>
        </p:txBody>
      </p:sp>
      <p:sp>
        <p:nvSpPr>
          <p:cNvPr id="7" name="TextBox 6"/>
          <p:cNvSpPr txBox="1"/>
          <p:nvPr/>
        </p:nvSpPr>
        <p:spPr>
          <a:xfrm>
            <a:off x="502920" y="1106424"/>
            <a:ext cx="10698480" cy="274320"/>
          </a:xfrm>
          <a:prstGeom prst="rect">
            <a:avLst/>
          </a:prstGeom>
          <a:noFill/>
        </p:spPr>
        <p:txBody>
          <a:bodyPr wrap="square" anchor="t" lIns="0" rIns="0" tIns="0" bIns="0">
            <a:spAutoFit/>
          </a:bodyPr>
          <a:lstStyle/>
          <a:p>
            <a:pPr algn="l"/>
            <a:r>
              <a:rPr sz="1250" b="0" i="1">
                <a:solidFill>
                  <a:srgbClr val="4B5563"/>
                </a:solidFill>
                <a:latin typeface="Times New Roman"/>
              </a:rPr>
              <a:t>Five parts, one argument: strategy endures, its assumptions do not.</a:t>
            </a:r>
          </a:p>
        </p:txBody>
      </p:sp>
      <p:sp>
        <p:nvSpPr>
          <p:cNvPr id="8" name="Rectangle 7"/>
          <p:cNvSpPr/>
          <p:nvPr/>
        </p:nvSpPr>
        <p:spPr>
          <a:xfrm>
            <a:off x="868680" y="1645920"/>
            <a:ext cx="1078992" cy="457200"/>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760220"/>
            <a:ext cx="1078992" cy="274320"/>
          </a:xfrm>
          <a:prstGeom prst="rect">
            <a:avLst/>
          </a:prstGeom>
          <a:noFill/>
        </p:spPr>
        <p:txBody>
          <a:bodyPr wrap="square" anchor="t" lIns="0" rIns="0" tIns="0" bIns="0">
            <a:spAutoFit/>
          </a:bodyPr>
          <a:lstStyle/>
          <a:p>
            <a:pPr algn="ctr"/>
            <a:r>
              <a:rPr sz="1150" b="1" i="0">
                <a:solidFill>
                  <a:srgbClr val="FFFFFF"/>
                </a:solidFill>
                <a:latin typeface="Times New Roman"/>
              </a:rPr>
              <a:t>PART 0</a:t>
            </a:r>
          </a:p>
        </p:txBody>
      </p:sp>
      <p:sp>
        <p:nvSpPr>
          <p:cNvPr id="10" name="TextBox 9"/>
          <p:cNvSpPr txBox="1"/>
          <p:nvPr/>
        </p:nvSpPr>
        <p:spPr>
          <a:xfrm>
            <a:off x="2103120" y="1673352"/>
            <a:ext cx="3383280" cy="292608"/>
          </a:xfrm>
          <a:prstGeom prst="rect">
            <a:avLst/>
          </a:prstGeom>
          <a:noFill/>
        </p:spPr>
        <p:txBody>
          <a:bodyPr wrap="square" anchor="t" lIns="0" rIns="0" tIns="0" bIns="0">
            <a:spAutoFit/>
          </a:bodyPr>
          <a:lstStyle/>
          <a:p>
            <a:pPr algn="l"/>
            <a:r>
              <a:rPr sz="1550" b="1" i="0">
                <a:solidFill>
                  <a:srgbClr val="111827"/>
                </a:solidFill>
                <a:latin typeface="Times New Roman"/>
              </a:rPr>
              <a:t>Course Philosophy</a:t>
            </a:r>
          </a:p>
        </p:txBody>
      </p:sp>
      <p:sp>
        <p:nvSpPr>
          <p:cNvPr id="11" name="TextBox 10"/>
          <p:cNvSpPr txBox="1"/>
          <p:nvPr/>
        </p:nvSpPr>
        <p:spPr>
          <a:xfrm>
            <a:off x="5623560" y="1709928"/>
            <a:ext cx="5669280" cy="365760"/>
          </a:xfrm>
          <a:prstGeom prst="rect">
            <a:avLst/>
          </a:prstGeom>
          <a:noFill/>
        </p:spPr>
        <p:txBody>
          <a:bodyPr wrap="square" anchor="t" lIns="0" rIns="0" tIns="0" bIns="0">
            <a:spAutoFit/>
          </a:bodyPr>
          <a:lstStyle/>
          <a:p>
            <a:pPr algn="l">
              <a:lnSpc>
                <a:spcPct val="115000"/>
              </a:lnSpc>
            </a:pPr>
            <a:r>
              <a:rPr sz="1200" b="0" i="0">
                <a:solidFill>
                  <a:srgbClr val="4B5563"/>
                </a:solidFill>
                <a:latin typeface="Times New Roman"/>
              </a:rPr>
              <a:t>Why the course exists, the central question, and the shift from student to scholar</a:t>
            </a:r>
          </a:p>
        </p:txBody>
      </p:sp>
      <p:sp>
        <p:nvSpPr>
          <p:cNvPr id="12" name="Rectangle 11"/>
          <p:cNvSpPr/>
          <p:nvPr/>
        </p:nvSpPr>
        <p:spPr>
          <a:xfrm>
            <a:off x="868680" y="2212848"/>
            <a:ext cx="10424160" cy="10972"/>
          </a:xfrm>
          <a:prstGeom prst="rect">
            <a:avLst/>
          </a:prstGeom>
          <a:solidFill>
            <a:srgbClr val="E2E5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68680" y="2468880"/>
            <a:ext cx="1078992" cy="457200"/>
          </a:xfrm>
          <a:prstGeom prst="rect">
            <a:avLst/>
          </a:prstGeom>
          <a:solidFill>
            <a:srgbClr val="2A6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2583180"/>
            <a:ext cx="1078992" cy="274320"/>
          </a:xfrm>
          <a:prstGeom prst="rect">
            <a:avLst/>
          </a:prstGeom>
          <a:noFill/>
        </p:spPr>
        <p:txBody>
          <a:bodyPr wrap="square" anchor="t" lIns="0" rIns="0" tIns="0" bIns="0">
            <a:spAutoFit/>
          </a:bodyPr>
          <a:lstStyle/>
          <a:p>
            <a:pPr algn="ctr"/>
            <a:r>
              <a:rPr sz="1150" b="1" i="0">
                <a:solidFill>
                  <a:srgbClr val="FFFFFF"/>
                </a:solidFill>
                <a:latin typeface="Times New Roman"/>
              </a:rPr>
              <a:t>PART I</a:t>
            </a:r>
          </a:p>
        </p:txBody>
      </p:sp>
      <p:sp>
        <p:nvSpPr>
          <p:cNvPr id="15" name="TextBox 14"/>
          <p:cNvSpPr txBox="1"/>
          <p:nvPr/>
        </p:nvSpPr>
        <p:spPr>
          <a:xfrm>
            <a:off x="2103120" y="2496312"/>
            <a:ext cx="3383280" cy="292608"/>
          </a:xfrm>
          <a:prstGeom prst="rect">
            <a:avLst/>
          </a:prstGeom>
          <a:noFill/>
        </p:spPr>
        <p:txBody>
          <a:bodyPr wrap="square" anchor="t" lIns="0" rIns="0" tIns="0" bIns="0">
            <a:spAutoFit/>
          </a:bodyPr>
          <a:lstStyle/>
          <a:p>
            <a:pPr algn="l"/>
            <a:r>
              <a:rPr sz="1550" b="1" i="0">
                <a:solidFill>
                  <a:srgbClr val="111827"/>
                </a:solidFill>
                <a:latin typeface="Times New Roman"/>
              </a:rPr>
              <a:t>Course Foundations</a:t>
            </a:r>
          </a:p>
        </p:txBody>
      </p:sp>
      <p:sp>
        <p:nvSpPr>
          <p:cNvPr id="16" name="TextBox 15"/>
          <p:cNvSpPr txBox="1"/>
          <p:nvPr/>
        </p:nvSpPr>
        <p:spPr>
          <a:xfrm>
            <a:off x="5623560" y="2532888"/>
            <a:ext cx="5669280" cy="365760"/>
          </a:xfrm>
          <a:prstGeom prst="rect">
            <a:avLst/>
          </a:prstGeom>
          <a:noFill/>
        </p:spPr>
        <p:txBody>
          <a:bodyPr wrap="square" anchor="t" lIns="0" rIns="0" tIns="0" bIns="0">
            <a:spAutoFit/>
          </a:bodyPr>
          <a:lstStyle/>
          <a:p>
            <a:pPr algn="l">
              <a:lnSpc>
                <a:spcPct val="115000"/>
              </a:lnSpc>
            </a:pPr>
            <a:r>
              <a:rPr sz="1200" b="0" i="0">
                <a:solidFill>
                  <a:srgbClr val="4B5563"/>
                </a:solidFill>
                <a:latin typeface="Times New Roman"/>
              </a:rPr>
              <a:t>The educational philosophy, pedagogical model, and signature learning experience</a:t>
            </a:r>
          </a:p>
        </p:txBody>
      </p:sp>
      <p:sp>
        <p:nvSpPr>
          <p:cNvPr id="17" name="Rectangle 16"/>
          <p:cNvSpPr/>
          <p:nvPr/>
        </p:nvSpPr>
        <p:spPr>
          <a:xfrm>
            <a:off x="868680" y="3035808"/>
            <a:ext cx="10424160" cy="10972"/>
          </a:xfrm>
          <a:prstGeom prst="rect">
            <a:avLst/>
          </a:prstGeom>
          <a:solidFill>
            <a:srgbClr val="E2E5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68680" y="3291840"/>
            <a:ext cx="1078992" cy="457200"/>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3406140"/>
            <a:ext cx="1078992" cy="274320"/>
          </a:xfrm>
          <a:prstGeom prst="rect">
            <a:avLst/>
          </a:prstGeom>
          <a:noFill/>
        </p:spPr>
        <p:txBody>
          <a:bodyPr wrap="square" anchor="t" lIns="0" rIns="0" tIns="0" bIns="0">
            <a:spAutoFit/>
          </a:bodyPr>
          <a:lstStyle/>
          <a:p>
            <a:pPr algn="ctr"/>
            <a:r>
              <a:rPr sz="1150" b="1" i="0">
                <a:solidFill>
                  <a:srgbClr val="FFFFFF"/>
                </a:solidFill>
                <a:latin typeface="Times New Roman"/>
              </a:rPr>
              <a:t>PART II</a:t>
            </a:r>
          </a:p>
        </p:txBody>
      </p:sp>
      <p:sp>
        <p:nvSpPr>
          <p:cNvPr id="20" name="TextBox 19"/>
          <p:cNvSpPr txBox="1"/>
          <p:nvPr/>
        </p:nvSpPr>
        <p:spPr>
          <a:xfrm>
            <a:off x="2103120" y="3319272"/>
            <a:ext cx="3383280" cy="292608"/>
          </a:xfrm>
          <a:prstGeom prst="rect">
            <a:avLst/>
          </a:prstGeom>
          <a:noFill/>
        </p:spPr>
        <p:txBody>
          <a:bodyPr wrap="square" anchor="t" lIns="0" rIns="0" tIns="0" bIns="0">
            <a:spAutoFit/>
          </a:bodyPr>
          <a:lstStyle/>
          <a:p>
            <a:pPr algn="l"/>
            <a:r>
              <a:rPr sz="1550" b="1" i="0">
                <a:solidFill>
                  <a:srgbClr val="111827"/>
                </a:solidFill>
                <a:latin typeface="Times New Roman"/>
              </a:rPr>
              <a:t>Course Design</a:t>
            </a:r>
          </a:p>
        </p:txBody>
      </p:sp>
      <p:sp>
        <p:nvSpPr>
          <p:cNvPr id="21" name="TextBox 20"/>
          <p:cNvSpPr txBox="1"/>
          <p:nvPr/>
        </p:nvSpPr>
        <p:spPr>
          <a:xfrm>
            <a:off x="5623560" y="3355848"/>
            <a:ext cx="5669280" cy="365760"/>
          </a:xfrm>
          <a:prstGeom prst="rect">
            <a:avLst/>
          </a:prstGeom>
          <a:noFill/>
        </p:spPr>
        <p:txBody>
          <a:bodyPr wrap="square" anchor="t" lIns="0" rIns="0" tIns="0" bIns="0">
            <a:spAutoFit/>
          </a:bodyPr>
          <a:lstStyle/>
          <a:p>
            <a:pPr algn="l">
              <a:lnSpc>
                <a:spcPct val="115000"/>
              </a:lnSpc>
            </a:pPr>
            <a:r>
              <a:rPr sz="1200" b="0" i="0">
                <a:solidFill>
                  <a:srgbClr val="4B5563"/>
                </a:solidFill>
                <a:latin typeface="Times New Roman"/>
              </a:rPr>
              <a:t>Objectives, learning outcomes, assessment, and the ten-week progression</a:t>
            </a:r>
          </a:p>
        </p:txBody>
      </p:sp>
      <p:sp>
        <p:nvSpPr>
          <p:cNvPr id="22" name="Rectangle 21"/>
          <p:cNvSpPr/>
          <p:nvPr/>
        </p:nvSpPr>
        <p:spPr>
          <a:xfrm>
            <a:off x="868680" y="3858768"/>
            <a:ext cx="10424160" cy="10972"/>
          </a:xfrm>
          <a:prstGeom prst="rect">
            <a:avLst/>
          </a:prstGeom>
          <a:solidFill>
            <a:srgbClr val="E2E5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 y="4114800"/>
            <a:ext cx="1078992" cy="457200"/>
          </a:xfrm>
          <a:prstGeom prst="rect">
            <a:avLst/>
          </a:prstGeom>
          <a:solidFill>
            <a:srgbClr val="2A6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8680" y="4229100"/>
            <a:ext cx="1078992" cy="274320"/>
          </a:xfrm>
          <a:prstGeom prst="rect">
            <a:avLst/>
          </a:prstGeom>
          <a:noFill/>
        </p:spPr>
        <p:txBody>
          <a:bodyPr wrap="square" anchor="t" lIns="0" rIns="0" tIns="0" bIns="0">
            <a:spAutoFit/>
          </a:bodyPr>
          <a:lstStyle/>
          <a:p>
            <a:pPr algn="ctr"/>
            <a:r>
              <a:rPr sz="1150" b="1" i="0">
                <a:solidFill>
                  <a:srgbClr val="FFFFFF"/>
                </a:solidFill>
                <a:latin typeface="Times New Roman"/>
              </a:rPr>
              <a:t>PART III</a:t>
            </a:r>
          </a:p>
        </p:txBody>
      </p:sp>
      <p:sp>
        <p:nvSpPr>
          <p:cNvPr id="25" name="TextBox 24"/>
          <p:cNvSpPr txBox="1"/>
          <p:nvPr/>
        </p:nvSpPr>
        <p:spPr>
          <a:xfrm>
            <a:off x="2103120" y="4142232"/>
            <a:ext cx="3383280" cy="292608"/>
          </a:xfrm>
          <a:prstGeom prst="rect">
            <a:avLst/>
          </a:prstGeom>
          <a:noFill/>
        </p:spPr>
        <p:txBody>
          <a:bodyPr wrap="square" anchor="t" lIns="0" rIns="0" tIns="0" bIns="0">
            <a:spAutoFit/>
          </a:bodyPr>
          <a:lstStyle/>
          <a:p>
            <a:pPr algn="l"/>
            <a:r>
              <a:rPr sz="1550" b="1" i="0">
                <a:solidFill>
                  <a:srgbClr val="111827"/>
                </a:solidFill>
                <a:latin typeface="Times New Roman"/>
              </a:rPr>
              <a:t>Intellectual Foundations</a:t>
            </a:r>
          </a:p>
        </p:txBody>
      </p:sp>
      <p:sp>
        <p:nvSpPr>
          <p:cNvPr id="26" name="TextBox 25"/>
          <p:cNvSpPr txBox="1"/>
          <p:nvPr/>
        </p:nvSpPr>
        <p:spPr>
          <a:xfrm>
            <a:off x="5623560" y="4178808"/>
            <a:ext cx="5669280" cy="365760"/>
          </a:xfrm>
          <a:prstGeom prst="rect">
            <a:avLst/>
          </a:prstGeom>
          <a:noFill/>
        </p:spPr>
        <p:txBody>
          <a:bodyPr wrap="square" anchor="t" lIns="0" rIns="0" tIns="0" bIns="0">
            <a:spAutoFit/>
          </a:bodyPr>
          <a:lstStyle/>
          <a:p>
            <a:pPr algn="l">
              <a:lnSpc>
                <a:spcPct val="115000"/>
              </a:lnSpc>
            </a:pPr>
            <a:r>
              <a:rPr sz="1200" b="0" i="0">
                <a:solidFill>
                  <a:srgbClr val="4B5563"/>
                </a:solidFill>
                <a:latin typeface="Times New Roman"/>
              </a:rPr>
              <a:t>Two canons placed in dialogue — classical strategy and contemporary AI research</a:t>
            </a:r>
          </a:p>
        </p:txBody>
      </p:sp>
      <p:sp>
        <p:nvSpPr>
          <p:cNvPr id="27" name="Rectangle 26"/>
          <p:cNvSpPr/>
          <p:nvPr/>
        </p:nvSpPr>
        <p:spPr>
          <a:xfrm>
            <a:off x="868680" y="4681728"/>
            <a:ext cx="10424160" cy="10972"/>
          </a:xfrm>
          <a:prstGeom prst="rect">
            <a:avLst/>
          </a:prstGeom>
          <a:solidFill>
            <a:srgbClr val="E2E5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68680" y="4937760"/>
            <a:ext cx="1078992" cy="457200"/>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68680" y="5052060"/>
            <a:ext cx="1078992" cy="274320"/>
          </a:xfrm>
          <a:prstGeom prst="rect">
            <a:avLst/>
          </a:prstGeom>
          <a:noFill/>
        </p:spPr>
        <p:txBody>
          <a:bodyPr wrap="square" anchor="t" lIns="0" rIns="0" tIns="0" bIns="0">
            <a:spAutoFit/>
          </a:bodyPr>
          <a:lstStyle/>
          <a:p>
            <a:pPr algn="ctr"/>
            <a:r>
              <a:rPr sz="1150" b="1" i="0">
                <a:solidFill>
                  <a:srgbClr val="FFFFFF"/>
                </a:solidFill>
                <a:latin typeface="Times New Roman"/>
              </a:rPr>
              <a:t>PART IV</a:t>
            </a:r>
          </a:p>
        </p:txBody>
      </p:sp>
      <p:sp>
        <p:nvSpPr>
          <p:cNvPr id="30" name="TextBox 29"/>
          <p:cNvSpPr txBox="1"/>
          <p:nvPr/>
        </p:nvSpPr>
        <p:spPr>
          <a:xfrm>
            <a:off x="2103120" y="4965192"/>
            <a:ext cx="3383280" cy="292608"/>
          </a:xfrm>
          <a:prstGeom prst="rect">
            <a:avLst/>
          </a:prstGeom>
          <a:noFill/>
        </p:spPr>
        <p:txBody>
          <a:bodyPr wrap="square" anchor="t" lIns="0" rIns="0" tIns="0" bIns="0">
            <a:spAutoFit/>
          </a:bodyPr>
          <a:lstStyle/>
          <a:p>
            <a:pPr algn="l"/>
            <a:r>
              <a:rPr sz="1550" b="1" i="0">
                <a:solidFill>
                  <a:srgbClr val="111827"/>
                </a:solidFill>
                <a:latin typeface="Times New Roman"/>
              </a:rPr>
              <a:t>The AISE Framework</a:t>
            </a:r>
          </a:p>
        </p:txBody>
      </p:sp>
      <p:sp>
        <p:nvSpPr>
          <p:cNvPr id="31" name="TextBox 30"/>
          <p:cNvSpPr txBox="1"/>
          <p:nvPr/>
        </p:nvSpPr>
        <p:spPr>
          <a:xfrm>
            <a:off x="5623560" y="5001768"/>
            <a:ext cx="5669280" cy="365760"/>
          </a:xfrm>
          <a:prstGeom prst="rect">
            <a:avLst/>
          </a:prstGeom>
          <a:noFill/>
        </p:spPr>
        <p:txBody>
          <a:bodyPr wrap="square" anchor="t" lIns="0" rIns="0" tIns="0" bIns="0">
            <a:spAutoFit/>
          </a:bodyPr>
          <a:lstStyle/>
          <a:p>
            <a:pPr algn="l">
              <a:lnSpc>
                <a:spcPct val="115000"/>
              </a:lnSpc>
            </a:pPr>
            <a:r>
              <a:rPr sz="1200" b="0" i="0">
                <a:solidFill>
                  <a:srgbClr val="4B5563"/>
                </a:solidFill>
                <a:latin typeface="Times New Roman"/>
              </a:rPr>
              <a:t>A seven-stage executive process that organizes every activity in the course</a:t>
            </a:r>
          </a:p>
        </p:txBody>
      </p:sp>
      <p:sp>
        <p:nvSpPr>
          <p:cNvPr id="32" name="Rectangle 31"/>
          <p:cNvSpPr/>
          <p:nvPr/>
        </p:nvSpPr>
        <p:spPr>
          <a:xfrm>
            <a:off x="868680" y="5504688"/>
            <a:ext cx="10424160" cy="10972"/>
          </a:xfrm>
          <a:prstGeom prst="rect">
            <a:avLst/>
          </a:prstGeom>
          <a:solidFill>
            <a:srgbClr val="E2E5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68680" y="5925312"/>
            <a:ext cx="36576" cy="31089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69848" y="5925312"/>
            <a:ext cx="10424160" cy="365760"/>
          </a:xfrm>
          <a:prstGeom prst="rect">
            <a:avLst/>
          </a:prstGeom>
          <a:noFill/>
        </p:spPr>
        <p:txBody>
          <a:bodyPr wrap="square" anchor="ctr" lIns="0" rIns="0" tIns="0" bIns="0">
            <a:spAutoFit/>
          </a:bodyPr>
          <a:lstStyle/>
          <a:p>
            <a:pPr algn="l"/>
            <a:r>
              <a:rPr sz="1350" b="1" i="1">
                <a:solidFill>
                  <a:srgbClr val="10233F"/>
                </a:solidFill>
                <a:latin typeface="Times New Roman"/>
              </a:rPr>
              <a:t>One question runs through all five: how should strategic management evolve in the age of artificial intelligence?</a:t>
            </a:r>
          </a:p>
        </p:txBody>
      </p:sp>
      <p:sp>
        <p:nvSpPr>
          <p:cNvPr id="35" name="TextBox 34"/>
          <p:cNvSpPr txBox="1"/>
          <p:nvPr/>
        </p:nvSpPr>
        <p:spPr>
          <a:xfrm>
            <a:off x="11475720" y="6473952"/>
            <a:ext cx="457200" cy="182880"/>
          </a:xfrm>
          <a:prstGeom prst="rect">
            <a:avLst/>
          </a:prstGeom>
          <a:noFill/>
        </p:spPr>
        <p:txBody>
          <a:bodyPr wrap="square" anchor="t" lIns="0" rIns="0" tIns="0" bIns="0">
            <a:spAutoFit/>
          </a:bodyPr>
          <a:lstStyle/>
          <a:p>
            <a:pPr algn="r"/>
            <a:r>
              <a:rPr sz="800" b="0" i="0">
                <a:solidFill>
                  <a:srgbClr val="9CA3AF"/>
                </a:solidFill>
                <a:latin typeface="Times New Roman"/>
              </a:rPr>
              <a:t>2</a:t>
            </a:r>
          </a:p>
        </p:txBody>
      </p:sp>
      <p:sp>
        <p:nvSpPr>
          <p:cNvPr id="36" name="TextBox 35"/>
          <p:cNvSpPr txBox="1"/>
          <p:nvPr/>
        </p:nvSpPr>
        <p:spPr>
          <a:xfrm>
            <a:off x="502920" y="6473952"/>
            <a:ext cx="6400800" cy="182880"/>
          </a:xfrm>
          <a:prstGeom prst="rect">
            <a:avLst/>
          </a:prstGeom>
          <a:noFill/>
        </p:spPr>
        <p:txBody>
          <a:bodyPr wrap="square" anchor="t" lIns="0" rIns="0" tIns="0" bIns="0">
            <a:spAutoFit/>
          </a:bodyPr>
          <a:lstStyle/>
          <a:p>
            <a:pPr algn="l"/>
            <a:r>
              <a:rPr sz="720" b="0" i="0">
                <a:solidFill>
                  <a:srgbClr val="6B7280"/>
                </a:solidFill>
                <a:latin typeface="Times New Roman"/>
              </a:rPr>
              <a:t>Strategic Management in the Age of AI · MGMT 465/665 · Course Introduction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6858000"/>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51560" y="1828800"/>
            <a:ext cx="5486400" cy="274320"/>
          </a:xfrm>
          <a:prstGeom prst="rect">
            <a:avLst/>
          </a:prstGeom>
          <a:noFill/>
        </p:spPr>
        <p:txBody>
          <a:bodyPr wrap="square" anchor="t" lIns="0" rIns="0" tIns="0" bIns="0">
            <a:spAutoFit/>
          </a:bodyPr>
          <a:lstStyle/>
          <a:p>
            <a:pPr algn="l"/>
            <a:r>
              <a:rPr sz="1200" b="1" i="0">
                <a:solidFill>
                  <a:srgbClr val="D4A017"/>
                </a:solidFill>
                <a:latin typeface="Times New Roman"/>
              </a:rPr>
              <a:t>PART 0</a:t>
            </a:r>
          </a:p>
        </p:txBody>
      </p:sp>
      <p:sp>
        <p:nvSpPr>
          <p:cNvPr id="5" name="TextBox 4"/>
          <p:cNvSpPr txBox="1"/>
          <p:nvPr/>
        </p:nvSpPr>
        <p:spPr>
          <a:xfrm>
            <a:off x="1051560" y="2194560"/>
            <a:ext cx="8412480" cy="1005840"/>
          </a:xfrm>
          <a:prstGeom prst="rect">
            <a:avLst/>
          </a:prstGeom>
          <a:noFill/>
        </p:spPr>
        <p:txBody>
          <a:bodyPr wrap="square" anchor="t" lIns="0" rIns="0" tIns="0" bIns="0">
            <a:spAutoFit/>
          </a:bodyPr>
          <a:lstStyle/>
          <a:p>
            <a:pPr algn="l">
              <a:lnSpc>
                <a:spcPct val="95000"/>
              </a:lnSpc>
            </a:pPr>
            <a:r>
              <a:rPr sz="3800" b="1" i="0">
                <a:solidFill>
                  <a:srgbClr val="FFFFFF"/>
                </a:solidFill>
                <a:latin typeface="Times New Roman"/>
              </a:rPr>
              <a:t>Course Philosophy</a:t>
            </a:r>
          </a:p>
        </p:txBody>
      </p:sp>
      <p:sp>
        <p:nvSpPr>
          <p:cNvPr id="6" name="Rectangle 5"/>
          <p:cNvSpPr/>
          <p:nvPr/>
        </p:nvSpPr>
        <p:spPr>
          <a:xfrm>
            <a:off x="1078992" y="3438144"/>
            <a:ext cx="1371600" cy="32004"/>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3712463"/>
            <a:ext cx="7863840" cy="731520"/>
          </a:xfrm>
          <a:prstGeom prst="rect">
            <a:avLst/>
          </a:prstGeom>
          <a:noFill/>
        </p:spPr>
        <p:txBody>
          <a:bodyPr wrap="square" anchor="t" lIns="0" rIns="0" tIns="0" bIns="0">
            <a:spAutoFit/>
          </a:bodyPr>
          <a:lstStyle/>
          <a:p>
            <a:pPr algn="l">
              <a:lnSpc>
                <a:spcPct val="125000"/>
              </a:lnSpc>
            </a:pPr>
            <a:r>
              <a:rPr sz="1500" b="0" i="1">
                <a:solidFill>
                  <a:srgbClr val="C9D2DE"/>
                </a:solidFill>
                <a:latin typeface="Times New Roman"/>
              </a:rPr>
              <a:t>“The purpose of education is not merely to transmit existing knowledge, but to prepare students to create the knowledge required for the future.”</a:t>
            </a:r>
          </a:p>
        </p:txBody>
      </p:sp>
      <p:sp>
        <p:nvSpPr>
          <p:cNvPr id="8" name="Rectangle 7"/>
          <p:cNvSpPr/>
          <p:nvPr/>
        </p:nvSpPr>
        <p:spPr>
          <a:xfrm>
            <a:off x="1051560" y="4956048"/>
            <a:ext cx="82296" cy="237744"/>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52728" y="4946904"/>
            <a:ext cx="2926080" cy="274320"/>
          </a:xfrm>
          <a:prstGeom prst="rect">
            <a:avLst/>
          </a:prstGeom>
          <a:noFill/>
        </p:spPr>
        <p:txBody>
          <a:bodyPr wrap="square" anchor="t" lIns="0" rIns="0" tIns="0" bIns="0">
            <a:spAutoFit/>
          </a:bodyPr>
          <a:lstStyle/>
          <a:p>
            <a:pPr algn="l"/>
            <a:r>
              <a:rPr sz="1150" b="1" i="0">
                <a:solidFill>
                  <a:srgbClr val="FFFFFF"/>
                </a:solidFill>
                <a:latin typeface="Times New Roman"/>
              </a:rPr>
              <a:t>Why this course exists</a:t>
            </a:r>
          </a:p>
        </p:txBody>
      </p:sp>
      <p:sp>
        <p:nvSpPr>
          <p:cNvPr id="10" name="Rectangle 9"/>
          <p:cNvSpPr/>
          <p:nvPr/>
        </p:nvSpPr>
        <p:spPr>
          <a:xfrm>
            <a:off x="4297679" y="4956048"/>
            <a:ext cx="82296" cy="237744"/>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98847" y="4946904"/>
            <a:ext cx="2926080" cy="274320"/>
          </a:xfrm>
          <a:prstGeom prst="rect">
            <a:avLst/>
          </a:prstGeom>
          <a:noFill/>
        </p:spPr>
        <p:txBody>
          <a:bodyPr wrap="square" anchor="t" lIns="0" rIns="0" tIns="0" bIns="0">
            <a:spAutoFit/>
          </a:bodyPr>
          <a:lstStyle/>
          <a:p>
            <a:pPr algn="l"/>
            <a:r>
              <a:rPr sz="1150" b="1" i="0">
                <a:solidFill>
                  <a:srgbClr val="FFFFFF"/>
                </a:solidFill>
                <a:latin typeface="Times New Roman"/>
              </a:rPr>
              <a:t>The central question</a:t>
            </a:r>
          </a:p>
        </p:txBody>
      </p:sp>
      <p:sp>
        <p:nvSpPr>
          <p:cNvPr id="12" name="Rectangle 11"/>
          <p:cNvSpPr/>
          <p:nvPr/>
        </p:nvSpPr>
        <p:spPr>
          <a:xfrm>
            <a:off x="7543800" y="4956048"/>
            <a:ext cx="82296" cy="237744"/>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44968" y="4946904"/>
            <a:ext cx="2926080" cy="274320"/>
          </a:xfrm>
          <a:prstGeom prst="rect">
            <a:avLst/>
          </a:prstGeom>
          <a:noFill/>
        </p:spPr>
        <p:txBody>
          <a:bodyPr wrap="square" anchor="t" lIns="0" rIns="0" tIns="0" bIns="0">
            <a:spAutoFit/>
          </a:bodyPr>
          <a:lstStyle/>
          <a:p>
            <a:pPr algn="l"/>
            <a:r>
              <a:rPr sz="1150" b="1" i="0">
                <a:solidFill>
                  <a:srgbClr val="FFFFFF"/>
                </a:solidFill>
                <a:latin typeface="Times New Roman"/>
              </a:rPr>
              <a:t>From student to scholar</a:t>
            </a:r>
          </a:p>
        </p:txBody>
      </p:sp>
      <p:sp>
        <p:nvSpPr>
          <p:cNvPr id="14" name="TextBox 13"/>
          <p:cNvSpPr txBox="1"/>
          <p:nvPr/>
        </p:nvSpPr>
        <p:spPr>
          <a:xfrm>
            <a:off x="11475720" y="6473952"/>
            <a:ext cx="457200" cy="182880"/>
          </a:xfrm>
          <a:prstGeom prst="rect">
            <a:avLst/>
          </a:prstGeom>
          <a:noFill/>
        </p:spPr>
        <p:txBody>
          <a:bodyPr wrap="square" anchor="t" lIns="0" rIns="0" tIns="0" bIns="0">
            <a:spAutoFit/>
          </a:bodyPr>
          <a:lstStyle/>
          <a:p>
            <a:pPr algn="r"/>
            <a:r>
              <a:rPr sz="800" b="0" i="0">
                <a:solidFill>
                  <a:srgbClr val="D4A017"/>
                </a:solidFill>
                <a:latin typeface="Times New Roman"/>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969" cy="164592"/>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969" cy="3657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411480"/>
            <a:ext cx="5943600" cy="228600"/>
          </a:xfrm>
          <a:prstGeom prst="rect">
            <a:avLst/>
          </a:prstGeom>
          <a:noFill/>
        </p:spPr>
        <p:txBody>
          <a:bodyPr wrap="square" anchor="t" lIns="0" rIns="0" tIns="0" bIns="0">
            <a:spAutoFit/>
          </a:bodyPr>
          <a:lstStyle/>
          <a:p>
            <a:pPr algn="l"/>
            <a:r>
              <a:rPr sz="850" b="1" i="0">
                <a:solidFill>
                  <a:srgbClr val="2A6F97"/>
                </a:solidFill>
                <a:latin typeface="Times New Roman"/>
              </a:rPr>
              <a:t>PART 0 · WHY THIS COURSE EXISTS</a:t>
            </a:r>
          </a:p>
        </p:txBody>
      </p:sp>
      <p:sp>
        <p:nvSpPr>
          <p:cNvPr id="6" name="TextBox 5"/>
          <p:cNvSpPr txBox="1"/>
          <p:nvPr/>
        </p:nvSpPr>
        <p:spPr>
          <a:xfrm>
            <a:off x="502920" y="640080"/>
            <a:ext cx="9509760" cy="457200"/>
          </a:xfrm>
          <a:prstGeom prst="rect">
            <a:avLst/>
          </a:prstGeom>
          <a:noFill/>
        </p:spPr>
        <p:txBody>
          <a:bodyPr wrap="square" anchor="t" lIns="0" rIns="0" tIns="0" bIns="0">
            <a:spAutoFit/>
          </a:bodyPr>
          <a:lstStyle/>
          <a:p>
            <a:pPr algn="l"/>
            <a:r>
              <a:rPr sz="2400" b="1" i="0">
                <a:solidFill>
                  <a:srgbClr val="111827"/>
                </a:solidFill>
                <a:latin typeface="Times New Roman"/>
              </a:rPr>
              <a:t>Every technological revolution reshapes management</a:t>
            </a:r>
          </a:p>
        </p:txBody>
      </p:sp>
      <p:sp>
        <p:nvSpPr>
          <p:cNvPr id="7" name="Rectangle 6"/>
          <p:cNvSpPr/>
          <p:nvPr/>
        </p:nvSpPr>
        <p:spPr>
          <a:xfrm>
            <a:off x="868680" y="1444752"/>
            <a:ext cx="1901952" cy="749808"/>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41832" y="1444752"/>
            <a:ext cx="1755648" cy="749808"/>
          </a:xfrm>
          <a:prstGeom prst="rect">
            <a:avLst/>
          </a:prstGeom>
          <a:noFill/>
        </p:spPr>
        <p:txBody>
          <a:bodyPr wrap="square" anchor="ctr" lIns="0" rIns="0" tIns="0" bIns="0">
            <a:spAutoFit/>
          </a:bodyPr>
          <a:lstStyle/>
          <a:p>
            <a:pPr algn="ctr">
              <a:lnSpc>
                <a:spcPct val="105000"/>
              </a:lnSpc>
            </a:pPr>
            <a:r>
              <a:rPr sz="1200" b="1" i="0">
                <a:solidFill>
                  <a:srgbClr val="FFFFFF"/>
                </a:solidFill>
                <a:latin typeface="Times New Roman"/>
              </a:rPr>
              <a:t>Industrial
Revolution</a:t>
            </a:r>
          </a:p>
        </p:txBody>
      </p:sp>
      <p:sp>
        <p:nvSpPr>
          <p:cNvPr id="9" name="TextBox 8"/>
          <p:cNvSpPr txBox="1"/>
          <p:nvPr/>
        </p:nvSpPr>
        <p:spPr>
          <a:xfrm>
            <a:off x="2770632" y="1444752"/>
            <a:ext cx="237744" cy="749808"/>
          </a:xfrm>
          <a:prstGeom prst="rect">
            <a:avLst/>
          </a:prstGeom>
          <a:noFill/>
        </p:spPr>
        <p:txBody>
          <a:bodyPr wrap="square" anchor="ctr" lIns="0" rIns="0" tIns="0" bIns="0">
            <a:spAutoFit/>
          </a:bodyPr>
          <a:lstStyle/>
          <a:p>
            <a:pPr algn="ctr"/>
            <a:r>
              <a:rPr sz="1300" b="1" i="0">
                <a:solidFill>
                  <a:srgbClr val="D4A017"/>
                </a:solidFill>
                <a:latin typeface="Times New Roman"/>
              </a:rPr>
              <a:t>❯</a:t>
            </a:r>
          </a:p>
        </p:txBody>
      </p:sp>
      <p:sp>
        <p:nvSpPr>
          <p:cNvPr id="10" name="Rectangle 9"/>
          <p:cNvSpPr/>
          <p:nvPr/>
        </p:nvSpPr>
        <p:spPr>
          <a:xfrm>
            <a:off x="3008376" y="1444752"/>
            <a:ext cx="1901952" cy="749808"/>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81528" y="1444752"/>
            <a:ext cx="1755648" cy="749808"/>
          </a:xfrm>
          <a:prstGeom prst="rect">
            <a:avLst/>
          </a:prstGeom>
          <a:noFill/>
        </p:spPr>
        <p:txBody>
          <a:bodyPr wrap="square" anchor="ctr" lIns="0" rIns="0" tIns="0" bIns="0">
            <a:spAutoFit/>
          </a:bodyPr>
          <a:lstStyle/>
          <a:p>
            <a:pPr algn="ctr">
              <a:lnSpc>
                <a:spcPct val="105000"/>
              </a:lnSpc>
            </a:pPr>
            <a:r>
              <a:rPr sz="1200" b="1" i="0">
                <a:solidFill>
                  <a:srgbClr val="FFFFFF"/>
                </a:solidFill>
                <a:latin typeface="Times New Roman"/>
              </a:rPr>
              <a:t>Electrification</a:t>
            </a:r>
          </a:p>
        </p:txBody>
      </p:sp>
      <p:sp>
        <p:nvSpPr>
          <p:cNvPr id="12" name="TextBox 11"/>
          <p:cNvSpPr txBox="1"/>
          <p:nvPr/>
        </p:nvSpPr>
        <p:spPr>
          <a:xfrm>
            <a:off x="4910328" y="1444752"/>
            <a:ext cx="237744" cy="749808"/>
          </a:xfrm>
          <a:prstGeom prst="rect">
            <a:avLst/>
          </a:prstGeom>
          <a:noFill/>
        </p:spPr>
        <p:txBody>
          <a:bodyPr wrap="square" anchor="ctr" lIns="0" rIns="0" tIns="0" bIns="0">
            <a:spAutoFit/>
          </a:bodyPr>
          <a:lstStyle/>
          <a:p>
            <a:pPr algn="ctr"/>
            <a:r>
              <a:rPr sz="1300" b="1" i="0">
                <a:solidFill>
                  <a:srgbClr val="D4A017"/>
                </a:solidFill>
                <a:latin typeface="Times New Roman"/>
              </a:rPr>
              <a:t>❯</a:t>
            </a:r>
          </a:p>
        </p:txBody>
      </p:sp>
      <p:sp>
        <p:nvSpPr>
          <p:cNvPr id="13" name="Rectangle 12"/>
          <p:cNvSpPr/>
          <p:nvPr/>
        </p:nvSpPr>
        <p:spPr>
          <a:xfrm>
            <a:off x="5148072" y="1444752"/>
            <a:ext cx="1901952" cy="749808"/>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221224" y="1444752"/>
            <a:ext cx="1755648" cy="749808"/>
          </a:xfrm>
          <a:prstGeom prst="rect">
            <a:avLst/>
          </a:prstGeom>
          <a:noFill/>
        </p:spPr>
        <p:txBody>
          <a:bodyPr wrap="square" anchor="ctr" lIns="0" rIns="0" tIns="0" bIns="0">
            <a:spAutoFit/>
          </a:bodyPr>
          <a:lstStyle/>
          <a:p>
            <a:pPr algn="ctr">
              <a:lnSpc>
                <a:spcPct val="105000"/>
              </a:lnSpc>
            </a:pPr>
            <a:r>
              <a:rPr sz="1200" b="1" i="0">
                <a:solidFill>
                  <a:srgbClr val="FFFFFF"/>
                </a:solidFill>
                <a:latin typeface="Times New Roman"/>
              </a:rPr>
              <a:t>The Internet</a:t>
            </a:r>
          </a:p>
        </p:txBody>
      </p:sp>
      <p:sp>
        <p:nvSpPr>
          <p:cNvPr id="15" name="TextBox 14"/>
          <p:cNvSpPr txBox="1"/>
          <p:nvPr/>
        </p:nvSpPr>
        <p:spPr>
          <a:xfrm>
            <a:off x="7050024" y="1444752"/>
            <a:ext cx="237744" cy="749808"/>
          </a:xfrm>
          <a:prstGeom prst="rect">
            <a:avLst/>
          </a:prstGeom>
          <a:noFill/>
        </p:spPr>
        <p:txBody>
          <a:bodyPr wrap="square" anchor="ctr" lIns="0" rIns="0" tIns="0" bIns="0">
            <a:spAutoFit/>
          </a:bodyPr>
          <a:lstStyle/>
          <a:p>
            <a:pPr algn="ctr"/>
            <a:r>
              <a:rPr sz="1300" b="1" i="0">
                <a:solidFill>
                  <a:srgbClr val="D4A017"/>
                </a:solidFill>
                <a:latin typeface="Times New Roman"/>
              </a:rPr>
              <a:t>❯</a:t>
            </a:r>
          </a:p>
        </p:txBody>
      </p:sp>
      <p:sp>
        <p:nvSpPr>
          <p:cNvPr id="16" name="Rectangle 15"/>
          <p:cNvSpPr/>
          <p:nvPr/>
        </p:nvSpPr>
        <p:spPr>
          <a:xfrm>
            <a:off x="7287768" y="1444752"/>
            <a:ext cx="1901952" cy="749808"/>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60919" y="1444752"/>
            <a:ext cx="1755648" cy="749808"/>
          </a:xfrm>
          <a:prstGeom prst="rect">
            <a:avLst/>
          </a:prstGeom>
          <a:noFill/>
        </p:spPr>
        <p:txBody>
          <a:bodyPr wrap="square" anchor="ctr" lIns="0" rIns="0" tIns="0" bIns="0">
            <a:spAutoFit/>
          </a:bodyPr>
          <a:lstStyle/>
          <a:p>
            <a:pPr algn="ctr">
              <a:lnSpc>
                <a:spcPct val="105000"/>
              </a:lnSpc>
            </a:pPr>
            <a:r>
              <a:rPr sz="1200" b="1" i="0">
                <a:solidFill>
                  <a:srgbClr val="FFFFFF"/>
                </a:solidFill>
                <a:latin typeface="Times New Roman"/>
              </a:rPr>
              <a:t>Cloud
Computing</a:t>
            </a:r>
          </a:p>
        </p:txBody>
      </p:sp>
      <p:sp>
        <p:nvSpPr>
          <p:cNvPr id="18" name="TextBox 17"/>
          <p:cNvSpPr txBox="1"/>
          <p:nvPr/>
        </p:nvSpPr>
        <p:spPr>
          <a:xfrm>
            <a:off x="9189720" y="1444752"/>
            <a:ext cx="237744" cy="749808"/>
          </a:xfrm>
          <a:prstGeom prst="rect">
            <a:avLst/>
          </a:prstGeom>
          <a:noFill/>
        </p:spPr>
        <p:txBody>
          <a:bodyPr wrap="square" anchor="ctr" lIns="0" rIns="0" tIns="0" bIns="0">
            <a:spAutoFit/>
          </a:bodyPr>
          <a:lstStyle/>
          <a:p>
            <a:pPr algn="ctr"/>
            <a:r>
              <a:rPr sz="1300" b="1" i="0">
                <a:solidFill>
                  <a:srgbClr val="D4A017"/>
                </a:solidFill>
                <a:latin typeface="Times New Roman"/>
              </a:rPr>
              <a:t>❯</a:t>
            </a:r>
          </a:p>
        </p:txBody>
      </p:sp>
      <p:sp>
        <p:nvSpPr>
          <p:cNvPr id="19" name="Rectangle 18"/>
          <p:cNvSpPr/>
          <p:nvPr/>
        </p:nvSpPr>
        <p:spPr>
          <a:xfrm>
            <a:off x="9427463" y="1444752"/>
            <a:ext cx="1901952" cy="749808"/>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500615" y="1444752"/>
            <a:ext cx="1755648" cy="749808"/>
          </a:xfrm>
          <a:prstGeom prst="rect">
            <a:avLst/>
          </a:prstGeom>
          <a:noFill/>
        </p:spPr>
        <p:txBody>
          <a:bodyPr wrap="square" anchor="ctr" lIns="0" rIns="0" tIns="0" bIns="0">
            <a:spAutoFit/>
          </a:bodyPr>
          <a:lstStyle/>
          <a:p>
            <a:pPr algn="ctr">
              <a:lnSpc>
                <a:spcPct val="105000"/>
              </a:lnSpc>
            </a:pPr>
            <a:r>
              <a:rPr sz="1200" b="1" i="0">
                <a:solidFill>
                  <a:srgbClr val="10233F"/>
                </a:solidFill>
                <a:latin typeface="Times New Roman"/>
              </a:rPr>
              <a:t>Artificial
Intelligence</a:t>
            </a:r>
          </a:p>
        </p:txBody>
      </p:sp>
      <p:sp>
        <p:nvSpPr>
          <p:cNvPr id="21" name="Rectangle 20"/>
          <p:cNvSpPr/>
          <p:nvPr/>
        </p:nvSpPr>
        <p:spPr>
          <a:xfrm>
            <a:off x="868680" y="2542032"/>
            <a:ext cx="5047488" cy="3127248"/>
          </a:xfrm>
          <a:prstGeom prst="rect">
            <a:avLst/>
          </a:prstGeom>
          <a:solidFill>
            <a:srgbClr val="F6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68680" y="2542032"/>
            <a:ext cx="5047488" cy="41148"/>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24127" y="2734056"/>
            <a:ext cx="4736592" cy="2816352"/>
          </a:xfrm>
          <a:prstGeom prst="rect">
            <a:avLst/>
          </a:prstGeom>
          <a:noFill/>
        </p:spPr>
        <p:txBody>
          <a:bodyPr wrap="square" anchor="t" lIns="0" rIns="0" tIns="0" bIns="0">
            <a:spAutoFit/>
          </a:bodyPr>
          <a:lstStyle/>
          <a:p>
            <a:pPr algn="l">
              <a:lnSpc>
                <a:spcPct val="105000"/>
              </a:lnSpc>
              <a:spcAft>
                <a:spcPts val="500"/>
              </a:spcAft>
            </a:pPr>
            <a:r>
              <a:rPr sz="1300" b="1" i="0">
                <a:solidFill>
                  <a:srgbClr val="10233F"/>
                </a:solidFill>
                <a:latin typeface="Times New Roman"/>
              </a:rPr>
              <a:t>What has not changed</a:t>
            </a:r>
          </a:p>
          <a:p>
            <a:pPr algn="l">
              <a:lnSpc>
                <a:spcPct val="130000"/>
              </a:lnSpc>
              <a:spcAft>
                <a:spcPts val="300"/>
              </a:spcAft>
            </a:pPr>
            <a:r>
              <a:rPr sz="1250" b="0" i="0">
                <a:solidFill>
                  <a:srgbClr val="111827"/>
                </a:solidFill>
                <a:latin typeface="Times New Roman"/>
              </a:rPr>
              <a:t>Strategy still concerns the creation of value under uncertainty.</a:t>
            </a:r>
          </a:p>
          <a:p>
            <a:pPr algn="l">
              <a:lnSpc>
                <a:spcPct val="130000"/>
              </a:lnSpc>
              <a:spcAft>
                <a:spcPts val="300"/>
              </a:spcAft>
            </a:pPr>
            <a:r>
              <a:rPr sz="1250" b="0" i="0">
                <a:solidFill>
                  <a:srgbClr val="111827"/>
                </a:solidFill>
                <a:latin typeface="Times New Roman"/>
              </a:rPr>
              <a:t>Some organizations still consistently outperform others.</a:t>
            </a:r>
          </a:p>
          <a:p>
            <a:pPr algn="l">
              <a:lnSpc>
                <a:spcPct val="130000"/>
              </a:lnSpc>
              <a:spcAft>
                <a:spcPts val="300"/>
              </a:spcAft>
            </a:pPr>
            <a:r>
              <a:rPr sz="1250" b="0" i="0">
                <a:solidFill>
                  <a:srgbClr val="111827"/>
                </a:solidFill>
                <a:latin typeface="Times New Roman"/>
              </a:rPr>
              <a:t>Managers must still choose what to do — and what not to do.</a:t>
            </a:r>
          </a:p>
          <a:p>
            <a:pPr algn="l">
              <a:lnSpc>
                <a:spcPct val="130000"/>
              </a:lnSpc>
              <a:spcAft>
                <a:spcPts val="300"/>
              </a:spcAft>
            </a:pPr>
            <a:r>
              <a:rPr sz="1250" b="0" i="0">
                <a:solidFill>
                  <a:srgbClr val="111827"/>
                </a:solidFill>
                <a:latin typeface="Times New Roman"/>
              </a:rPr>
              <a:t/>
            </a:r>
          </a:p>
          <a:p>
            <a:pPr algn="l">
              <a:lnSpc>
                <a:spcPct val="130000"/>
              </a:lnSpc>
              <a:spcAft>
                <a:spcPts val="300"/>
              </a:spcAft>
            </a:pPr>
            <a:r>
              <a:rPr sz="1250" b="0" i="0">
                <a:solidFill>
                  <a:srgbClr val="111827"/>
                </a:solidFill>
                <a:latin typeface="Times New Roman"/>
              </a:rPr>
              <a:t>Fifty years of scholarship still explain why: industry structure, competitive positioning, resources, capabilities, learning, knowledge, governance, and leadership.</a:t>
            </a:r>
          </a:p>
        </p:txBody>
      </p:sp>
      <p:sp>
        <p:nvSpPr>
          <p:cNvPr id="24" name="Rectangle 23"/>
          <p:cNvSpPr/>
          <p:nvPr/>
        </p:nvSpPr>
        <p:spPr>
          <a:xfrm>
            <a:off x="6245352" y="2542032"/>
            <a:ext cx="5047488" cy="3127248"/>
          </a:xfrm>
          <a:prstGeom prst="rect">
            <a:avLst/>
          </a:prstGeom>
          <a:solidFill>
            <a:srgbClr val="EA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245352" y="2542032"/>
            <a:ext cx="5047488" cy="41148"/>
          </a:xfrm>
          <a:prstGeom prst="rect">
            <a:avLst/>
          </a:prstGeom>
          <a:solidFill>
            <a:srgbClr val="2A6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0" y="2734056"/>
            <a:ext cx="4736592" cy="2816352"/>
          </a:xfrm>
          <a:prstGeom prst="rect">
            <a:avLst/>
          </a:prstGeom>
          <a:noFill/>
        </p:spPr>
        <p:txBody>
          <a:bodyPr wrap="square" anchor="t" lIns="0" rIns="0" tIns="0" bIns="0">
            <a:spAutoFit/>
          </a:bodyPr>
          <a:lstStyle/>
          <a:p>
            <a:pPr algn="l">
              <a:lnSpc>
                <a:spcPct val="105000"/>
              </a:lnSpc>
              <a:spcAft>
                <a:spcPts val="500"/>
              </a:spcAft>
            </a:pPr>
            <a:r>
              <a:rPr sz="1300" b="1" i="0">
                <a:solidFill>
                  <a:srgbClr val="10233F"/>
                </a:solidFill>
                <a:latin typeface="Times New Roman"/>
              </a:rPr>
              <a:t>What artificial intelligence changes</a:t>
            </a:r>
          </a:p>
          <a:p>
            <a:pPr algn="l">
              <a:lnSpc>
                <a:spcPct val="130000"/>
              </a:lnSpc>
              <a:spcAft>
                <a:spcPts val="300"/>
              </a:spcAft>
            </a:pPr>
            <a:r>
              <a:rPr sz="1250" b="0" i="0">
                <a:solidFill>
                  <a:srgbClr val="111827"/>
                </a:solidFill>
                <a:latin typeface="Times New Roman"/>
              </a:rPr>
              <a:t>Managers no longer decide using only human expertise.</a:t>
            </a:r>
          </a:p>
          <a:p>
            <a:pPr algn="l">
              <a:lnSpc>
                <a:spcPct val="130000"/>
              </a:lnSpc>
              <a:spcAft>
                <a:spcPts val="300"/>
              </a:spcAft>
            </a:pPr>
            <a:r>
              <a:rPr sz="1250" b="0" i="0">
                <a:solidFill>
                  <a:srgbClr val="111827"/>
                </a:solidFill>
                <a:latin typeface="Times New Roman"/>
              </a:rPr>
              <a:t>Knowledge is no longer created exclusively by people.</a:t>
            </a:r>
          </a:p>
          <a:p>
            <a:pPr algn="l">
              <a:lnSpc>
                <a:spcPct val="130000"/>
              </a:lnSpc>
              <a:spcAft>
                <a:spcPts val="300"/>
              </a:spcAft>
            </a:pPr>
            <a:r>
              <a:rPr sz="1250" b="0" i="0">
                <a:solidFill>
                  <a:srgbClr val="111827"/>
                </a:solidFill>
                <a:latin typeface="Times New Roman"/>
              </a:rPr>
              <a:t>Advantage increasingly rests on data, algorithms, platforms, intelligent automation, and human–AI collaboration.</a:t>
            </a:r>
          </a:p>
          <a:p>
            <a:pPr algn="l">
              <a:lnSpc>
                <a:spcPct val="130000"/>
              </a:lnSpc>
              <a:spcAft>
                <a:spcPts val="300"/>
              </a:spcAft>
            </a:pPr>
            <a:r>
              <a:rPr sz="1250" b="0" i="0">
                <a:solidFill>
                  <a:srgbClr val="111827"/>
                </a:solidFill>
                <a:latin typeface="Times New Roman"/>
              </a:rPr>
              <a:t/>
            </a:r>
          </a:p>
          <a:p>
            <a:pPr algn="l">
              <a:lnSpc>
                <a:spcPct val="130000"/>
              </a:lnSpc>
              <a:spcAft>
                <a:spcPts val="300"/>
              </a:spcAft>
            </a:pPr>
            <a:r>
              <a:rPr sz="1250" b="0" i="0">
                <a:solidFill>
                  <a:srgbClr val="111827"/>
                </a:solidFill>
                <a:latin typeface="Times New Roman"/>
              </a:rPr>
              <a:t>AI changes not only how organizations execute strategy — it challenges how strategy itself should be understood.</a:t>
            </a:r>
          </a:p>
        </p:txBody>
      </p:sp>
      <p:sp>
        <p:nvSpPr>
          <p:cNvPr id="27" name="Rectangle 26"/>
          <p:cNvSpPr/>
          <p:nvPr/>
        </p:nvSpPr>
        <p:spPr>
          <a:xfrm>
            <a:off x="868680" y="5870448"/>
            <a:ext cx="36576" cy="31089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69848" y="5870448"/>
            <a:ext cx="10424160" cy="365760"/>
          </a:xfrm>
          <a:prstGeom prst="rect">
            <a:avLst/>
          </a:prstGeom>
          <a:noFill/>
        </p:spPr>
        <p:txBody>
          <a:bodyPr wrap="square" anchor="ctr" lIns="0" rIns="0" tIns="0" bIns="0">
            <a:spAutoFit/>
          </a:bodyPr>
          <a:lstStyle/>
          <a:p>
            <a:pPr algn="l"/>
            <a:r>
              <a:rPr sz="1350" b="1" i="1">
                <a:solidFill>
                  <a:srgbClr val="10233F"/>
                </a:solidFill>
                <a:latin typeface="Times New Roman"/>
              </a:rPr>
              <a:t>Organizations have changed dramatically. The theoretical foundations of strategic management have evolved more slowly.</a:t>
            </a:r>
          </a:p>
        </p:txBody>
      </p:sp>
      <p:sp>
        <p:nvSpPr>
          <p:cNvPr id="29" name="TextBox 28"/>
          <p:cNvSpPr txBox="1"/>
          <p:nvPr/>
        </p:nvSpPr>
        <p:spPr>
          <a:xfrm>
            <a:off x="11475720" y="6473952"/>
            <a:ext cx="457200" cy="182880"/>
          </a:xfrm>
          <a:prstGeom prst="rect">
            <a:avLst/>
          </a:prstGeom>
          <a:noFill/>
        </p:spPr>
        <p:txBody>
          <a:bodyPr wrap="square" anchor="t" lIns="0" rIns="0" tIns="0" bIns="0">
            <a:spAutoFit/>
          </a:bodyPr>
          <a:lstStyle/>
          <a:p>
            <a:pPr algn="r"/>
            <a:r>
              <a:rPr sz="800" b="0" i="0">
                <a:solidFill>
                  <a:srgbClr val="9CA3AF"/>
                </a:solidFill>
                <a:latin typeface="Times New Roman"/>
              </a:rPr>
              <a:t>4</a:t>
            </a:r>
          </a:p>
        </p:txBody>
      </p:sp>
      <p:sp>
        <p:nvSpPr>
          <p:cNvPr id="30" name="TextBox 29"/>
          <p:cNvSpPr txBox="1"/>
          <p:nvPr/>
        </p:nvSpPr>
        <p:spPr>
          <a:xfrm>
            <a:off x="502920" y="6473952"/>
            <a:ext cx="6400800" cy="182880"/>
          </a:xfrm>
          <a:prstGeom prst="rect">
            <a:avLst/>
          </a:prstGeom>
          <a:noFill/>
        </p:spPr>
        <p:txBody>
          <a:bodyPr wrap="square" anchor="t" lIns="0" rIns="0" tIns="0" bIns="0">
            <a:spAutoFit/>
          </a:bodyPr>
          <a:lstStyle/>
          <a:p>
            <a:pPr algn="l"/>
            <a:r>
              <a:rPr sz="720" b="0" i="0">
                <a:solidFill>
                  <a:srgbClr val="6B7280"/>
                </a:solidFill>
                <a:latin typeface="Times New Roman"/>
              </a:rPr>
              <a:t>Strategic Management in the Age of AI · MGMT 465/665 · Course Introduction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969" cy="164592"/>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969" cy="3657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411480"/>
            <a:ext cx="5943600" cy="228600"/>
          </a:xfrm>
          <a:prstGeom prst="rect">
            <a:avLst/>
          </a:prstGeom>
          <a:noFill/>
        </p:spPr>
        <p:txBody>
          <a:bodyPr wrap="square" anchor="t" lIns="0" rIns="0" tIns="0" bIns="0">
            <a:spAutoFit/>
          </a:bodyPr>
          <a:lstStyle/>
          <a:p>
            <a:pPr algn="l"/>
            <a:r>
              <a:rPr sz="850" b="1" i="0">
                <a:solidFill>
                  <a:srgbClr val="2A6F97"/>
                </a:solidFill>
                <a:latin typeface="Times New Roman"/>
              </a:rPr>
              <a:t>PART 0 · WHY THIS COURSE EXISTS</a:t>
            </a:r>
          </a:p>
        </p:txBody>
      </p:sp>
      <p:sp>
        <p:nvSpPr>
          <p:cNvPr id="6" name="TextBox 5"/>
          <p:cNvSpPr txBox="1"/>
          <p:nvPr/>
        </p:nvSpPr>
        <p:spPr>
          <a:xfrm>
            <a:off x="502920" y="640080"/>
            <a:ext cx="9509760" cy="457200"/>
          </a:xfrm>
          <a:prstGeom prst="rect">
            <a:avLst/>
          </a:prstGeom>
          <a:noFill/>
        </p:spPr>
        <p:txBody>
          <a:bodyPr wrap="square" anchor="t" lIns="0" rIns="0" tIns="0" bIns="0">
            <a:spAutoFit/>
          </a:bodyPr>
          <a:lstStyle/>
          <a:p>
            <a:pPr algn="l"/>
            <a:r>
              <a:rPr sz="2400" b="1" i="0">
                <a:solidFill>
                  <a:srgbClr val="111827"/>
                </a:solidFill>
                <a:latin typeface="Times New Roman"/>
              </a:rPr>
              <a:t>The economics of strategy have shifted</a:t>
            </a:r>
          </a:p>
        </p:txBody>
      </p:sp>
      <p:sp>
        <p:nvSpPr>
          <p:cNvPr id="7" name="TextBox 6"/>
          <p:cNvSpPr txBox="1"/>
          <p:nvPr/>
        </p:nvSpPr>
        <p:spPr>
          <a:xfrm>
            <a:off x="502920" y="1106424"/>
            <a:ext cx="10698480" cy="274320"/>
          </a:xfrm>
          <a:prstGeom prst="rect">
            <a:avLst/>
          </a:prstGeom>
          <a:noFill/>
        </p:spPr>
        <p:txBody>
          <a:bodyPr wrap="square" anchor="t" lIns="0" rIns="0" tIns="0" bIns="0">
            <a:spAutoFit/>
          </a:bodyPr>
          <a:lstStyle/>
          <a:p>
            <a:pPr algn="l"/>
            <a:r>
              <a:rPr sz="1250" b="0" i="1">
                <a:solidFill>
                  <a:srgbClr val="4B5563"/>
                </a:solidFill>
                <a:latin typeface="Times New Roman"/>
              </a:rPr>
              <a:t>AI changes the cost of information, experimentation, and judgment itself.</a:t>
            </a:r>
          </a:p>
        </p:txBody>
      </p:sp>
      <p:sp>
        <p:nvSpPr>
          <p:cNvPr id="8" name="Rectangle 7"/>
          <p:cNvSpPr/>
          <p:nvPr/>
        </p:nvSpPr>
        <p:spPr>
          <a:xfrm>
            <a:off x="868680" y="1627632"/>
            <a:ext cx="10424160" cy="118872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68680" y="1627632"/>
            <a:ext cx="41148" cy="1188720"/>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15568" y="1792224"/>
            <a:ext cx="2377440" cy="365760"/>
          </a:xfrm>
          <a:prstGeom prst="rect">
            <a:avLst/>
          </a:prstGeom>
          <a:noFill/>
        </p:spPr>
        <p:txBody>
          <a:bodyPr wrap="square" anchor="t" lIns="0" rIns="0" tIns="0" bIns="0">
            <a:spAutoFit/>
          </a:bodyPr>
          <a:lstStyle/>
          <a:p>
            <a:pPr algn="l"/>
            <a:r>
              <a:rPr sz="1500" b="1" i="0">
                <a:solidFill>
                  <a:srgbClr val="10233F"/>
                </a:solidFill>
                <a:latin typeface="Times New Roman"/>
              </a:rPr>
              <a:t>Information</a:t>
            </a:r>
          </a:p>
        </p:txBody>
      </p:sp>
      <p:sp>
        <p:nvSpPr>
          <p:cNvPr id="11" name="TextBox 10"/>
          <p:cNvSpPr txBox="1"/>
          <p:nvPr/>
        </p:nvSpPr>
        <p:spPr>
          <a:xfrm>
            <a:off x="1115568" y="2194560"/>
            <a:ext cx="2377440" cy="274320"/>
          </a:xfrm>
          <a:prstGeom prst="rect">
            <a:avLst/>
          </a:prstGeom>
          <a:noFill/>
        </p:spPr>
        <p:txBody>
          <a:bodyPr wrap="square" anchor="t" lIns="0" rIns="0" tIns="0" bIns="0">
            <a:spAutoFit/>
          </a:bodyPr>
          <a:lstStyle/>
          <a:p>
            <a:pPr algn="l"/>
            <a:r>
              <a:rPr sz="850" b="1" i="0">
                <a:solidFill>
                  <a:srgbClr val="6B7280"/>
                </a:solidFill>
                <a:latin typeface="Times New Roman"/>
              </a:rPr>
              <a:t>ONCE</a:t>
            </a:r>
          </a:p>
        </p:txBody>
      </p:sp>
      <p:sp>
        <p:nvSpPr>
          <p:cNvPr id="12" name="TextBox 11"/>
          <p:cNvSpPr txBox="1"/>
          <p:nvPr/>
        </p:nvSpPr>
        <p:spPr>
          <a:xfrm>
            <a:off x="3611880" y="1828800"/>
            <a:ext cx="3429000" cy="822960"/>
          </a:xfrm>
          <a:prstGeom prst="rect">
            <a:avLst/>
          </a:prstGeom>
          <a:noFill/>
        </p:spPr>
        <p:txBody>
          <a:bodyPr wrap="square" anchor="ctr" lIns="0" rIns="0" tIns="0" bIns="0">
            <a:spAutoFit/>
          </a:bodyPr>
          <a:lstStyle/>
          <a:p>
            <a:pPr algn="l">
              <a:lnSpc>
                <a:spcPct val="120000"/>
              </a:lnSpc>
            </a:pPr>
            <a:r>
              <a:rPr sz="1250" b="0" i="0">
                <a:solidFill>
                  <a:srgbClr val="4B5563"/>
                </a:solidFill>
                <a:latin typeface="Times New Roman"/>
              </a:rPr>
              <a:t>Weeks of collection and analysis</a:t>
            </a:r>
          </a:p>
        </p:txBody>
      </p:sp>
      <p:sp>
        <p:nvSpPr>
          <p:cNvPr id="13" name="TextBox 12"/>
          <p:cNvSpPr txBox="1"/>
          <p:nvPr/>
        </p:nvSpPr>
        <p:spPr>
          <a:xfrm>
            <a:off x="7086600" y="1828800"/>
            <a:ext cx="457200" cy="822960"/>
          </a:xfrm>
          <a:prstGeom prst="rect">
            <a:avLst/>
          </a:prstGeom>
          <a:noFill/>
        </p:spPr>
        <p:txBody>
          <a:bodyPr wrap="square" anchor="ctr" lIns="0" rIns="0" tIns="0" bIns="0">
            <a:spAutoFit/>
          </a:bodyPr>
          <a:lstStyle/>
          <a:p>
            <a:pPr algn="ctr"/>
            <a:r>
              <a:rPr sz="1800" b="1" i="0">
                <a:solidFill>
                  <a:srgbClr val="D4A017"/>
                </a:solidFill>
                <a:latin typeface="Times New Roman"/>
              </a:rPr>
              <a:t>→</a:t>
            </a:r>
          </a:p>
        </p:txBody>
      </p:sp>
      <p:sp>
        <p:nvSpPr>
          <p:cNvPr id="14" name="TextBox 13"/>
          <p:cNvSpPr txBox="1"/>
          <p:nvPr/>
        </p:nvSpPr>
        <p:spPr>
          <a:xfrm>
            <a:off x="7699248" y="1828800"/>
            <a:ext cx="3429000" cy="822960"/>
          </a:xfrm>
          <a:prstGeom prst="rect">
            <a:avLst/>
          </a:prstGeom>
          <a:noFill/>
        </p:spPr>
        <p:txBody>
          <a:bodyPr wrap="square" anchor="ctr" lIns="0" rIns="0" tIns="0" bIns="0">
            <a:spAutoFit/>
          </a:bodyPr>
          <a:lstStyle/>
          <a:p>
            <a:pPr algn="l">
              <a:lnSpc>
                <a:spcPct val="120000"/>
              </a:lnSpc>
            </a:pPr>
            <a:r>
              <a:rPr sz="1250" b="1" i="0">
                <a:solidFill>
                  <a:srgbClr val="111827"/>
                </a:solidFill>
                <a:latin typeface="Times New Roman"/>
              </a:rPr>
              <a:t>Synthesis within minutes</a:t>
            </a:r>
          </a:p>
        </p:txBody>
      </p:sp>
      <p:sp>
        <p:nvSpPr>
          <p:cNvPr id="15" name="Rectangle 14"/>
          <p:cNvSpPr/>
          <p:nvPr/>
        </p:nvSpPr>
        <p:spPr>
          <a:xfrm>
            <a:off x="868680" y="2944368"/>
            <a:ext cx="10424160" cy="11887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68680" y="2944368"/>
            <a:ext cx="41148" cy="1188720"/>
          </a:xfrm>
          <a:prstGeom prst="rect">
            <a:avLst/>
          </a:prstGeom>
          <a:solidFill>
            <a:srgbClr val="2A6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15568" y="3108960"/>
            <a:ext cx="2377440" cy="365760"/>
          </a:xfrm>
          <a:prstGeom prst="rect">
            <a:avLst/>
          </a:prstGeom>
          <a:noFill/>
        </p:spPr>
        <p:txBody>
          <a:bodyPr wrap="square" anchor="t" lIns="0" rIns="0" tIns="0" bIns="0">
            <a:spAutoFit/>
          </a:bodyPr>
          <a:lstStyle/>
          <a:p>
            <a:pPr algn="l"/>
            <a:r>
              <a:rPr sz="1500" b="1" i="0">
                <a:solidFill>
                  <a:srgbClr val="10233F"/>
                </a:solidFill>
                <a:latin typeface="Times New Roman"/>
              </a:rPr>
              <a:t>Experimentation</a:t>
            </a:r>
          </a:p>
        </p:txBody>
      </p:sp>
      <p:sp>
        <p:nvSpPr>
          <p:cNvPr id="18" name="TextBox 17"/>
          <p:cNvSpPr txBox="1"/>
          <p:nvPr/>
        </p:nvSpPr>
        <p:spPr>
          <a:xfrm>
            <a:off x="1115568" y="3511296"/>
            <a:ext cx="2377440" cy="274320"/>
          </a:xfrm>
          <a:prstGeom prst="rect">
            <a:avLst/>
          </a:prstGeom>
          <a:noFill/>
        </p:spPr>
        <p:txBody>
          <a:bodyPr wrap="square" anchor="t" lIns="0" rIns="0" tIns="0" bIns="0">
            <a:spAutoFit/>
          </a:bodyPr>
          <a:lstStyle/>
          <a:p>
            <a:pPr algn="l"/>
            <a:r>
              <a:rPr sz="850" b="1" i="0">
                <a:solidFill>
                  <a:srgbClr val="6B7280"/>
                </a:solidFill>
                <a:latin typeface="Times New Roman"/>
              </a:rPr>
              <a:t>ONCE</a:t>
            </a:r>
          </a:p>
        </p:txBody>
      </p:sp>
      <p:sp>
        <p:nvSpPr>
          <p:cNvPr id="19" name="TextBox 18"/>
          <p:cNvSpPr txBox="1"/>
          <p:nvPr/>
        </p:nvSpPr>
        <p:spPr>
          <a:xfrm>
            <a:off x="3611880" y="3145536"/>
            <a:ext cx="3429000" cy="822960"/>
          </a:xfrm>
          <a:prstGeom prst="rect">
            <a:avLst/>
          </a:prstGeom>
          <a:noFill/>
        </p:spPr>
        <p:txBody>
          <a:bodyPr wrap="square" anchor="ctr" lIns="0" rIns="0" tIns="0" bIns="0">
            <a:spAutoFit/>
          </a:bodyPr>
          <a:lstStyle/>
          <a:p>
            <a:pPr algn="l">
              <a:lnSpc>
                <a:spcPct val="120000"/>
              </a:lnSpc>
            </a:pPr>
            <a:r>
              <a:rPr sz="1250" b="0" i="0">
                <a:solidFill>
                  <a:srgbClr val="4B5563"/>
                </a:solidFill>
                <a:latin typeface="Times New Roman"/>
              </a:rPr>
              <a:t>Significant financial investment</a:t>
            </a:r>
          </a:p>
        </p:txBody>
      </p:sp>
      <p:sp>
        <p:nvSpPr>
          <p:cNvPr id="20" name="TextBox 19"/>
          <p:cNvSpPr txBox="1"/>
          <p:nvPr/>
        </p:nvSpPr>
        <p:spPr>
          <a:xfrm>
            <a:off x="7086600" y="3145536"/>
            <a:ext cx="457200" cy="822960"/>
          </a:xfrm>
          <a:prstGeom prst="rect">
            <a:avLst/>
          </a:prstGeom>
          <a:noFill/>
        </p:spPr>
        <p:txBody>
          <a:bodyPr wrap="square" anchor="ctr" lIns="0" rIns="0" tIns="0" bIns="0">
            <a:spAutoFit/>
          </a:bodyPr>
          <a:lstStyle/>
          <a:p>
            <a:pPr algn="ctr"/>
            <a:r>
              <a:rPr sz="1800" b="1" i="0">
                <a:solidFill>
                  <a:srgbClr val="D4A017"/>
                </a:solidFill>
                <a:latin typeface="Times New Roman"/>
              </a:rPr>
              <a:t>→</a:t>
            </a:r>
          </a:p>
        </p:txBody>
      </p:sp>
      <p:sp>
        <p:nvSpPr>
          <p:cNvPr id="21" name="TextBox 20"/>
          <p:cNvSpPr txBox="1"/>
          <p:nvPr/>
        </p:nvSpPr>
        <p:spPr>
          <a:xfrm>
            <a:off x="7699248" y="3145536"/>
            <a:ext cx="3429000" cy="822960"/>
          </a:xfrm>
          <a:prstGeom prst="rect">
            <a:avLst/>
          </a:prstGeom>
          <a:noFill/>
        </p:spPr>
        <p:txBody>
          <a:bodyPr wrap="square" anchor="ctr" lIns="0" rIns="0" tIns="0" bIns="0">
            <a:spAutoFit/>
          </a:bodyPr>
          <a:lstStyle/>
          <a:p>
            <a:pPr algn="l">
              <a:lnSpc>
                <a:spcPct val="120000"/>
              </a:lnSpc>
            </a:pPr>
            <a:r>
              <a:rPr sz="1250" b="1" i="0">
                <a:solidFill>
                  <a:srgbClr val="111827"/>
                </a:solidFill>
                <a:latin typeface="Times New Roman"/>
              </a:rPr>
              <a:t>Computational simulation</a:t>
            </a:r>
          </a:p>
        </p:txBody>
      </p:sp>
      <p:sp>
        <p:nvSpPr>
          <p:cNvPr id="22" name="Rectangle 21"/>
          <p:cNvSpPr/>
          <p:nvPr/>
        </p:nvSpPr>
        <p:spPr>
          <a:xfrm>
            <a:off x="868680" y="4261104"/>
            <a:ext cx="10424160" cy="118872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 y="4261104"/>
            <a:ext cx="41148" cy="1188720"/>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115568" y="4425696"/>
            <a:ext cx="2377440" cy="365760"/>
          </a:xfrm>
          <a:prstGeom prst="rect">
            <a:avLst/>
          </a:prstGeom>
          <a:noFill/>
        </p:spPr>
        <p:txBody>
          <a:bodyPr wrap="square" anchor="t" lIns="0" rIns="0" tIns="0" bIns="0">
            <a:spAutoFit/>
          </a:bodyPr>
          <a:lstStyle/>
          <a:p>
            <a:pPr algn="l"/>
            <a:r>
              <a:rPr sz="1500" b="1" i="0">
                <a:solidFill>
                  <a:srgbClr val="10233F"/>
                </a:solidFill>
                <a:latin typeface="Times New Roman"/>
              </a:rPr>
              <a:t>Decision support</a:t>
            </a:r>
          </a:p>
        </p:txBody>
      </p:sp>
      <p:sp>
        <p:nvSpPr>
          <p:cNvPr id="25" name="TextBox 24"/>
          <p:cNvSpPr txBox="1"/>
          <p:nvPr/>
        </p:nvSpPr>
        <p:spPr>
          <a:xfrm>
            <a:off x="1115568" y="4828032"/>
            <a:ext cx="2377440" cy="274320"/>
          </a:xfrm>
          <a:prstGeom prst="rect">
            <a:avLst/>
          </a:prstGeom>
          <a:noFill/>
        </p:spPr>
        <p:txBody>
          <a:bodyPr wrap="square" anchor="t" lIns="0" rIns="0" tIns="0" bIns="0">
            <a:spAutoFit/>
          </a:bodyPr>
          <a:lstStyle/>
          <a:p>
            <a:pPr algn="l"/>
            <a:r>
              <a:rPr sz="850" b="1" i="0">
                <a:solidFill>
                  <a:srgbClr val="6B7280"/>
                </a:solidFill>
                <a:latin typeface="Times New Roman"/>
              </a:rPr>
              <a:t>ONCE</a:t>
            </a:r>
          </a:p>
        </p:txBody>
      </p:sp>
      <p:sp>
        <p:nvSpPr>
          <p:cNvPr id="26" name="TextBox 25"/>
          <p:cNvSpPr txBox="1"/>
          <p:nvPr/>
        </p:nvSpPr>
        <p:spPr>
          <a:xfrm>
            <a:off x="3611880" y="4462272"/>
            <a:ext cx="3429000" cy="822960"/>
          </a:xfrm>
          <a:prstGeom prst="rect">
            <a:avLst/>
          </a:prstGeom>
          <a:noFill/>
        </p:spPr>
        <p:txBody>
          <a:bodyPr wrap="square" anchor="ctr" lIns="0" rIns="0" tIns="0" bIns="0">
            <a:spAutoFit/>
          </a:bodyPr>
          <a:lstStyle/>
          <a:p>
            <a:pPr algn="l">
              <a:lnSpc>
                <a:spcPct val="120000"/>
              </a:lnSpc>
            </a:pPr>
            <a:r>
              <a:rPr sz="1250" b="0" i="0">
                <a:solidFill>
                  <a:srgbClr val="4B5563"/>
                </a:solidFill>
                <a:latin typeface="Times New Roman"/>
              </a:rPr>
              <a:t>Reserved for experienced managers and consultants</a:t>
            </a:r>
          </a:p>
        </p:txBody>
      </p:sp>
      <p:sp>
        <p:nvSpPr>
          <p:cNvPr id="27" name="TextBox 26"/>
          <p:cNvSpPr txBox="1"/>
          <p:nvPr/>
        </p:nvSpPr>
        <p:spPr>
          <a:xfrm>
            <a:off x="7086600" y="4462272"/>
            <a:ext cx="457200" cy="822960"/>
          </a:xfrm>
          <a:prstGeom prst="rect">
            <a:avLst/>
          </a:prstGeom>
          <a:noFill/>
        </p:spPr>
        <p:txBody>
          <a:bodyPr wrap="square" anchor="ctr" lIns="0" rIns="0" tIns="0" bIns="0">
            <a:spAutoFit/>
          </a:bodyPr>
          <a:lstStyle/>
          <a:p>
            <a:pPr algn="ctr"/>
            <a:r>
              <a:rPr sz="1800" b="1" i="0">
                <a:solidFill>
                  <a:srgbClr val="D4A017"/>
                </a:solidFill>
                <a:latin typeface="Times New Roman"/>
              </a:rPr>
              <a:t>→</a:t>
            </a:r>
          </a:p>
        </p:txBody>
      </p:sp>
      <p:sp>
        <p:nvSpPr>
          <p:cNvPr id="28" name="TextBox 27"/>
          <p:cNvSpPr txBox="1"/>
          <p:nvPr/>
        </p:nvSpPr>
        <p:spPr>
          <a:xfrm>
            <a:off x="7699248" y="4462272"/>
            <a:ext cx="3429000" cy="822960"/>
          </a:xfrm>
          <a:prstGeom prst="rect">
            <a:avLst/>
          </a:prstGeom>
          <a:noFill/>
        </p:spPr>
        <p:txBody>
          <a:bodyPr wrap="square" anchor="ctr" lIns="0" rIns="0" tIns="0" bIns="0">
            <a:spAutoFit/>
          </a:bodyPr>
          <a:lstStyle/>
          <a:p>
            <a:pPr algn="l">
              <a:lnSpc>
                <a:spcPct val="120000"/>
              </a:lnSpc>
            </a:pPr>
            <a:r>
              <a:rPr sz="1250" b="1" i="0">
                <a:solidFill>
                  <a:srgbClr val="111827"/>
                </a:solidFill>
                <a:latin typeface="Times New Roman"/>
              </a:rPr>
              <a:t>Generated on demand by intelligent systems</a:t>
            </a:r>
          </a:p>
        </p:txBody>
      </p:sp>
      <p:sp>
        <p:nvSpPr>
          <p:cNvPr id="29" name="Rectangle 28"/>
          <p:cNvSpPr/>
          <p:nvPr/>
        </p:nvSpPr>
        <p:spPr>
          <a:xfrm>
            <a:off x="868680" y="5779008"/>
            <a:ext cx="36576" cy="31089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69848" y="5779008"/>
            <a:ext cx="10424160" cy="365760"/>
          </a:xfrm>
          <a:prstGeom prst="rect">
            <a:avLst/>
          </a:prstGeom>
          <a:noFill/>
        </p:spPr>
        <p:txBody>
          <a:bodyPr wrap="square" anchor="ctr" lIns="0" rIns="0" tIns="0" bIns="0">
            <a:spAutoFit/>
          </a:bodyPr>
          <a:lstStyle/>
          <a:p>
            <a:pPr algn="l"/>
            <a:r>
              <a:rPr sz="1350" b="1" i="1">
                <a:solidFill>
                  <a:srgbClr val="10233F"/>
                </a:solidFill>
                <a:latin typeface="Times New Roman"/>
              </a:rPr>
              <a:t>When the cost of prediction, information, and experimentation falls, the assumptions behind strategic advantage must be re-examined.</a:t>
            </a:r>
          </a:p>
        </p:txBody>
      </p:sp>
      <p:sp>
        <p:nvSpPr>
          <p:cNvPr id="31" name="TextBox 30"/>
          <p:cNvSpPr txBox="1"/>
          <p:nvPr/>
        </p:nvSpPr>
        <p:spPr>
          <a:xfrm>
            <a:off x="11475720" y="6473952"/>
            <a:ext cx="457200" cy="182880"/>
          </a:xfrm>
          <a:prstGeom prst="rect">
            <a:avLst/>
          </a:prstGeom>
          <a:noFill/>
        </p:spPr>
        <p:txBody>
          <a:bodyPr wrap="square" anchor="t" lIns="0" rIns="0" tIns="0" bIns="0">
            <a:spAutoFit/>
          </a:bodyPr>
          <a:lstStyle/>
          <a:p>
            <a:pPr algn="r"/>
            <a:r>
              <a:rPr sz="800" b="0" i="0">
                <a:solidFill>
                  <a:srgbClr val="9CA3AF"/>
                </a:solidFill>
                <a:latin typeface="Times New Roman"/>
              </a:rPr>
              <a:t>5</a:t>
            </a:r>
          </a:p>
        </p:txBody>
      </p:sp>
      <p:sp>
        <p:nvSpPr>
          <p:cNvPr id="32" name="TextBox 31"/>
          <p:cNvSpPr txBox="1"/>
          <p:nvPr/>
        </p:nvSpPr>
        <p:spPr>
          <a:xfrm>
            <a:off x="502920" y="6473952"/>
            <a:ext cx="6400800" cy="182880"/>
          </a:xfrm>
          <a:prstGeom prst="rect">
            <a:avLst/>
          </a:prstGeom>
          <a:noFill/>
        </p:spPr>
        <p:txBody>
          <a:bodyPr wrap="square" anchor="t" lIns="0" rIns="0" tIns="0" bIns="0">
            <a:spAutoFit/>
          </a:bodyPr>
          <a:lstStyle/>
          <a:p>
            <a:pPr algn="l"/>
            <a:r>
              <a:rPr sz="720" b="0" i="0">
                <a:solidFill>
                  <a:srgbClr val="6B7280"/>
                </a:solidFill>
                <a:latin typeface="Times New Roman"/>
              </a:rPr>
              <a:t>Strategic Management in the Age of AI · MGMT 465/665 · Course Introduction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969" cy="164592"/>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969" cy="3657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411480"/>
            <a:ext cx="5943600" cy="228600"/>
          </a:xfrm>
          <a:prstGeom prst="rect">
            <a:avLst/>
          </a:prstGeom>
          <a:noFill/>
        </p:spPr>
        <p:txBody>
          <a:bodyPr wrap="square" anchor="t" lIns="0" rIns="0" tIns="0" bIns="0">
            <a:spAutoFit/>
          </a:bodyPr>
          <a:lstStyle/>
          <a:p>
            <a:pPr algn="l"/>
            <a:r>
              <a:rPr sz="850" b="1" i="0">
                <a:solidFill>
                  <a:srgbClr val="2A6F97"/>
                </a:solidFill>
                <a:latin typeface="Times New Roman"/>
              </a:rPr>
              <a:t>PART 0 · WHY THIS COURSE EXISTS</a:t>
            </a:r>
          </a:p>
        </p:txBody>
      </p:sp>
      <p:sp>
        <p:nvSpPr>
          <p:cNvPr id="6" name="TextBox 5"/>
          <p:cNvSpPr txBox="1"/>
          <p:nvPr/>
        </p:nvSpPr>
        <p:spPr>
          <a:xfrm>
            <a:off x="502920" y="640080"/>
            <a:ext cx="9509760" cy="457200"/>
          </a:xfrm>
          <a:prstGeom prst="rect">
            <a:avLst/>
          </a:prstGeom>
          <a:noFill/>
        </p:spPr>
        <p:txBody>
          <a:bodyPr wrap="square" anchor="t" lIns="0" rIns="0" tIns="0" bIns="0">
            <a:spAutoFit/>
          </a:bodyPr>
          <a:lstStyle/>
          <a:p>
            <a:pPr algn="l"/>
            <a:r>
              <a:rPr sz="2400" b="1" i="0">
                <a:solidFill>
                  <a:srgbClr val="111827"/>
                </a:solidFill>
                <a:latin typeface="Times New Roman"/>
              </a:rPr>
              <a:t>Classical theory remains essential</a:t>
            </a:r>
          </a:p>
        </p:txBody>
      </p:sp>
      <p:sp>
        <p:nvSpPr>
          <p:cNvPr id="7" name="TextBox 6"/>
          <p:cNvSpPr txBox="1"/>
          <p:nvPr/>
        </p:nvSpPr>
        <p:spPr>
          <a:xfrm>
            <a:off x="502920" y="1106424"/>
            <a:ext cx="10698480" cy="274320"/>
          </a:xfrm>
          <a:prstGeom prst="rect">
            <a:avLst/>
          </a:prstGeom>
          <a:noFill/>
        </p:spPr>
        <p:txBody>
          <a:bodyPr wrap="square" anchor="t" lIns="0" rIns="0" tIns="0" bIns="0">
            <a:spAutoFit/>
          </a:bodyPr>
          <a:lstStyle/>
          <a:p>
            <a:pPr algn="l"/>
            <a:r>
              <a:rPr sz="1250" b="0" i="1">
                <a:solidFill>
                  <a:srgbClr val="4B5563"/>
                </a:solidFill>
                <a:latin typeface="Times New Roman"/>
              </a:rPr>
              <a:t>These concepts continue to explain why some organizations consistently outperform others.</a:t>
            </a:r>
          </a:p>
        </p:txBody>
      </p:sp>
      <p:sp>
        <p:nvSpPr>
          <p:cNvPr id="8" name="Rectangle 7"/>
          <p:cNvSpPr/>
          <p:nvPr/>
        </p:nvSpPr>
        <p:spPr>
          <a:xfrm>
            <a:off x="868680" y="1664208"/>
            <a:ext cx="3593592" cy="731520"/>
          </a:xfrm>
          <a:prstGeom prst="rect">
            <a:avLst/>
          </a:prstGeom>
          <a:solidFill>
            <a:srgbClr val="F6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68680" y="1664208"/>
            <a:ext cx="41148" cy="731520"/>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9848" y="1664208"/>
            <a:ext cx="3227832" cy="731520"/>
          </a:xfrm>
          <a:prstGeom prst="rect">
            <a:avLst/>
          </a:prstGeom>
          <a:noFill/>
        </p:spPr>
        <p:txBody>
          <a:bodyPr wrap="square" anchor="ctr" lIns="0" rIns="0" tIns="0" bIns="0">
            <a:spAutoFit/>
          </a:bodyPr>
          <a:lstStyle/>
          <a:p>
            <a:pPr algn="l">
              <a:lnSpc>
                <a:spcPct val="110000"/>
              </a:lnSpc>
            </a:pPr>
            <a:r>
              <a:rPr sz="1400" b="1" i="0">
                <a:solidFill>
                  <a:srgbClr val="10233F"/>
                </a:solidFill>
                <a:latin typeface="Times New Roman"/>
              </a:rPr>
              <a:t>Competitive Positioning</a:t>
            </a:r>
          </a:p>
        </p:txBody>
      </p:sp>
      <p:sp>
        <p:nvSpPr>
          <p:cNvPr id="11" name="Rectangle 10"/>
          <p:cNvSpPr/>
          <p:nvPr/>
        </p:nvSpPr>
        <p:spPr>
          <a:xfrm>
            <a:off x="4654296" y="1664208"/>
            <a:ext cx="3593592" cy="731520"/>
          </a:xfrm>
          <a:prstGeom prst="rect">
            <a:avLst/>
          </a:prstGeom>
          <a:solidFill>
            <a:srgbClr val="F6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654296" y="1664208"/>
            <a:ext cx="41148" cy="731520"/>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55464" y="1664208"/>
            <a:ext cx="3227832" cy="731520"/>
          </a:xfrm>
          <a:prstGeom prst="rect">
            <a:avLst/>
          </a:prstGeom>
          <a:noFill/>
        </p:spPr>
        <p:txBody>
          <a:bodyPr wrap="square" anchor="ctr" lIns="0" rIns="0" tIns="0" bIns="0">
            <a:spAutoFit/>
          </a:bodyPr>
          <a:lstStyle/>
          <a:p>
            <a:pPr algn="l">
              <a:lnSpc>
                <a:spcPct val="110000"/>
              </a:lnSpc>
            </a:pPr>
            <a:r>
              <a:rPr sz="1400" b="1" i="0">
                <a:solidFill>
                  <a:srgbClr val="10233F"/>
                </a:solidFill>
                <a:latin typeface="Times New Roman"/>
              </a:rPr>
              <a:t>Industry Analysis</a:t>
            </a:r>
          </a:p>
        </p:txBody>
      </p:sp>
      <p:sp>
        <p:nvSpPr>
          <p:cNvPr id="14" name="Rectangle 13"/>
          <p:cNvSpPr/>
          <p:nvPr/>
        </p:nvSpPr>
        <p:spPr>
          <a:xfrm>
            <a:off x="8439912" y="1664208"/>
            <a:ext cx="3593592" cy="731520"/>
          </a:xfrm>
          <a:prstGeom prst="rect">
            <a:avLst/>
          </a:prstGeom>
          <a:solidFill>
            <a:srgbClr val="F6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439912" y="1664208"/>
            <a:ext cx="41148" cy="731520"/>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41080" y="1664208"/>
            <a:ext cx="3227832" cy="731520"/>
          </a:xfrm>
          <a:prstGeom prst="rect">
            <a:avLst/>
          </a:prstGeom>
          <a:noFill/>
        </p:spPr>
        <p:txBody>
          <a:bodyPr wrap="square" anchor="ctr" lIns="0" rIns="0" tIns="0" bIns="0">
            <a:spAutoFit/>
          </a:bodyPr>
          <a:lstStyle/>
          <a:p>
            <a:pPr algn="l">
              <a:lnSpc>
                <a:spcPct val="110000"/>
              </a:lnSpc>
            </a:pPr>
            <a:r>
              <a:rPr sz="1400" b="1" i="0">
                <a:solidFill>
                  <a:srgbClr val="10233F"/>
                </a:solidFill>
                <a:latin typeface="Times New Roman"/>
              </a:rPr>
              <a:t>The Resource-Based View</a:t>
            </a:r>
          </a:p>
        </p:txBody>
      </p:sp>
      <p:sp>
        <p:nvSpPr>
          <p:cNvPr id="17" name="Rectangle 16"/>
          <p:cNvSpPr/>
          <p:nvPr/>
        </p:nvSpPr>
        <p:spPr>
          <a:xfrm>
            <a:off x="868680" y="2578608"/>
            <a:ext cx="3593592" cy="731520"/>
          </a:xfrm>
          <a:prstGeom prst="rect">
            <a:avLst/>
          </a:prstGeom>
          <a:solidFill>
            <a:srgbClr val="F6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68680" y="2578608"/>
            <a:ext cx="41148" cy="731520"/>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69848" y="2578608"/>
            <a:ext cx="3227832" cy="731520"/>
          </a:xfrm>
          <a:prstGeom prst="rect">
            <a:avLst/>
          </a:prstGeom>
          <a:noFill/>
        </p:spPr>
        <p:txBody>
          <a:bodyPr wrap="square" anchor="ctr" lIns="0" rIns="0" tIns="0" bIns="0">
            <a:spAutoFit/>
          </a:bodyPr>
          <a:lstStyle/>
          <a:p>
            <a:pPr algn="l">
              <a:lnSpc>
                <a:spcPct val="110000"/>
              </a:lnSpc>
            </a:pPr>
            <a:r>
              <a:rPr sz="1400" b="1" i="0">
                <a:solidFill>
                  <a:srgbClr val="10233F"/>
                </a:solidFill>
                <a:latin typeface="Times New Roman"/>
              </a:rPr>
              <a:t>Dynamic Capabilities</a:t>
            </a:r>
          </a:p>
        </p:txBody>
      </p:sp>
      <p:sp>
        <p:nvSpPr>
          <p:cNvPr id="20" name="Rectangle 19"/>
          <p:cNvSpPr/>
          <p:nvPr/>
        </p:nvSpPr>
        <p:spPr>
          <a:xfrm>
            <a:off x="4654296" y="2578608"/>
            <a:ext cx="3593592" cy="731520"/>
          </a:xfrm>
          <a:prstGeom prst="rect">
            <a:avLst/>
          </a:prstGeom>
          <a:solidFill>
            <a:srgbClr val="F6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654296" y="2578608"/>
            <a:ext cx="41148" cy="731520"/>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855464" y="2578608"/>
            <a:ext cx="3227832" cy="731520"/>
          </a:xfrm>
          <a:prstGeom prst="rect">
            <a:avLst/>
          </a:prstGeom>
          <a:noFill/>
        </p:spPr>
        <p:txBody>
          <a:bodyPr wrap="square" anchor="ctr" lIns="0" rIns="0" tIns="0" bIns="0">
            <a:spAutoFit/>
          </a:bodyPr>
          <a:lstStyle/>
          <a:p>
            <a:pPr algn="l">
              <a:lnSpc>
                <a:spcPct val="110000"/>
              </a:lnSpc>
            </a:pPr>
            <a:r>
              <a:rPr sz="1400" b="1" i="0">
                <a:solidFill>
                  <a:srgbClr val="10233F"/>
                </a:solidFill>
                <a:latin typeface="Times New Roman"/>
              </a:rPr>
              <a:t>Organizational Learning</a:t>
            </a:r>
          </a:p>
        </p:txBody>
      </p:sp>
      <p:sp>
        <p:nvSpPr>
          <p:cNvPr id="23" name="Rectangle 22"/>
          <p:cNvSpPr/>
          <p:nvPr/>
        </p:nvSpPr>
        <p:spPr>
          <a:xfrm>
            <a:off x="8439912" y="2578608"/>
            <a:ext cx="3593592" cy="731520"/>
          </a:xfrm>
          <a:prstGeom prst="rect">
            <a:avLst/>
          </a:prstGeom>
          <a:solidFill>
            <a:srgbClr val="F6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439912" y="2578608"/>
            <a:ext cx="41148" cy="731520"/>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41080" y="2578608"/>
            <a:ext cx="3227832" cy="731520"/>
          </a:xfrm>
          <a:prstGeom prst="rect">
            <a:avLst/>
          </a:prstGeom>
          <a:noFill/>
        </p:spPr>
        <p:txBody>
          <a:bodyPr wrap="square" anchor="ctr" lIns="0" rIns="0" tIns="0" bIns="0">
            <a:spAutoFit/>
          </a:bodyPr>
          <a:lstStyle/>
          <a:p>
            <a:pPr algn="l">
              <a:lnSpc>
                <a:spcPct val="110000"/>
              </a:lnSpc>
            </a:pPr>
            <a:r>
              <a:rPr sz="1400" b="1" i="0">
                <a:solidFill>
                  <a:srgbClr val="10233F"/>
                </a:solidFill>
                <a:latin typeface="Times New Roman"/>
              </a:rPr>
              <a:t>Core Competencies</a:t>
            </a:r>
          </a:p>
        </p:txBody>
      </p:sp>
      <p:sp>
        <p:nvSpPr>
          <p:cNvPr id="26" name="Rectangle 25"/>
          <p:cNvSpPr/>
          <p:nvPr/>
        </p:nvSpPr>
        <p:spPr>
          <a:xfrm>
            <a:off x="868680" y="3493008"/>
            <a:ext cx="3593592" cy="731520"/>
          </a:xfrm>
          <a:prstGeom prst="rect">
            <a:avLst/>
          </a:prstGeom>
          <a:solidFill>
            <a:srgbClr val="F6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68680" y="3493008"/>
            <a:ext cx="41148" cy="731520"/>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69848" y="3493008"/>
            <a:ext cx="3227832" cy="731520"/>
          </a:xfrm>
          <a:prstGeom prst="rect">
            <a:avLst/>
          </a:prstGeom>
          <a:noFill/>
        </p:spPr>
        <p:txBody>
          <a:bodyPr wrap="square" anchor="ctr" lIns="0" rIns="0" tIns="0" bIns="0">
            <a:spAutoFit/>
          </a:bodyPr>
          <a:lstStyle/>
          <a:p>
            <a:pPr algn="l">
              <a:lnSpc>
                <a:spcPct val="110000"/>
              </a:lnSpc>
            </a:pPr>
            <a:r>
              <a:rPr sz="1400" b="1" i="0">
                <a:solidFill>
                  <a:srgbClr val="10233F"/>
                </a:solidFill>
                <a:latin typeface="Times New Roman"/>
              </a:rPr>
              <a:t>Transaction Cost Economics</a:t>
            </a:r>
          </a:p>
        </p:txBody>
      </p:sp>
      <p:sp>
        <p:nvSpPr>
          <p:cNvPr id="29" name="Rectangle 28"/>
          <p:cNvSpPr/>
          <p:nvPr/>
        </p:nvSpPr>
        <p:spPr>
          <a:xfrm>
            <a:off x="4654296" y="3493008"/>
            <a:ext cx="3593592" cy="731520"/>
          </a:xfrm>
          <a:prstGeom prst="rect">
            <a:avLst/>
          </a:prstGeom>
          <a:solidFill>
            <a:srgbClr val="F6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654296" y="3493008"/>
            <a:ext cx="41148" cy="731520"/>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855464" y="3493008"/>
            <a:ext cx="3227832" cy="731520"/>
          </a:xfrm>
          <a:prstGeom prst="rect">
            <a:avLst/>
          </a:prstGeom>
          <a:noFill/>
        </p:spPr>
        <p:txBody>
          <a:bodyPr wrap="square" anchor="ctr" lIns="0" rIns="0" tIns="0" bIns="0">
            <a:spAutoFit/>
          </a:bodyPr>
          <a:lstStyle/>
          <a:p>
            <a:pPr algn="l">
              <a:lnSpc>
                <a:spcPct val="110000"/>
              </a:lnSpc>
            </a:pPr>
            <a:r>
              <a:rPr sz="1400" b="1" i="0">
                <a:solidFill>
                  <a:srgbClr val="10233F"/>
                </a:solidFill>
                <a:latin typeface="Times New Roman"/>
              </a:rPr>
              <a:t>The Knowledge-Based View</a:t>
            </a:r>
          </a:p>
        </p:txBody>
      </p:sp>
      <p:sp>
        <p:nvSpPr>
          <p:cNvPr id="32" name="Rectangle 31"/>
          <p:cNvSpPr/>
          <p:nvPr/>
        </p:nvSpPr>
        <p:spPr>
          <a:xfrm>
            <a:off x="8439912" y="3493008"/>
            <a:ext cx="3593592" cy="731520"/>
          </a:xfrm>
          <a:prstGeom prst="rect">
            <a:avLst/>
          </a:prstGeom>
          <a:solidFill>
            <a:srgbClr val="F6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439912" y="3493008"/>
            <a:ext cx="41148" cy="731520"/>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641080" y="3493008"/>
            <a:ext cx="3227832" cy="731520"/>
          </a:xfrm>
          <a:prstGeom prst="rect">
            <a:avLst/>
          </a:prstGeom>
          <a:noFill/>
        </p:spPr>
        <p:txBody>
          <a:bodyPr wrap="square" anchor="ctr" lIns="0" rIns="0" tIns="0" bIns="0">
            <a:spAutoFit/>
          </a:bodyPr>
          <a:lstStyle/>
          <a:p>
            <a:pPr algn="l">
              <a:lnSpc>
                <a:spcPct val="110000"/>
              </a:lnSpc>
            </a:pPr>
            <a:r>
              <a:rPr sz="1400" b="1" i="0">
                <a:solidFill>
                  <a:srgbClr val="10233F"/>
                </a:solidFill>
                <a:latin typeface="Times New Roman"/>
              </a:rPr>
              <a:t>Strategic Leadership</a:t>
            </a:r>
          </a:p>
        </p:txBody>
      </p:sp>
      <p:sp>
        <p:nvSpPr>
          <p:cNvPr id="35" name="Rectangle 34"/>
          <p:cNvSpPr/>
          <p:nvPr/>
        </p:nvSpPr>
        <p:spPr>
          <a:xfrm>
            <a:off x="868680" y="5010912"/>
            <a:ext cx="36576" cy="31089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69848" y="5010912"/>
            <a:ext cx="10424160" cy="365760"/>
          </a:xfrm>
          <a:prstGeom prst="rect">
            <a:avLst/>
          </a:prstGeom>
          <a:noFill/>
        </p:spPr>
        <p:txBody>
          <a:bodyPr wrap="square" anchor="ctr" lIns="0" rIns="0" tIns="0" bIns="0">
            <a:spAutoFit/>
          </a:bodyPr>
          <a:lstStyle/>
          <a:p>
            <a:pPr algn="l"/>
            <a:r>
              <a:rPr sz="1350" b="1" i="1">
                <a:solidFill>
                  <a:srgbClr val="10233F"/>
                </a:solidFill>
                <a:latin typeface="Times New Roman"/>
              </a:rPr>
              <a:t>Many of these theories were developed when organizations operated under assumptions fundamentally different from those of an AI-enabled economy.</a:t>
            </a:r>
          </a:p>
        </p:txBody>
      </p:sp>
      <p:sp>
        <p:nvSpPr>
          <p:cNvPr id="37" name="Rectangle 36"/>
          <p:cNvSpPr/>
          <p:nvPr/>
        </p:nvSpPr>
        <p:spPr>
          <a:xfrm>
            <a:off x="868680" y="5504688"/>
            <a:ext cx="41148" cy="457200"/>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124712" y="5504688"/>
            <a:ext cx="10168128" cy="457200"/>
          </a:xfrm>
          <a:prstGeom prst="rect">
            <a:avLst/>
          </a:prstGeom>
          <a:noFill/>
        </p:spPr>
        <p:txBody>
          <a:bodyPr wrap="square" anchor="t" lIns="0" rIns="0" tIns="0" bIns="0">
            <a:spAutoFit/>
          </a:bodyPr>
          <a:lstStyle/>
          <a:p>
            <a:pPr algn="l">
              <a:lnSpc>
                <a:spcPct val="125000"/>
              </a:lnSpc>
            </a:pPr>
            <a:r>
              <a:rPr sz="1600" b="0" i="1">
                <a:solidFill>
                  <a:srgbClr val="10233F"/>
                </a:solidFill>
                <a:latin typeface="Times New Roman"/>
              </a:rPr>
              <a:t>The objective is not to replace classical theory. The objective is to reinterpret it.</a:t>
            </a:r>
          </a:p>
        </p:txBody>
      </p:sp>
      <p:sp>
        <p:nvSpPr>
          <p:cNvPr id="39" name="TextBox 38"/>
          <p:cNvSpPr txBox="1"/>
          <p:nvPr/>
        </p:nvSpPr>
        <p:spPr>
          <a:xfrm>
            <a:off x="11475720" y="6473952"/>
            <a:ext cx="457200" cy="182880"/>
          </a:xfrm>
          <a:prstGeom prst="rect">
            <a:avLst/>
          </a:prstGeom>
          <a:noFill/>
        </p:spPr>
        <p:txBody>
          <a:bodyPr wrap="square" anchor="t" lIns="0" rIns="0" tIns="0" bIns="0">
            <a:spAutoFit/>
          </a:bodyPr>
          <a:lstStyle/>
          <a:p>
            <a:pPr algn="r"/>
            <a:r>
              <a:rPr sz="800" b="0" i="0">
                <a:solidFill>
                  <a:srgbClr val="9CA3AF"/>
                </a:solidFill>
                <a:latin typeface="Times New Roman"/>
              </a:rPr>
              <a:t>6</a:t>
            </a:r>
          </a:p>
        </p:txBody>
      </p:sp>
      <p:sp>
        <p:nvSpPr>
          <p:cNvPr id="40" name="TextBox 39"/>
          <p:cNvSpPr txBox="1"/>
          <p:nvPr/>
        </p:nvSpPr>
        <p:spPr>
          <a:xfrm>
            <a:off x="502920" y="6473952"/>
            <a:ext cx="6400800" cy="182880"/>
          </a:xfrm>
          <a:prstGeom prst="rect">
            <a:avLst/>
          </a:prstGeom>
          <a:noFill/>
        </p:spPr>
        <p:txBody>
          <a:bodyPr wrap="square" anchor="t" lIns="0" rIns="0" tIns="0" bIns="0">
            <a:spAutoFit/>
          </a:bodyPr>
          <a:lstStyle/>
          <a:p>
            <a:pPr algn="l"/>
            <a:r>
              <a:rPr sz="720" b="0" i="0">
                <a:solidFill>
                  <a:srgbClr val="6B7280"/>
                </a:solidFill>
                <a:latin typeface="Times New Roman"/>
              </a:rPr>
              <a:t>Strategic Management in the Age of AI · MGMT 465/665 · Course Introduction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969" cy="164592"/>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969" cy="3657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411480"/>
            <a:ext cx="5943600" cy="228600"/>
          </a:xfrm>
          <a:prstGeom prst="rect">
            <a:avLst/>
          </a:prstGeom>
          <a:noFill/>
        </p:spPr>
        <p:txBody>
          <a:bodyPr wrap="square" anchor="t" lIns="0" rIns="0" tIns="0" bIns="0">
            <a:spAutoFit/>
          </a:bodyPr>
          <a:lstStyle/>
          <a:p>
            <a:pPr algn="l"/>
            <a:r>
              <a:rPr sz="850" b="1" i="0">
                <a:solidFill>
                  <a:srgbClr val="2A6F97"/>
                </a:solidFill>
                <a:latin typeface="Times New Roman"/>
              </a:rPr>
              <a:t>PART 0 · THE CENTRAL QUESTION</a:t>
            </a:r>
          </a:p>
        </p:txBody>
      </p:sp>
      <p:sp>
        <p:nvSpPr>
          <p:cNvPr id="6" name="TextBox 5"/>
          <p:cNvSpPr txBox="1"/>
          <p:nvPr/>
        </p:nvSpPr>
        <p:spPr>
          <a:xfrm>
            <a:off x="502920" y="640080"/>
            <a:ext cx="9509760" cy="457200"/>
          </a:xfrm>
          <a:prstGeom prst="rect">
            <a:avLst/>
          </a:prstGeom>
          <a:noFill/>
        </p:spPr>
        <p:txBody>
          <a:bodyPr wrap="square" anchor="t" lIns="0" rIns="0" tIns="0" bIns="0">
            <a:spAutoFit/>
          </a:bodyPr>
          <a:lstStyle/>
          <a:p>
            <a:pPr algn="l"/>
            <a:r>
              <a:rPr sz="2400" b="1" i="0">
                <a:solidFill>
                  <a:srgbClr val="111827"/>
                </a:solidFill>
                <a:latin typeface="Times New Roman"/>
              </a:rPr>
              <a:t>One question organizes the entire course</a:t>
            </a:r>
          </a:p>
        </p:txBody>
      </p:sp>
      <p:sp>
        <p:nvSpPr>
          <p:cNvPr id="7" name="Rectangle 6"/>
          <p:cNvSpPr/>
          <p:nvPr/>
        </p:nvSpPr>
        <p:spPr>
          <a:xfrm>
            <a:off x="868680" y="1481328"/>
            <a:ext cx="10424160" cy="1389888"/>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68680" y="1481328"/>
            <a:ext cx="10424160" cy="45720"/>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34440" y="1627632"/>
            <a:ext cx="9692640" cy="1097280"/>
          </a:xfrm>
          <a:prstGeom prst="rect">
            <a:avLst/>
          </a:prstGeom>
          <a:noFill/>
        </p:spPr>
        <p:txBody>
          <a:bodyPr wrap="square" anchor="ctr" lIns="0" rIns="0" tIns="0" bIns="0">
            <a:spAutoFit/>
          </a:bodyPr>
          <a:lstStyle/>
          <a:p>
            <a:pPr algn="l">
              <a:lnSpc>
                <a:spcPct val="105000"/>
              </a:lnSpc>
            </a:pPr>
            <a:r>
              <a:rPr sz="2900" b="1" i="0">
                <a:solidFill>
                  <a:srgbClr val="FFFFFF"/>
                </a:solidFill>
                <a:latin typeface="Times New Roman"/>
              </a:rPr>
              <a:t>How should strategic management evolve in the age of artificial intelligence?</a:t>
            </a:r>
          </a:p>
        </p:txBody>
      </p:sp>
      <p:sp>
        <p:nvSpPr>
          <p:cNvPr id="10" name="Rectangle 9"/>
          <p:cNvSpPr/>
          <p:nvPr/>
        </p:nvSpPr>
        <p:spPr>
          <a:xfrm>
            <a:off x="868680" y="3127248"/>
            <a:ext cx="5047488" cy="210312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68680" y="3127248"/>
            <a:ext cx="5047488" cy="41148"/>
          </a:xfrm>
          <a:prstGeom prst="rect">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7" y="3319272"/>
            <a:ext cx="4736592" cy="1792223"/>
          </a:xfrm>
          <a:prstGeom prst="rect">
            <a:avLst/>
          </a:prstGeom>
          <a:noFill/>
        </p:spPr>
        <p:txBody>
          <a:bodyPr wrap="square" anchor="t" lIns="0" rIns="0" tIns="0" bIns="0">
            <a:spAutoFit/>
          </a:bodyPr>
          <a:lstStyle/>
          <a:p>
            <a:pPr algn="l">
              <a:lnSpc>
                <a:spcPct val="105000"/>
              </a:lnSpc>
              <a:spcAft>
                <a:spcPts val="500"/>
              </a:spcAft>
            </a:pPr>
            <a:r>
              <a:rPr sz="1300" b="1" i="0">
                <a:solidFill>
                  <a:srgbClr val="10233F"/>
                </a:solidFill>
                <a:latin typeface="Times New Roman"/>
              </a:rPr>
              <a:t>Traditional strategy courses ask</a:t>
            </a:r>
          </a:p>
          <a:p>
            <a:pPr algn="l">
              <a:lnSpc>
                <a:spcPct val="130000"/>
              </a:lnSpc>
              <a:spcAft>
                <a:spcPts val="300"/>
              </a:spcAft>
            </a:pPr>
            <a:r>
              <a:rPr sz="1250" b="0" i="0">
                <a:solidFill>
                  <a:srgbClr val="111827"/>
                </a:solidFill>
                <a:latin typeface="Times New Roman"/>
              </a:rPr>
              <a:t>How do firms create competitive advantage?</a:t>
            </a:r>
          </a:p>
          <a:p>
            <a:pPr algn="l">
              <a:lnSpc>
                <a:spcPct val="130000"/>
              </a:lnSpc>
              <a:spcAft>
                <a:spcPts val="300"/>
              </a:spcAft>
            </a:pPr>
            <a:r>
              <a:rPr sz="1250" b="0" i="0">
                <a:solidFill>
                  <a:srgbClr val="111827"/>
                </a:solidFill>
                <a:latin typeface="Times New Roman"/>
              </a:rPr>
              <a:t>Why do some firms outperform others?</a:t>
            </a:r>
          </a:p>
          <a:p>
            <a:pPr algn="l">
              <a:lnSpc>
                <a:spcPct val="130000"/>
              </a:lnSpc>
              <a:spcAft>
                <a:spcPts val="300"/>
              </a:spcAft>
            </a:pPr>
            <a:r>
              <a:rPr sz="1250" b="0" i="0">
                <a:solidFill>
                  <a:srgbClr val="111827"/>
                </a:solidFill>
                <a:latin typeface="Times New Roman"/>
              </a:rPr>
              <a:t>How should managers formulate strategy?</a:t>
            </a:r>
          </a:p>
          <a:p>
            <a:pPr algn="l">
              <a:lnSpc>
                <a:spcPct val="130000"/>
              </a:lnSpc>
              <a:spcAft>
                <a:spcPts val="300"/>
              </a:spcAft>
            </a:pPr>
            <a:r>
              <a:rPr sz="1250" b="0" i="0">
                <a:solidFill>
                  <a:srgbClr val="111827"/>
                </a:solidFill>
                <a:latin typeface="Times New Roman"/>
              </a:rPr>
              <a:t/>
            </a:r>
          </a:p>
          <a:p>
            <a:pPr algn="l">
              <a:lnSpc>
                <a:spcPct val="130000"/>
              </a:lnSpc>
              <a:spcAft>
                <a:spcPts val="300"/>
              </a:spcAft>
            </a:pPr>
            <a:r>
              <a:rPr sz="1250" b="0" i="0">
                <a:solidFill>
                  <a:srgbClr val="111827"/>
                </a:solidFill>
                <a:latin typeface="Times New Roman"/>
              </a:rPr>
              <a:t>These questions remain important.</a:t>
            </a:r>
          </a:p>
        </p:txBody>
      </p:sp>
      <p:sp>
        <p:nvSpPr>
          <p:cNvPr id="13" name="Rectangle 12"/>
          <p:cNvSpPr/>
          <p:nvPr/>
        </p:nvSpPr>
        <p:spPr>
          <a:xfrm>
            <a:off x="6245352" y="3127248"/>
            <a:ext cx="5047488" cy="2103120"/>
          </a:xfrm>
          <a:prstGeom prst="rect">
            <a:avLst/>
          </a:prstGeom>
          <a:solidFill>
            <a:srgbClr val="EA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45352" y="3127248"/>
            <a:ext cx="5047488" cy="41148"/>
          </a:xfrm>
          <a:prstGeom prst="rect">
            <a:avLst/>
          </a:prstGeom>
          <a:solidFill>
            <a:srgbClr val="2A6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3319272"/>
            <a:ext cx="4736592" cy="1792223"/>
          </a:xfrm>
          <a:prstGeom prst="rect">
            <a:avLst/>
          </a:prstGeom>
          <a:noFill/>
        </p:spPr>
        <p:txBody>
          <a:bodyPr wrap="square" anchor="t" lIns="0" rIns="0" tIns="0" bIns="0">
            <a:spAutoFit/>
          </a:bodyPr>
          <a:lstStyle/>
          <a:p>
            <a:pPr algn="l">
              <a:lnSpc>
                <a:spcPct val="105000"/>
              </a:lnSpc>
              <a:spcAft>
                <a:spcPts val="500"/>
              </a:spcAft>
            </a:pPr>
            <a:r>
              <a:rPr sz="1300" b="1" i="0">
                <a:solidFill>
                  <a:srgbClr val="10233F"/>
                </a:solidFill>
                <a:latin typeface="Times New Roman"/>
              </a:rPr>
              <a:t>This course asks an additional question</a:t>
            </a:r>
          </a:p>
          <a:p>
            <a:pPr algn="l">
              <a:lnSpc>
                <a:spcPct val="130000"/>
              </a:lnSpc>
              <a:spcAft>
                <a:spcPts val="300"/>
              </a:spcAft>
            </a:pPr>
            <a:r>
              <a:rPr sz="1250" b="0" i="0">
                <a:solidFill>
                  <a:srgbClr val="111827"/>
                </a:solidFill>
                <a:latin typeface="Times New Roman"/>
              </a:rPr>
              <a:t>If the foundational theories of strategic management were written today, in a world shaped by artificial intelligence, what would they look like?</a:t>
            </a:r>
          </a:p>
          <a:p>
            <a:pPr algn="l">
              <a:lnSpc>
                <a:spcPct val="130000"/>
              </a:lnSpc>
              <a:spcAft>
                <a:spcPts val="300"/>
              </a:spcAft>
            </a:pPr>
            <a:r>
              <a:rPr sz="1250" b="0" i="0">
                <a:solidFill>
                  <a:srgbClr val="111827"/>
                </a:solidFill>
                <a:latin typeface="Times New Roman"/>
              </a:rPr>
              <a:t/>
            </a:r>
          </a:p>
          <a:p>
            <a:pPr algn="l">
              <a:lnSpc>
                <a:spcPct val="130000"/>
              </a:lnSpc>
              <a:spcAft>
                <a:spcPts val="300"/>
              </a:spcAft>
            </a:pPr>
            <a:r>
              <a:rPr sz="1250" b="0" i="0">
                <a:solidFill>
                  <a:srgbClr val="111827"/>
                </a:solidFill>
                <a:latin typeface="Times New Roman"/>
              </a:rPr>
              <a:t>Students revisit this question every week from multiple theoretical perspectives.</a:t>
            </a:r>
          </a:p>
        </p:txBody>
      </p:sp>
      <p:sp>
        <p:nvSpPr>
          <p:cNvPr id="16" name="Rectangle 15"/>
          <p:cNvSpPr/>
          <p:nvPr/>
        </p:nvSpPr>
        <p:spPr>
          <a:xfrm>
            <a:off x="868680" y="5559552"/>
            <a:ext cx="36576" cy="31089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69848" y="5559552"/>
            <a:ext cx="10424160" cy="365760"/>
          </a:xfrm>
          <a:prstGeom prst="rect">
            <a:avLst/>
          </a:prstGeom>
          <a:noFill/>
        </p:spPr>
        <p:txBody>
          <a:bodyPr wrap="square" anchor="ctr" lIns="0" rIns="0" tIns="0" bIns="0">
            <a:spAutoFit/>
          </a:bodyPr>
          <a:lstStyle/>
          <a:p>
            <a:pPr algn="l"/>
            <a:r>
              <a:rPr sz="1350" b="1" i="1">
                <a:solidFill>
                  <a:srgbClr val="10233F"/>
                </a:solidFill>
                <a:latin typeface="Times New Roman"/>
              </a:rPr>
              <a:t>The answer is not given to you. You will build it over ten weeks.</a:t>
            </a:r>
          </a:p>
        </p:txBody>
      </p:sp>
      <p:sp>
        <p:nvSpPr>
          <p:cNvPr id="18" name="TextBox 17"/>
          <p:cNvSpPr txBox="1"/>
          <p:nvPr/>
        </p:nvSpPr>
        <p:spPr>
          <a:xfrm>
            <a:off x="11475720" y="6473952"/>
            <a:ext cx="457200" cy="182880"/>
          </a:xfrm>
          <a:prstGeom prst="rect">
            <a:avLst/>
          </a:prstGeom>
          <a:noFill/>
        </p:spPr>
        <p:txBody>
          <a:bodyPr wrap="square" anchor="t" lIns="0" rIns="0" tIns="0" bIns="0">
            <a:spAutoFit/>
          </a:bodyPr>
          <a:lstStyle/>
          <a:p>
            <a:pPr algn="r"/>
            <a:r>
              <a:rPr sz="800" b="0" i="0">
                <a:solidFill>
                  <a:srgbClr val="9CA3AF"/>
                </a:solidFill>
                <a:latin typeface="Times New Roman"/>
              </a:rPr>
              <a:t>7</a:t>
            </a:r>
          </a:p>
        </p:txBody>
      </p:sp>
      <p:sp>
        <p:nvSpPr>
          <p:cNvPr id="19" name="TextBox 18"/>
          <p:cNvSpPr txBox="1"/>
          <p:nvPr/>
        </p:nvSpPr>
        <p:spPr>
          <a:xfrm>
            <a:off x="502920" y="6473952"/>
            <a:ext cx="6400800" cy="182880"/>
          </a:xfrm>
          <a:prstGeom prst="rect">
            <a:avLst/>
          </a:prstGeom>
          <a:noFill/>
        </p:spPr>
        <p:txBody>
          <a:bodyPr wrap="square" anchor="t" lIns="0" rIns="0" tIns="0" bIns="0">
            <a:spAutoFit/>
          </a:bodyPr>
          <a:lstStyle/>
          <a:p>
            <a:pPr algn="l"/>
            <a:r>
              <a:rPr sz="720" b="0" i="0">
                <a:solidFill>
                  <a:srgbClr val="6B7280"/>
                </a:solidFill>
                <a:latin typeface="Times New Roman"/>
              </a:rPr>
              <a:t>Strategic Management in the Age of AI · MGMT 465/665 · Course Introduction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969" cy="164592"/>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969" cy="3657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411480"/>
            <a:ext cx="5943600" cy="228600"/>
          </a:xfrm>
          <a:prstGeom prst="rect">
            <a:avLst/>
          </a:prstGeom>
          <a:noFill/>
        </p:spPr>
        <p:txBody>
          <a:bodyPr wrap="square" anchor="t" lIns="0" rIns="0" tIns="0" bIns="0">
            <a:spAutoFit/>
          </a:bodyPr>
          <a:lstStyle/>
          <a:p>
            <a:pPr algn="l"/>
            <a:r>
              <a:rPr sz="850" b="1" i="0">
                <a:solidFill>
                  <a:srgbClr val="2A6F97"/>
                </a:solidFill>
                <a:latin typeface="Times New Roman"/>
              </a:rPr>
              <a:t>PART 0 · BEYOND LEARNING FRAMEWORKS</a:t>
            </a:r>
          </a:p>
        </p:txBody>
      </p:sp>
      <p:sp>
        <p:nvSpPr>
          <p:cNvPr id="6" name="TextBox 5"/>
          <p:cNvSpPr txBox="1"/>
          <p:nvPr/>
        </p:nvSpPr>
        <p:spPr>
          <a:xfrm>
            <a:off x="502920" y="640080"/>
            <a:ext cx="9509760" cy="457200"/>
          </a:xfrm>
          <a:prstGeom prst="rect">
            <a:avLst/>
          </a:prstGeom>
          <a:noFill/>
        </p:spPr>
        <p:txBody>
          <a:bodyPr wrap="square" anchor="t" lIns="0" rIns="0" tIns="0" bIns="0">
            <a:spAutoFit/>
          </a:bodyPr>
          <a:lstStyle/>
          <a:p>
            <a:pPr algn="l"/>
            <a:r>
              <a:rPr sz="2400" b="1" i="0">
                <a:solidFill>
                  <a:srgbClr val="111827"/>
                </a:solidFill>
                <a:latin typeface="Times New Roman"/>
              </a:rPr>
              <a:t>Memorization is not strategic thinking</a:t>
            </a:r>
          </a:p>
        </p:txBody>
      </p:sp>
      <p:sp>
        <p:nvSpPr>
          <p:cNvPr id="7" name="Rectangle 6"/>
          <p:cNvSpPr/>
          <p:nvPr/>
        </p:nvSpPr>
        <p:spPr>
          <a:xfrm>
            <a:off x="868680" y="1481328"/>
            <a:ext cx="5047488" cy="1874519"/>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68680" y="1481328"/>
            <a:ext cx="5047488" cy="41148"/>
          </a:xfrm>
          <a:prstGeom prst="rect">
            <a:avLst/>
          </a:prstGeom>
          <a:solidFill>
            <a:srgbClr val="B549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42415" y="1664208"/>
            <a:ext cx="4700016" cy="1600200"/>
          </a:xfrm>
          <a:prstGeom prst="rect">
            <a:avLst/>
          </a:prstGeom>
          <a:noFill/>
        </p:spPr>
        <p:txBody>
          <a:bodyPr wrap="square" anchor="t" lIns="0" rIns="0" tIns="0" bIns="0">
            <a:spAutoFit/>
          </a:bodyPr>
          <a:lstStyle/>
          <a:p>
            <a:pPr algn="l">
              <a:spcAft>
                <a:spcPts val="600"/>
              </a:spcAft>
            </a:pPr>
            <a:r>
              <a:rPr sz="1300" b="1" i="0">
                <a:solidFill>
                  <a:srgbClr val="B54949"/>
                </a:solidFill>
                <a:latin typeface="Times New Roman"/>
              </a:rPr>
              <a:t>What memorization produces</a:t>
            </a:r>
          </a:p>
          <a:p>
            <a:pPr algn="l">
              <a:lnSpc>
                <a:spcPct val="128000"/>
              </a:lnSpc>
              <a:spcAft>
                <a:spcPts val="500"/>
              </a:spcAft>
            </a:pPr>
            <a:r>
              <a:rPr sz="1250" b="0" i="0">
                <a:solidFill>
                  <a:srgbClr val="4B5563"/>
                </a:solidFill>
                <a:latin typeface="Times New Roman"/>
              </a:rPr>
              <a:t>Students recite Porter's Five Forces. Students recite VRIO. Students recite Dynamic Capabilities. Students recite Organizational Learning.</a:t>
            </a:r>
          </a:p>
          <a:p>
            <a:pPr algn="l"/>
            <a:r>
              <a:rPr sz="1250" b="1" i="0">
                <a:solidFill>
                  <a:srgbClr val="111827"/>
                </a:solidFill>
                <a:latin typeface="Times New Roman"/>
              </a:rPr>
              <a:t>Recall without judgment.</a:t>
            </a:r>
          </a:p>
        </p:txBody>
      </p:sp>
      <p:sp>
        <p:nvSpPr>
          <p:cNvPr id="10" name="Rectangle 9"/>
          <p:cNvSpPr/>
          <p:nvPr/>
        </p:nvSpPr>
        <p:spPr>
          <a:xfrm>
            <a:off x="6245352" y="1481328"/>
            <a:ext cx="5047488" cy="1874519"/>
          </a:xfrm>
          <a:prstGeom prst="rect">
            <a:avLst/>
          </a:prstGeom>
          <a:solidFill>
            <a:srgbClr val="EA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45352" y="1481328"/>
            <a:ext cx="5047488" cy="41148"/>
          </a:xfrm>
          <a:prstGeom prst="rect">
            <a:avLst/>
          </a:prstGeom>
          <a:solidFill>
            <a:srgbClr val="2A6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19088" y="1664208"/>
            <a:ext cx="4700016" cy="1600200"/>
          </a:xfrm>
          <a:prstGeom prst="rect">
            <a:avLst/>
          </a:prstGeom>
          <a:noFill/>
        </p:spPr>
        <p:txBody>
          <a:bodyPr wrap="square" anchor="t" lIns="0" rIns="0" tIns="0" bIns="0">
            <a:spAutoFit/>
          </a:bodyPr>
          <a:lstStyle/>
          <a:p>
            <a:pPr algn="l">
              <a:spcAft>
                <a:spcPts val="600"/>
              </a:spcAft>
            </a:pPr>
            <a:r>
              <a:rPr sz="1300" b="1" i="0">
                <a:solidFill>
                  <a:srgbClr val="2A6F97"/>
                </a:solidFill>
                <a:latin typeface="Times New Roman"/>
              </a:rPr>
              <a:t>What strategic thinking requires</a:t>
            </a:r>
          </a:p>
          <a:p>
            <a:pPr algn="l">
              <a:lnSpc>
                <a:spcPct val="128000"/>
              </a:lnSpc>
              <a:spcAft>
                <a:spcPts val="500"/>
              </a:spcAft>
            </a:pPr>
            <a:r>
              <a:rPr sz="1250" b="0" i="0">
                <a:solidFill>
                  <a:srgbClr val="4B5563"/>
                </a:solidFill>
                <a:latin typeface="Times New Roman"/>
              </a:rPr>
              <a:t>Questioning assumptions. Recognizing when a framework still explains organizational reality — and when changing technology demands a new explanation.</a:t>
            </a:r>
          </a:p>
          <a:p>
            <a:pPr algn="l"/>
            <a:r>
              <a:rPr sz="1250" b="1" i="0">
                <a:solidFill>
                  <a:srgbClr val="111827"/>
                </a:solidFill>
                <a:latin typeface="Times New Roman"/>
              </a:rPr>
              <a:t>Interpretation, not recall.</a:t>
            </a:r>
          </a:p>
        </p:txBody>
      </p:sp>
      <p:sp>
        <p:nvSpPr>
          <p:cNvPr id="13" name="TextBox 12"/>
          <p:cNvSpPr txBox="1"/>
          <p:nvPr/>
        </p:nvSpPr>
        <p:spPr>
          <a:xfrm>
            <a:off x="868680" y="3639312"/>
            <a:ext cx="10424160" cy="320040"/>
          </a:xfrm>
          <a:prstGeom prst="rect">
            <a:avLst/>
          </a:prstGeom>
          <a:noFill/>
        </p:spPr>
        <p:txBody>
          <a:bodyPr wrap="square" anchor="t" lIns="0" rIns="0" tIns="0" bIns="0">
            <a:spAutoFit/>
          </a:bodyPr>
          <a:lstStyle/>
          <a:p>
            <a:pPr algn="l"/>
            <a:r>
              <a:rPr sz="950" b="1" i="0">
                <a:solidFill>
                  <a:srgbClr val="2A6F97"/>
                </a:solidFill>
                <a:latin typeface="Times New Roman"/>
              </a:rPr>
              <a:t>WHAT THIS COURSE EXPECTS OF YOU</a:t>
            </a:r>
          </a:p>
        </p:txBody>
      </p:sp>
      <p:sp>
        <p:nvSpPr>
          <p:cNvPr id="14" name="Rectangle 13"/>
          <p:cNvSpPr/>
          <p:nvPr/>
        </p:nvSpPr>
        <p:spPr>
          <a:xfrm>
            <a:off x="868680" y="3950208"/>
            <a:ext cx="411480" cy="384048"/>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000500"/>
            <a:ext cx="411480" cy="320040"/>
          </a:xfrm>
          <a:prstGeom prst="rect">
            <a:avLst/>
          </a:prstGeom>
          <a:noFill/>
        </p:spPr>
        <p:txBody>
          <a:bodyPr wrap="square" anchor="t" lIns="0" rIns="0" tIns="0" bIns="0">
            <a:spAutoFit/>
          </a:bodyPr>
          <a:lstStyle/>
          <a:p>
            <a:pPr algn="ctr"/>
            <a:r>
              <a:rPr sz="1500" b="1" i="0">
                <a:solidFill>
                  <a:srgbClr val="FFFFFF"/>
                </a:solidFill>
                <a:latin typeface="Times New Roman"/>
              </a:rPr>
              <a:t>1</a:t>
            </a:r>
          </a:p>
        </p:txBody>
      </p:sp>
      <p:sp>
        <p:nvSpPr>
          <p:cNvPr id="16" name="TextBox 15"/>
          <p:cNvSpPr txBox="1"/>
          <p:nvPr/>
        </p:nvSpPr>
        <p:spPr>
          <a:xfrm>
            <a:off x="1463040" y="3941064"/>
            <a:ext cx="4206240" cy="292608"/>
          </a:xfrm>
          <a:prstGeom prst="rect">
            <a:avLst/>
          </a:prstGeom>
          <a:noFill/>
        </p:spPr>
        <p:txBody>
          <a:bodyPr wrap="square" anchor="t" lIns="0" rIns="0" tIns="0" bIns="0">
            <a:spAutoFit/>
          </a:bodyPr>
          <a:lstStyle/>
          <a:p>
            <a:pPr algn="l"/>
            <a:r>
              <a:rPr sz="1400" b="1" i="0">
                <a:solidFill>
                  <a:srgbClr val="111827"/>
                </a:solidFill>
                <a:latin typeface="Times New Roman"/>
              </a:rPr>
              <a:t>Understand why theories emerged</a:t>
            </a:r>
          </a:p>
        </p:txBody>
      </p:sp>
      <p:sp>
        <p:nvSpPr>
          <p:cNvPr id="17" name="TextBox 16"/>
          <p:cNvSpPr txBox="1"/>
          <p:nvPr/>
        </p:nvSpPr>
        <p:spPr>
          <a:xfrm>
            <a:off x="5806440" y="3977640"/>
            <a:ext cx="5120640" cy="457200"/>
          </a:xfrm>
          <a:prstGeom prst="rect">
            <a:avLst/>
          </a:prstGeom>
          <a:noFill/>
        </p:spPr>
        <p:txBody>
          <a:bodyPr wrap="square" anchor="t" lIns="0" rIns="0" tIns="0" bIns="0">
            <a:spAutoFit/>
          </a:bodyPr>
          <a:lstStyle/>
          <a:p>
            <a:pPr algn="l">
              <a:lnSpc>
                <a:spcPct val="115000"/>
              </a:lnSpc>
            </a:pPr>
            <a:r>
              <a:rPr sz="1200" b="0" i="0">
                <a:solidFill>
                  <a:srgbClr val="4B5563"/>
                </a:solidFill>
                <a:latin typeface="Times New Roman"/>
              </a:rPr>
              <a:t>Historical context, not just content</a:t>
            </a:r>
          </a:p>
        </p:txBody>
      </p:sp>
      <p:sp>
        <p:nvSpPr>
          <p:cNvPr id="18" name="Rectangle 17"/>
          <p:cNvSpPr/>
          <p:nvPr/>
        </p:nvSpPr>
        <p:spPr>
          <a:xfrm>
            <a:off x="868680" y="4462272"/>
            <a:ext cx="411480" cy="384048"/>
          </a:xfrm>
          <a:prstGeom prst="rect">
            <a:avLst/>
          </a:prstGeom>
          <a:solidFill>
            <a:srgbClr val="2A6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4512564"/>
            <a:ext cx="411480" cy="320040"/>
          </a:xfrm>
          <a:prstGeom prst="rect">
            <a:avLst/>
          </a:prstGeom>
          <a:noFill/>
        </p:spPr>
        <p:txBody>
          <a:bodyPr wrap="square" anchor="t" lIns="0" rIns="0" tIns="0" bIns="0">
            <a:spAutoFit/>
          </a:bodyPr>
          <a:lstStyle/>
          <a:p>
            <a:pPr algn="ctr"/>
            <a:r>
              <a:rPr sz="1500" b="1" i="0">
                <a:solidFill>
                  <a:srgbClr val="FFFFFF"/>
                </a:solidFill>
                <a:latin typeface="Times New Roman"/>
              </a:rPr>
              <a:t>2</a:t>
            </a:r>
          </a:p>
        </p:txBody>
      </p:sp>
      <p:sp>
        <p:nvSpPr>
          <p:cNvPr id="20" name="TextBox 19"/>
          <p:cNvSpPr txBox="1"/>
          <p:nvPr/>
        </p:nvSpPr>
        <p:spPr>
          <a:xfrm>
            <a:off x="1463040" y="4453128"/>
            <a:ext cx="4206240" cy="292608"/>
          </a:xfrm>
          <a:prstGeom prst="rect">
            <a:avLst/>
          </a:prstGeom>
          <a:noFill/>
        </p:spPr>
        <p:txBody>
          <a:bodyPr wrap="square" anchor="t" lIns="0" rIns="0" tIns="0" bIns="0">
            <a:spAutoFit/>
          </a:bodyPr>
          <a:lstStyle/>
          <a:p>
            <a:pPr algn="l"/>
            <a:r>
              <a:rPr sz="1400" b="1" i="0">
                <a:solidFill>
                  <a:srgbClr val="111827"/>
                </a:solidFill>
                <a:latin typeface="Times New Roman"/>
              </a:rPr>
              <a:t>Evaluate their assumptions</a:t>
            </a:r>
          </a:p>
        </p:txBody>
      </p:sp>
      <p:sp>
        <p:nvSpPr>
          <p:cNvPr id="21" name="TextBox 20"/>
          <p:cNvSpPr txBox="1"/>
          <p:nvPr/>
        </p:nvSpPr>
        <p:spPr>
          <a:xfrm>
            <a:off x="5806440" y="4489704"/>
            <a:ext cx="5120640" cy="457200"/>
          </a:xfrm>
          <a:prstGeom prst="rect">
            <a:avLst/>
          </a:prstGeom>
          <a:noFill/>
        </p:spPr>
        <p:txBody>
          <a:bodyPr wrap="square" anchor="t" lIns="0" rIns="0" tIns="0" bIns="0">
            <a:spAutoFit/>
          </a:bodyPr>
          <a:lstStyle/>
          <a:p>
            <a:pPr algn="l">
              <a:lnSpc>
                <a:spcPct val="115000"/>
              </a:lnSpc>
            </a:pPr>
            <a:r>
              <a:rPr sz="1200" b="0" i="0">
                <a:solidFill>
                  <a:srgbClr val="4B5563"/>
                </a:solidFill>
                <a:latin typeface="Times New Roman"/>
              </a:rPr>
              <a:t>What each theory takes for granted</a:t>
            </a:r>
          </a:p>
        </p:txBody>
      </p:sp>
      <p:sp>
        <p:nvSpPr>
          <p:cNvPr id="22" name="Rectangle 21"/>
          <p:cNvSpPr/>
          <p:nvPr/>
        </p:nvSpPr>
        <p:spPr>
          <a:xfrm>
            <a:off x="868680" y="4974336"/>
            <a:ext cx="411480" cy="384048"/>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8680" y="5024628"/>
            <a:ext cx="411480" cy="320040"/>
          </a:xfrm>
          <a:prstGeom prst="rect">
            <a:avLst/>
          </a:prstGeom>
          <a:noFill/>
        </p:spPr>
        <p:txBody>
          <a:bodyPr wrap="square" anchor="t" lIns="0" rIns="0" tIns="0" bIns="0">
            <a:spAutoFit/>
          </a:bodyPr>
          <a:lstStyle/>
          <a:p>
            <a:pPr algn="ctr"/>
            <a:r>
              <a:rPr sz="1500" b="1" i="0">
                <a:solidFill>
                  <a:srgbClr val="FFFFFF"/>
                </a:solidFill>
                <a:latin typeface="Times New Roman"/>
              </a:rPr>
              <a:t>3</a:t>
            </a:r>
          </a:p>
        </p:txBody>
      </p:sp>
      <p:sp>
        <p:nvSpPr>
          <p:cNvPr id="24" name="TextBox 23"/>
          <p:cNvSpPr txBox="1"/>
          <p:nvPr/>
        </p:nvSpPr>
        <p:spPr>
          <a:xfrm>
            <a:off x="1463040" y="4965192"/>
            <a:ext cx="4206240" cy="292608"/>
          </a:xfrm>
          <a:prstGeom prst="rect">
            <a:avLst/>
          </a:prstGeom>
          <a:noFill/>
        </p:spPr>
        <p:txBody>
          <a:bodyPr wrap="square" anchor="t" lIns="0" rIns="0" tIns="0" bIns="0">
            <a:spAutoFit/>
          </a:bodyPr>
          <a:lstStyle/>
          <a:p>
            <a:pPr algn="l"/>
            <a:r>
              <a:rPr sz="1400" b="1" i="0">
                <a:solidFill>
                  <a:srgbClr val="111827"/>
                </a:solidFill>
                <a:latin typeface="Times New Roman"/>
              </a:rPr>
              <a:t>Identify their limitations</a:t>
            </a:r>
          </a:p>
        </p:txBody>
      </p:sp>
      <p:sp>
        <p:nvSpPr>
          <p:cNvPr id="25" name="TextBox 24"/>
          <p:cNvSpPr txBox="1"/>
          <p:nvPr/>
        </p:nvSpPr>
        <p:spPr>
          <a:xfrm>
            <a:off x="5806440" y="5001768"/>
            <a:ext cx="5120640" cy="457200"/>
          </a:xfrm>
          <a:prstGeom prst="rect">
            <a:avLst/>
          </a:prstGeom>
          <a:noFill/>
        </p:spPr>
        <p:txBody>
          <a:bodyPr wrap="square" anchor="t" lIns="0" rIns="0" tIns="0" bIns="0">
            <a:spAutoFit/>
          </a:bodyPr>
          <a:lstStyle/>
          <a:p>
            <a:pPr algn="l">
              <a:lnSpc>
                <a:spcPct val="115000"/>
              </a:lnSpc>
            </a:pPr>
            <a:r>
              <a:rPr sz="1200" b="0" i="0">
                <a:solidFill>
                  <a:srgbClr val="4B5563"/>
                </a:solidFill>
                <a:latin typeface="Times New Roman"/>
              </a:rPr>
              <a:t>Where the explanation stops working</a:t>
            </a:r>
          </a:p>
        </p:txBody>
      </p:sp>
      <p:sp>
        <p:nvSpPr>
          <p:cNvPr id="26" name="Rectangle 25"/>
          <p:cNvSpPr/>
          <p:nvPr/>
        </p:nvSpPr>
        <p:spPr>
          <a:xfrm>
            <a:off x="868680" y="5486400"/>
            <a:ext cx="411480" cy="384048"/>
          </a:xfrm>
          <a:prstGeom prst="rect">
            <a:avLst/>
          </a:prstGeom>
          <a:solidFill>
            <a:srgbClr val="2A6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8680" y="5536692"/>
            <a:ext cx="411480" cy="320040"/>
          </a:xfrm>
          <a:prstGeom prst="rect">
            <a:avLst/>
          </a:prstGeom>
          <a:noFill/>
        </p:spPr>
        <p:txBody>
          <a:bodyPr wrap="square" anchor="t" lIns="0" rIns="0" tIns="0" bIns="0">
            <a:spAutoFit/>
          </a:bodyPr>
          <a:lstStyle/>
          <a:p>
            <a:pPr algn="ctr"/>
            <a:r>
              <a:rPr sz="1500" b="1" i="0">
                <a:solidFill>
                  <a:srgbClr val="FFFFFF"/>
                </a:solidFill>
                <a:latin typeface="Times New Roman"/>
              </a:rPr>
              <a:t>4</a:t>
            </a:r>
          </a:p>
        </p:txBody>
      </p:sp>
      <p:sp>
        <p:nvSpPr>
          <p:cNvPr id="28" name="TextBox 27"/>
          <p:cNvSpPr txBox="1"/>
          <p:nvPr/>
        </p:nvSpPr>
        <p:spPr>
          <a:xfrm>
            <a:off x="1463040" y="5477256"/>
            <a:ext cx="4206240" cy="292608"/>
          </a:xfrm>
          <a:prstGeom prst="rect">
            <a:avLst/>
          </a:prstGeom>
          <a:noFill/>
        </p:spPr>
        <p:txBody>
          <a:bodyPr wrap="square" anchor="t" lIns="0" rIns="0" tIns="0" bIns="0">
            <a:spAutoFit/>
          </a:bodyPr>
          <a:lstStyle/>
          <a:p>
            <a:pPr algn="l"/>
            <a:r>
              <a:rPr sz="1400" b="1" i="0">
                <a:solidFill>
                  <a:srgbClr val="111827"/>
                </a:solidFill>
                <a:latin typeface="Times New Roman"/>
              </a:rPr>
              <a:t>Propose how they should evolve</a:t>
            </a:r>
          </a:p>
        </p:txBody>
      </p:sp>
      <p:sp>
        <p:nvSpPr>
          <p:cNvPr id="29" name="TextBox 28"/>
          <p:cNvSpPr txBox="1"/>
          <p:nvPr/>
        </p:nvSpPr>
        <p:spPr>
          <a:xfrm>
            <a:off x="5806440" y="5513832"/>
            <a:ext cx="5120640" cy="457200"/>
          </a:xfrm>
          <a:prstGeom prst="rect">
            <a:avLst/>
          </a:prstGeom>
          <a:noFill/>
        </p:spPr>
        <p:txBody>
          <a:bodyPr wrap="square" anchor="t" lIns="0" rIns="0" tIns="0" bIns="0">
            <a:spAutoFit/>
          </a:bodyPr>
          <a:lstStyle/>
          <a:p>
            <a:pPr algn="l">
              <a:lnSpc>
                <a:spcPct val="115000"/>
              </a:lnSpc>
            </a:pPr>
            <a:r>
              <a:rPr sz="1200" b="0" i="0">
                <a:solidFill>
                  <a:srgbClr val="4B5563"/>
                </a:solidFill>
                <a:latin typeface="Times New Roman"/>
              </a:rPr>
              <a:t>Theoretically grounded revision</a:t>
            </a:r>
          </a:p>
        </p:txBody>
      </p:sp>
      <p:sp>
        <p:nvSpPr>
          <p:cNvPr id="30" name="Rectangle 29"/>
          <p:cNvSpPr/>
          <p:nvPr/>
        </p:nvSpPr>
        <p:spPr>
          <a:xfrm>
            <a:off x="868680" y="6016752"/>
            <a:ext cx="36576" cy="31089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69848" y="6016752"/>
            <a:ext cx="10424160" cy="365760"/>
          </a:xfrm>
          <a:prstGeom prst="rect">
            <a:avLst/>
          </a:prstGeom>
          <a:noFill/>
        </p:spPr>
        <p:txBody>
          <a:bodyPr wrap="square" anchor="ctr" lIns="0" rIns="0" tIns="0" bIns="0">
            <a:spAutoFit/>
          </a:bodyPr>
          <a:lstStyle/>
          <a:p>
            <a:pPr algn="l"/>
            <a:r>
              <a:rPr sz="1350" b="1" i="1">
                <a:solidFill>
                  <a:srgbClr val="10233F"/>
                </a:solidFill>
                <a:latin typeface="Times New Roman"/>
              </a:rPr>
              <a:t>This course emphasizes interpretation rather than memorization.</a:t>
            </a:r>
          </a:p>
        </p:txBody>
      </p:sp>
      <p:sp>
        <p:nvSpPr>
          <p:cNvPr id="32" name="TextBox 31"/>
          <p:cNvSpPr txBox="1"/>
          <p:nvPr/>
        </p:nvSpPr>
        <p:spPr>
          <a:xfrm>
            <a:off x="11475720" y="6473952"/>
            <a:ext cx="457200" cy="182880"/>
          </a:xfrm>
          <a:prstGeom prst="rect">
            <a:avLst/>
          </a:prstGeom>
          <a:noFill/>
        </p:spPr>
        <p:txBody>
          <a:bodyPr wrap="square" anchor="t" lIns="0" rIns="0" tIns="0" bIns="0">
            <a:spAutoFit/>
          </a:bodyPr>
          <a:lstStyle/>
          <a:p>
            <a:pPr algn="r"/>
            <a:r>
              <a:rPr sz="800" b="0" i="0">
                <a:solidFill>
                  <a:srgbClr val="9CA3AF"/>
                </a:solidFill>
                <a:latin typeface="Times New Roman"/>
              </a:rPr>
              <a:t>8</a:t>
            </a:r>
          </a:p>
        </p:txBody>
      </p:sp>
      <p:sp>
        <p:nvSpPr>
          <p:cNvPr id="33" name="TextBox 32"/>
          <p:cNvSpPr txBox="1"/>
          <p:nvPr/>
        </p:nvSpPr>
        <p:spPr>
          <a:xfrm>
            <a:off x="502920" y="6473952"/>
            <a:ext cx="6400800" cy="182880"/>
          </a:xfrm>
          <a:prstGeom prst="rect">
            <a:avLst/>
          </a:prstGeom>
          <a:noFill/>
        </p:spPr>
        <p:txBody>
          <a:bodyPr wrap="square" anchor="t" lIns="0" rIns="0" tIns="0" bIns="0">
            <a:spAutoFit/>
          </a:bodyPr>
          <a:lstStyle/>
          <a:p>
            <a:pPr algn="l"/>
            <a:r>
              <a:rPr sz="720" b="0" i="0">
                <a:solidFill>
                  <a:srgbClr val="6B7280"/>
                </a:solidFill>
                <a:latin typeface="Times New Roman"/>
              </a:rPr>
              <a:t>Strategic Management in the Age of AI · MGMT 465/665 · Course Introduction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969" cy="164592"/>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969" cy="3657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411480"/>
            <a:ext cx="5943600" cy="228600"/>
          </a:xfrm>
          <a:prstGeom prst="rect">
            <a:avLst/>
          </a:prstGeom>
          <a:noFill/>
        </p:spPr>
        <p:txBody>
          <a:bodyPr wrap="square" anchor="t" lIns="0" rIns="0" tIns="0" bIns="0">
            <a:spAutoFit/>
          </a:bodyPr>
          <a:lstStyle/>
          <a:p>
            <a:pPr algn="l"/>
            <a:r>
              <a:rPr sz="850" b="1" i="0">
                <a:solidFill>
                  <a:srgbClr val="2A6F97"/>
                </a:solidFill>
                <a:latin typeface="Times New Roman"/>
              </a:rPr>
              <a:t>PART 0 · WHAT THIS COURSE IS ABOUT</a:t>
            </a:r>
          </a:p>
        </p:txBody>
      </p:sp>
      <p:sp>
        <p:nvSpPr>
          <p:cNvPr id="6" name="TextBox 5"/>
          <p:cNvSpPr txBox="1"/>
          <p:nvPr/>
        </p:nvSpPr>
        <p:spPr>
          <a:xfrm>
            <a:off x="502920" y="640080"/>
            <a:ext cx="9509760" cy="457200"/>
          </a:xfrm>
          <a:prstGeom prst="rect">
            <a:avLst/>
          </a:prstGeom>
          <a:noFill/>
        </p:spPr>
        <p:txBody>
          <a:bodyPr wrap="square" anchor="t" lIns="0" rIns="0" tIns="0" bIns="0">
            <a:spAutoFit/>
          </a:bodyPr>
          <a:lstStyle/>
          <a:p>
            <a:pPr algn="l"/>
            <a:r>
              <a:rPr sz="2400" b="1" i="0">
                <a:solidFill>
                  <a:srgbClr val="111827"/>
                </a:solidFill>
                <a:latin typeface="Times New Roman"/>
              </a:rPr>
              <a:t>Artificial intelligence is not the subject</a:t>
            </a:r>
          </a:p>
        </p:txBody>
      </p:sp>
      <p:sp>
        <p:nvSpPr>
          <p:cNvPr id="7" name="Rectangle 6"/>
          <p:cNvSpPr/>
          <p:nvPr/>
        </p:nvSpPr>
        <p:spPr>
          <a:xfrm>
            <a:off x="868680" y="1481328"/>
            <a:ext cx="10424160" cy="749808"/>
          </a:xfrm>
          <a:prstGeom prst="rect">
            <a:avLst/>
          </a:prstGeom>
          <a:solidFill>
            <a:srgbClr val="F6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1481328"/>
            <a:ext cx="9875520" cy="749808"/>
          </a:xfrm>
          <a:prstGeom prst="rect">
            <a:avLst/>
          </a:prstGeom>
          <a:noFill/>
        </p:spPr>
        <p:txBody>
          <a:bodyPr wrap="square" anchor="ctr" lIns="0" rIns="0" tIns="0" bIns="0">
            <a:spAutoFit/>
          </a:bodyPr>
          <a:lstStyle/>
          <a:p>
            <a:pPr algn="l"/>
            <a:r>
              <a:rPr sz="1700" b="1" i="1">
                <a:solidFill>
                  <a:srgbClr val="10233F"/>
                </a:solidFill>
                <a:latin typeface="Times New Roman"/>
              </a:rPr>
              <a:t>At first glance this course appears to be about artificial intelligence. It is not.</a:t>
            </a:r>
          </a:p>
        </p:txBody>
      </p:sp>
      <p:sp>
        <p:nvSpPr>
          <p:cNvPr id="9" name="Rectangle 8"/>
          <p:cNvSpPr/>
          <p:nvPr/>
        </p:nvSpPr>
        <p:spPr>
          <a:xfrm>
            <a:off x="868680" y="2395728"/>
            <a:ext cx="5047488" cy="1417320"/>
          </a:xfrm>
          <a:prstGeom prst="rect">
            <a:avLst/>
          </a:prstGeom>
          <a:solidFill>
            <a:srgbClr val="EA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68680" y="2395728"/>
            <a:ext cx="5047488" cy="41148"/>
          </a:xfrm>
          <a:prstGeom prst="rect">
            <a:avLst/>
          </a:prstGeom>
          <a:solidFill>
            <a:srgbClr val="2A6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7" y="2587752"/>
            <a:ext cx="4736592" cy="1106424"/>
          </a:xfrm>
          <a:prstGeom prst="rect">
            <a:avLst/>
          </a:prstGeom>
          <a:noFill/>
        </p:spPr>
        <p:txBody>
          <a:bodyPr wrap="square" anchor="t" lIns="0" rIns="0" tIns="0" bIns="0">
            <a:spAutoFit/>
          </a:bodyPr>
          <a:lstStyle/>
          <a:p>
            <a:pPr algn="l">
              <a:lnSpc>
                <a:spcPct val="105000"/>
              </a:lnSpc>
              <a:spcAft>
                <a:spcPts val="500"/>
              </a:spcAft>
            </a:pPr>
            <a:r>
              <a:rPr sz="1500" b="1" i="0">
                <a:solidFill>
                  <a:srgbClr val="10233F"/>
                </a:solidFill>
                <a:latin typeface="Times New Roman"/>
              </a:rPr>
              <a:t>AI is the context</a:t>
            </a:r>
          </a:p>
          <a:p>
            <a:pPr algn="l">
              <a:lnSpc>
                <a:spcPct val="130000"/>
              </a:lnSpc>
              <a:spcAft>
                <a:spcPts val="300"/>
              </a:spcAft>
            </a:pPr>
            <a:r>
              <a:rPr sz="1250" b="0" i="0">
                <a:solidFill>
                  <a:srgbClr val="111827"/>
                </a:solidFill>
                <a:latin typeface="Times New Roman"/>
              </a:rPr>
              <a:t>The catalyst that prompts us to reconsider how organizations compete, innovate, learn, govern, and create value.</a:t>
            </a:r>
          </a:p>
        </p:txBody>
      </p:sp>
      <p:sp>
        <p:nvSpPr>
          <p:cNvPr id="12" name="Rectangle 11"/>
          <p:cNvSpPr/>
          <p:nvPr/>
        </p:nvSpPr>
        <p:spPr>
          <a:xfrm>
            <a:off x="6245352" y="2395728"/>
            <a:ext cx="5047488" cy="1417320"/>
          </a:xfrm>
          <a:prstGeom prst="rect">
            <a:avLst/>
          </a:prstGeom>
          <a:solidFill>
            <a:srgbClr val="F6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45352" y="2395728"/>
            <a:ext cx="5047488" cy="41148"/>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2587752"/>
            <a:ext cx="4736592" cy="1106424"/>
          </a:xfrm>
          <a:prstGeom prst="rect">
            <a:avLst/>
          </a:prstGeom>
          <a:noFill/>
        </p:spPr>
        <p:txBody>
          <a:bodyPr wrap="square" anchor="t" lIns="0" rIns="0" tIns="0" bIns="0">
            <a:spAutoFit/>
          </a:bodyPr>
          <a:lstStyle/>
          <a:p>
            <a:pPr algn="l">
              <a:lnSpc>
                <a:spcPct val="105000"/>
              </a:lnSpc>
              <a:spcAft>
                <a:spcPts val="500"/>
              </a:spcAft>
            </a:pPr>
            <a:r>
              <a:rPr sz="1500" b="1" i="0">
                <a:solidFill>
                  <a:srgbClr val="10233F"/>
                </a:solidFill>
                <a:latin typeface="Times New Roman"/>
              </a:rPr>
              <a:t>Strategic management is the subject</a:t>
            </a:r>
          </a:p>
          <a:p>
            <a:pPr algn="l">
              <a:lnSpc>
                <a:spcPct val="130000"/>
              </a:lnSpc>
              <a:spcAft>
                <a:spcPts val="300"/>
              </a:spcAft>
            </a:pPr>
            <a:r>
              <a:rPr sz="1250" b="0" i="0">
                <a:solidFill>
                  <a:srgbClr val="111827"/>
                </a:solidFill>
                <a:latin typeface="Times New Roman"/>
              </a:rPr>
              <a:t>The discipline being examined, tested, extended — and, where necessary, rewritten.</a:t>
            </a:r>
          </a:p>
        </p:txBody>
      </p:sp>
      <p:sp>
        <p:nvSpPr>
          <p:cNvPr id="15" name="TextBox 14"/>
          <p:cNvSpPr txBox="1"/>
          <p:nvPr/>
        </p:nvSpPr>
        <p:spPr>
          <a:xfrm>
            <a:off x="868680" y="4041648"/>
            <a:ext cx="10424160" cy="320040"/>
          </a:xfrm>
          <a:prstGeom prst="rect">
            <a:avLst/>
          </a:prstGeom>
          <a:noFill/>
        </p:spPr>
        <p:txBody>
          <a:bodyPr wrap="square" anchor="t" lIns="0" rIns="0" tIns="0" bIns="0">
            <a:spAutoFit/>
          </a:bodyPr>
          <a:lstStyle/>
          <a:p>
            <a:pPr algn="l"/>
            <a:r>
              <a:rPr sz="950" b="1" i="0">
                <a:solidFill>
                  <a:srgbClr val="2A6F97"/>
                </a:solidFill>
                <a:latin typeface="Times New Roman"/>
              </a:rPr>
              <a:t>EQUAL TIME WITH THE CLASSICS</a:t>
            </a:r>
          </a:p>
        </p:txBody>
      </p:sp>
      <p:sp>
        <p:nvSpPr>
          <p:cNvPr id="16" name="Rectangle 15"/>
          <p:cNvSpPr/>
          <p:nvPr/>
        </p:nvSpPr>
        <p:spPr>
          <a:xfrm>
            <a:off x="868680" y="4370832"/>
            <a:ext cx="811987" cy="402336"/>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4434840"/>
            <a:ext cx="811987" cy="274320"/>
          </a:xfrm>
          <a:prstGeom prst="rect">
            <a:avLst/>
          </a:prstGeom>
          <a:noFill/>
        </p:spPr>
        <p:txBody>
          <a:bodyPr wrap="square" anchor="t" lIns="0" rIns="0" tIns="0" bIns="0">
            <a:spAutoFit/>
          </a:bodyPr>
          <a:lstStyle/>
          <a:p>
            <a:pPr algn="ctr"/>
            <a:r>
              <a:rPr sz="1150" b="1" i="0">
                <a:solidFill>
                  <a:srgbClr val="FFFFFF"/>
                </a:solidFill>
                <a:latin typeface="Times New Roman"/>
              </a:rPr>
              <a:t>Porter</a:t>
            </a:r>
          </a:p>
        </p:txBody>
      </p:sp>
      <p:sp>
        <p:nvSpPr>
          <p:cNvPr id="18" name="Rectangle 17"/>
          <p:cNvSpPr/>
          <p:nvPr/>
        </p:nvSpPr>
        <p:spPr>
          <a:xfrm>
            <a:off x="1790395" y="4370832"/>
            <a:ext cx="811987" cy="402336"/>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790395" y="4434840"/>
            <a:ext cx="811987" cy="274320"/>
          </a:xfrm>
          <a:prstGeom prst="rect">
            <a:avLst/>
          </a:prstGeom>
          <a:noFill/>
        </p:spPr>
        <p:txBody>
          <a:bodyPr wrap="square" anchor="t" lIns="0" rIns="0" tIns="0" bIns="0">
            <a:spAutoFit/>
          </a:bodyPr>
          <a:lstStyle/>
          <a:p>
            <a:pPr algn="ctr"/>
            <a:r>
              <a:rPr sz="1150" b="1" i="0">
                <a:solidFill>
                  <a:srgbClr val="FFFFFF"/>
                </a:solidFill>
                <a:latin typeface="Times New Roman"/>
              </a:rPr>
              <a:t>Barney</a:t>
            </a:r>
          </a:p>
        </p:txBody>
      </p:sp>
      <p:sp>
        <p:nvSpPr>
          <p:cNvPr id="20" name="Rectangle 19"/>
          <p:cNvSpPr/>
          <p:nvPr/>
        </p:nvSpPr>
        <p:spPr>
          <a:xfrm>
            <a:off x="2712110" y="4370832"/>
            <a:ext cx="722376" cy="402336"/>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712110" y="4434840"/>
            <a:ext cx="722376" cy="274320"/>
          </a:xfrm>
          <a:prstGeom prst="rect">
            <a:avLst/>
          </a:prstGeom>
          <a:noFill/>
        </p:spPr>
        <p:txBody>
          <a:bodyPr wrap="square" anchor="t" lIns="0" rIns="0" tIns="0" bIns="0">
            <a:spAutoFit/>
          </a:bodyPr>
          <a:lstStyle/>
          <a:p>
            <a:pPr algn="ctr"/>
            <a:r>
              <a:rPr sz="1150" b="1" i="0">
                <a:solidFill>
                  <a:srgbClr val="FFFFFF"/>
                </a:solidFill>
                <a:latin typeface="Times New Roman"/>
              </a:rPr>
              <a:t>Teece</a:t>
            </a:r>
          </a:p>
        </p:txBody>
      </p:sp>
      <p:sp>
        <p:nvSpPr>
          <p:cNvPr id="22" name="Rectangle 21"/>
          <p:cNvSpPr/>
          <p:nvPr/>
        </p:nvSpPr>
        <p:spPr>
          <a:xfrm>
            <a:off x="3544214" y="4370832"/>
            <a:ext cx="722376" cy="402336"/>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544214" y="4434840"/>
            <a:ext cx="722376" cy="274320"/>
          </a:xfrm>
          <a:prstGeom prst="rect">
            <a:avLst/>
          </a:prstGeom>
          <a:noFill/>
        </p:spPr>
        <p:txBody>
          <a:bodyPr wrap="square" anchor="t" lIns="0" rIns="0" tIns="0" bIns="0">
            <a:spAutoFit/>
          </a:bodyPr>
          <a:lstStyle/>
          <a:p>
            <a:pPr algn="ctr"/>
            <a:r>
              <a:rPr sz="1150" b="1" i="0">
                <a:solidFill>
                  <a:srgbClr val="FFFFFF"/>
                </a:solidFill>
                <a:latin typeface="Times New Roman"/>
              </a:rPr>
              <a:t>Grant</a:t>
            </a:r>
          </a:p>
        </p:txBody>
      </p:sp>
      <p:sp>
        <p:nvSpPr>
          <p:cNvPr id="24" name="Rectangle 23"/>
          <p:cNvSpPr/>
          <p:nvPr/>
        </p:nvSpPr>
        <p:spPr>
          <a:xfrm>
            <a:off x="4376318" y="4370832"/>
            <a:ext cx="722376" cy="402336"/>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76318" y="4434840"/>
            <a:ext cx="722376" cy="274320"/>
          </a:xfrm>
          <a:prstGeom prst="rect">
            <a:avLst/>
          </a:prstGeom>
          <a:noFill/>
        </p:spPr>
        <p:txBody>
          <a:bodyPr wrap="square" anchor="t" lIns="0" rIns="0" tIns="0" bIns="0">
            <a:spAutoFit/>
          </a:bodyPr>
          <a:lstStyle/>
          <a:p>
            <a:pPr algn="ctr"/>
            <a:r>
              <a:rPr sz="1150" b="1" i="0">
                <a:solidFill>
                  <a:srgbClr val="FFFFFF"/>
                </a:solidFill>
                <a:latin typeface="Times New Roman"/>
              </a:rPr>
              <a:t>March</a:t>
            </a:r>
          </a:p>
        </p:txBody>
      </p:sp>
      <p:sp>
        <p:nvSpPr>
          <p:cNvPr id="26" name="Rectangle 25"/>
          <p:cNvSpPr/>
          <p:nvPr/>
        </p:nvSpPr>
        <p:spPr>
          <a:xfrm>
            <a:off x="5208422" y="4370832"/>
            <a:ext cx="991209" cy="402336"/>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208422" y="4434840"/>
            <a:ext cx="991209" cy="274320"/>
          </a:xfrm>
          <a:prstGeom prst="rect">
            <a:avLst/>
          </a:prstGeom>
          <a:noFill/>
        </p:spPr>
        <p:txBody>
          <a:bodyPr wrap="square" anchor="t" lIns="0" rIns="0" tIns="0" bIns="0">
            <a:spAutoFit/>
          </a:bodyPr>
          <a:lstStyle/>
          <a:p>
            <a:pPr algn="ctr"/>
            <a:r>
              <a:rPr sz="1150" b="1" i="0">
                <a:solidFill>
                  <a:srgbClr val="FFFFFF"/>
                </a:solidFill>
                <a:latin typeface="Times New Roman"/>
              </a:rPr>
              <a:t>Prahalad</a:t>
            </a:r>
          </a:p>
        </p:txBody>
      </p:sp>
      <p:sp>
        <p:nvSpPr>
          <p:cNvPr id="28" name="Rectangle 27"/>
          <p:cNvSpPr/>
          <p:nvPr/>
        </p:nvSpPr>
        <p:spPr>
          <a:xfrm>
            <a:off x="6309360" y="4370832"/>
            <a:ext cx="722376" cy="402336"/>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09360" y="4434840"/>
            <a:ext cx="722376" cy="274320"/>
          </a:xfrm>
          <a:prstGeom prst="rect">
            <a:avLst/>
          </a:prstGeom>
          <a:noFill/>
        </p:spPr>
        <p:txBody>
          <a:bodyPr wrap="square" anchor="t" lIns="0" rIns="0" tIns="0" bIns="0">
            <a:spAutoFit/>
          </a:bodyPr>
          <a:lstStyle/>
          <a:p>
            <a:pPr algn="ctr"/>
            <a:r>
              <a:rPr sz="1150" b="1" i="0">
                <a:solidFill>
                  <a:srgbClr val="FFFFFF"/>
                </a:solidFill>
                <a:latin typeface="Times New Roman"/>
              </a:rPr>
              <a:t>Hamel</a:t>
            </a:r>
          </a:p>
        </p:txBody>
      </p:sp>
      <p:sp>
        <p:nvSpPr>
          <p:cNvPr id="30" name="Rectangle 29"/>
          <p:cNvSpPr/>
          <p:nvPr/>
        </p:nvSpPr>
        <p:spPr>
          <a:xfrm>
            <a:off x="7141464" y="4370832"/>
            <a:ext cx="1170432" cy="402336"/>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141464" y="4434840"/>
            <a:ext cx="1170432" cy="274320"/>
          </a:xfrm>
          <a:prstGeom prst="rect">
            <a:avLst/>
          </a:prstGeom>
          <a:noFill/>
        </p:spPr>
        <p:txBody>
          <a:bodyPr wrap="square" anchor="t" lIns="0" rIns="0" tIns="0" bIns="0">
            <a:spAutoFit/>
          </a:bodyPr>
          <a:lstStyle/>
          <a:p>
            <a:pPr algn="ctr"/>
            <a:r>
              <a:rPr sz="1150" b="1" i="0">
                <a:solidFill>
                  <a:srgbClr val="FFFFFF"/>
                </a:solidFill>
                <a:latin typeface="Times New Roman"/>
              </a:rPr>
              <a:t>Wernerfelt</a:t>
            </a:r>
          </a:p>
        </p:txBody>
      </p:sp>
      <p:sp>
        <p:nvSpPr>
          <p:cNvPr id="32" name="Rectangle 31"/>
          <p:cNvSpPr/>
          <p:nvPr/>
        </p:nvSpPr>
        <p:spPr>
          <a:xfrm>
            <a:off x="8421624" y="4370832"/>
            <a:ext cx="1170432" cy="402336"/>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421624" y="4434840"/>
            <a:ext cx="1170432" cy="274320"/>
          </a:xfrm>
          <a:prstGeom prst="rect">
            <a:avLst/>
          </a:prstGeom>
          <a:noFill/>
        </p:spPr>
        <p:txBody>
          <a:bodyPr wrap="square" anchor="t" lIns="0" rIns="0" tIns="0" bIns="0">
            <a:spAutoFit/>
          </a:bodyPr>
          <a:lstStyle/>
          <a:p>
            <a:pPr algn="ctr"/>
            <a:r>
              <a:rPr sz="1150" b="1" i="0">
                <a:solidFill>
                  <a:srgbClr val="FFFFFF"/>
                </a:solidFill>
                <a:latin typeface="Times New Roman"/>
              </a:rPr>
              <a:t>Williamson</a:t>
            </a:r>
          </a:p>
        </p:txBody>
      </p:sp>
      <p:sp>
        <p:nvSpPr>
          <p:cNvPr id="34" name="Rectangle 33"/>
          <p:cNvSpPr/>
          <p:nvPr/>
        </p:nvSpPr>
        <p:spPr>
          <a:xfrm>
            <a:off x="9701784" y="4370832"/>
            <a:ext cx="1170432" cy="402336"/>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701784" y="4434840"/>
            <a:ext cx="1170432" cy="274320"/>
          </a:xfrm>
          <a:prstGeom prst="rect">
            <a:avLst/>
          </a:prstGeom>
          <a:noFill/>
        </p:spPr>
        <p:txBody>
          <a:bodyPr wrap="square" anchor="t" lIns="0" rIns="0" tIns="0" bIns="0">
            <a:spAutoFit/>
          </a:bodyPr>
          <a:lstStyle/>
          <a:p>
            <a:pPr algn="ctr"/>
            <a:r>
              <a:rPr sz="1150" b="1" i="0">
                <a:solidFill>
                  <a:srgbClr val="FFFFFF"/>
                </a:solidFill>
                <a:latin typeface="Times New Roman"/>
              </a:rPr>
              <a:t>Eisenhardt</a:t>
            </a:r>
          </a:p>
        </p:txBody>
      </p:sp>
      <p:sp>
        <p:nvSpPr>
          <p:cNvPr id="36" name="TextBox 35"/>
          <p:cNvSpPr txBox="1"/>
          <p:nvPr/>
        </p:nvSpPr>
        <p:spPr>
          <a:xfrm>
            <a:off x="868680" y="5029200"/>
            <a:ext cx="10424160" cy="548640"/>
          </a:xfrm>
          <a:prstGeom prst="rect">
            <a:avLst/>
          </a:prstGeom>
          <a:noFill/>
        </p:spPr>
        <p:txBody>
          <a:bodyPr wrap="square" anchor="t" lIns="0" rIns="0" tIns="0" bIns="0">
            <a:spAutoFit/>
          </a:bodyPr>
          <a:lstStyle/>
          <a:p>
            <a:pPr algn="l">
              <a:lnSpc>
                <a:spcPct val="130000"/>
              </a:lnSpc>
            </a:pPr>
            <a:r>
              <a:rPr sz="1300" b="0" i="0">
                <a:solidFill>
                  <a:srgbClr val="4B5563"/>
                </a:solidFill>
                <a:latin typeface="Times New Roman"/>
              </a:rPr>
              <a:t>Students will spend as much time reading these scholars as they spend reading contemporary AI research. The objective is not to replace classical theory — it is to reinterpret it.</a:t>
            </a:r>
          </a:p>
        </p:txBody>
      </p:sp>
      <p:sp>
        <p:nvSpPr>
          <p:cNvPr id="37" name="Rectangle 36"/>
          <p:cNvSpPr/>
          <p:nvPr/>
        </p:nvSpPr>
        <p:spPr>
          <a:xfrm>
            <a:off x="868680" y="5870448"/>
            <a:ext cx="36576" cy="31089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69848" y="5870448"/>
            <a:ext cx="10424160" cy="365760"/>
          </a:xfrm>
          <a:prstGeom prst="rect">
            <a:avLst/>
          </a:prstGeom>
          <a:noFill/>
        </p:spPr>
        <p:txBody>
          <a:bodyPr wrap="square" anchor="ctr" lIns="0" rIns="0" tIns="0" bIns="0">
            <a:spAutoFit/>
          </a:bodyPr>
          <a:lstStyle/>
          <a:p>
            <a:pPr algn="l"/>
            <a:r>
              <a:rPr sz="1350" b="1" i="1">
                <a:solidFill>
                  <a:srgbClr val="10233F"/>
                </a:solidFill>
                <a:latin typeface="Times New Roman"/>
              </a:rPr>
              <a:t>AI is treated not as a destination, but as a catalyst for rethinking strategy.</a:t>
            </a:r>
          </a:p>
        </p:txBody>
      </p:sp>
      <p:sp>
        <p:nvSpPr>
          <p:cNvPr id="39" name="TextBox 38"/>
          <p:cNvSpPr txBox="1"/>
          <p:nvPr/>
        </p:nvSpPr>
        <p:spPr>
          <a:xfrm>
            <a:off x="11475720" y="6473952"/>
            <a:ext cx="457200" cy="182880"/>
          </a:xfrm>
          <a:prstGeom prst="rect">
            <a:avLst/>
          </a:prstGeom>
          <a:noFill/>
        </p:spPr>
        <p:txBody>
          <a:bodyPr wrap="square" anchor="t" lIns="0" rIns="0" tIns="0" bIns="0">
            <a:spAutoFit/>
          </a:bodyPr>
          <a:lstStyle/>
          <a:p>
            <a:pPr algn="r"/>
            <a:r>
              <a:rPr sz="800" b="0" i="0">
                <a:solidFill>
                  <a:srgbClr val="9CA3AF"/>
                </a:solidFill>
                <a:latin typeface="Times New Roman"/>
              </a:rPr>
              <a:t>9</a:t>
            </a:r>
          </a:p>
        </p:txBody>
      </p:sp>
      <p:sp>
        <p:nvSpPr>
          <p:cNvPr id="40" name="TextBox 39"/>
          <p:cNvSpPr txBox="1"/>
          <p:nvPr/>
        </p:nvSpPr>
        <p:spPr>
          <a:xfrm>
            <a:off x="502920" y="6473952"/>
            <a:ext cx="6400800" cy="182880"/>
          </a:xfrm>
          <a:prstGeom prst="rect">
            <a:avLst/>
          </a:prstGeom>
          <a:noFill/>
        </p:spPr>
        <p:txBody>
          <a:bodyPr wrap="square" anchor="t" lIns="0" rIns="0" tIns="0" bIns="0">
            <a:spAutoFit/>
          </a:bodyPr>
          <a:lstStyle/>
          <a:p>
            <a:pPr algn="l"/>
            <a:r>
              <a:rPr sz="720" b="0" i="0">
                <a:solidFill>
                  <a:srgbClr val="6B7280"/>
                </a:solidFill>
                <a:latin typeface="Times New Roman"/>
              </a:rPr>
              <a:t>Strategic Management in the Age of AI · MGMT 465/665 · Course Introduction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969" cy="164592"/>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969" cy="3657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411480"/>
            <a:ext cx="5943600" cy="228600"/>
          </a:xfrm>
          <a:prstGeom prst="rect">
            <a:avLst/>
          </a:prstGeom>
          <a:noFill/>
        </p:spPr>
        <p:txBody>
          <a:bodyPr wrap="square" anchor="t" lIns="0" rIns="0" tIns="0" bIns="0">
            <a:spAutoFit/>
          </a:bodyPr>
          <a:lstStyle/>
          <a:p>
            <a:pPr algn="l"/>
            <a:r>
              <a:rPr sz="850" b="1" i="0">
                <a:solidFill>
                  <a:srgbClr val="2A6F97"/>
                </a:solidFill>
                <a:latin typeface="Times New Roman"/>
              </a:rPr>
              <a:t>PART 0 · A DIALOGUE BETWEEN TWO LITERATURES</a:t>
            </a:r>
          </a:p>
        </p:txBody>
      </p:sp>
      <p:sp>
        <p:nvSpPr>
          <p:cNvPr id="6" name="TextBox 5"/>
          <p:cNvSpPr txBox="1"/>
          <p:nvPr/>
        </p:nvSpPr>
        <p:spPr>
          <a:xfrm>
            <a:off x="502920" y="640080"/>
            <a:ext cx="9509760" cy="457200"/>
          </a:xfrm>
          <a:prstGeom prst="rect">
            <a:avLst/>
          </a:prstGeom>
          <a:noFill/>
        </p:spPr>
        <p:txBody>
          <a:bodyPr wrap="square" anchor="t" lIns="0" rIns="0" tIns="0" bIns="0">
            <a:spAutoFit/>
          </a:bodyPr>
          <a:lstStyle/>
          <a:p>
            <a:pPr algn="l"/>
            <a:r>
              <a:rPr sz="2400" b="1" i="0">
                <a:solidFill>
                  <a:srgbClr val="111827"/>
                </a:solidFill>
                <a:latin typeface="Times New Roman"/>
              </a:rPr>
              <a:t>Each week, two bodies of scholarship in conversation</a:t>
            </a:r>
          </a:p>
        </p:txBody>
      </p:sp>
      <p:sp>
        <p:nvSpPr>
          <p:cNvPr id="7" name="TextBox 6"/>
          <p:cNvSpPr txBox="1"/>
          <p:nvPr/>
        </p:nvSpPr>
        <p:spPr>
          <a:xfrm>
            <a:off x="502920" y="1106424"/>
            <a:ext cx="10698480" cy="274320"/>
          </a:xfrm>
          <a:prstGeom prst="rect">
            <a:avLst/>
          </a:prstGeom>
          <a:noFill/>
        </p:spPr>
        <p:txBody>
          <a:bodyPr wrap="square" anchor="t" lIns="0" rIns="0" tIns="0" bIns="0">
            <a:spAutoFit/>
          </a:bodyPr>
          <a:lstStyle/>
          <a:p>
            <a:pPr algn="l"/>
            <a:r>
              <a:rPr sz="1250" b="0" i="1">
                <a:solidFill>
                  <a:srgbClr val="4B5563"/>
                </a:solidFill>
                <a:latin typeface="Times New Roman"/>
              </a:rPr>
              <a:t>A distinguishing feature of this curriculum: deliberate pairing, not parallel reading.</a:t>
            </a:r>
          </a:p>
        </p:txBody>
      </p:sp>
      <p:sp>
        <p:nvSpPr>
          <p:cNvPr id="8" name="Rectangle 7"/>
          <p:cNvSpPr/>
          <p:nvPr/>
        </p:nvSpPr>
        <p:spPr>
          <a:xfrm>
            <a:off x="868680" y="1719072"/>
            <a:ext cx="4846320" cy="2240280"/>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68680" y="1719072"/>
            <a:ext cx="4846320" cy="45720"/>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15568" y="1938528"/>
            <a:ext cx="4352544" cy="1828800"/>
          </a:xfrm>
          <a:prstGeom prst="rect">
            <a:avLst/>
          </a:prstGeom>
          <a:noFill/>
        </p:spPr>
        <p:txBody>
          <a:bodyPr wrap="square" anchor="t" lIns="0" rIns="0" tIns="0" bIns="0">
            <a:spAutoFit/>
          </a:bodyPr>
          <a:lstStyle/>
          <a:p>
            <a:pPr algn="l">
              <a:spcAft>
                <a:spcPts val="900"/>
              </a:spcAft>
            </a:pPr>
            <a:r>
              <a:rPr sz="950" b="1" i="0">
                <a:solidFill>
                  <a:srgbClr val="D4A017"/>
                </a:solidFill>
                <a:latin typeface="Times New Roman"/>
              </a:rPr>
              <a:t>THE CLASSICAL CANON</a:t>
            </a:r>
          </a:p>
          <a:p>
            <a:pPr algn="l">
              <a:lnSpc>
                <a:spcPct val="108000"/>
              </a:lnSpc>
              <a:spcAft>
                <a:spcPts val="1000"/>
              </a:spcAft>
            </a:pPr>
            <a:r>
              <a:rPr sz="2000" b="1" i="0">
                <a:solidFill>
                  <a:srgbClr val="FFFFFF"/>
                </a:solidFill>
                <a:latin typeface="Times New Roman"/>
              </a:rPr>
              <a:t>Why do organizations succeed?</a:t>
            </a:r>
          </a:p>
          <a:p>
            <a:pPr algn="l">
              <a:lnSpc>
                <a:spcPct val="130000"/>
              </a:lnSpc>
            </a:pPr>
            <a:r>
              <a:rPr sz="1200" b="0" i="0">
                <a:solidFill>
                  <a:srgbClr val="C9D2DE"/>
                </a:solidFill>
                <a:latin typeface="Times New Roman"/>
              </a:rPr>
              <a:t>Provides the intellectual foundations — the theories that have shaped executive decision making for five decades.</a:t>
            </a:r>
          </a:p>
        </p:txBody>
      </p:sp>
      <p:sp>
        <p:nvSpPr>
          <p:cNvPr id="11" name="Rectangle 10"/>
          <p:cNvSpPr/>
          <p:nvPr/>
        </p:nvSpPr>
        <p:spPr>
          <a:xfrm>
            <a:off x="6446520" y="1719072"/>
            <a:ext cx="4846320" cy="2240280"/>
          </a:xfrm>
          <a:prstGeom prst="rect">
            <a:avLst/>
          </a:prstGeom>
          <a:solidFill>
            <a:srgbClr val="2A6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46520" y="1719072"/>
            <a:ext cx="4846320" cy="45720"/>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93408" y="1938528"/>
            <a:ext cx="4352544" cy="1828800"/>
          </a:xfrm>
          <a:prstGeom prst="rect">
            <a:avLst/>
          </a:prstGeom>
          <a:noFill/>
        </p:spPr>
        <p:txBody>
          <a:bodyPr wrap="square" anchor="t" lIns="0" rIns="0" tIns="0" bIns="0">
            <a:spAutoFit/>
          </a:bodyPr>
          <a:lstStyle/>
          <a:p>
            <a:pPr algn="l">
              <a:spcAft>
                <a:spcPts val="900"/>
              </a:spcAft>
            </a:pPr>
            <a:r>
              <a:rPr sz="950" b="1" i="0">
                <a:solidFill>
                  <a:srgbClr val="FFFFFF"/>
                </a:solidFill>
                <a:latin typeface="Times New Roman"/>
              </a:rPr>
              <a:t>THE CONTEMPORARY AI CANON</a:t>
            </a:r>
          </a:p>
          <a:p>
            <a:pPr algn="l">
              <a:lnSpc>
                <a:spcPct val="108000"/>
              </a:lnSpc>
              <a:spcAft>
                <a:spcPts val="1000"/>
              </a:spcAft>
            </a:pPr>
            <a:r>
              <a:rPr sz="2000" b="1" i="0">
                <a:solidFill>
                  <a:srgbClr val="FFFFFF"/>
                </a:solidFill>
                <a:latin typeface="Times New Roman"/>
              </a:rPr>
              <a:t>How does AI change the answer?</a:t>
            </a:r>
          </a:p>
          <a:p>
            <a:pPr algn="l">
              <a:lnSpc>
                <a:spcPct val="130000"/>
              </a:lnSpc>
            </a:pPr>
            <a:r>
              <a:rPr sz="1200" b="0" i="0">
                <a:solidFill>
                  <a:srgbClr val="FFFFFF"/>
                </a:solidFill>
                <a:latin typeface="Times New Roman"/>
              </a:rPr>
              <a:t>Provides the contemporary context — research on intelligent systems, platforms, and human–AI work.</a:t>
            </a:r>
          </a:p>
        </p:txBody>
      </p:sp>
      <p:sp>
        <p:nvSpPr>
          <p:cNvPr id="14" name="Rectangle 13"/>
          <p:cNvSpPr/>
          <p:nvPr/>
        </p:nvSpPr>
        <p:spPr>
          <a:xfrm>
            <a:off x="5870448" y="2670048"/>
            <a:ext cx="512064" cy="347472"/>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70448" y="2706624"/>
            <a:ext cx="512064" cy="274320"/>
          </a:xfrm>
          <a:prstGeom prst="rect">
            <a:avLst/>
          </a:prstGeom>
          <a:noFill/>
        </p:spPr>
        <p:txBody>
          <a:bodyPr wrap="square" anchor="t" lIns="0" rIns="0" tIns="0" bIns="0">
            <a:spAutoFit/>
          </a:bodyPr>
          <a:lstStyle/>
          <a:p>
            <a:pPr algn="ctr"/>
            <a:r>
              <a:rPr sz="1500" b="1" i="0">
                <a:solidFill>
                  <a:srgbClr val="10233F"/>
                </a:solidFill>
                <a:latin typeface="Times New Roman"/>
              </a:rPr>
              <a:t>⇄</a:t>
            </a:r>
          </a:p>
        </p:txBody>
      </p:sp>
      <p:sp>
        <p:nvSpPr>
          <p:cNvPr id="16" name="Rectangle 15"/>
          <p:cNvSpPr/>
          <p:nvPr/>
        </p:nvSpPr>
        <p:spPr>
          <a:xfrm>
            <a:off x="868680" y="4224528"/>
            <a:ext cx="41148" cy="1005840"/>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24712" y="4224528"/>
            <a:ext cx="10168128" cy="1005840"/>
          </a:xfrm>
          <a:prstGeom prst="rect">
            <a:avLst/>
          </a:prstGeom>
          <a:noFill/>
        </p:spPr>
        <p:txBody>
          <a:bodyPr wrap="square" anchor="t" lIns="0" rIns="0" tIns="0" bIns="0">
            <a:spAutoFit/>
          </a:bodyPr>
          <a:lstStyle/>
          <a:p>
            <a:pPr algn="l">
              <a:lnSpc>
                <a:spcPct val="125000"/>
              </a:lnSpc>
            </a:pPr>
            <a:r>
              <a:rPr sz="1600" b="0" i="1">
                <a:solidFill>
                  <a:srgbClr val="10233F"/>
                </a:solidFill>
                <a:latin typeface="Times New Roman"/>
              </a:rPr>
              <a:t>Neither literature is complete without the other. Classical theory provides intellectual foundations; AI research provides contemporary context. Together they force us to reconsider the future of strategic management.</a:t>
            </a:r>
          </a:p>
        </p:txBody>
      </p:sp>
      <p:sp>
        <p:nvSpPr>
          <p:cNvPr id="18" name="Rectangle 17"/>
          <p:cNvSpPr/>
          <p:nvPr/>
        </p:nvSpPr>
        <p:spPr>
          <a:xfrm>
            <a:off x="868680" y="5833872"/>
            <a:ext cx="36576" cy="31089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69848" y="5833872"/>
            <a:ext cx="10424160" cy="365760"/>
          </a:xfrm>
          <a:prstGeom prst="rect">
            <a:avLst/>
          </a:prstGeom>
          <a:noFill/>
        </p:spPr>
        <p:txBody>
          <a:bodyPr wrap="square" anchor="ctr" lIns="0" rIns="0" tIns="0" bIns="0">
            <a:spAutoFit/>
          </a:bodyPr>
          <a:lstStyle/>
          <a:p>
            <a:pPr algn="l"/>
            <a:r>
              <a:rPr sz="1350" b="1" i="1">
                <a:solidFill>
                  <a:srgbClr val="10233F"/>
                </a:solidFill>
                <a:latin typeface="Times New Roman"/>
              </a:rPr>
              <a:t>Rather than choosing between classical strategy and artificial intelligence, the course demonstrates that leadership requires both.</a:t>
            </a:r>
          </a:p>
        </p:txBody>
      </p:sp>
      <p:sp>
        <p:nvSpPr>
          <p:cNvPr id="20" name="TextBox 19"/>
          <p:cNvSpPr txBox="1"/>
          <p:nvPr/>
        </p:nvSpPr>
        <p:spPr>
          <a:xfrm>
            <a:off x="11475720" y="6473952"/>
            <a:ext cx="457200" cy="182880"/>
          </a:xfrm>
          <a:prstGeom prst="rect">
            <a:avLst/>
          </a:prstGeom>
          <a:noFill/>
        </p:spPr>
        <p:txBody>
          <a:bodyPr wrap="square" anchor="t" lIns="0" rIns="0" tIns="0" bIns="0">
            <a:spAutoFit/>
          </a:bodyPr>
          <a:lstStyle/>
          <a:p>
            <a:pPr algn="r"/>
            <a:r>
              <a:rPr sz="800" b="0" i="0">
                <a:solidFill>
                  <a:srgbClr val="9CA3AF"/>
                </a:solidFill>
                <a:latin typeface="Times New Roman"/>
              </a:rPr>
              <a:t>10</a:t>
            </a:r>
          </a:p>
        </p:txBody>
      </p:sp>
      <p:sp>
        <p:nvSpPr>
          <p:cNvPr id="21" name="TextBox 20"/>
          <p:cNvSpPr txBox="1"/>
          <p:nvPr/>
        </p:nvSpPr>
        <p:spPr>
          <a:xfrm>
            <a:off x="502920" y="6473952"/>
            <a:ext cx="6400800" cy="182880"/>
          </a:xfrm>
          <a:prstGeom prst="rect">
            <a:avLst/>
          </a:prstGeom>
          <a:noFill/>
        </p:spPr>
        <p:txBody>
          <a:bodyPr wrap="square" anchor="t" lIns="0" rIns="0" tIns="0" bIns="0">
            <a:spAutoFit/>
          </a:bodyPr>
          <a:lstStyle/>
          <a:p>
            <a:pPr algn="l"/>
            <a:r>
              <a:rPr sz="720" b="0" i="0">
                <a:solidFill>
                  <a:srgbClr val="6B7280"/>
                </a:solidFill>
                <a:latin typeface="Times New Roman"/>
              </a:rPr>
              <a:t>Strategic Management in the Age of AI · MGMT 465/665 · Course Introduction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969" cy="164592"/>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969" cy="3657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411480"/>
            <a:ext cx="5943600" cy="228600"/>
          </a:xfrm>
          <a:prstGeom prst="rect">
            <a:avLst/>
          </a:prstGeom>
          <a:noFill/>
        </p:spPr>
        <p:txBody>
          <a:bodyPr wrap="square" anchor="t" lIns="0" rIns="0" tIns="0" bIns="0">
            <a:spAutoFit/>
          </a:bodyPr>
          <a:lstStyle/>
          <a:p>
            <a:pPr algn="l"/>
            <a:r>
              <a:rPr sz="850" b="1" i="0">
                <a:solidFill>
                  <a:srgbClr val="2A6F97"/>
                </a:solidFill>
                <a:latin typeface="Times New Roman"/>
              </a:rPr>
              <a:t>PART 0 · FROM STUDENT TO SCHOLAR</a:t>
            </a:r>
          </a:p>
        </p:txBody>
      </p:sp>
      <p:sp>
        <p:nvSpPr>
          <p:cNvPr id="6" name="TextBox 5"/>
          <p:cNvSpPr txBox="1"/>
          <p:nvPr/>
        </p:nvSpPr>
        <p:spPr>
          <a:xfrm>
            <a:off x="502920" y="640080"/>
            <a:ext cx="9509760" cy="457200"/>
          </a:xfrm>
          <a:prstGeom prst="rect">
            <a:avLst/>
          </a:prstGeom>
          <a:noFill/>
        </p:spPr>
        <p:txBody>
          <a:bodyPr wrap="square" anchor="t" lIns="0" rIns="0" tIns="0" bIns="0">
            <a:spAutoFit/>
          </a:bodyPr>
          <a:lstStyle/>
          <a:p>
            <a:pPr algn="l"/>
            <a:r>
              <a:rPr sz="2400" b="1" i="0">
                <a:solidFill>
                  <a:srgbClr val="111827"/>
                </a:solidFill>
                <a:latin typeface="Times New Roman"/>
              </a:rPr>
              <a:t>You will not only consume scholarship — you will contribute to it</a:t>
            </a:r>
          </a:p>
        </p:txBody>
      </p:sp>
      <p:sp>
        <p:nvSpPr>
          <p:cNvPr id="7" name="Rectangle 6"/>
          <p:cNvSpPr/>
          <p:nvPr/>
        </p:nvSpPr>
        <p:spPr>
          <a:xfrm>
            <a:off x="868680" y="1481328"/>
            <a:ext cx="10424160" cy="914400"/>
          </a:xfrm>
          <a:prstGeom prst="rect">
            <a:avLst/>
          </a:prstGeom>
          <a:solidFill>
            <a:srgbClr val="F6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68680" y="1481328"/>
            <a:ext cx="45720" cy="914400"/>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88720" y="1481328"/>
            <a:ext cx="9875520" cy="914400"/>
          </a:xfrm>
          <a:prstGeom prst="rect">
            <a:avLst/>
          </a:prstGeom>
          <a:noFill/>
        </p:spPr>
        <p:txBody>
          <a:bodyPr wrap="square" anchor="ctr" lIns="0" rIns="0" tIns="0" bIns="0">
            <a:spAutoFit/>
          </a:bodyPr>
          <a:lstStyle/>
          <a:p>
            <a:pPr algn="l">
              <a:spcAft>
                <a:spcPts val="700"/>
              </a:spcAft>
            </a:pPr>
            <a:r>
              <a:rPr sz="950" b="1" i="0">
                <a:solidFill>
                  <a:srgbClr val="2A6F97"/>
                </a:solidFill>
                <a:latin typeface="Times New Roman"/>
              </a:rPr>
              <a:t>THE THEORY EVOLUTION EXERCISE — EVERY WEEK, ONE PROMPT</a:t>
            </a:r>
          </a:p>
          <a:p>
            <a:pPr algn="l"/>
            <a:r>
              <a:rPr sz="2200" b="1" i="1">
                <a:solidFill>
                  <a:srgbClr val="10233F"/>
                </a:solidFill>
                <a:latin typeface="Times New Roman"/>
              </a:rPr>
              <a:t>“If I were rewriting this theory in 2026, I would…”</a:t>
            </a:r>
          </a:p>
        </p:txBody>
      </p:sp>
      <p:sp>
        <p:nvSpPr>
          <p:cNvPr id="10" name="TextBox 9"/>
          <p:cNvSpPr txBox="1"/>
          <p:nvPr/>
        </p:nvSpPr>
        <p:spPr>
          <a:xfrm>
            <a:off x="868680" y="2670048"/>
            <a:ext cx="10424160" cy="274320"/>
          </a:xfrm>
          <a:prstGeom prst="rect">
            <a:avLst/>
          </a:prstGeom>
          <a:noFill/>
        </p:spPr>
        <p:txBody>
          <a:bodyPr wrap="square" anchor="t" lIns="0" rIns="0" tIns="0" bIns="0">
            <a:spAutoFit/>
          </a:bodyPr>
          <a:lstStyle/>
          <a:p>
            <a:pPr algn="l"/>
            <a:r>
              <a:rPr sz="950" b="1" i="0">
                <a:solidFill>
                  <a:srgbClr val="2A6F97"/>
                </a:solidFill>
                <a:latin typeface="Times New Roman"/>
              </a:rPr>
              <a:t>WHAT EACH REFLECTION DOES</a:t>
            </a:r>
          </a:p>
        </p:txBody>
      </p:sp>
      <p:sp>
        <p:nvSpPr>
          <p:cNvPr id="11" name="Rectangle 10"/>
          <p:cNvSpPr/>
          <p:nvPr/>
        </p:nvSpPr>
        <p:spPr>
          <a:xfrm>
            <a:off x="868680" y="2980944"/>
            <a:ext cx="411480" cy="384048"/>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031236"/>
            <a:ext cx="411480" cy="320040"/>
          </a:xfrm>
          <a:prstGeom prst="rect">
            <a:avLst/>
          </a:prstGeom>
          <a:noFill/>
        </p:spPr>
        <p:txBody>
          <a:bodyPr wrap="square" anchor="t" lIns="0" rIns="0" tIns="0" bIns="0">
            <a:spAutoFit/>
          </a:bodyPr>
          <a:lstStyle/>
          <a:p>
            <a:pPr algn="ctr"/>
            <a:r>
              <a:rPr sz="1500" b="1" i="0">
                <a:solidFill>
                  <a:srgbClr val="FFFFFF"/>
                </a:solidFill>
                <a:latin typeface="Times New Roman"/>
              </a:rPr>
              <a:t>1</a:t>
            </a:r>
          </a:p>
        </p:txBody>
      </p:sp>
      <p:sp>
        <p:nvSpPr>
          <p:cNvPr id="13" name="TextBox 12"/>
          <p:cNvSpPr txBox="1"/>
          <p:nvPr/>
        </p:nvSpPr>
        <p:spPr>
          <a:xfrm>
            <a:off x="1463040" y="2971800"/>
            <a:ext cx="3291840" cy="292608"/>
          </a:xfrm>
          <a:prstGeom prst="rect">
            <a:avLst/>
          </a:prstGeom>
          <a:noFill/>
        </p:spPr>
        <p:txBody>
          <a:bodyPr wrap="square" anchor="t" lIns="0" rIns="0" tIns="0" bIns="0">
            <a:spAutoFit/>
          </a:bodyPr>
          <a:lstStyle/>
          <a:p>
            <a:pPr algn="l"/>
            <a:r>
              <a:rPr sz="1400" b="1" i="0">
                <a:solidFill>
                  <a:srgbClr val="111827"/>
                </a:solidFill>
                <a:latin typeface="Times New Roman"/>
              </a:rPr>
              <a:t>Identify assumptions</a:t>
            </a:r>
          </a:p>
        </p:txBody>
      </p:sp>
      <p:sp>
        <p:nvSpPr>
          <p:cNvPr id="14" name="TextBox 13"/>
          <p:cNvSpPr txBox="1"/>
          <p:nvPr/>
        </p:nvSpPr>
        <p:spPr>
          <a:xfrm>
            <a:off x="4892040" y="3008375"/>
            <a:ext cx="6035040" cy="457200"/>
          </a:xfrm>
          <a:prstGeom prst="rect">
            <a:avLst/>
          </a:prstGeom>
          <a:noFill/>
        </p:spPr>
        <p:txBody>
          <a:bodyPr wrap="square" anchor="t" lIns="0" rIns="0" tIns="0" bIns="0">
            <a:spAutoFit/>
          </a:bodyPr>
          <a:lstStyle/>
          <a:p>
            <a:pPr algn="l">
              <a:lnSpc>
                <a:spcPct val="115000"/>
              </a:lnSpc>
            </a:pPr>
            <a:r>
              <a:rPr sz="1200" b="0" i="0">
                <a:solidFill>
                  <a:srgbClr val="4B5563"/>
                </a:solidFill>
                <a:latin typeface="Times New Roman"/>
              </a:rPr>
              <a:t>Surface what the classical theory takes for granted</a:t>
            </a:r>
          </a:p>
        </p:txBody>
      </p:sp>
      <p:sp>
        <p:nvSpPr>
          <p:cNvPr id="15" name="Rectangle 14"/>
          <p:cNvSpPr/>
          <p:nvPr/>
        </p:nvSpPr>
        <p:spPr>
          <a:xfrm>
            <a:off x="868680" y="3493008"/>
            <a:ext cx="411480" cy="384048"/>
          </a:xfrm>
          <a:prstGeom prst="rect">
            <a:avLst/>
          </a:prstGeom>
          <a:solidFill>
            <a:srgbClr val="2A6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3543300"/>
            <a:ext cx="411480" cy="320040"/>
          </a:xfrm>
          <a:prstGeom prst="rect">
            <a:avLst/>
          </a:prstGeom>
          <a:noFill/>
        </p:spPr>
        <p:txBody>
          <a:bodyPr wrap="square" anchor="t" lIns="0" rIns="0" tIns="0" bIns="0">
            <a:spAutoFit/>
          </a:bodyPr>
          <a:lstStyle/>
          <a:p>
            <a:pPr algn="ctr"/>
            <a:r>
              <a:rPr sz="1500" b="1" i="0">
                <a:solidFill>
                  <a:srgbClr val="FFFFFF"/>
                </a:solidFill>
                <a:latin typeface="Times New Roman"/>
              </a:rPr>
              <a:t>2</a:t>
            </a:r>
          </a:p>
        </p:txBody>
      </p:sp>
      <p:sp>
        <p:nvSpPr>
          <p:cNvPr id="17" name="TextBox 16"/>
          <p:cNvSpPr txBox="1"/>
          <p:nvPr/>
        </p:nvSpPr>
        <p:spPr>
          <a:xfrm>
            <a:off x="1463040" y="3483864"/>
            <a:ext cx="3291840" cy="292608"/>
          </a:xfrm>
          <a:prstGeom prst="rect">
            <a:avLst/>
          </a:prstGeom>
          <a:noFill/>
        </p:spPr>
        <p:txBody>
          <a:bodyPr wrap="square" anchor="t" lIns="0" rIns="0" tIns="0" bIns="0">
            <a:spAutoFit/>
          </a:bodyPr>
          <a:lstStyle/>
          <a:p>
            <a:pPr algn="l"/>
            <a:r>
              <a:rPr sz="1400" b="1" i="0">
                <a:solidFill>
                  <a:srgbClr val="111827"/>
                </a:solidFill>
                <a:latin typeface="Times New Roman"/>
              </a:rPr>
              <a:t>Evaluate the evidence</a:t>
            </a:r>
          </a:p>
        </p:txBody>
      </p:sp>
      <p:sp>
        <p:nvSpPr>
          <p:cNvPr id="18" name="TextBox 17"/>
          <p:cNvSpPr txBox="1"/>
          <p:nvPr/>
        </p:nvSpPr>
        <p:spPr>
          <a:xfrm>
            <a:off x="4892040" y="3520439"/>
            <a:ext cx="6035040" cy="457200"/>
          </a:xfrm>
          <a:prstGeom prst="rect">
            <a:avLst/>
          </a:prstGeom>
          <a:noFill/>
        </p:spPr>
        <p:txBody>
          <a:bodyPr wrap="square" anchor="t" lIns="0" rIns="0" tIns="0" bIns="0">
            <a:spAutoFit/>
          </a:bodyPr>
          <a:lstStyle/>
          <a:p>
            <a:pPr algn="l">
              <a:lnSpc>
                <a:spcPct val="115000"/>
              </a:lnSpc>
            </a:pPr>
            <a:r>
              <a:rPr sz="1200" b="0" i="0">
                <a:solidFill>
                  <a:srgbClr val="4B5563"/>
                </a:solidFill>
                <a:latin typeface="Times New Roman"/>
              </a:rPr>
              <a:t>Assess how AI reinforces or challenges each assumption</a:t>
            </a:r>
          </a:p>
        </p:txBody>
      </p:sp>
      <p:sp>
        <p:nvSpPr>
          <p:cNvPr id="19" name="Rectangle 18"/>
          <p:cNvSpPr/>
          <p:nvPr/>
        </p:nvSpPr>
        <p:spPr>
          <a:xfrm>
            <a:off x="868680" y="4005072"/>
            <a:ext cx="411480" cy="384048"/>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4055363"/>
            <a:ext cx="411480" cy="320040"/>
          </a:xfrm>
          <a:prstGeom prst="rect">
            <a:avLst/>
          </a:prstGeom>
          <a:noFill/>
        </p:spPr>
        <p:txBody>
          <a:bodyPr wrap="square" anchor="t" lIns="0" rIns="0" tIns="0" bIns="0">
            <a:spAutoFit/>
          </a:bodyPr>
          <a:lstStyle/>
          <a:p>
            <a:pPr algn="ctr"/>
            <a:r>
              <a:rPr sz="1500" b="1" i="0">
                <a:solidFill>
                  <a:srgbClr val="FFFFFF"/>
                </a:solidFill>
                <a:latin typeface="Times New Roman"/>
              </a:rPr>
              <a:t>3</a:t>
            </a:r>
          </a:p>
        </p:txBody>
      </p:sp>
      <p:sp>
        <p:nvSpPr>
          <p:cNvPr id="21" name="TextBox 20"/>
          <p:cNvSpPr txBox="1"/>
          <p:nvPr/>
        </p:nvSpPr>
        <p:spPr>
          <a:xfrm>
            <a:off x="1463040" y="3995928"/>
            <a:ext cx="3291840" cy="292608"/>
          </a:xfrm>
          <a:prstGeom prst="rect">
            <a:avLst/>
          </a:prstGeom>
          <a:noFill/>
        </p:spPr>
        <p:txBody>
          <a:bodyPr wrap="square" anchor="t" lIns="0" rIns="0" tIns="0" bIns="0">
            <a:spAutoFit/>
          </a:bodyPr>
          <a:lstStyle/>
          <a:p>
            <a:pPr algn="l"/>
            <a:r>
              <a:rPr sz="1400" b="1" i="0">
                <a:solidFill>
                  <a:srgbClr val="111827"/>
                </a:solidFill>
                <a:latin typeface="Times New Roman"/>
              </a:rPr>
              <a:t>Propose a revision</a:t>
            </a:r>
          </a:p>
        </p:txBody>
      </p:sp>
      <p:sp>
        <p:nvSpPr>
          <p:cNvPr id="22" name="TextBox 21"/>
          <p:cNvSpPr txBox="1"/>
          <p:nvPr/>
        </p:nvSpPr>
        <p:spPr>
          <a:xfrm>
            <a:off x="4892040" y="4032504"/>
            <a:ext cx="6035040" cy="457200"/>
          </a:xfrm>
          <a:prstGeom prst="rect">
            <a:avLst/>
          </a:prstGeom>
          <a:noFill/>
        </p:spPr>
        <p:txBody>
          <a:bodyPr wrap="square" anchor="t" lIns="0" rIns="0" tIns="0" bIns="0">
            <a:spAutoFit/>
          </a:bodyPr>
          <a:lstStyle/>
          <a:p>
            <a:pPr algn="l">
              <a:lnSpc>
                <a:spcPct val="115000"/>
              </a:lnSpc>
            </a:pPr>
            <a:r>
              <a:rPr sz="1200" b="0" i="0">
                <a:solidFill>
                  <a:srgbClr val="4B5563"/>
                </a:solidFill>
                <a:latin typeface="Times New Roman"/>
              </a:rPr>
              <a:t>Offer a theoretically grounded extension of the theory</a:t>
            </a:r>
          </a:p>
        </p:txBody>
      </p:sp>
      <p:sp>
        <p:nvSpPr>
          <p:cNvPr id="23" name="Rectangle 22"/>
          <p:cNvSpPr/>
          <p:nvPr/>
        </p:nvSpPr>
        <p:spPr>
          <a:xfrm>
            <a:off x="868680" y="4590288"/>
            <a:ext cx="2194560" cy="658368"/>
          </a:xfrm>
          <a:prstGeom prst="rect">
            <a:avLst/>
          </a:prstGeom>
          <a:solidFill>
            <a:srgbClr val="2A6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32688" y="4590288"/>
            <a:ext cx="2066543" cy="658368"/>
          </a:xfrm>
          <a:prstGeom prst="rect">
            <a:avLst/>
          </a:prstGeom>
          <a:noFill/>
        </p:spPr>
        <p:txBody>
          <a:bodyPr wrap="square" anchor="ctr" lIns="0" rIns="0" tIns="0" bIns="0">
            <a:spAutoFit/>
          </a:bodyPr>
          <a:lstStyle/>
          <a:p>
            <a:pPr algn="ctr">
              <a:lnSpc>
                <a:spcPct val="108000"/>
              </a:lnSpc>
            </a:pPr>
            <a:r>
              <a:rPr sz="1200" b="1" i="0">
                <a:solidFill>
                  <a:srgbClr val="FFFFFF"/>
                </a:solidFill>
                <a:latin typeface="Times New Roman"/>
              </a:rPr>
              <a:t>Ten weekly
reflections</a:t>
            </a:r>
          </a:p>
        </p:txBody>
      </p:sp>
      <p:sp>
        <p:nvSpPr>
          <p:cNvPr id="25" name="TextBox 24"/>
          <p:cNvSpPr txBox="1"/>
          <p:nvPr/>
        </p:nvSpPr>
        <p:spPr>
          <a:xfrm>
            <a:off x="3063239" y="4590288"/>
            <a:ext cx="237744" cy="658368"/>
          </a:xfrm>
          <a:prstGeom prst="rect">
            <a:avLst/>
          </a:prstGeom>
          <a:noFill/>
        </p:spPr>
        <p:txBody>
          <a:bodyPr wrap="square" anchor="ctr" lIns="0" rIns="0" tIns="0" bIns="0">
            <a:spAutoFit/>
          </a:bodyPr>
          <a:lstStyle/>
          <a:p>
            <a:pPr algn="ctr"/>
            <a:r>
              <a:rPr sz="1300" b="1" i="0">
                <a:solidFill>
                  <a:srgbClr val="D4A017"/>
                </a:solidFill>
                <a:latin typeface="Times New Roman"/>
              </a:rPr>
              <a:t>❯</a:t>
            </a:r>
          </a:p>
        </p:txBody>
      </p:sp>
      <p:sp>
        <p:nvSpPr>
          <p:cNvPr id="26" name="Rectangle 25"/>
          <p:cNvSpPr/>
          <p:nvPr/>
        </p:nvSpPr>
        <p:spPr>
          <a:xfrm>
            <a:off x="3300984" y="4590288"/>
            <a:ext cx="2194560" cy="658368"/>
          </a:xfrm>
          <a:prstGeom prst="rect">
            <a:avLst/>
          </a:prstGeom>
          <a:solidFill>
            <a:srgbClr val="2A6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364992" y="4590288"/>
            <a:ext cx="2066543" cy="658368"/>
          </a:xfrm>
          <a:prstGeom prst="rect">
            <a:avLst/>
          </a:prstGeom>
          <a:noFill/>
        </p:spPr>
        <p:txBody>
          <a:bodyPr wrap="square" anchor="ctr" lIns="0" rIns="0" tIns="0" bIns="0">
            <a:spAutoFit/>
          </a:bodyPr>
          <a:lstStyle/>
          <a:p>
            <a:pPr algn="ctr">
              <a:lnSpc>
                <a:spcPct val="108000"/>
              </a:lnSpc>
            </a:pPr>
            <a:r>
              <a:rPr sz="1200" b="1" i="0">
                <a:solidFill>
                  <a:srgbClr val="FFFFFF"/>
                </a:solidFill>
                <a:latin typeface="Times New Roman"/>
              </a:rPr>
              <a:t>Cumulative
synthesis</a:t>
            </a:r>
          </a:p>
        </p:txBody>
      </p:sp>
      <p:sp>
        <p:nvSpPr>
          <p:cNvPr id="28" name="TextBox 27"/>
          <p:cNvSpPr txBox="1"/>
          <p:nvPr/>
        </p:nvSpPr>
        <p:spPr>
          <a:xfrm>
            <a:off x="5495544" y="4590288"/>
            <a:ext cx="237744" cy="658368"/>
          </a:xfrm>
          <a:prstGeom prst="rect">
            <a:avLst/>
          </a:prstGeom>
          <a:noFill/>
        </p:spPr>
        <p:txBody>
          <a:bodyPr wrap="square" anchor="ctr" lIns="0" rIns="0" tIns="0" bIns="0">
            <a:spAutoFit/>
          </a:bodyPr>
          <a:lstStyle/>
          <a:p>
            <a:pPr algn="ctr"/>
            <a:r>
              <a:rPr sz="1300" b="1" i="0">
                <a:solidFill>
                  <a:srgbClr val="D4A017"/>
                </a:solidFill>
                <a:latin typeface="Times New Roman"/>
              </a:rPr>
              <a:t>❯</a:t>
            </a:r>
          </a:p>
        </p:txBody>
      </p:sp>
      <p:sp>
        <p:nvSpPr>
          <p:cNvPr id="29" name="Rectangle 28"/>
          <p:cNvSpPr/>
          <p:nvPr/>
        </p:nvSpPr>
        <p:spPr>
          <a:xfrm>
            <a:off x="5733288" y="4590288"/>
            <a:ext cx="2194560" cy="658368"/>
          </a:xfrm>
          <a:prstGeom prst="rect">
            <a:avLst/>
          </a:prstGeom>
          <a:solidFill>
            <a:srgbClr val="2A6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797296" y="4590288"/>
            <a:ext cx="2066543" cy="658368"/>
          </a:xfrm>
          <a:prstGeom prst="rect">
            <a:avLst/>
          </a:prstGeom>
          <a:noFill/>
        </p:spPr>
        <p:txBody>
          <a:bodyPr wrap="square" anchor="ctr" lIns="0" rIns="0" tIns="0" bIns="0">
            <a:spAutoFit/>
          </a:bodyPr>
          <a:lstStyle/>
          <a:p>
            <a:pPr algn="ctr">
              <a:lnSpc>
                <a:spcPct val="108000"/>
              </a:lnSpc>
            </a:pPr>
            <a:r>
              <a:rPr sz="1200" b="1" i="0">
                <a:solidFill>
                  <a:srgbClr val="FFFFFF"/>
                </a:solidFill>
                <a:latin typeface="Times New Roman"/>
              </a:rPr>
              <a:t>An original
manuscript</a:t>
            </a:r>
          </a:p>
        </p:txBody>
      </p:sp>
      <p:sp>
        <p:nvSpPr>
          <p:cNvPr id="31" name="Rectangle 30"/>
          <p:cNvSpPr/>
          <p:nvPr/>
        </p:nvSpPr>
        <p:spPr>
          <a:xfrm>
            <a:off x="8001000" y="4590288"/>
            <a:ext cx="3291840" cy="658368"/>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138160" y="4590288"/>
            <a:ext cx="3017520" cy="658368"/>
          </a:xfrm>
          <a:prstGeom prst="rect">
            <a:avLst/>
          </a:prstGeom>
          <a:noFill/>
        </p:spPr>
        <p:txBody>
          <a:bodyPr wrap="square" anchor="ctr" lIns="0" rIns="0" tIns="0" bIns="0">
            <a:spAutoFit/>
          </a:bodyPr>
          <a:lstStyle/>
          <a:p>
            <a:pPr algn="ctr">
              <a:lnSpc>
                <a:spcPct val="106000"/>
              </a:lnSpc>
            </a:pPr>
            <a:r>
              <a:rPr sz="1100" b="1" i="1">
                <a:solidFill>
                  <a:srgbClr val="FFFFFF"/>
                </a:solidFill>
                <a:latin typeface="Times New Roman"/>
              </a:rPr>
              <a:t>Toward a Theory of Strategic Management in the Age of Artificial Intelligence</a:t>
            </a:r>
          </a:p>
        </p:txBody>
      </p:sp>
      <p:sp>
        <p:nvSpPr>
          <p:cNvPr id="33" name="Rectangle 32"/>
          <p:cNvSpPr/>
          <p:nvPr/>
        </p:nvSpPr>
        <p:spPr>
          <a:xfrm>
            <a:off x="868680" y="5724144"/>
            <a:ext cx="36576" cy="31089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69848" y="5724144"/>
            <a:ext cx="10424160" cy="365760"/>
          </a:xfrm>
          <a:prstGeom prst="rect">
            <a:avLst/>
          </a:prstGeom>
          <a:noFill/>
        </p:spPr>
        <p:txBody>
          <a:bodyPr wrap="square" anchor="ctr" lIns="0" rIns="0" tIns="0" bIns="0">
            <a:spAutoFit/>
          </a:bodyPr>
          <a:lstStyle/>
          <a:p>
            <a:pPr algn="l"/>
            <a:r>
              <a:rPr sz="1350" b="1" i="1">
                <a:solidFill>
                  <a:srgbClr val="10233F"/>
                </a:solidFill>
                <a:latin typeface="Times New Roman"/>
              </a:rPr>
              <a:t>Graduate education should extend beyond mastering existing knowledge.</a:t>
            </a:r>
          </a:p>
        </p:txBody>
      </p:sp>
      <p:sp>
        <p:nvSpPr>
          <p:cNvPr id="35" name="TextBox 34"/>
          <p:cNvSpPr txBox="1"/>
          <p:nvPr/>
        </p:nvSpPr>
        <p:spPr>
          <a:xfrm>
            <a:off x="11475720" y="6473952"/>
            <a:ext cx="457200" cy="182880"/>
          </a:xfrm>
          <a:prstGeom prst="rect">
            <a:avLst/>
          </a:prstGeom>
          <a:noFill/>
        </p:spPr>
        <p:txBody>
          <a:bodyPr wrap="square" anchor="t" lIns="0" rIns="0" tIns="0" bIns="0">
            <a:spAutoFit/>
          </a:bodyPr>
          <a:lstStyle/>
          <a:p>
            <a:pPr algn="r"/>
            <a:r>
              <a:rPr sz="800" b="0" i="0">
                <a:solidFill>
                  <a:srgbClr val="9CA3AF"/>
                </a:solidFill>
                <a:latin typeface="Times New Roman"/>
              </a:rPr>
              <a:t>11</a:t>
            </a:r>
          </a:p>
        </p:txBody>
      </p:sp>
      <p:sp>
        <p:nvSpPr>
          <p:cNvPr id="36" name="TextBox 35"/>
          <p:cNvSpPr txBox="1"/>
          <p:nvPr/>
        </p:nvSpPr>
        <p:spPr>
          <a:xfrm>
            <a:off x="502920" y="6473952"/>
            <a:ext cx="6400800" cy="182880"/>
          </a:xfrm>
          <a:prstGeom prst="rect">
            <a:avLst/>
          </a:prstGeom>
          <a:noFill/>
        </p:spPr>
        <p:txBody>
          <a:bodyPr wrap="square" anchor="t" lIns="0" rIns="0" tIns="0" bIns="0">
            <a:spAutoFit/>
          </a:bodyPr>
          <a:lstStyle/>
          <a:p>
            <a:pPr algn="l"/>
            <a:r>
              <a:rPr sz="720" b="0" i="0">
                <a:solidFill>
                  <a:srgbClr val="6B7280"/>
                </a:solidFill>
                <a:latin typeface="Times New Roman"/>
              </a:rPr>
              <a:t>Strategic Management in the Age of AI · MGMT 465/665 · Course Introduction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969" cy="164592"/>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969" cy="3657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411480"/>
            <a:ext cx="5943600" cy="228600"/>
          </a:xfrm>
          <a:prstGeom prst="rect">
            <a:avLst/>
          </a:prstGeom>
          <a:noFill/>
        </p:spPr>
        <p:txBody>
          <a:bodyPr wrap="square" anchor="t" lIns="0" rIns="0" tIns="0" bIns="0">
            <a:spAutoFit/>
          </a:bodyPr>
          <a:lstStyle/>
          <a:p>
            <a:pPr algn="l"/>
            <a:r>
              <a:rPr sz="850" b="1" i="0">
                <a:solidFill>
                  <a:srgbClr val="2A6F97"/>
                </a:solidFill>
                <a:latin typeface="Times New Roman"/>
              </a:rPr>
              <a:t>PART 0 · HOW YOU WILL WORK</a:t>
            </a:r>
          </a:p>
        </p:txBody>
      </p:sp>
      <p:sp>
        <p:nvSpPr>
          <p:cNvPr id="6" name="TextBox 5"/>
          <p:cNvSpPr txBox="1"/>
          <p:nvPr/>
        </p:nvSpPr>
        <p:spPr>
          <a:xfrm>
            <a:off x="502920" y="640080"/>
            <a:ext cx="9509760" cy="457200"/>
          </a:xfrm>
          <a:prstGeom prst="rect">
            <a:avLst/>
          </a:prstGeom>
          <a:noFill/>
        </p:spPr>
        <p:txBody>
          <a:bodyPr wrap="square" anchor="t" lIns="0" rIns="0" tIns="0" bIns="0">
            <a:spAutoFit/>
          </a:bodyPr>
          <a:lstStyle/>
          <a:p>
            <a:pPr algn="l"/>
            <a:r>
              <a:rPr sz="2400" b="1" i="0">
                <a:solidFill>
                  <a:srgbClr val="111827"/>
                </a:solidFill>
                <a:latin typeface="Times New Roman"/>
              </a:rPr>
              <a:t>Learn like a consultant; use AI like a colleague</a:t>
            </a:r>
          </a:p>
        </p:txBody>
      </p:sp>
      <p:sp>
        <p:nvSpPr>
          <p:cNvPr id="7" name="Rectangle 6"/>
          <p:cNvSpPr/>
          <p:nvPr/>
        </p:nvSpPr>
        <p:spPr>
          <a:xfrm>
            <a:off x="868680" y="1481328"/>
            <a:ext cx="5047488" cy="2560320"/>
          </a:xfrm>
          <a:prstGeom prst="rect">
            <a:avLst/>
          </a:prstGeom>
          <a:solidFill>
            <a:srgbClr val="F6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68680" y="1481328"/>
            <a:ext cx="5047488" cy="41148"/>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4127" y="1673352"/>
            <a:ext cx="4736592" cy="2249424"/>
          </a:xfrm>
          <a:prstGeom prst="rect">
            <a:avLst/>
          </a:prstGeom>
          <a:noFill/>
        </p:spPr>
        <p:txBody>
          <a:bodyPr wrap="square" anchor="t" lIns="0" rIns="0" tIns="0" bIns="0">
            <a:spAutoFit/>
          </a:bodyPr>
          <a:lstStyle/>
          <a:p>
            <a:pPr algn="l">
              <a:lnSpc>
                <a:spcPct val="105000"/>
              </a:lnSpc>
              <a:spcAft>
                <a:spcPts val="500"/>
              </a:spcAft>
            </a:pPr>
            <a:r>
              <a:rPr sz="1400" b="1" i="0">
                <a:solidFill>
                  <a:srgbClr val="10233F"/>
                </a:solidFill>
                <a:latin typeface="Times New Roman"/>
              </a:rPr>
              <a:t>Learning like a strategy consultant</a:t>
            </a:r>
          </a:p>
          <a:p>
            <a:pPr algn="l">
              <a:lnSpc>
                <a:spcPct val="126000"/>
              </a:lnSpc>
              <a:spcAft>
                <a:spcPts val="300"/>
              </a:spcAft>
            </a:pPr>
            <a:r>
              <a:rPr sz="1200" b="0" i="0">
                <a:solidFill>
                  <a:srgbClr val="111827"/>
                </a:solidFill>
                <a:latin typeface="Times New Roman"/>
              </a:rPr>
              <a:t>Organizations rarely present clearly defined problems. Executives rarely possess complete information. Technological change creates ambiguity rather than certainty.</a:t>
            </a:r>
          </a:p>
          <a:p>
            <a:pPr algn="l">
              <a:lnSpc>
                <a:spcPct val="126000"/>
              </a:lnSpc>
              <a:spcAft>
                <a:spcPts val="300"/>
              </a:spcAft>
            </a:pPr>
            <a:r>
              <a:rPr sz="1200" b="0" i="0">
                <a:solidFill>
                  <a:srgbClr val="111827"/>
                </a:solidFill>
                <a:latin typeface="Times New Roman"/>
              </a:rPr>
              <a:t/>
            </a:r>
          </a:p>
          <a:p>
            <a:pPr algn="l">
              <a:lnSpc>
                <a:spcPct val="126000"/>
              </a:lnSpc>
              <a:spcAft>
                <a:spcPts val="300"/>
              </a:spcAft>
            </a:pPr>
            <a:r>
              <a:rPr sz="1200" b="0" i="0">
                <a:solidFill>
                  <a:srgbClr val="111827"/>
                </a:solidFill>
                <a:latin typeface="Times New Roman"/>
              </a:rPr>
              <a:t>So you will repeatedly analyze organizations, weigh competing alternatives, justify recommendations with evidence, defend decisions before executive audiences, and revise your thinking as new information emerges.</a:t>
            </a:r>
          </a:p>
        </p:txBody>
      </p:sp>
      <p:sp>
        <p:nvSpPr>
          <p:cNvPr id="10" name="Rectangle 9"/>
          <p:cNvSpPr/>
          <p:nvPr/>
        </p:nvSpPr>
        <p:spPr>
          <a:xfrm>
            <a:off x="6245352" y="1481328"/>
            <a:ext cx="5047488" cy="2560320"/>
          </a:xfrm>
          <a:prstGeom prst="rect">
            <a:avLst/>
          </a:prstGeom>
          <a:solidFill>
            <a:srgbClr val="EA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45352" y="1481328"/>
            <a:ext cx="5047488" cy="41148"/>
          </a:xfrm>
          <a:prstGeom prst="rect">
            <a:avLst/>
          </a:prstGeom>
          <a:solidFill>
            <a:srgbClr val="2A6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1673352"/>
            <a:ext cx="4736592" cy="2249424"/>
          </a:xfrm>
          <a:prstGeom prst="rect">
            <a:avLst/>
          </a:prstGeom>
          <a:noFill/>
        </p:spPr>
        <p:txBody>
          <a:bodyPr wrap="square" anchor="t" lIns="0" rIns="0" tIns="0" bIns="0">
            <a:spAutoFit/>
          </a:bodyPr>
          <a:lstStyle/>
          <a:p>
            <a:pPr algn="l">
              <a:lnSpc>
                <a:spcPct val="105000"/>
              </a:lnSpc>
              <a:spcAft>
                <a:spcPts val="500"/>
              </a:spcAft>
            </a:pPr>
            <a:r>
              <a:rPr sz="1400" b="1" i="0">
                <a:solidFill>
                  <a:srgbClr val="10233F"/>
                </a:solidFill>
                <a:latin typeface="Times New Roman"/>
              </a:rPr>
              <a:t>AI as a thinking partner</a:t>
            </a:r>
          </a:p>
          <a:p>
            <a:pPr algn="l">
              <a:lnSpc>
                <a:spcPct val="126000"/>
              </a:lnSpc>
              <a:spcAft>
                <a:spcPts val="300"/>
              </a:spcAft>
            </a:pPr>
            <a:r>
              <a:rPr sz="1200" b="0" i="0">
                <a:solidFill>
                  <a:srgbClr val="111827"/>
                </a:solidFill>
                <a:latin typeface="Times New Roman"/>
              </a:rPr>
              <a:t>Use AI to explore ideas, compare theories, critique arguments, summarize literature, develop alternative perspectives, improve communication, and support strategic analysis.</a:t>
            </a:r>
          </a:p>
          <a:p>
            <a:pPr algn="l">
              <a:lnSpc>
                <a:spcPct val="126000"/>
              </a:lnSpc>
              <a:spcAft>
                <a:spcPts val="300"/>
              </a:spcAft>
            </a:pPr>
            <a:r>
              <a:rPr sz="1200" b="0" i="0">
                <a:solidFill>
                  <a:srgbClr val="111827"/>
                </a:solidFill>
                <a:latin typeface="Times New Roman"/>
              </a:rPr>
              <a:t/>
            </a:r>
          </a:p>
          <a:p>
            <a:pPr algn="l">
              <a:lnSpc>
                <a:spcPct val="126000"/>
              </a:lnSpc>
              <a:spcAft>
                <a:spcPts val="300"/>
              </a:spcAft>
            </a:pPr>
            <a:r>
              <a:rPr sz="1200" b="0" i="0">
                <a:solidFill>
                  <a:srgbClr val="111827"/>
                </a:solidFill>
                <a:latin typeface="Times New Roman"/>
              </a:rPr>
              <a:t>But AI never replaces professional judgment. Every recommendation submitted in this course remains your responsibility.</a:t>
            </a:r>
          </a:p>
        </p:txBody>
      </p:sp>
      <p:sp>
        <p:nvSpPr>
          <p:cNvPr id="13" name="Rectangle 12"/>
          <p:cNvSpPr/>
          <p:nvPr/>
        </p:nvSpPr>
        <p:spPr>
          <a:xfrm>
            <a:off x="868680" y="4261104"/>
            <a:ext cx="10424160" cy="950976"/>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88720" y="4261104"/>
            <a:ext cx="9875520" cy="950976"/>
          </a:xfrm>
          <a:prstGeom prst="rect">
            <a:avLst/>
          </a:prstGeom>
          <a:noFill/>
        </p:spPr>
        <p:txBody>
          <a:bodyPr wrap="square" anchor="ctr" lIns="0" rIns="0" tIns="0" bIns="0">
            <a:spAutoFit/>
          </a:bodyPr>
          <a:lstStyle/>
          <a:p>
            <a:pPr algn="l">
              <a:spcAft>
                <a:spcPts val="800"/>
              </a:spcAft>
            </a:pPr>
            <a:r>
              <a:rPr sz="950" b="1" i="0">
                <a:solidFill>
                  <a:srgbClr val="D4A017"/>
                </a:solidFill>
                <a:latin typeface="Times New Roman"/>
              </a:rPr>
              <a:t>WORKING WELL WITH AI REQUIRES</a:t>
            </a:r>
          </a:p>
          <a:p>
            <a:pPr algn="l"/>
            <a:r>
              <a:rPr sz="1900" b="1" i="0">
                <a:solidFill>
                  <a:srgbClr val="FFFFFF"/>
                </a:solidFill>
                <a:latin typeface="Times New Roman"/>
              </a:rPr>
              <a:t>Skepticism  ·  Verification  ·  Reflection  ·  Intellectual humility</a:t>
            </a:r>
          </a:p>
        </p:txBody>
      </p:sp>
      <p:sp>
        <p:nvSpPr>
          <p:cNvPr id="15" name="Rectangle 14"/>
          <p:cNvSpPr/>
          <p:nvPr/>
        </p:nvSpPr>
        <p:spPr>
          <a:xfrm>
            <a:off x="868680" y="5541264"/>
            <a:ext cx="36576" cy="31089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69848" y="5541264"/>
            <a:ext cx="10424160" cy="365760"/>
          </a:xfrm>
          <a:prstGeom prst="rect">
            <a:avLst/>
          </a:prstGeom>
          <a:noFill/>
        </p:spPr>
        <p:txBody>
          <a:bodyPr wrap="square" anchor="ctr" lIns="0" rIns="0" tIns="0" bIns="0">
            <a:spAutoFit/>
          </a:bodyPr>
          <a:lstStyle/>
          <a:p>
            <a:pPr algn="l"/>
            <a:r>
              <a:rPr sz="1350" b="1" i="1">
                <a:solidFill>
                  <a:srgbClr val="10233F"/>
                </a:solidFill>
                <a:latin typeface="Times New Roman"/>
              </a:rPr>
              <a:t>AI is a thinking partner, not an answer generator. This mirrors professional strategic practice.</a:t>
            </a:r>
          </a:p>
        </p:txBody>
      </p:sp>
      <p:sp>
        <p:nvSpPr>
          <p:cNvPr id="17" name="TextBox 16"/>
          <p:cNvSpPr txBox="1"/>
          <p:nvPr/>
        </p:nvSpPr>
        <p:spPr>
          <a:xfrm>
            <a:off x="11475720" y="6473952"/>
            <a:ext cx="457200" cy="182880"/>
          </a:xfrm>
          <a:prstGeom prst="rect">
            <a:avLst/>
          </a:prstGeom>
          <a:noFill/>
        </p:spPr>
        <p:txBody>
          <a:bodyPr wrap="square" anchor="t" lIns="0" rIns="0" tIns="0" bIns="0">
            <a:spAutoFit/>
          </a:bodyPr>
          <a:lstStyle/>
          <a:p>
            <a:pPr algn="r"/>
            <a:r>
              <a:rPr sz="800" b="0" i="0">
                <a:solidFill>
                  <a:srgbClr val="9CA3AF"/>
                </a:solidFill>
                <a:latin typeface="Times New Roman"/>
              </a:rPr>
              <a:t>12</a:t>
            </a:r>
          </a:p>
        </p:txBody>
      </p:sp>
      <p:sp>
        <p:nvSpPr>
          <p:cNvPr id="18" name="TextBox 17"/>
          <p:cNvSpPr txBox="1"/>
          <p:nvPr/>
        </p:nvSpPr>
        <p:spPr>
          <a:xfrm>
            <a:off x="502920" y="6473952"/>
            <a:ext cx="6400800" cy="182880"/>
          </a:xfrm>
          <a:prstGeom prst="rect">
            <a:avLst/>
          </a:prstGeom>
          <a:noFill/>
        </p:spPr>
        <p:txBody>
          <a:bodyPr wrap="square" anchor="t" lIns="0" rIns="0" tIns="0" bIns="0">
            <a:spAutoFit/>
          </a:bodyPr>
          <a:lstStyle/>
          <a:p>
            <a:pPr algn="l"/>
            <a:r>
              <a:rPr sz="720" b="0" i="0">
                <a:solidFill>
                  <a:srgbClr val="6B7280"/>
                </a:solidFill>
                <a:latin typeface="Times New Roman"/>
              </a:rPr>
              <a:t>Strategic Management in the Age of AI · MGMT 465/665 · Course Introduction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969" cy="164592"/>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969" cy="3657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411480"/>
            <a:ext cx="5943600" cy="228600"/>
          </a:xfrm>
          <a:prstGeom prst="rect">
            <a:avLst/>
          </a:prstGeom>
          <a:noFill/>
        </p:spPr>
        <p:txBody>
          <a:bodyPr wrap="square" anchor="t" lIns="0" rIns="0" tIns="0" bIns="0">
            <a:spAutoFit/>
          </a:bodyPr>
          <a:lstStyle/>
          <a:p>
            <a:pPr algn="l"/>
            <a:r>
              <a:rPr sz="850" b="1" i="0">
                <a:solidFill>
                  <a:srgbClr val="2A6F97"/>
                </a:solidFill>
                <a:latin typeface="Times New Roman"/>
              </a:rPr>
              <a:t>PART 0 · RESPONSIBLE STRATEGIC LEADERSHIP</a:t>
            </a:r>
          </a:p>
        </p:txBody>
      </p:sp>
      <p:sp>
        <p:nvSpPr>
          <p:cNvPr id="6" name="TextBox 5"/>
          <p:cNvSpPr txBox="1"/>
          <p:nvPr/>
        </p:nvSpPr>
        <p:spPr>
          <a:xfrm>
            <a:off x="502920" y="640080"/>
            <a:ext cx="9509760" cy="457200"/>
          </a:xfrm>
          <a:prstGeom prst="rect">
            <a:avLst/>
          </a:prstGeom>
          <a:noFill/>
        </p:spPr>
        <p:txBody>
          <a:bodyPr wrap="square" anchor="t" lIns="0" rIns="0" tIns="0" bIns="0">
            <a:spAutoFit/>
          </a:bodyPr>
          <a:lstStyle/>
          <a:p>
            <a:pPr algn="l"/>
            <a:r>
              <a:rPr sz="2400" b="1" i="0">
                <a:solidFill>
                  <a:srgbClr val="111827"/>
                </a:solidFill>
                <a:latin typeface="Times New Roman"/>
              </a:rPr>
              <a:t>Responsible leadership is a core strategic capability</a:t>
            </a:r>
          </a:p>
        </p:txBody>
      </p:sp>
      <p:sp>
        <p:nvSpPr>
          <p:cNvPr id="7" name="TextBox 6"/>
          <p:cNvSpPr txBox="1"/>
          <p:nvPr/>
        </p:nvSpPr>
        <p:spPr>
          <a:xfrm>
            <a:off x="502920" y="1106424"/>
            <a:ext cx="10698480" cy="274320"/>
          </a:xfrm>
          <a:prstGeom prst="rect">
            <a:avLst/>
          </a:prstGeom>
          <a:noFill/>
        </p:spPr>
        <p:txBody>
          <a:bodyPr wrap="square" anchor="t" lIns="0" rIns="0" tIns="0" bIns="0">
            <a:spAutoFit/>
          </a:bodyPr>
          <a:lstStyle/>
          <a:p>
            <a:pPr algn="l"/>
            <a:r>
              <a:rPr sz="1250" b="0" i="1">
                <a:solidFill>
                  <a:srgbClr val="4B5563"/>
                </a:solidFill>
                <a:latin typeface="Times New Roman"/>
              </a:rPr>
              <a:t>Artificial intelligence amplifies both opportunity and responsibility.</a:t>
            </a:r>
          </a:p>
        </p:txBody>
      </p:sp>
      <p:sp>
        <p:nvSpPr>
          <p:cNvPr id="8" name="Rectangle 7"/>
          <p:cNvSpPr/>
          <p:nvPr/>
        </p:nvSpPr>
        <p:spPr>
          <a:xfrm>
            <a:off x="868680" y="1719072"/>
            <a:ext cx="2651760" cy="749808"/>
          </a:xfrm>
          <a:prstGeom prst="rect">
            <a:avLst/>
          </a:prstGeom>
          <a:solidFill>
            <a:srgbClr val="F6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68680" y="1719072"/>
            <a:ext cx="41148" cy="749808"/>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9848" y="1719072"/>
            <a:ext cx="2286000" cy="749808"/>
          </a:xfrm>
          <a:prstGeom prst="rect">
            <a:avLst/>
          </a:prstGeom>
          <a:noFill/>
        </p:spPr>
        <p:txBody>
          <a:bodyPr wrap="square" anchor="ctr" lIns="0" rIns="0" tIns="0" bIns="0">
            <a:spAutoFit/>
          </a:bodyPr>
          <a:lstStyle/>
          <a:p>
            <a:pPr algn="l">
              <a:lnSpc>
                <a:spcPct val="110000"/>
              </a:lnSpc>
            </a:pPr>
            <a:r>
              <a:rPr sz="1300" b="1" i="0">
                <a:solidFill>
                  <a:srgbClr val="10233F"/>
                </a:solidFill>
                <a:latin typeface="Times New Roman"/>
              </a:rPr>
              <a:t>Innovation</a:t>
            </a:r>
          </a:p>
        </p:txBody>
      </p:sp>
      <p:sp>
        <p:nvSpPr>
          <p:cNvPr id="11" name="Rectangle 10"/>
          <p:cNvSpPr/>
          <p:nvPr/>
        </p:nvSpPr>
        <p:spPr>
          <a:xfrm>
            <a:off x="3712463" y="1719072"/>
            <a:ext cx="2651760" cy="749808"/>
          </a:xfrm>
          <a:prstGeom prst="rect">
            <a:avLst/>
          </a:prstGeom>
          <a:solidFill>
            <a:srgbClr val="F6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712463" y="1719072"/>
            <a:ext cx="41148" cy="749808"/>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913631" y="1719072"/>
            <a:ext cx="2286000" cy="749808"/>
          </a:xfrm>
          <a:prstGeom prst="rect">
            <a:avLst/>
          </a:prstGeom>
          <a:noFill/>
        </p:spPr>
        <p:txBody>
          <a:bodyPr wrap="square" anchor="ctr" lIns="0" rIns="0" tIns="0" bIns="0">
            <a:spAutoFit/>
          </a:bodyPr>
          <a:lstStyle/>
          <a:p>
            <a:pPr algn="l">
              <a:lnSpc>
                <a:spcPct val="110000"/>
              </a:lnSpc>
            </a:pPr>
            <a:r>
              <a:rPr sz="1300" b="1" i="0">
                <a:solidFill>
                  <a:srgbClr val="10233F"/>
                </a:solidFill>
                <a:latin typeface="Times New Roman"/>
              </a:rPr>
              <a:t>Competitive advantage</a:t>
            </a:r>
          </a:p>
        </p:txBody>
      </p:sp>
      <p:sp>
        <p:nvSpPr>
          <p:cNvPr id="14" name="Rectangle 13"/>
          <p:cNvSpPr/>
          <p:nvPr/>
        </p:nvSpPr>
        <p:spPr>
          <a:xfrm>
            <a:off x="6556248" y="1719072"/>
            <a:ext cx="2651760" cy="749808"/>
          </a:xfrm>
          <a:prstGeom prst="rect">
            <a:avLst/>
          </a:prstGeom>
          <a:solidFill>
            <a:srgbClr val="F6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56248" y="1719072"/>
            <a:ext cx="41148" cy="749808"/>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57416" y="1719072"/>
            <a:ext cx="2286000" cy="749808"/>
          </a:xfrm>
          <a:prstGeom prst="rect">
            <a:avLst/>
          </a:prstGeom>
          <a:noFill/>
        </p:spPr>
        <p:txBody>
          <a:bodyPr wrap="square" anchor="ctr" lIns="0" rIns="0" tIns="0" bIns="0">
            <a:spAutoFit/>
          </a:bodyPr>
          <a:lstStyle/>
          <a:p>
            <a:pPr algn="l">
              <a:lnSpc>
                <a:spcPct val="110000"/>
              </a:lnSpc>
            </a:pPr>
            <a:r>
              <a:rPr sz="1300" b="1" i="0">
                <a:solidFill>
                  <a:srgbClr val="10233F"/>
                </a:solidFill>
                <a:latin typeface="Times New Roman"/>
              </a:rPr>
              <a:t>Governance</a:t>
            </a:r>
          </a:p>
        </p:txBody>
      </p:sp>
      <p:sp>
        <p:nvSpPr>
          <p:cNvPr id="17" name="Rectangle 16"/>
          <p:cNvSpPr/>
          <p:nvPr/>
        </p:nvSpPr>
        <p:spPr>
          <a:xfrm>
            <a:off x="9400032" y="1719072"/>
            <a:ext cx="2651760" cy="749808"/>
          </a:xfrm>
          <a:prstGeom prst="rect">
            <a:avLst/>
          </a:prstGeom>
          <a:solidFill>
            <a:srgbClr val="F6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400032" y="1719072"/>
            <a:ext cx="41148" cy="749808"/>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01200" y="1719072"/>
            <a:ext cx="2286000" cy="749808"/>
          </a:xfrm>
          <a:prstGeom prst="rect">
            <a:avLst/>
          </a:prstGeom>
          <a:noFill/>
        </p:spPr>
        <p:txBody>
          <a:bodyPr wrap="square" anchor="ctr" lIns="0" rIns="0" tIns="0" bIns="0">
            <a:spAutoFit/>
          </a:bodyPr>
          <a:lstStyle/>
          <a:p>
            <a:pPr algn="l">
              <a:lnSpc>
                <a:spcPct val="110000"/>
              </a:lnSpc>
            </a:pPr>
            <a:r>
              <a:rPr sz="1300" b="1" i="0">
                <a:solidFill>
                  <a:srgbClr val="10233F"/>
                </a:solidFill>
                <a:latin typeface="Times New Roman"/>
              </a:rPr>
              <a:t>Ethics</a:t>
            </a:r>
          </a:p>
        </p:txBody>
      </p:sp>
      <p:sp>
        <p:nvSpPr>
          <p:cNvPr id="20" name="Rectangle 19"/>
          <p:cNvSpPr/>
          <p:nvPr/>
        </p:nvSpPr>
        <p:spPr>
          <a:xfrm>
            <a:off x="868680" y="2651760"/>
            <a:ext cx="2651760" cy="749808"/>
          </a:xfrm>
          <a:prstGeom prst="rect">
            <a:avLst/>
          </a:prstGeom>
          <a:solidFill>
            <a:srgbClr val="F6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68680" y="2651760"/>
            <a:ext cx="41148" cy="749808"/>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69848" y="2651760"/>
            <a:ext cx="2286000" cy="749808"/>
          </a:xfrm>
          <a:prstGeom prst="rect">
            <a:avLst/>
          </a:prstGeom>
          <a:noFill/>
        </p:spPr>
        <p:txBody>
          <a:bodyPr wrap="square" anchor="ctr" lIns="0" rIns="0" tIns="0" bIns="0">
            <a:spAutoFit/>
          </a:bodyPr>
          <a:lstStyle/>
          <a:p>
            <a:pPr algn="l">
              <a:lnSpc>
                <a:spcPct val="110000"/>
              </a:lnSpc>
            </a:pPr>
            <a:r>
              <a:rPr sz="1300" b="1" i="0">
                <a:solidFill>
                  <a:srgbClr val="10233F"/>
                </a:solidFill>
                <a:latin typeface="Times New Roman"/>
              </a:rPr>
              <a:t>Stakeholder interests</a:t>
            </a:r>
          </a:p>
        </p:txBody>
      </p:sp>
      <p:sp>
        <p:nvSpPr>
          <p:cNvPr id="23" name="Rectangle 22"/>
          <p:cNvSpPr/>
          <p:nvPr/>
        </p:nvSpPr>
        <p:spPr>
          <a:xfrm>
            <a:off x="3712463" y="2651760"/>
            <a:ext cx="2651760" cy="749808"/>
          </a:xfrm>
          <a:prstGeom prst="rect">
            <a:avLst/>
          </a:prstGeom>
          <a:solidFill>
            <a:srgbClr val="F6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712463" y="2651760"/>
            <a:ext cx="41148" cy="749808"/>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913631" y="2651760"/>
            <a:ext cx="2286000" cy="749808"/>
          </a:xfrm>
          <a:prstGeom prst="rect">
            <a:avLst/>
          </a:prstGeom>
          <a:noFill/>
        </p:spPr>
        <p:txBody>
          <a:bodyPr wrap="square" anchor="ctr" lIns="0" rIns="0" tIns="0" bIns="0">
            <a:spAutoFit/>
          </a:bodyPr>
          <a:lstStyle/>
          <a:p>
            <a:pPr algn="l">
              <a:lnSpc>
                <a:spcPct val="110000"/>
              </a:lnSpc>
            </a:pPr>
            <a:r>
              <a:rPr sz="1300" b="1" i="0">
                <a:solidFill>
                  <a:srgbClr val="10233F"/>
                </a:solidFill>
                <a:latin typeface="Times New Roman"/>
              </a:rPr>
              <a:t>Sustainability</a:t>
            </a:r>
          </a:p>
        </p:txBody>
      </p:sp>
      <p:sp>
        <p:nvSpPr>
          <p:cNvPr id="26" name="Rectangle 25"/>
          <p:cNvSpPr/>
          <p:nvPr/>
        </p:nvSpPr>
        <p:spPr>
          <a:xfrm>
            <a:off x="6556248" y="2651760"/>
            <a:ext cx="2651760" cy="749808"/>
          </a:xfrm>
          <a:prstGeom prst="rect">
            <a:avLst/>
          </a:prstGeom>
          <a:solidFill>
            <a:srgbClr val="F6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556248" y="2651760"/>
            <a:ext cx="41148" cy="749808"/>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757416" y="2651760"/>
            <a:ext cx="2286000" cy="749808"/>
          </a:xfrm>
          <a:prstGeom prst="rect">
            <a:avLst/>
          </a:prstGeom>
          <a:noFill/>
        </p:spPr>
        <p:txBody>
          <a:bodyPr wrap="square" anchor="ctr" lIns="0" rIns="0" tIns="0" bIns="0">
            <a:spAutoFit/>
          </a:bodyPr>
          <a:lstStyle/>
          <a:p>
            <a:pPr algn="l">
              <a:lnSpc>
                <a:spcPct val="110000"/>
              </a:lnSpc>
            </a:pPr>
            <a:r>
              <a:rPr sz="1300" b="1" i="0">
                <a:solidFill>
                  <a:srgbClr val="10233F"/>
                </a:solidFill>
                <a:latin typeface="Times New Roman"/>
              </a:rPr>
              <a:t>Organizational performance</a:t>
            </a:r>
          </a:p>
        </p:txBody>
      </p:sp>
      <p:sp>
        <p:nvSpPr>
          <p:cNvPr id="29" name="Rectangle 28"/>
          <p:cNvSpPr/>
          <p:nvPr/>
        </p:nvSpPr>
        <p:spPr>
          <a:xfrm>
            <a:off x="9400032" y="2651760"/>
            <a:ext cx="2651760" cy="749808"/>
          </a:xfrm>
          <a:prstGeom prst="rect">
            <a:avLst/>
          </a:prstGeom>
          <a:solidFill>
            <a:srgbClr val="F6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00032" y="2651760"/>
            <a:ext cx="41148" cy="749808"/>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01200" y="2651760"/>
            <a:ext cx="2286000" cy="749808"/>
          </a:xfrm>
          <a:prstGeom prst="rect">
            <a:avLst/>
          </a:prstGeom>
          <a:noFill/>
        </p:spPr>
        <p:txBody>
          <a:bodyPr wrap="square" anchor="ctr" lIns="0" rIns="0" tIns="0" bIns="0">
            <a:spAutoFit/>
          </a:bodyPr>
          <a:lstStyle/>
          <a:p>
            <a:pPr algn="l">
              <a:lnSpc>
                <a:spcPct val="110000"/>
              </a:lnSpc>
            </a:pPr>
            <a:r>
              <a:rPr sz="1300" b="1" i="0">
                <a:solidFill>
                  <a:srgbClr val="10233F"/>
                </a:solidFill>
                <a:latin typeface="Times New Roman"/>
              </a:rPr>
              <a:t>Long-term societal impact</a:t>
            </a:r>
          </a:p>
        </p:txBody>
      </p:sp>
      <p:sp>
        <p:nvSpPr>
          <p:cNvPr id="32" name="Rectangle 31"/>
          <p:cNvSpPr/>
          <p:nvPr/>
        </p:nvSpPr>
        <p:spPr>
          <a:xfrm>
            <a:off x="868680" y="3639312"/>
            <a:ext cx="10424160" cy="987552"/>
          </a:xfrm>
          <a:prstGeom prst="rect">
            <a:avLst/>
          </a:prstGeom>
          <a:solidFill>
            <a:srgbClr val="EA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68680" y="3639312"/>
            <a:ext cx="45720" cy="987552"/>
          </a:xfrm>
          <a:prstGeom prst="rect">
            <a:avLst/>
          </a:prstGeom>
          <a:solidFill>
            <a:srgbClr val="2A6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188720" y="3639312"/>
            <a:ext cx="9875520" cy="987552"/>
          </a:xfrm>
          <a:prstGeom prst="rect">
            <a:avLst/>
          </a:prstGeom>
          <a:noFill/>
        </p:spPr>
        <p:txBody>
          <a:bodyPr wrap="square" anchor="ctr" lIns="0" rIns="0" tIns="0" bIns="0">
            <a:spAutoFit/>
          </a:bodyPr>
          <a:lstStyle/>
          <a:p>
            <a:pPr algn="l">
              <a:lnSpc>
                <a:spcPct val="130000"/>
              </a:lnSpc>
            </a:pPr>
            <a:r>
              <a:rPr sz="1350" b="0" i="0">
                <a:solidFill>
                  <a:srgbClr val="111827"/>
                </a:solidFill>
                <a:latin typeface="Times New Roman"/>
              </a:rPr>
              <a:t>Organizations exist within broader economic, legal, political, technological, and social systems. Strategic leaders must hold all eight of these in balance — simultaneously, and under uncertainty.</a:t>
            </a:r>
          </a:p>
        </p:txBody>
      </p:sp>
      <p:sp>
        <p:nvSpPr>
          <p:cNvPr id="35" name="TextBox 34"/>
          <p:cNvSpPr txBox="1"/>
          <p:nvPr/>
        </p:nvSpPr>
        <p:spPr>
          <a:xfrm>
            <a:off x="868680" y="4864608"/>
            <a:ext cx="10424160" cy="640080"/>
          </a:xfrm>
          <a:prstGeom prst="rect">
            <a:avLst/>
          </a:prstGeom>
          <a:noFill/>
        </p:spPr>
        <p:txBody>
          <a:bodyPr wrap="square" anchor="t" lIns="0" rIns="0" tIns="0" bIns="0">
            <a:spAutoFit/>
          </a:bodyPr>
          <a:lstStyle/>
          <a:p>
            <a:pPr algn="l">
              <a:lnSpc>
                <a:spcPct val="130000"/>
              </a:lnSpc>
            </a:pPr>
            <a:r>
              <a:rPr sz="1300" b="0" i="0">
                <a:solidFill>
                  <a:srgbClr val="4B5563"/>
                </a:solidFill>
                <a:latin typeface="Times New Roman"/>
              </a:rPr>
              <a:t>These issues are treated throughout the course as integral components of strategic management — not as a separate discussion of technology ethics bolted on at the end.</a:t>
            </a:r>
          </a:p>
        </p:txBody>
      </p:sp>
      <p:sp>
        <p:nvSpPr>
          <p:cNvPr id="36" name="Rectangle 35"/>
          <p:cNvSpPr/>
          <p:nvPr/>
        </p:nvSpPr>
        <p:spPr>
          <a:xfrm>
            <a:off x="868680" y="5760720"/>
            <a:ext cx="36576" cy="31089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69848" y="5760720"/>
            <a:ext cx="10424160" cy="365760"/>
          </a:xfrm>
          <a:prstGeom prst="rect">
            <a:avLst/>
          </a:prstGeom>
          <a:noFill/>
        </p:spPr>
        <p:txBody>
          <a:bodyPr wrap="square" anchor="ctr" lIns="0" rIns="0" tIns="0" bIns="0">
            <a:spAutoFit/>
          </a:bodyPr>
          <a:lstStyle/>
          <a:p>
            <a:pPr algn="l"/>
            <a:r>
              <a:rPr sz="1350" b="1" i="1">
                <a:solidFill>
                  <a:srgbClr val="10233F"/>
                </a:solidFill>
                <a:latin typeface="Times New Roman"/>
              </a:rPr>
              <a:t>Responsible leadership is not an elective topic. It is a core strategic capability.</a:t>
            </a:r>
          </a:p>
        </p:txBody>
      </p:sp>
      <p:sp>
        <p:nvSpPr>
          <p:cNvPr id="38" name="TextBox 37"/>
          <p:cNvSpPr txBox="1"/>
          <p:nvPr/>
        </p:nvSpPr>
        <p:spPr>
          <a:xfrm>
            <a:off x="11475720" y="6473952"/>
            <a:ext cx="457200" cy="182880"/>
          </a:xfrm>
          <a:prstGeom prst="rect">
            <a:avLst/>
          </a:prstGeom>
          <a:noFill/>
        </p:spPr>
        <p:txBody>
          <a:bodyPr wrap="square" anchor="t" lIns="0" rIns="0" tIns="0" bIns="0">
            <a:spAutoFit/>
          </a:bodyPr>
          <a:lstStyle/>
          <a:p>
            <a:pPr algn="r"/>
            <a:r>
              <a:rPr sz="800" b="0" i="0">
                <a:solidFill>
                  <a:srgbClr val="9CA3AF"/>
                </a:solidFill>
                <a:latin typeface="Times New Roman"/>
              </a:rPr>
              <a:t>13</a:t>
            </a:r>
          </a:p>
        </p:txBody>
      </p:sp>
      <p:sp>
        <p:nvSpPr>
          <p:cNvPr id="39" name="TextBox 38"/>
          <p:cNvSpPr txBox="1"/>
          <p:nvPr/>
        </p:nvSpPr>
        <p:spPr>
          <a:xfrm>
            <a:off x="502920" y="6473952"/>
            <a:ext cx="6400800" cy="182880"/>
          </a:xfrm>
          <a:prstGeom prst="rect">
            <a:avLst/>
          </a:prstGeom>
          <a:noFill/>
        </p:spPr>
        <p:txBody>
          <a:bodyPr wrap="square" anchor="t" lIns="0" rIns="0" tIns="0" bIns="0">
            <a:spAutoFit/>
          </a:bodyPr>
          <a:lstStyle/>
          <a:p>
            <a:pPr algn="l"/>
            <a:r>
              <a:rPr sz="720" b="0" i="0">
                <a:solidFill>
                  <a:srgbClr val="6B7280"/>
                </a:solidFill>
                <a:latin typeface="Times New Roman"/>
              </a:rPr>
              <a:t>Strategic Management in the Age of AI · MGMT 465/665 · Course Introduction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969" cy="164592"/>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969" cy="3657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411480"/>
            <a:ext cx="5943600" cy="228600"/>
          </a:xfrm>
          <a:prstGeom prst="rect">
            <a:avLst/>
          </a:prstGeom>
          <a:noFill/>
        </p:spPr>
        <p:txBody>
          <a:bodyPr wrap="square" anchor="t" lIns="0" rIns="0" tIns="0" bIns="0">
            <a:spAutoFit/>
          </a:bodyPr>
          <a:lstStyle/>
          <a:p>
            <a:pPr algn="l"/>
            <a:r>
              <a:rPr sz="850" b="1" i="0">
                <a:solidFill>
                  <a:srgbClr val="2A6F97"/>
                </a:solidFill>
                <a:latin typeface="Times New Roman"/>
              </a:rPr>
              <a:t>PART 0 · THE VISION OF THIS COURSE</a:t>
            </a:r>
          </a:p>
        </p:txBody>
      </p:sp>
      <p:sp>
        <p:nvSpPr>
          <p:cNvPr id="6" name="TextBox 5"/>
          <p:cNvSpPr txBox="1"/>
          <p:nvPr/>
        </p:nvSpPr>
        <p:spPr>
          <a:xfrm>
            <a:off x="502920" y="640080"/>
            <a:ext cx="9509760" cy="457200"/>
          </a:xfrm>
          <a:prstGeom prst="rect">
            <a:avLst/>
          </a:prstGeom>
          <a:noFill/>
        </p:spPr>
        <p:txBody>
          <a:bodyPr wrap="square" anchor="t" lIns="0" rIns="0" tIns="0" bIns="0">
            <a:spAutoFit/>
          </a:bodyPr>
          <a:lstStyle/>
          <a:p>
            <a:pPr algn="l"/>
            <a:r>
              <a:rPr sz="2400" b="1" i="0">
                <a:solidFill>
                  <a:srgbClr val="111827"/>
                </a:solidFill>
                <a:latin typeface="Times New Roman"/>
              </a:rPr>
              <a:t>What you should possess by the end of the semester</a:t>
            </a:r>
          </a:p>
        </p:txBody>
      </p:sp>
      <p:sp>
        <p:nvSpPr>
          <p:cNvPr id="7" name="Rectangle 6"/>
          <p:cNvSpPr/>
          <p:nvPr/>
        </p:nvSpPr>
        <p:spPr>
          <a:xfrm>
            <a:off x="868680" y="1572768"/>
            <a:ext cx="411480" cy="438912"/>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623060"/>
            <a:ext cx="411480" cy="320040"/>
          </a:xfrm>
          <a:prstGeom prst="rect">
            <a:avLst/>
          </a:prstGeom>
          <a:noFill/>
        </p:spPr>
        <p:txBody>
          <a:bodyPr wrap="square" anchor="t" lIns="0" rIns="0" tIns="0" bIns="0">
            <a:spAutoFit/>
          </a:bodyPr>
          <a:lstStyle/>
          <a:p>
            <a:pPr algn="ctr"/>
            <a:r>
              <a:rPr sz="1500" b="1" i="0">
                <a:solidFill>
                  <a:srgbClr val="FFFFFF"/>
                </a:solidFill>
                <a:latin typeface="Times New Roman"/>
              </a:rPr>
              <a:t>1</a:t>
            </a:r>
          </a:p>
        </p:txBody>
      </p:sp>
      <p:sp>
        <p:nvSpPr>
          <p:cNvPr id="9" name="TextBox 8"/>
          <p:cNvSpPr txBox="1"/>
          <p:nvPr/>
        </p:nvSpPr>
        <p:spPr>
          <a:xfrm>
            <a:off x="1463040" y="1563624"/>
            <a:ext cx="3931920" cy="292608"/>
          </a:xfrm>
          <a:prstGeom prst="rect">
            <a:avLst/>
          </a:prstGeom>
          <a:noFill/>
        </p:spPr>
        <p:txBody>
          <a:bodyPr wrap="square" anchor="t" lIns="0" rIns="0" tIns="0" bIns="0">
            <a:spAutoFit/>
          </a:bodyPr>
          <a:lstStyle/>
          <a:p>
            <a:pPr algn="l"/>
            <a:r>
              <a:rPr sz="1500" b="1" i="0">
                <a:solidFill>
                  <a:srgbClr val="111827"/>
                </a:solidFill>
                <a:latin typeface="Times New Roman"/>
              </a:rPr>
              <a:t>Depth in classical strategy</a:t>
            </a:r>
          </a:p>
        </p:txBody>
      </p:sp>
      <p:sp>
        <p:nvSpPr>
          <p:cNvPr id="10" name="TextBox 9"/>
          <p:cNvSpPr txBox="1"/>
          <p:nvPr/>
        </p:nvSpPr>
        <p:spPr>
          <a:xfrm>
            <a:off x="5532120" y="1600200"/>
            <a:ext cx="5394960" cy="457200"/>
          </a:xfrm>
          <a:prstGeom prst="rect">
            <a:avLst/>
          </a:prstGeom>
          <a:noFill/>
        </p:spPr>
        <p:txBody>
          <a:bodyPr wrap="square" anchor="t" lIns="0" rIns="0" tIns="0" bIns="0">
            <a:spAutoFit/>
          </a:bodyPr>
          <a:lstStyle/>
          <a:p>
            <a:pPr algn="l">
              <a:lnSpc>
                <a:spcPct val="115000"/>
              </a:lnSpc>
            </a:pPr>
            <a:r>
              <a:rPr sz="1250" b="0" i="0">
                <a:solidFill>
                  <a:srgbClr val="4B5563"/>
                </a:solidFill>
                <a:latin typeface="Times New Roman"/>
              </a:rPr>
              <a:t>A genuine understanding of the theories that define the discipline</a:t>
            </a:r>
          </a:p>
        </p:txBody>
      </p:sp>
      <p:sp>
        <p:nvSpPr>
          <p:cNvPr id="11" name="Rectangle 10"/>
          <p:cNvSpPr/>
          <p:nvPr/>
        </p:nvSpPr>
        <p:spPr>
          <a:xfrm>
            <a:off x="868680" y="2194560"/>
            <a:ext cx="411480" cy="438912"/>
          </a:xfrm>
          <a:prstGeom prst="rect">
            <a:avLst/>
          </a:prstGeom>
          <a:solidFill>
            <a:srgbClr val="2A6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2244852"/>
            <a:ext cx="411480" cy="320040"/>
          </a:xfrm>
          <a:prstGeom prst="rect">
            <a:avLst/>
          </a:prstGeom>
          <a:noFill/>
        </p:spPr>
        <p:txBody>
          <a:bodyPr wrap="square" anchor="t" lIns="0" rIns="0" tIns="0" bIns="0">
            <a:spAutoFit/>
          </a:bodyPr>
          <a:lstStyle/>
          <a:p>
            <a:pPr algn="ctr"/>
            <a:r>
              <a:rPr sz="1500" b="1" i="0">
                <a:solidFill>
                  <a:srgbClr val="FFFFFF"/>
                </a:solidFill>
                <a:latin typeface="Times New Roman"/>
              </a:rPr>
              <a:t>2</a:t>
            </a:r>
          </a:p>
        </p:txBody>
      </p:sp>
      <p:sp>
        <p:nvSpPr>
          <p:cNvPr id="13" name="TextBox 12"/>
          <p:cNvSpPr txBox="1"/>
          <p:nvPr/>
        </p:nvSpPr>
        <p:spPr>
          <a:xfrm>
            <a:off x="1463040" y="2185416"/>
            <a:ext cx="3931920" cy="292608"/>
          </a:xfrm>
          <a:prstGeom prst="rect">
            <a:avLst/>
          </a:prstGeom>
          <a:noFill/>
        </p:spPr>
        <p:txBody>
          <a:bodyPr wrap="square" anchor="t" lIns="0" rIns="0" tIns="0" bIns="0">
            <a:spAutoFit/>
          </a:bodyPr>
          <a:lstStyle/>
          <a:p>
            <a:pPr algn="l"/>
            <a:r>
              <a:rPr sz="1500" b="1" i="0">
                <a:solidFill>
                  <a:srgbClr val="111827"/>
                </a:solidFill>
                <a:latin typeface="Times New Roman"/>
              </a:rPr>
              <a:t>Fluency in emerging research</a:t>
            </a:r>
          </a:p>
        </p:txBody>
      </p:sp>
      <p:sp>
        <p:nvSpPr>
          <p:cNvPr id="14" name="TextBox 13"/>
          <p:cNvSpPr txBox="1"/>
          <p:nvPr/>
        </p:nvSpPr>
        <p:spPr>
          <a:xfrm>
            <a:off x="5532120" y="2221991"/>
            <a:ext cx="5394960" cy="457200"/>
          </a:xfrm>
          <a:prstGeom prst="rect">
            <a:avLst/>
          </a:prstGeom>
          <a:noFill/>
        </p:spPr>
        <p:txBody>
          <a:bodyPr wrap="square" anchor="t" lIns="0" rIns="0" tIns="0" bIns="0">
            <a:spAutoFit/>
          </a:bodyPr>
          <a:lstStyle/>
          <a:p>
            <a:pPr algn="l">
              <a:lnSpc>
                <a:spcPct val="115000"/>
              </a:lnSpc>
            </a:pPr>
            <a:r>
              <a:rPr sz="1250" b="0" i="0">
                <a:solidFill>
                  <a:srgbClr val="4B5563"/>
                </a:solidFill>
                <a:latin typeface="Times New Roman"/>
              </a:rPr>
              <a:t>Familiarity with the scholarship on AI and organizations</a:t>
            </a:r>
          </a:p>
        </p:txBody>
      </p:sp>
      <p:sp>
        <p:nvSpPr>
          <p:cNvPr id="15" name="Rectangle 14"/>
          <p:cNvSpPr/>
          <p:nvPr/>
        </p:nvSpPr>
        <p:spPr>
          <a:xfrm>
            <a:off x="868680" y="2816352"/>
            <a:ext cx="411480" cy="438912"/>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2866644"/>
            <a:ext cx="411480" cy="320040"/>
          </a:xfrm>
          <a:prstGeom prst="rect">
            <a:avLst/>
          </a:prstGeom>
          <a:noFill/>
        </p:spPr>
        <p:txBody>
          <a:bodyPr wrap="square" anchor="t" lIns="0" rIns="0" tIns="0" bIns="0">
            <a:spAutoFit/>
          </a:bodyPr>
          <a:lstStyle/>
          <a:p>
            <a:pPr algn="ctr"/>
            <a:r>
              <a:rPr sz="1500" b="1" i="0">
                <a:solidFill>
                  <a:srgbClr val="FFFFFF"/>
                </a:solidFill>
                <a:latin typeface="Times New Roman"/>
              </a:rPr>
              <a:t>3</a:t>
            </a:r>
          </a:p>
        </p:txBody>
      </p:sp>
      <p:sp>
        <p:nvSpPr>
          <p:cNvPr id="17" name="TextBox 16"/>
          <p:cNvSpPr txBox="1"/>
          <p:nvPr/>
        </p:nvSpPr>
        <p:spPr>
          <a:xfrm>
            <a:off x="1463040" y="2807208"/>
            <a:ext cx="3931920" cy="292608"/>
          </a:xfrm>
          <a:prstGeom prst="rect">
            <a:avLst/>
          </a:prstGeom>
          <a:noFill/>
        </p:spPr>
        <p:txBody>
          <a:bodyPr wrap="square" anchor="t" lIns="0" rIns="0" tIns="0" bIns="0">
            <a:spAutoFit/>
          </a:bodyPr>
          <a:lstStyle/>
          <a:p>
            <a:pPr algn="l"/>
            <a:r>
              <a:rPr sz="1500" b="1" i="0">
                <a:solidFill>
                  <a:srgbClr val="111827"/>
                </a:solidFill>
                <a:latin typeface="Times New Roman"/>
              </a:rPr>
              <a:t>Critical evaluative capacity</a:t>
            </a:r>
          </a:p>
        </p:txBody>
      </p:sp>
      <p:sp>
        <p:nvSpPr>
          <p:cNvPr id="18" name="TextBox 17"/>
          <p:cNvSpPr txBox="1"/>
          <p:nvPr/>
        </p:nvSpPr>
        <p:spPr>
          <a:xfrm>
            <a:off x="5532120" y="2843784"/>
            <a:ext cx="5394960" cy="457200"/>
          </a:xfrm>
          <a:prstGeom prst="rect">
            <a:avLst/>
          </a:prstGeom>
          <a:noFill/>
        </p:spPr>
        <p:txBody>
          <a:bodyPr wrap="square" anchor="t" lIns="0" rIns="0" tIns="0" bIns="0">
            <a:spAutoFit/>
          </a:bodyPr>
          <a:lstStyle/>
          <a:p>
            <a:pPr algn="l">
              <a:lnSpc>
                <a:spcPct val="115000"/>
              </a:lnSpc>
            </a:pPr>
            <a:r>
              <a:rPr sz="1250" b="0" i="0">
                <a:solidFill>
                  <a:srgbClr val="4B5563"/>
                </a:solidFill>
                <a:latin typeface="Times New Roman"/>
              </a:rPr>
              <a:t>The ability to assess strategic theory rather than recite it</a:t>
            </a:r>
          </a:p>
        </p:txBody>
      </p:sp>
      <p:sp>
        <p:nvSpPr>
          <p:cNvPr id="19" name="Rectangle 18"/>
          <p:cNvSpPr/>
          <p:nvPr/>
        </p:nvSpPr>
        <p:spPr>
          <a:xfrm>
            <a:off x="868680" y="3438144"/>
            <a:ext cx="411480" cy="438912"/>
          </a:xfrm>
          <a:prstGeom prst="rect">
            <a:avLst/>
          </a:prstGeom>
          <a:solidFill>
            <a:srgbClr val="2A6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3488436"/>
            <a:ext cx="411480" cy="320040"/>
          </a:xfrm>
          <a:prstGeom prst="rect">
            <a:avLst/>
          </a:prstGeom>
          <a:noFill/>
        </p:spPr>
        <p:txBody>
          <a:bodyPr wrap="square" anchor="t" lIns="0" rIns="0" tIns="0" bIns="0">
            <a:spAutoFit/>
          </a:bodyPr>
          <a:lstStyle/>
          <a:p>
            <a:pPr algn="ctr"/>
            <a:r>
              <a:rPr sz="1500" b="1" i="0">
                <a:solidFill>
                  <a:srgbClr val="FFFFFF"/>
                </a:solidFill>
                <a:latin typeface="Times New Roman"/>
              </a:rPr>
              <a:t>4</a:t>
            </a:r>
          </a:p>
        </p:txBody>
      </p:sp>
      <p:sp>
        <p:nvSpPr>
          <p:cNvPr id="21" name="TextBox 20"/>
          <p:cNvSpPr txBox="1"/>
          <p:nvPr/>
        </p:nvSpPr>
        <p:spPr>
          <a:xfrm>
            <a:off x="1463040" y="3429000"/>
            <a:ext cx="3931920" cy="292608"/>
          </a:xfrm>
          <a:prstGeom prst="rect">
            <a:avLst/>
          </a:prstGeom>
          <a:noFill/>
        </p:spPr>
        <p:txBody>
          <a:bodyPr wrap="square" anchor="t" lIns="0" rIns="0" tIns="0" bIns="0">
            <a:spAutoFit/>
          </a:bodyPr>
          <a:lstStyle/>
          <a:p>
            <a:pPr algn="l"/>
            <a:r>
              <a:rPr sz="1500" b="1" i="0">
                <a:solidFill>
                  <a:srgbClr val="111827"/>
                </a:solidFill>
                <a:latin typeface="Times New Roman"/>
              </a:rPr>
              <a:t>Applied executive experience</a:t>
            </a:r>
          </a:p>
        </p:txBody>
      </p:sp>
      <p:sp>
        <p:nvSpPr>
          <p:cNvPr id="22" name="TextBox 21"/>
          <p:cNvSpPr txBox="1"/>
          <p:nvPr/>
        </p:nvSpPr>
        <p:spPr>
          <a:xfrm>
            <a:off x="5532120" y="3465576"/>
            <a:ext cx="5394960" cy="457200"/>
          </a:xfrm>
          <a:prstGeom prst="rect">
            <a:avLst/>
          </a:prstGeom>
          <a:noFill/>
        </p:spPr>
        <p:txBody>
          <a:bodyPr wrap="square" anchor="t" lIns="0" rIns="0" tIns="0" bIns="0">
            <a:spAutoFit/>
          </a:bodyPr>
          <a:lstStyle/>
          <a:p>
            <a:pPr algn="l">
              <a:lnSpc>
                <a:spcPct val="115000"/>
              </a:lnSpc>
            </a:pPr>
            <a:r>
              <a:rPr sz="1250" b="0" i="0">
                <a:solidFill>
                  <a:srgbClr val="4B5563"/>
                </a:solidFill>
                <a:latin typeface="Times New Roman"/>
              </a:rPr>
              <a:t>Practical experience applying AI to real decision making</a:t>
            </a:r>
          </a:p>
        </p:txBody>
      </p:sp>
      <p:sp>
        <p:nvSpPr>
          <p:cNvPr id="23" name="Rectangle 22"/>
          <p:cNvSpPr/>
          <p:nvPr/>
        </p:nvSpPr>
        <p:spPr>
          <a:xfrm>
            <a:off x="868680" y="4059936"/>
            <a:ext cx="411480" cy="438912"/>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8680" y="4110228"/>
            <a:ext cx="411480" cy="320040"/>
          </a:xfrm>
          <a:prstGeom prst="rect">
            <a:avLst/>
          </a:prstGeom>
          <a:noFill/>
        </p:spPr>
        <p:txBody>
          <a:bodyPr wrap="square" anchor="t" lIns="0" rIns="0" tIns="0" bIns="0">
            <a:spAutoFit/>
          </a:bodyPr>
          <a:lstStyle/>
          <a:p>
            <a:pPr algn="ctr"/>
            <a:r>
              <a:rPr sz="1500" b="1" i="0">
                <a:solidFill>
                  <a:srgbClr val="FFFFFF"/>
                </a:solidFill>
                <a:latin typeface="Times New Roman"/>
              </a:rPr>
              <a:t>5</a:t>
            </a:r>
          </a:p>
        </p:txBody>
      </p:sp>
      <p:sp>
        <p:nvSpPr>
          <p:cNvPr id="25" name="TextBox 24"/>
          <p:cNvSpPr txBox="1"/>
          <p:nvPr/>
        </p:nvSpPr>
        <p:spPr>
          <a:xfrm>
            <a:off x="1463040" y="4050792"/>
            <a:ext cx="3931920" cy="292608"/>
          </a:xfrm>
          <a:prstGeom prst="rect">
            <a:avLst/>
          </a:prstGeom>
          <a:noFill/>
        </p:spPr>
        <p:txBody>
          <a:bodyPr wrap="square" anchor="t" lIns="0" rIns="0" tIns="0" bIns="0">
            <a:spAutoFit/>
          </a:bodyPr>
          <a:lstStyle/>
          <a:p>
            <a:pPr algn="l"/>
            <a:r>
              <a:rPr sz="1500" b="1" i="0">
                <a:solidFill>
                  <a:srgbClr val="111827"/>
                </a:solidFill>
                <a:latin typeface="Times New Roman"/>
              </a:rPr>
              <a:t>The confidence to contribute</a:t>
            </a:r>
          </a:p>
        </p:txBody>
      </p:sp>
      <p:sp>
        <p:nvSpPr>
          <p:cNvPr id="26" name="TextBox 25"/>
          <p:cNvSpPr txBox="1"/>
          <p:nvPr/>
        </p:nvSpPr>
        <p:spPr>
          <a:xfrm>
            <a:off x="5532120" y="4087368"/>
            <a:ext cx="5394960" cy="457200"/>
          </a:xfrm>
          <a:prstGeom prst="rect">
            <a:avLst/>
          </a:prstGeom>
          <a:noFill/>
        </p:spPr>
        <p:txBody>
          <a:bodyPr wrap="square" anchor="t" lIns="0" rIns="0" tIns="0" bIns="0">
            <a:spAutoFit/>
          </a:bodyPr>
          <a:lstStyle/>
          <a:p>
            <a:pPr algn="l">
              <a:lnSpc>
                <a:spcPct val="115000"/>
              </a:lnSpc>
            </a:pPr>
            <a:r>
              <a:rPr sz="1250" b="0" i="0">
                <a:solidFill>
                  <a:srgbClr val="4B5563"/>
                </a:solidFill>
                <a:latin typeface="Times New Roman"/>
              </a:rPr>
              <a:t>The standing to shape the future development of strategic management</a:t>
            </a:r>
          </a:p>
        </p:txBody>
      </p:sp>
      <p:sp>
        <p:nvSpPr>
          <p:cNvPr id="27" name="Rectangle 26"/>
          <p:cNvSpPr/>
          <p:nvPr/>
        </p:nvSpPr>
        <p:spPr>
          <a:xfrm>
            <a:off x="868680" y="4773168"/>
            <a:ext cx="10424160" cy="914400"/>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68680" y="4773168"/>
            <a:ext cx="10424160" cy="45720"/>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188720" y="4773168"/>
            <a:ext cx="9875520" cy="914400"/>
          </a:xfrm>
          <a:prstGeom prst="rect">
            <a:avLst/>
          </a:prstGeom>
          <a:noFill/>
        </p:spPr>
        <p:txBody>
          <a:bodyPr wrap="square" anchor="ctr" lIns="0" rIns="0" tIns="0" bIns="0">
            <a:spAutoFit/>
          </a:bodyPr>
          <a:lstStyle/>
          <a:p>
            <a:pPr algn="l">
              <a:lnSpc>
                <a:spcPct val="120000"/>
              </a:lnSpc>
            </a:pPr>
            <a:r>
              <a:rPr sz="1500" b="1" i="1">
                <a:solidFill>
                  <a:srgbClr val="FFFFFF"/>
                </a:solidFill>
                <a:latin typeface="Times New Roman"/>
              </a:rPr>
              <a:t>This course asks you to do more than learn strategy. It asks you to participate in the continuing evolution of one of management's most important disciplines.</a:t>
            </a:r>
          </a:p>
        </p:txBody>
      </p:sp>
      <p:sp>
        <p:nvSpPr>
          <p:cNvPr id="30" name="Rectangle 29"/>
          <p:cNvSpPr/>
          <p:nvPr/>
        </p:nvSpPr>
        <p:spPr>
          <a:xfrm>
            <a:off x="868680" y="5907024"/>
            <a:ext cx="36576" cy="31089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69848" y="5907024"/>
            <a:ext cx="10424160" cy="365760"/>
          </a:xfrm>
          <a:prstGeom prst="rect">
            <a:avLst/>
          </a:prstGeom>
          <a:noFill/>
        </p:spPr>
        <p:txBody>
          <a:bodyPr wrap="square" anchor="ctr" lIns="0" rIns="0" tIns="0" bIns="0">
            <a:spAutoFit/>
          </a:bodyPr>
          <a:lstStyle/>
          <a:p>
            <a:pPr algn="l"/>
            <a:r>
              <a:rPr sz="1350" b="1" i="1">
                <a:solidFill>
                  <a:srgbClr val="10233F"/>
                </a:solidFill>
                <a:latin typeface="Times New Roman"/>
              </a:rPr>
              <a:t>That is both the challenge and the opportunity of studying strategy in the age of artificial intelligence.</a:t>
            </a:r>
          </a:p>
        </p:txBody>
      </p:sp>
      <p:sp>
        <p:nvSpPr>
          <p:cNvPr id="32" name="TextBox 31"/>
          <p:cNvSpPr txBox="1"/>
          <p:nvPr/>
        </p:nvSpPr>
        <p:spPr>
          <a:xfrm>
            <a:off x="11475720" y="6473952"/>
            <a:ext cx="457200" cy="182880"/>
          </a:xfrm>
          <a:prstGeom prst="rect">
            <a:avLst/>
          </a:prstGeom>
          <a:noFill/>
        </p:spPr>
        <p:txBody>
          <a:bodyPr wrap="square" anchor="t" lIns="0" rIns="0" tIns="0" bIns="0">
            <a:spAutoFit/>
          </a:bodyPr>
          <a:lstStyle/>
          <a:p>
            <a:pPr algn="r"/>
            <a:r>
              <a:rPr sz="800" b="0" i="0">
                <a:solidFill>
                  <a:srgbClr val="9CA3AF"/>
                </a:solidFill>
                <a:latin typeface="Times New Roman"/>
              </a:rPr>
              <a:t>14</a:t>
            </a:r>
          </a:p>
        </p:txBody>
      </p:sp>
      <p:sp>
        <p:nvSpPr>
          <p:cNvPr id="33" name="TextBox 32"/>
          <p:cNvSpPr txBox="1"/>
          <p:nvPr/>
        </p:nvSpPr>
        <p:spPr>
          <a:xfrm>
            <a:off x="502920" y="6473952"/>
            <a:ext cx="6400800" cy="182880"/>
          </a:xfrm>
          <a:prstGeom prst="rect">
            <a:avLst/>
          </a:prstGeom>
          <a:noFill/>
        </p:spPr>
        <p:txBody>
          <a:bodyPr wrap="square" anchor="t" lIns="0" rIns="0" tIns="0" bIns="0">
            <a:spAutoFit/>
          </a:bodyPr>
          <a:lstStyle/>
          <a:p>
            <a:pPr algn="l"/>
            <a:r>
              <a:rPr sz="720" b="0" i="0">
                <a:solidFill>
                  <a:srgbClr val="6B7280"/>
                </a:solidFill>
                <a:latin typeface="Times New Roman"/>
              </a:rPr>
              <a:t>Strategic Management in the Age of AI · MGMT 465/665 · Course Introduction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6858000"/>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51560" y="1828800"/>
            <a:ext cx="5486400" cy="274320"/>
          </a:xfrm>
          <a:prstGeom prst="rect">
            <a:avLst/>
          </a:prstGeom>
          <a:noFill/>
        </p:spPr>
        <p:txBody>
          <a:bodyPr wrap="square" anchor="t" lIns="0" rIns="0" tIns="0" bIns="0">
            <a:spAutoFit/>
          </a:bodyPr>
          <a:lstStyle/>
          <a:p>
            <a:pPr algn="l"/>
            <a:r>
              <a:rPr sz="1200" b="1" i="0">
                <a:solidFill>
                  <a:srgbClr val="D4A017"/>
                </a:solidFill>
                <a:latin typeface="Times New Roman"/>
              </a:rPr>
              <a:t>PART I</a:t>
            </a:r>
          </a:p>
        </p:txBody>
      </p:sp>
      <p:sp>
        <p:nvSpPr>
          <p:cNvPr id="5" name="TextBox 4"/>
          <p:cNvSpPr txBox="1"/>
          <p:nvPr/>
        </p:nvSpPr>
        <p:spPr>
          <a:xfrm>
            <a:off x="1051560" y="2194560"/>
            <a:ext cx="8412480" cy="1005840"/>
          </a:xfrm>
          <a:prstGeom prst="rect">
            <a:avLst/>
          </a:prstGeom>
          <a:noFill/>
        </p:spPr>
        <p:txBody>
          <a:bodyPr wrap="square" anchor="t" lIns="0" rIns="0" tIns="0" bIns="0">
            <a:spAutoFit/>
          </a:bodyPr>
          <a:lstStyle/>
          <a:p>
            <a:pPr algn="l">
              <a:lnSpc>
                <a:spcPct val="95000"/>
              </a:lnSpc>
            </a:pPr>
            <a:r>
              <a:rPr sz="3800" b="1" i="0">
                <a:solidFill>
                  <a:srgbClr val="FFFFFF"/>
                </a:solidFill>
                <a:latin typeface="Times New Roman"/>
              </a:rPr>
              <a:t>Course Foundations</a:t>
            </a:r>
          </a:p>
        </p:txBody>
      </p:sp>
      <p:sp>
        <p:nvSpPr>
          <p:cNvPr id="6" name="Rectangle 5"/>
          <p:cNvSpPr/>
          <p:nvPr/>
        </p:nvSpPr>
        <p:spPr>
          <a:xfrm>
            <a:off x="1078992" y="3438144"/>
            <a:ext cx="1371600" cy="32004"/>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3712463"/>
            <a:ext cx="7863840" cy="731520"/>
          </a:xfrm>
          <a:prstGeom prst="rect">
            <a:avLst/>
          </a:prstGeom>
          <a:noFill/>
        </p:spPr>
        <p:txBody>
          <a:bodyPr wrap="square" anchor="t" lIns="0" rIns="0" tIns="0" bIns="0">
            <a:spAutoFit/>
          </a:bodyPr>
          <a:lstStyle/>
          <a:p>
            <a:pPr algn="l">
              <a:lnSpc>
                <a:spcPct val="125000"/>
              </a:lnSpc>
            </a:pPr>
            <a:r>
              <a:rPr sz="1500" b="0" i="1">
                <a:solidFill>
                  <a:srgbClr val="C9D2DE"/>
                </a:solidFill>
                <a:latin typeface="Times New Roman"/>
              </a:rPr>
              <a:t>“The purpose of this course is not to teach students how to use artificial intelligence. It is to prepare strategic leaders capable of guiding organizations through one of the most significant technological transformations in modern economic history.”</a:t>
            </a:r>
          </a:p>
        </p:txBody>
      </p:sp>
      <p:sp>
        <p:nvSpPr>
          <p:cNvPr id="8" name="Rectangle 7"/>
          <p:cNvSpPr/>
          <p:nvPr/>
        </p:nvSpPr>
        <p:spPr>
          <a:xfrm>
            <a:off x="1051560" y="4956048"/>
            <a:ext cx="82296" cy="237744"/>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52728" y="4946904"/>
            <a:ext cx="2926080" cy="274320"/>
          </a:xfrm>
          <a:prstGeom prst="rect">
            <a:avLst/>
          </a:prstGeom>
          <a:noFill/>
        </p:spPr>
        <p:txBody>
          <a:bodyPr wrap="square" anchor="t" lIns="0" rIns="0" tIns="0" bIns="0">
            <a:spAutoFit/>
          </a:bodyPr>
          <a:lstStyle/>
          <a:p>
            <a:pPr algn="l"/>
            <a:r>
              <a:rPr sz="1150" b="1" i="0">
                <a:solidFill>
                  <a:srgbClr val="FFFFFF"/>
                </a:solidFill>
                <a:latin typeface="Times New Roman"/>
              </a:rPr>
              <a:t>Educational philosophy</a:t>
            </a:r>
          </a:p>
        </p:txBody>
      </p:sp>
      <p:sp>
        <p:nvSpPr>
          <p:cNvPr id="10" name="Rectangle 9"/>
          <p:cNvSpPr/>
          <p:nvPr/>
        </p:nvSpPr>
        <p:spPr>
          <a:xfrm>
            <a:off x="4297679" y="4956048"/>
            <a:ext cx="82296" cy="237744"/>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98847" y="4946904"/>
            <a:ext cx="2926080" cy="274320"/>
          </a:xfrm>
          <a:prstGeom prst="rect">
            <a:avLst/>
          </a:prstGeom>
          <a:noFill/>
        </p:spPr>
        <p:txBody>
          <a:bodyPr wrap="square" anchor="t" lIns="0" rIns="0" tIns="0" bIns="0">
            <a:spAutoFit/>
          </a:bodyPr>
          <a:lstStyle/>
          <a:p>
            <a:pPr algn="l"/>
            <a:r>
              <a:rPr sz="1150" b="1" i="0">
                <a:solidFill>
                  <a:srgbClr val="FFFFFF"/>
                </a:solidFill>
                <a:latin typeface="Times New Roman"/>
              </a:rPr>
              <a:t>Pedagogical model</a:t>
            </a:r>
          </a:p>
        </p:txBody>
      </p:sp>
      <p:sp>
        <p:nvSpPr>
          <p:cNvPr id="12" name="Rectangle 11"/>
          <p:cNvSpPr/>
          <p:nvPr/>
        </p:nvSpPr>
        <p:spPr>
          <a:xfrm>
            <a:off x="7543800" y="4956048"/>
            <a:ext cx="82296" cy="237744"/>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44968" y="4946904"/>
            <a:ext cx="2926080" cy="274320"/>
          </a:xfrm>
          <a:prstGeom prst="rect">
            <a:avLst/>
          </a:prstGeom>
          <a:noFill/>
        </p:spPr>
        <p:txBody>
          <a:bodyPr wrap="square" anchor="t" lIns="0" rIns="0" tIns="0" bIns="0">
            <a:spAutoFit/>
          </a:bodyPr>
          <a:lstStyle/>
          <a:p>
            <a:pPr algn="l"/>
            <a:r>
              <a:rPr sz="1150" b="1" i="0">
                <a:solidFill>
                  <a:srgbClr val="FFFFFF"/>
                </a:solidFill>
                <a:latin typeface="Times New Roman"/>
              </a:rPr>
              <a:t>Signature experience</a:t>
            </a:r>
          </a:p>
        </p:txBody>
      </p:sp>
      <p:sp>
        <p:nvSpPr>
          <p:cNvPr id="14" name="TextBox 13"/>
          <p:cNvSpPr txBox="1"/>
          <p:nvPr/>
        </p:nvSpPr>
        <p:spPr>
          <a:xfrm>
            <a:off x="11475720" y="6473952"/>
            <a:ext cx="457200" cy="182880"/>
          </a:xfrm>
          <a:prstGeom prst="rect">
            <a:avLst/>
          </a:prstGeom>
          <a:noFill/>
        </p:spPr>
        <p:txBody>
          <a:bodyPr wrap="square" anchor="t" lIns="0" rIns="0" tIns="0" bIns="0">
            <a:spAutoFit/>
          </a:bodyPr>
          <a:lstStyle/>
          <a:p>
            <a:pPr algn="r"/>
            <a:r>
              <a:rPr sz="800" b="0" i="0">
                <a:solidFill>
                  <a:srgbClr val="D4A017"/>
                </a:solidFill>
                <a:latin typeface="Times New Roman"/>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969" cy="164592"/>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969" cy="3657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411480"/>
            <a:ext cx="5943600" cy="228600"/>
          </a:xfrm>
          <a:prstGeom prst="rect">
            <a:avLst/>
          </a:prstGeom>
          <a:noFill/>
        </p:spPr>
        <p:txBody>
          <a:bodyPr wrap="square" anchor="t" lIns="0" rIns="0" tIns="0" bIns="0">
            <a:spAutoFit/>
          </a:bodyPr>
          <a:lstStyle/>
          <a:p>
            <a:pPr algn="l"/>
            <a:r>
              <a:rPr sz="850" b="1" i="0">
                <a:solidFill>
                  <a:srgbClr val="2A6F97"/>
                </a:solidFill>
                <a:latin typeface="Times New Roman"/>
              </a:rPr>
              <a:t>PART I · PREFACE</a:t>
            </a:r>
          </a:p>
        </p:txBody>
      </p:sp>
      <p:sp>
        <p:nvSpPr>
          <p:cNvPr id="6" name="TextBox 5"/>
          <p:cNvSpPr txBox="1"/>
          <p:nvPr/>
        </p:nvSpPr>
        <p:spPr>
          <a:xfrm>
            <a:off x="502920" y="640080"/>
            <a:ext cx="9509760" cy="457200"/>
          </a:xfrm>
          <a:prstGeom prst="rect">
            <a:avLst/>
          </a:prstGeom>
          <a:noFill/>
        </p:spPr>
        <p:txBody>
          <a:bodyPr wrap="square" anchor="t" lIns="0" rIns="0" tIns="0" bIns="0">
            <a:spAutoFit/>
          </a:bodyPr>
          <a:lstStyle/>
          <a:p>
            <a:pPr algn="l"/>
            <a:r>
              <a:rPr sz="2400" b="1" i="0">
                <a:solidFill>
                  <a:srgbClr val="111827"/>
                </a:solidFill>
                <a:latin typeface="Times New Roman"/>
              </a:rPr>
              <a:t>Strategic management at an inflection point</a:t>
            </a:r>
          </a:p>
        </p:txBody>
      </p:sp>
      <p:sp>
        <p:nvSpPr>
          <p:cNvPr id="7" name="Rectangle 6"/>
          <p:cNvSpPr/>
          <p:nvPr/>
        </p:nvSpPr>
        <p:spPr>
          <a:xfrm>
            <a:off x="868680" y="1481328"/>
            <a:ext cx="5047488" cy="2084831"/>
          </a:xfrm>
          <a:prstGeom prst="rect">
            <a:avLst/>
          </a:prstGeom>
          <a:solidFill>
            <a:srgbClr val="F6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68680" y="1481328"/>
            <a:ext cx="5047488" cy="41148"/>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24127" y="1673352"/>
            <a:ext cx="4736592" cy="1773935"/>
          </a:xfrm>
          <a:prstGeom prst="rect">
            <a:avLst/>
          </a:prstGeom>
          <a:noFill/>
        </p:spPr>
        <p:txBody>
          <a:bodyPr wrap="square" anchor="t" lIns="0" rIns="0" tIns="0" bIns="0">
            <a:spAutoFit/>
          </a:bodyPr>
          <a:lstStyle/>
          <a:p>
            <a:pPr algn="l">
              <a:lnSpc>
                <a:spcPct val="105000"/>
              </a:lnSpc>
              <a:spcAft>
                <a:spcPts val="500"/>
              </a:spcAft>
            </a:pPr>
            <a:r>
              <a:rPr sz="1400" b="1" i="0">
                <a:solidFill>
                  <a:srgbClr val="10233F"/>
                </a:solidFill>
                <a:latin typeface="Times New Roman"/>
              </a:rPr>
              <a:t>Half a century of contribution</a:t>
            </a:r>
          </a:p>
          <a:p>
            <a:pPr algn="l">
              <a:lnSpc>
                <a:spcPct val="126000"/>
              </a:lnSpc>
              <a:spcAft>
                <a:spcPts val="300"/>
              </a:spcAft>
            </a:pPr>
            <a:r>
              <a:rPr sz="1200" b="0" i="0">
                <a:solidFill>
                  <a:srgbClr val="111827"/>
                </a:solidFill>
                <a:latin typeface="Times New Roman"/>
              </a:rPr>
              <a:t>Industry structure. Competitive positioning. Core competencies. Dynamic capabilities. Organizational learning. Stakeholder management.</a:t>
            </a:r>
          </a:p>
          <a:p>
            <a:pPr algn="l">
              <a:lnSpc>
                <a:spcPct val="126000"/>
              </a:lnSpc>
              <a:spcAft>
                <a:spcPts val="300"/>
              </a:spcAft>
            </a:pPr>
            <a:r>
              <a:rPr sz="1200" b="0" i="0">
                <a:solidFill>
                  <a:srgbClr val="111827"/>
                </a:solidFill>
                <a:latin typeface="Times New Roman"/>
              </a:rPr>
              <a:t/>
            </a:r>
          </a:p>
          <a:p>
            <a:pPr algn="l">
              <a:lnSpc>
                <a:spcPct val="126000"/>
              </a:lnSpc>
              <a:spcAft>
                <a:spcPts val="300"/>
              </a:spcAft>
            </a:pPr>
            <a:r>
              <a:rPr sz="1200" b="0" i="0">
                <a:solidFill>
                  <a:srgbClr val="111827"/>
                </a:solidFill>
                <a:latin typeface="Times New Roman"/>
              </a:rPr>
              <a:t>These frameworks have shaped executive decision making across virtually every sector of the global economy — and they still explain why organizations differ in performance.</a:t>
            </a:r>
          </a:p>
        </p:txBody>
      </p:sp>
      <p:sp>
        <p:nvSpPr>
          <p:cNvPr id="10" name="Rectangle 9"/>
          <p:cNvSpPr/>
          <p:nvPr/>
        </p:nvSpPr>
        <p:spPr>
          <a:xfrm>
            <a:off x="6245352" y="1481328"/>
            <a:ext cx="5047488" cy="2084831"/>
          </a:xfrm>
          <a:prstGeom prst="rect">
            <a:avLst/>
          </a:prstGeom>
          <a:solidFill>
            <a:srgbClr val="EA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45352" y="1481328"/>
            <a:ext cx="5047488" cy="41148"/>
          </a:xfrm>
          <a:prstGeom prst="rect">
            <a:avLst/>
          </a:prstGeom>
          <a:solidFill>
            <a:srgbClr val="2A6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1673352"/>
            <a:ext cx="4736592" cy="1773935"/>
          </a:xfrm>
          <a:prstGeom prst="rect">
            <a:avLst/>
          </a:prstGeom>
          <a:noFill/>
        </p:spPr>
        <p:txBody>
          <a:bodyPr wrap="square" anchor="t" lIns="0" rIns="0" tIns="0" bIns="0">
            <a:spAutoFit/>
          </a:bodyPr>
          <a:lstStyle/>
          <a:p>
            <a:pPr algn="l">
              <a:lnSpc>
                <a:spcPct val="105000"/>
              </a:lnSpc>
              <a:spcAft>
                <a:spcPts val="500"/>
              </a:spcAft>
            </a:pPr>
            <a:r>
              <a:rPr sz="1400" b="1" i="0">
                <a:solidFill>
                  <a:srgbClr val="10233F"/>
                </a:solidFill>
                <a:latin typeface="Times New Roman"/>
              </a:rPr>
              <a:t>Why this moment is different</a:t>
            </a:r>
          </a:p>
          <a:p>
            <a:pPr algn="l">
              <a:lnSpc>
                <a:spcPct val="126000"/>
              </a:lnSpc>
              <a:spcAft>
                <a:spcPts val="300"/>
              </a:spcAft>
            </a:pPr>
            <a:r>
              <a:rPr sz="1200" b="0" i="0">
                <a:solidFill>
                  <a:srgbClr val="111827"/>
                </a:solidFill>
                <a:latin typeface="Times New Roman"/>
              </a:rPr>
              <a:t>Earlier technologies primarily automated routine activity.</a:t>
            </a:r>
          </a:p>
          <a:p>
            <a:pPr algn="l">
              <a:lnSpc>
                <a:spcPct val="126000"/>
              </a:lnSpc>
              <a:spcAft>
                <a:spcPts val="300"/>
              </a:spcAft>
            </a:pPr>
            <a:r>
              <a:rPr sz="1200" b="0" i="0">
                <a:solidFill>
                  <a:srgbClr val="111827"/>
                </a:solidFill>
                <a:latin typeface="Times New Roman"/>
              </a:rPr>
              <a:t/>
            </a:r>
          </a:p>
          <a:p>
            <a:pPr algn="l">
              <a:lnSpc>
                <a:spcPct val="126000"/>
              </a:lnSpc>
              <a:spcAft>
                <a:spcPts val="300"/>
              </a:spcAft>
            </a:pPr>
            <a:r>
              <a:rPr sz="1200" b="0" i="0">
                <a:solidFill>
                  <a:srgbClr val="111827"/>
                </a:solidFill>
                <a:latin typeface="Times New Roman"/>
              </a:rPr>
              <a:t>Modern AI increasingly performs cognitive work traditionally associated with managers, analysts, consultants, engineers, and knowledge professionals.</a:t>
            </a:r>
          </a:p>
        </p:txBody>
      </p:sp>
      <p:sp>
        <p:nvSpPr>
          <p:cNvPr id="13" name="TextBox 12"/>
          <p:cNvSpPr txBox="1"/>
          <p:nvPr/>
        </p:nvSpPr>
        <p:spPr>
          <a:xfrm>
            <a:off x="868680" y="3785615"/>
            <a:ext cx="10424160" cy="274320"/>
          </a:xfrm>
          <a:prstGeom prst="rect">
            <a:avLst/>
          </a:prstGeom>
          <a:noFill/>
        </p:spPr>
        <p:txBody>
          <a:bodyPr wrap="square" anchor="t" lIns="0" rIns="0" tIns="0" bIns="0">
            <a:spAutoFit/>
          </a:bodyPr>
          <a:lstStyle/>
          <a:p>
            <a:pPr algn="l"/>
            <a:r>
              <a:rPr sz="950" b="1" i="0">
                <a:solidFill>
                  <a:srgbClr val="2A6F97"/>
                </a:solidFill>
                <a:latin typeface="Times New Roman"/>
              </a:rPr>
              <a:t>INTELLIGENT SYSTEMS NOW ROUTINELY</a:t>
            </a:r>
          </a:p>
        </p:txBody>
      </p:sp>
      <p:sp>
        <p:nvSpPr>
          <p:cNvPr id="14" name="Rectangle 13"/>
          <p:cNvSpPr/>
          <p:nvPr/>
        </p:nvSpPr>
        <p:spPr>
          <a:xfrm>
            <a:off x="868680" y="4114800"/>
            <a:ext cx="2651760" cy="566928"/>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68680" y="4114800"/>
            <a:ext cx="41148" cy="566928"/>
          </a:xfrm>
          <a:prstGeom prst="rect">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69848" y="4114800"/>
            <a:ext cx="2286000" cy="566928"/>
          </a:xfrm>
          <a:prstGeom prst="rect">
            <a:avLst/>
          </a:prstGeom>
          <a:noFill/>
        </p:spPr>
        <p:txBody>
          <a:bodyPr wrap="square" anchor="ctr" lIns="0" rIns="0" tIns="0" bIns="0">
            <a:spAutoFit/>
          </a:bodyPr>
          <a:lstStyle/>
          <a:p>
            <a:pPr algn="l">
              <a:lnSpc>
                <a:spcPct val="110000"/>
              </a:lnSpc>
            </a:pPr>
            <a:r>
              <a:rPr sz="1150" b="1" i="0">
                <a:solidFill>
                  <a:srgbClr val="10233F"/>
                </a:solidFill>
                <a:latin typeface="Times New Roman"/>
              </a:rPr>
              <a:t>Generate strategic recommendations</a:t>
            </a:r>
          </a:p>
        </p:txBody>
      </p:sp>
      <p:sp>
        <p:nvSpPr>
          <p:cNvPr id="17" name="Rectangle 16"/>
          <p:cNvSpPr/>
          <p:nvPr/>
        </p:nvSpPr>
        <p:spPr>
          <a:xfrm>
            <a:off x="3712463" y="4114800"/>
            <a:ext cx="2651760" cy="566928"/>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712463" y="4114800"/>
            <a:ext cx="41148" cy="566928"/>
          </a:xfrm>
          <a:prstGeom prst="rect">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13631" y="4114800"/>
            <a:ext cx="2286000" cy="566928"/>
          </a:xfrm>
          <a:prstGeom prst="rect">
            <a:avLst/>
          </a:prstGeom>
          <a:noFill/>
        </p:spPr>
        <p:txBody>
          <a:bodyPr wrap="square" anchor="ctr" lIns="0" rIns="0" tIns="0" bIns="0">
            <a:spAutoFit/>
          </a:bodyPr>
          <a:lstStyle/>
          <a:p>
            <a:pPr algn="l">
              <a:lnSpc>
                <a:spcPct val="110000"/>
              </a:lnSpc>
            </a:pPr>
            <a:r>
              <a:rPr sz="1150" b="1" i="0">
                <a:solidFill>
                  <a:srgbClr val="10233F"/>
                </a:solidFill>
                <a:latin typeface="Times New Roman"/>
              </a:rPr>
              <a:t>Evaluate investment alternatives</a:t>
            </a:r>
          </a:p>
        </p:txBody>
      </p:sp>
      <p:sp>
        <p:nvSpPr>
          <p:cNvPr id="20" name="Rectangle 19"/>
          <p:cNvSpPr/>
          <p:nvPr/>
        </p:nvSpPr>
        <p:spPr>
          <a:xfrm>
            <a:off x="6556248" y="4114800"/>
            <a:ext cx="2651760" cy="566928"/>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556248" y="4114800"/>
            <a:ext cx="41148" cy="566928"/>
          </a:xfrm>
          <a:prstGeom prst="rect">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57416" y="4114800"/>
            <a:ext cx="2286000" cy="566928"/>
          </a:xfrm>
          <a:prstGeom prst="rect">
            <a:avLst/>
          </a:prstGeom>
          <a:noFill/>
        </p:spPr>
        <p:txBody>
          <a:bodyPr wrap="square" anchor="ctr" lIns="0" rIns="0" tIns="0" bIns="0">
            <a:spAutoFit/>
          </a:bodyPr>
          <a:lstStyle/>
          <a:p>
            <a:pPr algn="l">
              <a:lnSpc>
                <a:spcPct val="110000"/>
              </a:lnSpc>
            </a:pPr>
            <a:r>
              <a:rPr sz="1150" b="1" i="0">
                <a:solidFill>
                  <a:srgbClr val="10233F"/>
                </a:solidFill>
                <a:latin typeface="Times New Roman"/>
              </a:rPr>
              <a:t>Forecast markets</a:t>
            </a:r>
          </a:p>
        </p:txBody>
      </p:sp>
      <p:sp>
        <p:nvSpPr>
          <p:cNvPr id="23" name="Rectangle 22"/>
          <p:cNvSpPr/>
          <p:nvPr/>
        </p:nvSpPr>
        <p:spPr>
          <a:xfrm>
            <a:off x="9400032" y="4114800"/>
            <a:ext cx="2651760" cy="566928"/>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400032" y="4114800"/>
            <a:ext cx="41148" cy="566928"/>
          </a:xfrm>
          <a:prstGeom prst="rect">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601200" y="4114800"/>
            <a:ext cx="2286000" cy="566928"/>
          </a:xfrm>
          <a:prstGeom prst="rect">
            <a:avLst/>
          </a:prstGeom>
          <a:noFill/>
        </p:spPr>
        <p:txBody>
          <a:bodyPr wrap="square" anchor="ctr" lIns="0" rIns="0" tIns="0" bIns="0">
            <a:spAutoFit/>
          </a:bodyPr>
          <a:lstStyle/>
          <a:p>
            <a:pPr algn="l">
              <a:lnSpc>
                <a:spcPct val="110000"/>
              </a:lnSpc>
            </a:pPr>
            <a:r>
              <a:rPr sz="1150" b="1" i="0">
                <a:solidFill>
                  <a:srgbClr val="10233F"/>
                </a:solidFill>
                <a:latin typeface="Times New Roman"/>
              </a:rPr>
              <a:t>Design products</a:t>
            </a:r>
          </a:p>
        </p:txBody>
      </p:sp>
      <p:sp>
        <p:nvSpPr>
          <p:cNvPr id="26" name="Rectangle 25"/>
          <p:cNvSpPr/>
          <p:nvPr/>
        </p:nvSpPr>
        <p:spPr>
          <a:xfrm>
            <a:off x="868680" y="4828032"/>
            <a:ext cx="2651760" cy="566928"/>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68680" y="4828032"/>
            <a:ext cx="41148" cy="566928"/>
          </a:xfrm>
          <a:prstGeom prst="rect">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69848" y="4828032"/>
            <a:ext cx="2286000" cy="566928"/>
          </a:xfrm>
          <a:prstGeom prst="rect">
            <a:avLst/>
          </a:prstGeom>
          <a:noFill/>
        </p:spPr>
        <p:txBody>
          <a:bodyPr wrap="square" anchor="ctr" lIns="0" rIns="0" tIns="0" bIns="0">
            <a:spAutoFit/>
          </a:bodyPr>
          <a:lstStyle/>
          <a:p>
            <a:pPr algn="l">
              <a:lnSpc>
                <a:spcPct val="110000"/>
              </a:lnSpc>
            </a:pPr>
            <a:r>
              <a:rPr sz="1150" b="1" i="0">
                <a:solidFill>
                  <a:srgbClr val="10233F"/>
                </a:solidFill>
                <a:latin typeface="Times New Roman"/>
              </a:rPr>
              <a:t>Optimize operations</a:t>
            </a:r>
          </a:p>
        </p:txBody>
      </p:sp>
      <p:sp>
        <p:nvSpPr>
          <p:cNvPr id="29" name="Rectangle 28"/>
          <p:cNvSpPr/>
          <p:nvPr/>
        </p:nvSpPr>
        <p:spPr>
          <a:xfrm>
            <a:off x="3712463" y="4828032"/>
            <a:ext cx="2651760" cy="566928"/>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712463" y="4828032"/>
            <a:ext cx="41148" cy="566928"/>
          </a:xfrm>
          <a:prstGeom prst="rect">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913631" y="4828032"/>
            <a:ext cx="2286000" cy="566928"/>
          </a:xfrm>
          <a:prstGeom prst="rect">
            <a:avLst/>
          </a:prstGeom>
          <a:noFill/>
        </p:spPr>
        <p:txBody>
          <a:bodyPr wrap="square" anchor="ctr" lIns="0" rIns="0" tIns="0" bIns="0">
            <a:spAutoFit/>
          </a:bodyPr>
          <a:lstStyle/>
          <a:p>
            <a:pPr algn="l">
              <a:lnSpc>
                <a:spcPct val="110000"/>
              </a:lnSpc>
            </a:pPr>
            <a:r>
              <a:rPr sz="1150" b="1" i="0">
                <a:solidFill>
                  <a:srgbClr val="10233F"/>
                </a:solidFill>
                <a:latin typeface="Times New Roman"/>
              </a:rPr>
              <a:t>Write software</a:t>
            </a:r>
          </a:p>
        </p:txBody>
      </p:sp>
      <p:sp>
        <p:nvSpPr>
          <p:cNvPr id="32" name="Rectangle 31"/>
          <p:cNvSpPr/>
          <p:nvPr/>
        </p:nvSpPr>
        <p:spPr>
          <a:xfrm>
            <a:off x="6556248" y="4828032"/>
            <a:ext cx="2651760" cy="566928"/>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556248" y="4828032"/>
            <a:ext cx="41148" cy="566928"/>
          </a:xfrm>
          <a:prstGeom prst="rect">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757416" y="4828032"/>
            <a:ext cx="2286000" cy="566928"/>
          </a:xfrm>
          <a:prstGeom prst="rect">
            <a:avLst/>
          </a:prstGeom>
          <a:noFill/>
        </p:spPr>
        <p:txBody>
          <a:bodyPr wrap="square" anchor="ctr" lIns="0" rIns="0" tIns="0" bIns="0">
            <a:spAutoFit/>
          </a:bodyPr>
          <a:lstStyle/>
          <a:p>
            <a:pPr algn="l">
              <a:lnSpc>
                <a:spcPct val="110000"/>
              </a:lnSpc>
            </a:pPr>
            <a:r>
              <a:rPr sz="1150" b="1" i="0">
                <a:solidFill>
                  <a:srgbClr val="10233F"/>
                </a:solidFill>
                <a:latin typeface="Times New Roman"/>
              </a:rPr>
              <a:t>Create marketing campaigns</a:t>
            </a:r>
          </a:p>
        </p:txBody>
      </p:sp>
      <p:sp>
        <p:nvSpPr>
          <p:cNvPr id="35" name="Rectangle 34"/>
          <p:cNvSpPr/>
          <p:nvPr/>
        </p:nvSpPr>
        <p:spPr>
          <a:xfrm>
            <a:off x="9400032" y="4828032"/>
            <a:ext cx="2651760" cy="566928"/>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400032" y="4828032"/>
            <a:ext cx="41148" cy="566928"/>
          </a:xfrm>
          <a:prstGeom prst="rect">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601200" y="4828032"/>
            <a:ext cx="2286000" cy="566928"/>
          </a:xfrm>
          <a:prstGeom prst="rect">
            <a:avLst/>
          </a:prstGeom>
          <a:noFill/>
        </p:spPr>
        <p:txBody>
          <a:bodyPr wrap="square" anchor="ctr" lIns="0" rIns="0" tIns="0" bIns="0">
            <a:spAutoFit/>
          </a:bodyPr>
          <a:lstStyle/>
          <a:p>
            <a:pPr algn="l">
              <a:lnSpc>
                <a:spcPct val="110000"/>
              </a:lnSpc>
            </a:pPr>
            <a:r>
              <a:rPr sz="1150" b="1" i="0">
                <a:solidFill>
                  <a:srgbClr val="10233F"/>
                </a:solidFill>
                <a:latin typeface="Times New Roman"/>
              </a:rPr>
              <a:t>Assist executive decision making</a:t>
            </a:r>
          </a:p>
        </p:txBody>
      </p:sp>
      <p:sp>
        <p:nvSpPr>
          <p:cNvPr id="38" name="Rectangle 37"/>
          <p:cNvSpPr/>
          <p:nvPr/>
        </p:nvSpPr>
        <p:spPr>
          <a:xfrm>
            <a:off x="868680" y="5870448"/>
            <a:ext cx="36576" cy="31089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69848" y="5870448"/>
            <a:ext cx="10424160" cy="365760"/>
          </a:xfrm>
          <a:prstGeom prst="rect">
            <a:avLst/>
          </a:prstGeom>
          <a:noFill/>
        </p:spPr>
        <p:txBody>
          <a:bodyPr wrap="square" anchor="ctr" lIns="0" rIns="0" tIns="0" bIns="0">
            <a:spAutoFit/>
          </a:bodyPr>
          <a:lstStyle/>
          <a:p>
            <a:pPr algn="l"/>
            <a:r>
              <a:rPr sz="1350" b="1" i="1">
                <a:solidFill>
                  <a:srgbClr val="10233F"/>
                </a:solidFill>
                <a:latin typeface="Times New Roman"/>
              </a:rPr>
              <a:t>These developments raise questions that classical strategy never fully anticipated.</a:t>
            </a:r>
          </a:p>
        </p:txBody>
      </p:sp>
      <p:sp>
        <p:nvSpPr>
          <p:cNvPr id="40" name="TextBox 39"/>
          <p:cNvSpPr txBox="1"/>
          <p:nvPr/>
        </p:nvSpPr>
        <p:spPr>
          <a:xfrm>
            <a:off x="11475720" y="6473952"/>
            <a:ext cx="457200" cy="182880"/>
          </a:xfrm>
          <a:prstGeom prst="rect">
            <a:avLst/>
          </a:prstGeom>
          <a:noFill/>
        </p:spPr>
        <p:txBody>
          <a:bodyPr wrap="square" anchor="t" lIns="0" rIns="0" tIns="0" bIns="0">
            <a:spAutoFit/>
          </a:bodyPr>
          <a:lstStyle/>
          <a:p>
            <a:pPr algn="r"/>
            <a:r>
              <a:rPr sz="800" b="0" i="0">
                <a:solidFill>
                  <a:srgbClr val="9CA3AF"/>
                </a:solidFill>
                <a:latin typeface="Times New Roman"/>
              </a:rPr>
              <a:t>16</a:t>
            </a:r>
          </a:p>
        </p:txBody>
      </p:sp>
      <p:sp>
        <p:nvSpPr>
          <p:cNvPr id="41" name="TextBox 40"/>
          <p:cNvSpPr txBox="1"/>
          <p:nvPr/>
        </p:nvSpPr>
        <p:spPr>
          <a:xfrm>
            <a:off x="502920" y="6473952"/>
            <a:ext cx="6400800" cy="182880"/>
          </a:xfrm>
          <a:prstGeom prst="rect">
            <a:avLst/>
          </a:prstGeom>
          <a:noFill/>
        </p:spPr>
        <p:txBody>
          <a:bodyPr wrap="square" anchor="t" lIns="0" rIns="0" tIns="0" bIns="0">
            <a:spAutoFit/>
          </a:bodyPr>
          <a:lstStyle/>
          <a:p>
            <a:pPr algn="l"/>
            <a:r>
              <a:rPr sz="720" b="0" i="0">
                <a:solidFill>
                  <a:srgbClr val="6B7280"/>
                </a:solidFill>
                <a:latin typeface="Times New Roman"/>
              </a:rPr>
              <a:t>Strategic Management in the Age of AI · MGMT 465/665 · Course Introduction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969" cy="164592"/>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969" cy="3657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411480"/>
            <a:ext cx="5943600" cy="228600"/>
          </a:xfrm>
          <a:prstGeom prst="rect">
            <a:avLst/>
          </a:prstGeom>
          <a:noFill/>
        </p:spPr>
        <p:txBody>
          <a:bodyPr wrap="square" anchor="t" lIns="0" rIns="0" tIns="0" bIns="0">
            <a:spAutoFit/>
          </a:bodyPr>
          <a:lstStyle/>
          <a:p>
            <a:pPr algn="l"/>
            <a:r>
              <a:rPr sz="850" b="1" i="0">
                <a:solidFill>
                  <a:srgbClr val="2A6F97"/>
                </a:solidFill>
                <a:latin typeface="Times New Roman"/>
              </a:rPr>
              <a:t>PART I · WHY THIS COURSE EXISTS</a:t>
            </a:r>
          </a:p>
        </p:txBody>
      </p:sp>
      <p:sp>
        <p:nvSpPr>
          <p:cNvPr id="6" name="TextBox 5"/>
          <p:cNvSpPr txBox="1"/>
          <p:nvPr/>
        </p:nvSpPr>
        <p:spPr>
          <a:xfrm>
            <a:off x="502920" y="640080"/>
            <a:ext cx="9509760" cy="457200"/>
          </a:xfrm>
          <a:prstGeom prst="rect">
            <a:avLst/>
          </a:prstGeom>
          <a:noFill/>
        </p:spPr>
        <p:txBody>
          <a:bodyPr wrap="square" anchor="t" lIns="0" rIns="0" tIns="0" bIns="0">
            <a:spAutoFit/>
          </a:bodyPr>
          <a:lstStyle/>
          <a:p>
            <a:pPr algn="l"/>
            <a:r>
              <a:rPr sz="2400" b="1" i="0">
                <a:solidFill>
                  <a:srgbClr val="111827"/>
                </a:solidFill>
                <a:latin typeface="Times New Roman"/>
              </a:rPr>
              <a:t>Five questions classical strategy never anticipated</a:t>
            </a:r>
          </a:p>
        </p:txBody>
      </p:sp>
      <p:sp>
        <p:nvSpPr>
          <p:cNvPr id="7" name="Rectangle 6"/>
          <p:cNvSpPr/>
          <p:nvPr/>
        </p:nvSpPr>
        <p:spPr>
          <a:xfrm>
            <a:off x="868680" y="1463040"/>
            <a:ext cx="10424160" cy="73152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68680" y="1463040"/>
            <a:ext cx="475488" cy="731520"/>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463040"/>
            <a:ext cx="475488" cy="731520"/>
          </a:xfrm>
          <a:prstGeom prst="rect">
            <a:avLst/>
          </a:prstGeom>
          <a:noFill/>
        </p:spPr>
        <p:txBody>
          <a:bodyPr wrap="square" anchor="ctr" lIns="0" rIns="0" tIns="0" bIns="0">
            <a:spAutoFit/>
          </a:bodyPr>
          <a:lstStyle/>
          <a:p>
            <a:pPr algn="ctr"/>
            <a:r>
              <a:rPr sz="1700" b="1" i="0">
                <a:solidFill>
                  <a:srgbClr val="FFFFFF"/>
                </a:solidFill>
                <a:latin typeface="Times New Roman"/>
              </a:rPr>
              <a:t>1</a:t>
            </a:r>
          </a:p>
        </p:txBody>
      </p:sp>
      <p:sp>
        <p:nvSpPr>
          <p:cNvPr id="10" name="TextBox 9"/>
          <p:cNvSpPr txBox="1"/>
          <p:nvPr/>
        </p:nvSpPr>
        <p:spPr>
          <a:xfrm>
            <a:off x="1572768" y="1463040"/>
            <a:ext cx="9418320" cy="731520"/>
          </a:xfrm>
          <a:prstGeom prst="rect">
            <a:avLst/>
          </a:prstGeom>
          <a:noFill/>
        </p:spPr>
        <p:txBody>
          <a:bodyPr wrap="square" anchor="ctr" lIns="0" rIns="0" tIns="0" bIns="0">
            <a:spAutoFit/>
          </a:bodyPr>
          <a:lstStyle/>
          <a:p>
            <a:pPr algn="l">
              <a:lnSpc>
                <a:spcPct val="118000"/>
              </a:lnSpc>
            </a:pPr>
            <a:r>
              <a:rPr sz="1450" b="0" i="0">
                <a:solidFill>
                  <a:srgbClr val="111827"/>
                </a:solidFill>
                <a:latin typeface="Times New Roman"/>
              </a:rPr>
              <a:t>What constitutes a strategic resource when algorithms and foundation models are widely available?</a:t>
            </a:r>
          </a:p>
        </p:txBody>
      </p:sp>
      <p:sp>
        <p:nvSpPr>
          <p:cNvPr id="11" name="Rectangle 10"/>
          <p:cNvSpPr/>
          <p:nvPr/>
        </p:nvSpPr>
        <p:spPr>
          <a:xfrm>
            <a:off x="868680" y="2304288"/>
            <a:ext cx="10424160" cy="7315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68680" y="2304288"/>
            <a:ext cx="475488" cy="731520"/>
          </a:xfrm>
          <a:prstGeom prst="rect">
            <a:avLst/>
          </a:prstGeom>
          <a:solidFill>
            <a:srgbClr val="2A6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2304288"/>
            <a:ext cx="475488" cy="731520"/>
          </a:xfrm>
          <a:prstGeom prst="rect">
            <a:avLst/>
          </a:prstGeom>
          <a:noFill/>
        </p:spPr>
        <p:txBody>
          <a:bodyPr wrap="square" anchor="ctr" lIns="0" rIns="0" tIns="0" bIns="0">
            <a:spAutoFit/>
          </a:bodyPr>
          <a:lstStyle/>
          <a:p>
            <a:pPr algn="ctr"/>
            <a:r>
              <a:rPr sz="1700" b="1" i="0">
                <a:solidFill>
                  <a:srgbClr val="FFFFFF"/>
                </a:solidFill>
                <a:latin typeface="Times New Roman"/>
              </a:rPr>
              <a:t>2</a:t>
            </a:r>
          </a:p>
        </p:txBody>
      </p:sp>
      <p:sp>
        <p:nvSpPr>
          <p:cNvPr id="14" name="TextBox 13"/>
          <p:cNvSpPr txBox="1"/>
          <p:nvPr/>
        </p:nvSpPr>
        <p:spPr>
          <a:xfrm>
            <a:off x="1572768" y="2304288"/>
            <a:ext cx="9418320" cy="731520"/>
          </a:xfrm>
          <a:prstGeom prst="rect">
            <a:avLst/>
          </a:prstGeom>
          <a:noFill/>
        </p:spPr>
        <p:txBody>
          <a:bodyPr wrap="square" anchor="ctr" lIns="0" rIns="0" tIns="0" bIns="0">
            <a:spAutoFit/>
          </a:bodyPr>
          <a:lstStyle/>
          <a:p>
            <a:pPr algn="l">
              <a:lnSpc>
                <a:spcPct val="118000"/>
              </a:lnSpc>
            </a:pPr>
            <a:r>
              <a:rPr sz="1450" b="0" i="0">
                <a:solidFill>
                  <a:srgbClr val="111827"/>
                </a:solidFill>
                <a:latin typeface="Times New Roman"/>
              </a:rPr>
              <a:t>How do organizations build advantage when AI dramatically reduces the cost of prediction and information processing?</a:t>
            </a:r>
          </a:p>
        </p:txBody>
      </p:sp>
      <p:sp>
        <p:nvSpPr>
          <p:cNvPr id="15" name="Rectangle 14"/>
          <p:cNvSpPr/>
          <p:nvPr/>
        </p:nvSpPr>
        <p:spPr>
          <a:xfrm>
            <a:off x="868680" y="3145536"/>
            <a:ext cx="10424160" cy="73152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68680" y="3145536"/>
            <a:ext cx="475488" cy="731520"/>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3145536"/>
            <a:ext cx="475488" cy="731520"/>
          </a:xfrm>
          <a:prstGeom prst="rect">
            <a:avLst/>
          </a:prstGeom>
          <a:noFill/>
        </p:spPr>
        <p:txBody>
          <a:bodyPr wrap="square" anchor="ctr" lIns="0" rIns="0" tIns="0" bIns="0">
            <a:spAutoFit/>
          </a:bodyPr>
          <a:lstStyle/>
          <a:p>
            <a:pPr algn="ctr"/>
            <a:r>
              <a:rPr sz="1700" b="1" i="0">
                <a:solidFill>
                  <a:srgbClr val="FFFFFF"/>
                </a:solidFill>
                <a:latin typeface="Times New Roman"/>
              </a:rPr>
              <a:t>3</a:t>
            </a:r>
          </a:p>
        </p:txBody>
      </p:sp>
      <p:sp>
        <p:nvSpPr>
          <p:cNvPr id="18" name="TextBox 17"/>
          <p:cNvSpPr txBox="1"/>
          <p:nvPr/>
        </p:nvSpPr>
        <p:spPr>
          <a:xfrm>
            <a:off x="1572768" y="3145536"/>
            <a:ext cx="9418320" cy="731520"/>
          </a:xfrm>
          <a:prstGeom prst="rect">
            <a:avLst/>
          </a:prstGeom>
          <a:noFill/>
        </p:spPr>
        <p:txBody>
          <a:bodyPr wrap="square" anchor="ctr" lIns="0" rIns="0" tIns="0" bIns="0">
            <a:spAutoFit/>
          </a:bodyPr>
          <a:lstStyle/>
          <a:p>
            <a:pPr algn="l">
              <a:lnSpc>
                <a:spcPct val="118000"/>
              </a:lnSpc>
            </a:pPr>
            <a:r>
              <a:rPr sz="1450" b="0" i="0">
                <a:solidFill>
                  <a:srgbClr val="111827"/>
                </a:solidFill>
                <a:latin typeface="Times New Roman"/>
              </a:rPr>
              <a:t>What becomes of organizational learning when knowledge is generated collaboratively by humans and intelligent systems?</a:t>
            </a:r>
          </a:p>
        </p:txBody>
      </p:sp>
      <p:sp>
        <p:nvSpPr>
          <p:cNvPr id="19" name="Rectangle 18"/>
          <p:cNvSpPr/>
          <p:nvPr/>
        </p:nvSpPr>
        <p:spPr>
          <a:xfrm>
            <a:off x="868680" y="3986784"/>
            <a:ext cx="10424160" cy="7315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68680" y="3986784"/>
            <a:ext cx="475488" cy="731520"/>
          </a:xfrm>
          <a:prstGeom prst="rect">
            <a:avLst/>
          </a:prstGeom>
          <a:solidFill>
            <a:srgbClr val="2A6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8680" y="3986784"/>
            <a:ext cx="475488" cy="731520"/>
          </a:xfrm>
          <a:prstGeom prst="rect">
            <a:avLst/>
          </a:prstGeom>
          <a:noFill/>
        </p:spPr>
        <p:txBody>
          <a:bodyPr wrap="square" anchor="ctr" lIns="0" rIns="0" tIns="0" bIns="0">
            <a:spAutoFit/>
          </a:bodyPr>
          <a:lstStyle/>
          <a:p>
            <a:pPr algn="ctr"/>
            <a:r>
              <a:rPr sz="1700" b="1" i="0">
                <a:solidFill>
                  <a:srgbClr val="FFFFFF"/>
                </a:solidFill>
                <a:latin typeface="Times New Roman"/>
              </a:rPr>
              <a:t>4</a:t>
            </a:r>
          </a:p>
        </p:txBody>
      </p:sp>
      <p:sp>
        <p:nvSpPr>
          <p:cNvPr id="22" name="TextBox 21"/>
          <p:cNvSpPr txBox="1"/>
          <p:nvPr/>
        </p:nvSpPr>
        <p:spPr>
          <a:xfrm>
            <a:off x="1572768" y="3986784"/>
            <a:ext cx="9418320" cy="731520"/>
          </a:xfrm>
          <a:prstGeom prst="rect">
            <a:avLst/>
          </a:prstGeom>
          <a:noFill/>
        </p:spPr>
        <p:txBody>
          <a:bodyPr wrap="square" anchor="ctr" lIns="0" rIns="0" tIns="0" bIns="0">
            <a:spAutoFit/>
          </a:bodyPr>
          <a:lstStyle/>
          <a:p>
            <a:pPr algn="l">
              <a:lnSpc>
                <a:spcPct val="118000"/>
              </a:lnSpc>
            </a:pPr>
            <a:r>
              <a:rPr sz="1450" b="0" i="0">
                <a:solidFill>
                  <a:srgbClr val="111827"/>
                </a:solidFill>
                <a:latin typeface="Times New Roman"/>
              </a:rPr>
              <a:t>How should firms govern artificial intelligence while maintaining innovation, trust, and ethical responsibility?</a:t>
            </a:r>
          </a:p>
        </p:txBody>
      </p:sp>
      <p:sp>
        <p:nvSpPr>
          <p:cNvPr id="23" name="Rectangle 22"/>
          <p:cNvSpPr/>
          <p:nvPr/>
        </p:nvSpPr>
        <p:spPr>
          <a:xfrm>
            <a:off x="868680" y="4828032"/>
            <a:ext cx="10424160" cy="73152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68680" y="4828032"/>
            <a:ext cx="475488" cy="731520"/>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8680" y="4828032"/>
            <a:ext cx="475488" cy="731520"/>
          </a:xfrm>
          <a:prstGeom prst="rect">
            <a:avLst/>
          </a:prstGeom>
          <a:noFill/>
        </p:spPr>
        <p:txBody>
          <a:bodyPr wrap="square" anchor="ctr" lIns="0" rIns="0" tIns="0" bIns="0">
            <a:spAutoFit/>
          </a:bodyPr>
          <a:lstStyle/>
          <a:p>
            <a:pPr algn="ctr"/>
            <a:r>
              <a:rPr sz="1700" b="1" i="0">
                <a:solidFill>
                  <a:srgbClr val="FFFFFF"/>
                </a:solidFill>
                <a:latin typeface="Times New Roman"/>
              </a:rPr>
              <a:t>5</a:t>
            </a:r>
          </a:p>
        </p:txBody>
      </p:sp>
      <p:sp>
        <p:nvSpPr>
          <p:cNvPr id="26" name="TextBox 25"/>
          <p:cNvSpPr txBox="1"/>
          <p:nvPr/>
        </p:nvSpPr>
        <p:spPr>
          <a:xfrm>
            <a:off x="1572768" y="4828032"/>
            <a:ext cx="9418320" cy="731520"/>
          </a:xfrm>
          <a:prstGeom prst="rect">
            <a:avLst/>
          </a:prstGeom>
          <a:noFill/>
        </p:spPr>
        <p:txBody>
          <a:bodyPr wrap="square" anchor="ctr" lIns="0" rIns="0" tIns="0" bIns="0">
            <a:spAutoFit/>
          </a:bodyPr>
          <a:lstStyle/>
          <a:p>
            <a:pPr algn="l">
              <a:lnSpc>
                <a:spcPct val="118000"/>
              </a:lnSpc>
            </a:pPr>
            <a:r>
              <a:rPr sz="1450" b="0" i="0">
                <a:solidFill>
                  <a:srgbClr val="111827"/>
                </a:solidFill>
                <a:latin typeface="Times New Roman"/>
              </a:rPr>
              <a:t>Which assumptions of strategic management remain valid, and which require revision?</a:t>
            </a:r>
          </a:p>
        </p:txBody>
      </p:sp>
      <p:sp>
        <p:nvSpPr>
          <p:cNvPr id="27" name="Rectangle 26"/>
          <p:cNvSpPr/>
          <p:nvPr/>
        </p:nvSpPr>
        <p:spPr>
          <a:xfrm>
            <a:off x="868680" y="5742432"/>
            <a:ext cx="10424160" cy="475488"/>
          </a:xfrm>
          <a:prstGeom prst="rect">
            <a:avLst/>
          </a:prstGeom>
          <a:solidFill>
            <a:srgbClr val="F6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143000" y="5742432"/>
            <a:ext cx="9875520" cy="475488"/>
          </a:xfrm>
          <a:prstGeom prst="rect">
            <a:avLst/>
          </a:prstGeom>
          <a:noFill/>
        </p:spPr>
        <p:txBody>
          <a:bodyPr wrap="square" anchor="ctr" lIns="0" rIns="0" tIns="0" bIns="0">
            <a:spAutoFit/>
          </a:bodyPr>
          <a:lstStyle/>
          <a:p>
            <a:pPr algn="l"/>
            <a:r>
              <a:rPr sz="1400" b="1" i="1">
                <a:solidFill>
                  <a:srgbClr val="10233F"/>
                </a:solidFill>
                <a:latin typeface="Times New Roman"/>
              </a:rPr>
              <a:t>These five questions define the intellectual foundation of this course.</a:t>
            </a:r>
          </a:p>
        </p:txBody>
      </p:sp>
      <p:sp>
        <p:nvSpPr>
          <p:cNvPr id="29" name="TextBox 28"/>
          <p:cNvSpPr txBox="1"/>
          <p:nvPr/>
        </p:nvSpPr>
        <p:spPr>
          <a:xfrm>
            <a:off x="11475720" y="6473952"/>
            <a:ext cx="457200" cy="182880"/>
          </a:xfrm>
          <a:prstGeom prst="rect">
            <a:avLst/>
          </a:prstGeom>
          <a:noFill/>
        </p:spPr>
        <p:txBody>
          <a:bodyPr wrap="square" anchor="t" lIns="0" rIns="0" tIns="0" bIns="0">
            <a:spAutoFit/>
          </a:bodyPr>
          <a:lstStyle/>
          <a:p>
            <a:pPr algn="r"/>
            <a:r>
              <a:rPr sz="800" b="0" i="0">
                <a:solidFill>
                  <a:srgbClr val="9CA3AF"/>
                </a:solidFill>
                <a:latin typeface="Times New Roman"/>
              </a:rPr>
              <a:t>17</a:t>
            </a:r>
          </a:p>
        </p:txBody>
      </p:sp>
      <p:sp>
        <p:nvSpPr>
          <p:cNvPr id="30" name="TextBox 29"/>
          <p:cNvSpPr txBox="1"/>
          <p:nvPr/>
        </p:nvSpPr>
        <p:spPr>
          <a:xfrm>
            <a:off x="502920" y="6473952"/>
            <a:ext cx="6400800" cy="182880"/>
          </a:xfrm>
          <a:prstGeom prst="rect">
            <a:avLst/>
          </a:prstGeom>
          <a:noFill/>
        </p:spPr>
        <p:txBody>
          <a:bodyPr wrap="square" anchor="t" lIns="0" rIns="0" tIns="0" bIns="0">
            <a:spAutoFit/>
          </a:bodyPr>
          <a:lstStyle/>
          <a:p>
            <a:pPr algn="l"/>
            <a:r>
              <a:rPr sz="720" b="0" i="0">
                <a:solidFill>
                  <a:srgbClr val="6B7280"/>
                </a:solidFill>
                <a:latin typeface="Times New Roman"/>
              </a:rPr>
              <a:t>Strategic Management in the Age of AI · MGMT 465/665 · Course Introduction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969" cy="164592"/>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969" cy="3657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411480"/>
            <a:ext cx="5943600" cy="228600"/>
          </a:xfrm>
          <a:prstGeom prst="rect">
            <a:avLst/>
          </a:prstGeom>
          <a:noFill/>
        </p:spPr>
        <p:txBody>
          <a:bodyPr wrap="square" anchor="t" lIns="0" rIns="0" tIns="0" bIns="0">
            <a:spAutoFit/>
          </a:bodyPr>
          <a:lstStyle/>
          <a:p>
            <a:pPr algn="l"/>
            <a:r>
              <a:rPr sz="850" b="1" i="0">
                <a:solidFill>
                  <a:srgbClr val="2A6F97"/>
                </a:solidFill>
                <a:latin typeface="Times New Roman"/>
              </a:rPr>
              <a:t>PART I · WHY THIS COURSE EXISTS</a:t>
            </a:r>
          </a:p>
        </p:txBody>
      </p:sp>
      <p:sp>
        <p:nvSpPr>
          <p:cNvPr id="6" name="TextBox 5"/>
          <p:cNvSpPr txBox="1"/>
          <p:nvPr/>
        </p:nvSpPr>
        <p:spPr>
          <a:xfrm>
            <a:off x="502920" y="640080"/>
            <a:ext cx="9509760" cy="457200"/>
          </a:xfrm>
          <a:prstGeom prst="rect">
            <a:avLst/>
          </a:prstGeom>
          <a:noFill/>
        </p:spPr>
        <p:txBody>
          <a:bodyPr wrap="square" anchor="t" lIns="0" rIns="0" tIns="0" bIns="0">
            <a:spAutoFit/>
          </a:bodyPr>
          <a:lstStyle/>
          <a:p>
            <a:pPr algn="l"/>
            <a:r>
              <a:rPr sz="2400" b="1" i="0">
                <a:solidFill>
                  <a:srgbClr val="111827"/>
                </a:solidFill>
                <a:latin typeface="Times New Roman"/>
              </a:rPr>
              <a:t>Bridging a gap no existing course fills</a:t>
            </a:r>
          </a:p>
        </p:txBody>
      </p:sp>
      <p:sp>
        <p:nvSpPr>
          <p:cNvPr id="7" name="TextBox 6"/>
          <p:cNvSpPr txBox="1"/>
          <p:nvPr/>
        </p:nvSpPr>
        <p:spPr>
          <a:xfrm>
            <a:off x="502920" y="1106424"/>
            <a:ext cx="10698480" cy="274320"/>
          </a:xfrm>
          <a:prstGeom prst="rect">
            <a:avLst/>
          </a:prstGeom>
          <a:noFill/>
        </p:spPr>
        <p:txBody>
          <a:bodyPr wrap="square" anchor="t" lIns="0" rIns="0" tIns="0" bIns="0">
            <a:spAutoFit/>
          </a:bodyPr>
          <a:lstStyle/>
          <a:p>
            <a:pPr algn="l"/>
            <a:r>
              <a:rPr sz="1250" b="0" i="1">
                <a:solidFill>
                  <a:srgbClr val="4B5563"/>
                </a:solidFill>
                <a:latin typeface="Times New Roman"/>
              </a:rPr>
              <a:t>Most strategy courses teach twentieth-century frameworks. Most AI courses teach algorithms. Very few examine how AI changes strategy's assumptions.</a:t>
            </a:r>
          </a:p>
        </p:txBody>
      </p:sp>
      <p:sp>
        <p:nvSpPr>
          <p:cNvPr id="8" name="Rectangle 7"/>
          <p:cNvSpPr/>
          <p:nvPr/>
        </p:nvSpPr>
        <p:spPr>
          <a:xfrm>
            <a:off x="868680" y="1810512"/>
            <a:ext cx="5047488" cy="3730752"/>
          </a:xfrm>
          <a:prstGeom prst="rect">
            <a:avLst/>
          </a:prstGeom>
          <a:solidFill>
            <a:srgbClr val="F6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68680" y="1810512"/>
            <a:ext cx="5047488" cy="45720"/>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15568" y="2048256"/>
            <a:ext cx="4572000" cy="3291840"/>
          </a:xfrm>
          <a:prstGeom prst="rect">
            <a:avLst/>
          </a:prstGeom>
          <a:noFill/>
        </p:spPr>
        <p:txBody>
          <a:bodyPr wrap="square" anchor="t" lIns="0" rIns="0" tIns="0" bIns="0">
            <a:spAutoFit/>
          </a:bodyPr>
          <a:lstStyle/>
          <a:p>
            <a:pPr algn="l">
              <a:spcAft>
                <a:spcPts val="1000"/>
              </a:spcAft>
            </a:pPr>
            <a:r>
              <a:rPr sz="950" b="1" i="0">
                <a:solidFill>
                  <a:srgbClr val="2A6F97"/>
                </a:solidFill>
                <a:latin typeface="Times New Roman"/>
              </a:rPr>
              <a:t>FOUNDATIONAL THEORIES OF STRATEGY</a:t>
            </a:r>
          </a:p>
          <a:p>
            <a:pPr algn="l">
              <a:lnSpc>
                <a:spcPct val="120000"/>
              </a:lnSpc>
              <a:spcAft>
                <a:spcPts val="600"/>
              </a:spcAft>
            </a:pPr>
            <a:r>
              <a:rPr sz="1250" b="0" i="0">
                <a:solidFill>
                  <a:srgbClr val="111827"/>
                </a:solidFill>
                <a:latin typeface="Times New Roman"/>
              </a:rPr>
              <a:t>—  Industrial Organization Economics</a:t>
            </a:r>
          </a:p>
          <a:p>
            <a:pPr algn="l">
              <a:lnSpc>
                <a:spcPct val="120000"/>
              </a:lnSpc>
              <a:spcAft>
                <a:spcPts val="600"/>
              </a:spcAft>
            </a:pPr>
            <a:r>
              <a:rPr sz="1250" b="0" i="0">
                <a:solidFill>
                  <a:srgbClr val="111827"/>
                </a:solidFill>
                <a:latin typeface="Times New Roman"/>
              </a:rPr>
              <a:t>—  Competitive Positioning</a:t>
            </a:r>
          </a:p>
          <a:p>
            <a:pPr algn="l">
              <a:lnSpc>
                <a:spcPct val="120000"/>
              </a:lnSpc>
              <a:spcAft>
                <a:spcPts val="600"/>
              </a:spcAft>
            </a:pPr>
            <a:r>
              <a:rPr sz="1250" b="0" i="0">
                <a:solidFill>
                  <a:srgbClr val="111827"/>
                </a:solidFill>
                <a:latin typeface="Times New Roman"/>
              </a:rPr>
              <a:t>—  The Resource-Based View</a:t>
            </a:r>
          </a:p>
          <a:p>
            <a:pPr algn="l">
              <a:lnSpc>
                <a:spcPct val="120000"/>
              </a:lnSpc>
              <a:spcAft>
                <a:spcPts val="600"/>
              </a:spcAft>
            </a:pPr>
            <a:r>
              <a:rPr sz="1250" b="0" i="0">
                <a:solidFill>
                  <a:srgbClr val="111827"/>
                </a:solidFill>
                <a:latin typeface="Times New Roman"/>
              </a:rPr>
              <a:t>—  Dynamic Capabilities</a:t>
            </a:r>
          </a:p>
          <a:p>
            <a:pPr algn="l">
              <a:lnSpc>
                <a:spcPct val="120000"/>
              </a:lnSpc>
              <a:spcAft>
                <a:spcPts val="600"/>
              </a:spcAft>
            </a:pPr>
            <a:r>
              <a:rPr sz="1250" b="0" i="0">
                <a:solidFill>
                  <a:srgbClr val="111827"/>
                </a:solidFill>
                <a:latin typeface="Times New Roman"/>
              </a:rPr>
              <a:t>—  Organizational Learning</a:t>
            </a:r>
          </a:p>
          <a:p>
            <a:pPr algn="l">
              <a:lnSpc>
                <a:spcPct val="120000"/>
              </a:lnSpc>
              <a:spcAft>
                <a:spcPts val="600"/>
              </a:spcAft>
            </a:pPr>
            <a:r>
              <a:rPr sz="1250" b="0" i="0">
                <a:solidFill>
                  <a:srgbClr val="111827"/>
                </a:solidFill>
                <a:latin typeface="Times New Roman"/>
              </a:rPr>
              <a:t>—  Knowledge-Based Theory of the Firm</a:t>
            </a:r>
          </a:p>
          <a:p>
            <a:pPr algn="l">
              <a:lnSpc>
                <a:spcPct val="120000"/>
              </a:lnSpc>
              <a:spcAft>
                <a:spcPts val="600"/>
              </a:spcAft>
            </a:pPr>
            <a:r>
              <a:rPr sz="1250" b="0" i="0">
                <a:solidFill>
                  <a:srgbClr val="111827"/>
                </a:solidFill>
                <a:latin typeface="Times New Roman"/>
              </a:rPr>
              <a:t>—  Core Competencies</a:t>
            </a:r>
          </a:p>
          <a:p>
            <a:pPr algn="l">
              <a:lnSpc>
                <a:spcPct val="120000"/>
              </a:lnSpc>
              <a:spcAft>
                <a:spcPts val="600"/>
              </a:spcAft>
            </a:pPr>
            <a:r>
              <a:rPr sz="1250" b="0" i="0">
                <a:solidFill>
                  <a:srgbClr val="111827"/>
                </a:solidFill>
                <a:latin typeface="Times New Roman"/>
              </a:rPr>
              <a:t>—  Transaction Cost Economics</a:t>
            </a:r>
          </a:p>
          <a:p>
            <a:pPr algn="l">
              <a:lnSpc>
                <a:spcPct val="120000"/>
              </a:lnSpc>
              <a:spcAft>
                <a:spcPts val="600"/>
              </a:spcAft>
            </a:pPr>
            <a:r>
              <a:rPr sz="1250" b="0" i="0">
                <a:solidFill>
                  <a:srgbClr val="111827"/>
                </a:solidFill>
                <a:latin typeface="Times New Roman"/>
              </a:rPr>
              <a:t>—  Stakeholder Theory</a:t>
            </a:r>
          </a:p>
          <a:p>
            <a:pPr algn="l">
              <a:lnSpc>
                <a:spcPct val="120000"/>
              </a:lnSpc>
              <a:spcAft>
                <a:spcPts val="600"/>
              </a:spcAft>
            </a:pPr>
            <a:r>
              <a:rPr sz="1250" b="0" i="0">
                <a:solidFill>
                  <a:srgbClr val="111827"/>
                </a:solidFill>
                <a:latin typeface="Times New Roman"/>
              </a:rPr>
              <a:t>—  Strategic Leadership</a:t>
            </a:r>
          </a:p>
        </p:txBody>
      </p:sp>
      <p:sp>
        <p:nvSpPr>
          <p:cNvPr id="11" name="Rectangle 10"/>
          <p:cNvSpPr/>
          <p:nvPr/>
        </p:nvSpPr>
        <p:spPr>
          <a:xfrm>
            <a:off x="6245352" y="1810512"/>
            <a:ext cx="5047488" cy="3730752"/>
          </a:xfrm>
          <a:prstGeom prst="rect">
            <a:avLst/>
          </a:prstGeom>
          <a:solidFill>
            <a:srgbClr val="EA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45352" y="1810512"/>
            <a:ext cx="5047488" cy="45720"/>
          </a:xfrm>
          <a:prstGeom prst="rect">
            <a:avLst/>
          </a:prstGeom>
          <a:solidFill>
            <a:srgbClr val="2A6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2048256"/>
            <a:ext cx="4572000" cy="3291840"/>
          </a:xfrm>
          <a:prstGeom prst="rect">
            <a:avLst/>
          </a:prstGeom>
          <a:noFill/>
        </p:spPr>
        <p:txBody>
          <a:bodyPr wrap="square" anchor="t" lIns="0" rIns="0" tIns="0" bIns="0">
            <a:spAutoFit/>
          </a:bodyPr>
          <a:lstStyle/>
          <a:p>
            <a:pPr algn="l">
              <a:spcAft>
                <a:spcPts val="1000"/>
              </a:spcAft>
            </a:pPr>
            <a:r>
              <a:rPr sz="950" b="1" i="0">
                <a:solidFill>
                  <a:srgbClr val="2A6F97"/>
                </a:solidFill>
                <a:latin typeface="Times New Roman"/>
              </a:rPr>
              <a:t>CONTEMPORARY AI SCHOLARSHIP</a:t>
            </a:r>
          </a:p>
          <a:p>
            <a:pPr algn="l">
              <a:lnSpc>
                <a:spcPct val="120000"/>
              </a:lnSpc>
              <a:spcAft>
                <a:spcPts val="600"/>
              </a:spcAft>
            </a:pPr>
            <a:r>
              <a:rPr sz="1250" b="0" i="0">
                <a:solidFill>
                  <a:srgbClr val="111827"/>
                </a:solidFill>
                <a:latin typeface="Times New Roman"/>
              </a:rPr>
              <a:t>—  Artificial intelligence and organizations</a:t>
            </a:r>
          </a:p>
          <a:p>
            <a:pPr algn="l">
              <a:lnSpc>
                <a:spcPct val="120000"/>
              </a:lnSpc>
              <a:spcAft>
                <a:spcPts val="600"/>
              </a:spcAft>
            </a:pPr>
            <a:r>
              <a:rPr sz="1250" b="0" i="0">
                <a:solidFill>
                  <a:srgbClr val="111827"/>
                </a:solidFill>
                <a:latin typeface="Times New Roman"/>
              </a:rPr>
              <a:t>—  Digital transformation</a:t>
            </a:r>
          </a:p>
          <a:p>
            <a:pPr algn="l">
              <a:lnSpc>
                <a:spcPct val="120000"/>
              </a:lnSpc>
              <a:spcAft>
                <a:spcPts val="600"/>
              </a:spcAft>
            </a:pPr>
            <a:r>
              <a:rPr sz="1250" b="0" i="0">
                <a:solidFill>
                  <a:srgbClr val="111827"/>
                </a:solidFill>
                <a:latin typeface="Times New Roman"/>
              </a:rPr>
              <a:t>—  Organizational design for AI</a:t>
            </a:r>
          </a:p>
          <a:p>
            <a:pPr algn="l">
              <a:lnSpc>
                <a:spcPct val="120000"/>
              </a:lnSpc>
              <a:spcAft>
                <a:spcPts val="600"/>
              </a:spcAft>
            </a:pPr>
            <a:r>
              <a:rPr sz="1250" b="0" i="0">
                <a:solidFill>
                  <a:srgbClr val="111827"/>
                </a:solidFill>
                <a:latin typeface="Times New Roman"/>
              </a:rPr>
              <a:t>—  Platform ecosystems</a:t>
            </a:r>
          </a:p>
          <a:p>
            <a:pPr algn="l">
              <a:lnSpc>
                <a:spcPct val="120000"/>
              </a:lnSpc>
              <a:spcAft>
                <a:spcPts val="600"/>
              </a:spcAft>
            </a:pPr>
            <a:r>
              <a:rPr sz="1250" b="0" i="0">
                <a:solidFill>
                  <a:srgbClr val="111827"/>
                </a:solidFill>
                <a:latin typeface="Times New Roman"/>
              </a:rPr>
              <a:t>—  Intelligent automation</a:t>
            </a:r>
          </a:p>
          <a:p>
            <a:pPr algn="l">
              <a:lnSpc>
                <a:spcPct val="120000"/>
              </a:lnSpc>
              <a:spcAft>
                <a:spcPts val="600"/>
              </a:spcAft>
            </a:pPr>
            <a:r>
              <a:rPr sz="1250" b="0" i="0">
                <a:solidFill>
                  <a:srgbClr val="111827"/>
                </a:solidFill>
                <a:latin typeface="Times New Roman"/>
              </a:rPr>
              <a:t>—  Human–AI collaboration</a:t>
            </a:r>
          </a:p>
          <a:p>
            <a:pPr algn="l">
              <a:lnSpc>
                <a:spcPct val="120000"/>
              </a:lnSpc>
              <a:spcAft>
                <a:spcPts val="600"/>
              </a:spcAft>
            </a:pPr>
            <a:r>
              <a:rPr sz="1250" b="0" i="0">
                <a:solidFill>
                  <a:srgbClr val="111827"/>
                </a:solidFill>
                <a:latin typeface="Times New Roman"/>
              </a:rPr>
              <a:t>—  Hybrid intelligence</a:t>
            </a:r>
          </a:p>
          <a:p>
            <a:pPr algn="l">
              <a:lnSpc>
                <a:spcPct val="120000"/>
              </a:lnSpc>
              <a:spcAft>
                <a:spcPts val="600"/>
              </a:spcAft>
            </a:pPr>
            <a:r>
              <a:rPr sz="1250" b="0" i="0">
                <a:solidFill>
                  <a:srgbClr val="111827"/>
                </a:solidFill>
                <a:latin typeface="Times New Roman"/>
              </a:rPr>
              <a:t>—  Algorithmic management</a:t>
            </a:r>
          </a:p>
          <a:p>
            <a:pPr algn="l">
              <a:lnSpc>
                <a:spcPct val="120000"/>
              </a:lnSpc>
              <a:spcAft>
                <a:spcPts val="600"/>
              </a:spcAft>
            </a:pPr>
            <a:r>
              <a:rPr sz="1250" b="0" i="0">
                <a:solidFill>
                  <a:srgbClr val="111827"/>
                </a:solidFill>
                <a:latin typeface="Times New Roman"/>
              </a:rPr>
              <a:t>—  AI governance and risk</a:t>
            </a:r>
          </a:p>
          <a:p>
            <a:pPr algn="l">
              <a:lnSpc>
                <a:spcPct val="120000"/>
              </a:lnSpc>
              <a:spcAft>
                <a:spcPts val="600"/>
              </a:spcAft>
            </a:pPr>
            <a:r>
              <a:rPr sz="1250" b="0" i="0">
                <a:solidFill>
                  <a:srgbClr val="111827"/>
                </a:solidFill>
                <a:latin typeface="Times New Roman"/>
              </a:rPr>
              <a:t>—  Autonomous agents and decision structures</a:t>
            </a:r>
          </a:p>
        </p:txBody>
      </p:sp>
      <p:sp>
        <p:nvSpPr>
          <p:cNvPr id="14" name="Rectangle 13"/>
          <p:cNvSpPr/>
          <p:nvPr/>
        </p:nvSpPr>
        <p:spPr>
          <a:xfrm>
            <a:off x="868680" y="5742432"/>
            <a:ext cx="36576" cy="31089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69848" y="5742432"/>
            <a:ext cx="10424160" cy="365760"/>
          </a:xfrm>
          <a:prstGeom prst="rect">
            <a:avLst/>
          </a:prstGeom>
          <a:noFill/>
        </p:spPr>
        <p:txBody>
          <a:bodyPr wrap="square" anchor="ctr" lIns="0" rIns="0" tIns="0" bIns="0">
            <a:spAutoFit/>
          </a:bodyPr>
          <a:lstStyle/>
          <a:p>
            <a:pPr algn="l"/>
            <a:r>
              <a:rPr sz="1350" b="1" i="1">
                <a:solidFill>
                  <a:srgbClr val="10233F"/>
                </a:solidFill>
                <a:latin typeface="Times New Roman"/>
              </a:rPr>
              <a:t>The objective is not to replace classical theory with technology, but to find where it holds, where it bends, and where something new is needed.</a:t>
            </a:r>
          </a:p>
        </p:txBody>
      </p:sp>
      <p:sp>
        <p:nvSpPr>
          <p:cNvPr id="16" name="TextBox 15"/>
          <p:cNvSpPr txBox="1"/>
          <p:nvPr/>
        </p:nvSpPr>
        <p:spPr>
          <a:xfrm>
            <a:off x="11475720" y="6473952"/>
            <a:ext cx="457200" cy="182880"/>
          </a:xfrm>
          <a:prstGeom prst="rect">
            <a:avLst/>
          </a:prstGeom>
          <a:noFill/>
        </p:spPr>
        <p:txBody>
          <a:bodyPr wrap="square" anchor="t" lIns="0" rIns="0" tIns="0" bIns="0">
            <a:spAutoFit/>
          </a:bodyPr>
          <a:lstStyle/>
          <a:p>
            <a:pPr algn="r"/>
            <a:r>
              <a:rPr sz="800" b="0" i="0">
                <a:solidFill>
                  <a:srgbClr val="9CA3AF"/>
                </a:solidFill>
                <a:latin typeface="Times New Roman"/>
              </a:rPr>
              <a:t>18</a:t>
            </a:r>
          </a:p>
        </p:txBody>
      </p:sp>
      <p:sp>
        <p:nvSpPr>
          <p:cNvPr id="17" name="TextBox 16"/>
          <p:cNvSpPr txBox="1"/>
          <p:nvPr/>
        </p:nvSpPr>
        <p:spPr>
          <a:xfrm>
            <a:off x="502920" y="6473952"/>
            <a:ext cx="6400800" cy="182880"/>
          </a:xfrm>
          <a:prstGeom prst="rect">
            <a:avLst/>
          </a:prstGeom>
          <a:noFill/>
        </p:spPr>
        <p:txBody>
          <a:bodyPr wrap="square" anchor="t" lIns="0" rIns="0" tIns="0" bIns="0">
            <a:spAutoFit/>
          </a:bodyPr>
          <a:lstStyle/>
          <a:p>
            <a:pPr algn="l"/>
            <a:r>
              <a:rPr sz="720" b="0" i="0">
                <a:solidFill>
                  <a:srgbClr val="6B7280"/>
                </a:solidFill>
                <a:latin typeface="Times New Roman"/>
              </a:rPr>
              <a:t>Strategic Management in the Age of AI · MGMT 465/665 · Course Introduction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969" cy="164592"/>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969" cy="3657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411480"/>
            <a:ext cx="5943600" cy="228600"/>
          </a:xfrm>
          <a:prstGeom prst="rect">
            <a:avLst/>
          </a:prstGeom>
          <a:noFill/>
        </p:spPr>
        <p:txBody>
          <a:bodyPr wrap="square" anchor="t" lIns="0" rIns="0" tIns="0" bIns="0">
            <a:spAutoFit/>
          </a:bodyPr>
          <a:lstStyle/>
          <a:p>
            <a:pPr algn="l"/>
            <a:r>
              <a:rPr sz="850" b="1" i="0">
                <a:solidFill>
                  <a:srgbClr val="2A6F97"/>
                </a:solidFill>
                <a:latin typeface="Times New Roman"/>
              </a:rPr>
              <a:t>PART I · COURSE PHILOSOPHY</a:t>
            </a:r>
          </a:p>
        </p:txBody>
      </p:sp>
      <p:sp>
        <p:nvSpPr>
          <p:cNvPr id="6" name="TextBox 5"/>
          <p:cNvSpPr txBox="1"/>
          <p:nvPr/>
        </p:nvSpPr>
        <p:spPr>
          <a:xfrm>
            <a:off x="502920" y="640080"/>
            <a:ext cx="9509760" cy="457200"/>
          </a:xfrm>
          <a:prstGeom prst="rect">
            <a:avLst/>
          </a:prstGeom>
          <a:noFill/>
        </p:spPr>
        <p:txBody>
          <a:bodyPr wrap="square" anchor="t" lIns="0" rIns="0" tIns="0" bIns="0">
            <a:spAutoFit/>
          </a:bodyPr>
          <a:lstStyle/>
          <a:p>
            <a:pPr algn="l"/>
            <a:r>
              <a:rPr sz="2400" b="1" i="0">
                <a:solidFill>
                  <a:srgbClr val="111827"/>
                </a:solidFill>
                <a:latin typeface="Times New Roman"/>
              </a:rPr>
              <a:t>One belief, three perspectives on every framework</a:t>
            </a:r>
          </a:p>
        </p:txBody>
      </p:sp>
      <p:sp>
        <p:nvSpPr>
          <p:cNvPr id="7" name="Rectangle 6"/>
          <p:cNvSpPr/>
          <p:nvPr/>
        </p:nvSpPr>
        <p:spPr>
          <a:xfrm>
            <a:off x="868680" y="1463040"/>
            <a:ext cx="10424160" cy="932688"/>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68680" y="1463040"/>
            <a:ext cx="45720" cy="932688"/>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88720" y="1463040"/>
            <a:ext cx="9875520" cy="932688"/>
          </a:xfrm>
          <a:prstGeom prst="rect">
            <a:avLst/>
          </a:prstGeom>
          <a:noFill/>
        </p:spPr>
        <p:txBody>
          <a:bodyPr wrap="square" anchor="ctr" lIns="0" rIns="0" tIns="0" bIns="0">
            <a:spAutoFit/>
          </a:bodyPr>
          <a:lstStyle/>
          <a:p>
            <a:pPr algn="l">
              <a:lnSpc>
                <a:spcPct val="122000"/>
              </a:lnSpc>
            </a:pPr>
            <a:r>
              <a:rPr sz="1600" b="1" i="1">
                <a:solidFill>
                  <a:srgbClr val="FFFFFF"/>
                </a:solidFill>
                <a:latin typeface="Times New Roman"/>
              </a:rPr>
              <a:t>The principles of strategic management remain essential, but the assumptions underlying many of those principles are being transformed by artificial intelligence.</a:t>
            </a:r>
          </a:p>
        </p:txBody>
      </p:sp>
      <p:sp>
        <p:nvSpPr>
          <p:cNvPr id="10" name="Rectangle 9"/>
          <p:cNvSpPr/>
          <p:nvPr/>
        </p:nvSpPr>
        <p:spPr>
          <a:xfrm>
            <a:off x="868680" y="2670048"/>
            <a:ext cx="3383280" cy="2834640"/>
          </a:xfrm>
          <a:prstGeom prst="rect">
            <a:avLst/>
          </a:prstGeom>
          <a:solidFill>
            <a:srgbClr val="F6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68680" y="2670048"/>
            <a:ext cx="3383280" cy="45720"/>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9848" y="2871216"/>
            <a:ext cx="2980944" cy="2505456"/>
          </a:xfrm>
          <a:prstGeom prst="rect">
            <a:avLst/>
          </a:prstGeom>
          <a:noFill/>
        </p:spPr>
        <p:txBody>
          <a:bodyPr wrap="square" anchor="t" lIns="0" rIns="0" tIns="0" bIns="0">
            <a:spAutoFit/>
          </a:bodyPr>
          <a:lstStyle/>
          <a:p>
            <a:pPr algn="l">
              <a:spcAft>
                <a:spcPts val="600"/>
              </a:spcAft>
            </a:pPr>
            <a:r>
              <a:rPr sz="900" b="1" i="0">
                <a:solidFill>
                  <a:srgbClr val="2A6F97"/>
                </a:solidFill>
                <a:latin typeface="Times New Roman"/>
              </a:rPr>
              <a:t>PERSPECTIVE ONE</a:t>
            </a:r>
          </a:p>
          <a:p>
            <a:pPr algn="l">
              <a:spcAft>
                <a:spcPts val="1000"/>
              </a:spcAft>
            </a:pPr>
            <a:r>
              <a:rPr sz="1700" b="1" i="0">
                <a:solidFill>
                  <a:srgbClr val="10233F"/>
                </a:solidFill>
                <a:latin typeface="Times New Roman"/>
              </a:rPr>
              <a:t>Classical Theory</a:t>
            </a:r>
          </a:p>
          <a:p>
            <a:pPr algn="l">
              <a:lnSpc>
                <a:spcPct val="118000"/>
              </a:lnSpc>
              <a:spcAft>
                <a:spcPts val="500"/>
              </a:spcAft>
            </a:pPr>
            <a:r>
              <a:rPr sz="1200" b="0" i="0">
                <a:solidFill>
                  <a:srgbClr val="111827"/>
                </a:solidFill>
                <a:latin typeface="Times New Roman"/>
              </a:rPr>
              <a:t>—  Historical context</a:t>
            </a:r>
          </a:p>
          <a:p>
            <a:pPr algn="l">
              <a:lnSpc>
                <a:spcPct val="118000"/>
              </a:lnSpc>
              <a:spcAft>
                <a:spcPts val="500"/>
              </a:spcAft>
            </a:pPr>
            <a:r>
              <a:rPr sz="1200" b="0" i="0">
                <a:solidFill>
                  <a:srgbClr val="111827"/>
                </a:solidFill>
                <a:latin typeface="Times New Roman"/>
              </a:rPr>
              <a:t>—  Underlying assumptions</a:t>
            </a:r>
          </a:p>
          <a:p>
            <a:pPr algn="l">
              <a:lnSpc>
                <a:spcPct val="118000"/>
              </a:lnSpc>
              <a:spcAft>
                <a:spcPts val="500"/>
              </a:spcAft>
            </a:pPr>
            <a:r>
              <a:rPr sz="1200" b="0" i="0">
                <a:solidFill>
                  <a:srgbClr val="111827"/>
                </a:solidFill>
                <a:latin typeface="Times New Roman"/>
              </a:rPr>
              <a:t>—  Empirical support</a:t>
            </a:r>
          </a:p>
          <a:p>
            <a:pPr algn="l">
              <a:lnSpc>
                <a:spcPct val="118000"/>
              </a:lnSpc>
              <a:spcAft>
                <a:spcPts val="500"/>
              </a:spcAft>
            </a:pPr>
            <a:r>
              <a:rPr sz="1200" b="0" i="0">
                <a:solidFill>
                  <a:srgbClr val="111827"/>
                </a:solidFill>
                <a:latin typeface="Times New Roman"/>
              </a:rPr>
              <a:t>—  Managerial implications</a:t>
            </a:r>
          </a:p>
          <a:p>
            <a:pPr algn="l">
              <a:lnSpc>
                <a:spcPct val="118000"/>
              </a:lnSpc>
              <a:spcBef>
                <a:spcPts val="1000"/>
              </a:spcBef>
            </a:pPr>
            <a:r>
              <a:rPr sz="1150" b="1" i="1">
                <a:solidFill>
                  <a:srgbClr val="4B5563"/>
                </a:solidFill>
                <a:latin typeface="Times New Roman"/>
              </a:rPr>
              <a:t>Why did this theory become influential?</a:t>
            </a:r>
          </a:p>
        </p:txBody>
      </p:sp>
      <p:sp>
        <p:nvSpPr>
          <p:cNvPr id="13" name="Rectangle 12"/>
          <p:cNvSpPr/>
          <p:nvPr/>
        </p:nvSpPr>
        <p:spPr>
          <a:xfrm>
            <a:off x="4389120" y="2670048"/>
            <a:ext cx="3383280" cy="283464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89120" y="2670048"/>
            <a:ext cx="3383280" cy="45720"/>
          </a:xfrm>
          <a:prstGeom prst="rect">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90288" y="2871216"/>
            <a:ext cx="2980944" cy="2505456"/>
          </a:xfrm>
          <a:prstGeom prst="rect">
            <a:avLst/>
          </a:prstGeom>
          <a:noFill/>
        </p:spPr>
        <p:txBody>
          <a:bodyPr wrap="square" anchor="t" lIns="0" rIns="0" tIns="0" bIns="0">
            <a:spAutoFit/>
          </a:bodyPr>
          <a:lstStyle/>
          <a:p>
            <a:pPr algn="l">
              <a:spcAft>
                <a:spcPts val="600"/>
              </a:spcAft>
            </a:pPr>
            <a:r>
              <a:rPr sz="900" b="1" i="0">
                <a:solidFill>
                  <a:srgbClr val="2A6F97"/>
                </a:solidFill>
                <a:latin typeface="Times New Roman"/>
              </a:rPr>
              <a:t>PERSPECTIVE TWO</a:t>
            </a:r>
          </a:p>
          <a:p>
            <a:pPr algn="l">
              <a:spcAft>
                <a:spcPts val="1000"/>
              </a:spcAft>
            </a:pPr>
            <a:r>
              <a:rPr sz="1700" b="1" i="0">
                <a:solidFill>
                  <a:srgbClr val="10233F"/>
                </a:solidFill>
                <a:latin typeface="Times New Roman"/>
              </a:rPr>
              <a:t>Critical Evaluation</a:t>
            </a:r>
          </a:p>
          <a:p>
            <a:pPr algn="l">
              <a:lnSpc>
                <a:spcPct val="118000"/>
              </a:lnSpc>
              <a:spcAft>
                <a:spcPts val="500"/>
              </a:spcAft>
            </a:pPr>
            <a:r>
              <a:rPr sz="1200" b="0" i="0">
                <a:solidFill>
                  <a:srgbClr val="111827"/>
                </a:solidFill>
                <a:latin typeface="Times New Roman"/>
              </a:rPr>
              <a:t>—  Which assumptions hold?</a:t>
            </a:r>
          </a:p>
          <a:p>
            <a:pPr algn="l">
              <a:lnSpc>
                <a:spcPct val="118000"/>
              </a:lnSpc>
              <a:spcAft>
                <a:spcPts val="500"/>
              </a:spcAft>
            </a:pPr>
            <a:r>
              <a:rPr sz="1200" b="0" i="0">
                <a:solidFill>
                  <a:srgbClr val="111827"/>
                </a:solidFill>
                <a:latin typeface="Times New Roman"/>
              </a:rPr>
              <a:t>—  Which have weakened?</a:t>
            </a:r>
          </a:p>
          <a:p>
            <a:pPr algn="l">
              <a:lnSpc>
                <a:spcPct val="118000"/>
              </a:lnSpc>
              <a:spcAft>
                <a:spcPts val="500"/>
              </a:spcAft>
            </a:pPr>
            <a:r>
              <a:rPr sz="1200" b="0" i="0">
                <a:solidFill>
                  <a:srgbClr val="111827"/>
                </a:solidFill>
                <a:latin typeface="Times New Roman"/>
              </a:rPr>
              <a:t>—  Which belong to an earlier technological era?</a:t>
            </a:r>
          </a:p>
          <a:p>
            <a:pPr algn="l">
              <a:lnSpc>
                <a:spcPct val="118000"/>
              </a:lnSpc>
              <a:spcBef>
                <a:spcPts val="1000"/>
              </a:spcBef>
            </a:pPr>
            <a:r>
              <a:rPr sz="1150" b="1" i="1">
                <a:solidFill>
                  <a:srgbClr val="4B5563"/>
                </a:solidFill>
                <a:latin typeface="Times New Roman"/>
              </a:rPr>
              <a:t>Critique the theory rather than memorize it.</a:t>
            </a:r>
          </a:p>
        </p:txBody>
      </p:sp>
      <p:sp>
        <p:nvSpPr>
          <p:cNvPr id="16" name="Rectangle 15"/>
          <p:cNvSpPr/>
          <p:nvPr/>
        </p:nvSpPr>
        <p:spPr>
          <a:xfrm>
            <a:off x="7909560" y="2670048"/>
            <a:ext cx="3383280" cy="2834640"/>
          </a:xfrm>
          <a:prstGeom prst="rect">
            <a:avLst/>
          </a:prstGeom>
          <a:solidFill>
            <a:srgbClr val="EA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909560" y="2670048"/>
            <a:ext cx="3383280" cy="45720"/>
          </a:xfrm>
          <a:prstGeom prst="rect">
            <a:avLst/>
          </a:prstGeom>
          <a:solidFill>
            <a:srgbClr val="2A6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10728" y="2871216"/>
            <a:ext cx="2980944" cy="2505456"/>
          </a:xfrm>
          <a:prstGeom prst="rect">
            <a:avLst/>
          </a:prstGeom>
          <a:noFill/>
        </p:spPr>
        <p:txBody>
          <a:bodyPr wrap="square" anchor="t" lIns="0" rIns="0" tIns="0" bIns="0">
            <a:spAutoFit/>
          </a:bodyPr>
          <a:lstStyle/>
          <a:p>
            <a:pPr algn="l">
              <a:spcAft>
                <a:spcPts val="600"/>
              </a:spcAft>
            </a:pPr>
            <a:r>
              <a:rPr sz="900" b="1" i="0">
                <a:solidFill>
                  <a:srgbClr val="2A6F97"/>
                </a:solidFill>
                <a:latin typeface="Times New Roman"/>
              </a:rPr>
              <a:t>PERSPECTIVE THREE</a:t>
            </a:r>
          </a:p>
          <a:p>
            <a:pPr algn="l">
              <a:spcAft>
                <a:spcPts val="1000"/>
              </a:spcAft>
            </a:pPr>
            <a:r>
              <a:rPr sz="1700" b="1" i="0">
                <a:solidFill>
                  <a:srgbClr val="10233F"/>
                </a:solidFill>
                <a:latin typeface="Times New Roman"/>
              </a:rPr>
              <a:t>AI Extension</a:t>
            </a:r>
          </a:p>
          <a:p>
            <a:pPr algn="l">
              <a:lnSpc>
                <a:spcPct val="118000"/>
              </a:lnSpc>
              <a:spcAft>
                <a:spcPts val="500"/>
              </a:spcAft>
            </a:pPr>
            <a:r>
              <a:rPr sz="1200" b="0" i="0">
                <a:solidFill>
                  <a:srgbClr val="111827"/>
                </a:solidFill>
                <a:latin typeface="Times New Roman"/>
              </a:rPr>
              <a:t>—  Intelligent systems</a:t>
            </a:r>
          </a:p>
          <a:p>
            <a:pPr algn="l">
              <a:lnSpc>
                <a:spcPct val="118000"/>
              </a:lnSpc>
              <a:spcAft>
                <a:spcPts val="500"/>
              </a:spcAft>
            </a:pPr>
            <a:r>
              <a:rPr sz="1200" b="0" i="0">
                <a:solidFill>
                  <a:srgbClr val="111827"/>
                </a:solidFill>
                <a:latin typeface="Times New Roman"/>
              </a:rPr>
              <a:t>—  Abundant data</a:t>
            </a:r>
          </a:p>
          <a:p>
            <a:pPr algn="l">
              <a:lnSpc>
                <a:spcPct val="118000"/>
              </a:lnSpc>
              <a:spcAft>
                <a:spcPts val="500"/>
              </a:spcAft>
            </a:pPr>
            <a:r>
              <a:rPr sz="1200" b="0" i="0">
                <a:solidFill>
                  <a:srgbClr val="111827"/>
                </a:solidFill>
                <a:latin typeface="Times New Roman"/>
              </a:rPr>
              <a:t>—  Digital ecosystems</a:t>
            </a:r>
          </a:p>
          <a:p>
            <a:pPr algn="l">
              <a:lnSpc>
                <a:spcPct val="118000"/>
              </a:lnSpc>
              <a:spcAft>
                <a:spcPts val="500"/>
              </a:spcAft>
            </a:pPr>
            <a:r>
              <a:rPr sz="1200" b="0" i="0">
                <a:solidFill>
                  <a:srgbClr val="111827"/>
                </a:solidFill>
                <a:latin typeface="Times New Roman"/>
              </a:rPr>
              <a:t>—  Continuous learning</a:t>
            </a:r>
          </a:p>
          <a:p>
            <a:pPr algn="l">
              <a:lnSpc>
                <a:spcPct val="118000"/>
              </a:lnSpc>
              <a:spcBef>
                <a:spcPts val="1000"/>
              </a:spcBef>
            </a:pPr>
            <a:r>
              <a:rPr sz="1150" b="1" i="1">
                <a:solidFill>
                  <a:srgbClr val="4B5563"/>
                </a:solidFill>
                <a:latin typeface="Times New Roman"/>
              </a:rPr>
              <a:t>How should strategy itself evolve?</a:t>
            </a:r>
          </a:p>
        </p:txBody>
      </p:sp>
      <p:sp>
        <p:nvSpPr>
          <p:cNvPr id="19" name="Rectangle 18"/>
          <p:cNvSpPr/>
          <p:nvPr/>
        </p:nvSpPr>
        <p:spPr>
          <a:xfrm>
            <a:off x="868680" y="5742432"/>
            <a:ext cx="36576" cy="31089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69848" y="5742432"/>
            <a:ext cx="10424160" cy="365760"/>
          </a:xfrm>
          <a:prstGeom prst="rect">
            <a:avLst/>
          </a:prstGeom>
          <a:noFill/>
        </p:spPr>
        <p:txBody>
          <a:bodyPr wrap="square" anchor="ctr" lIns="0" rIns="0" tIns="0" bIns="0">
            <a:spAutoFit/>
          </a:bodyPr>
          <a:lstStyle/>
          <a:p>
            <a:pPr algn="l"/>
            <a:r>
              <a:rPr sz="1350" b="1" i="1">
                <a:solidFill>
                  <a:srgbClr val="10233F"/>
                </a:solidFill>
                <a:latin typeface="Times New Roman"/>
              </a:rPr>
              <a:t>Strategic leaders must rethink not only how organizations execute strategy, but how strategy itself is formulated.</a:t>
            </a:r>
          </a:p>
        </p:txBody>
      </p:sp>
      <p:sp>
        <p:nvSpPr>
          <p:cNvPr id="21" name="TextBox 20"/>
          <p:cNvSpPr txBox="1"/>
          <p:nvPr/>
        </p:nvSpPr>
        <p:spPr>
          <a:xfrm>
            <a:off x="11475720" y="6473952"/>
            <a:ext cx="457200" cy="182880"/>
          </a:xfrm>
          <a:prstGeom prst="rect">
            <a:avLst/>
          </a:prstGeom>
          <a:noFill/>
        </p:spPr>
        <p:txBody>
          <a:bodyPr wrap="square" anchor="t" lIns="0" rIns="0" tIns="0" bIns="0">
            <a:spAutoFit/>
          </a:bodyPr>
          <a:lstStyle/>
          <a:p>
            <a:pPr algn="r"/>
            <a:r>
              <a:rPr sz="800" b="0" i="0">
                <a:solidFill>
                  <a:srgbClr val="9CA3AF"/>
                </a:solidFill>
                <a:latin typeface="Times New Roman"/>
              </a:rPr>
              <a:t>19</a:t>
            </a:r>
          </a:p>
        </p:txBody>
      </p:sp>
      <p:sp>
        <p:nvSpPr>
          <p:cNvPr id="22" name="TextBox 21"/>
          <p:cNvSpPr txBox="1"/>
          <p:nvPr/>
        </p:nvSpPr>
        <p:spPr>
          <a:xfrm>
            <a:off x="502920" y="6473952"/>
            <a:ext cx="6400800" cy="182880"/>
          </a:xfrm>
          <a:prstGeom prst="rect">
            <a:avLst/>
          </a:prstGeom>
          <a:noFill/>
        </p:spPr>
        <p:txBody>
          <a:bodyPr wrap="square" anchor="t" lIns="0" rIns="0" tIns="0" bIns="0">
            <a:spAutoFit/>
          </a:bodyPr>
          <a:lstStyle/>
          <a:p>
            <a:pPr algn="l"/>
            <a:r>
              <a:rPr sz="720" b="0" i="0">
                <a:solidFill>
                  <a:srgbClr val="6B7280"/>
                </a:solidFill>
                <a:latin typeface="Times New Roman"/>
              </a:rPr>
              <a:t>Strategic Management in the Age of AI · MGMT 465/665 · Course Introduction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969" cy="164592"/>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969" cy="3657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411480"/>
            <a:ext cx="5943600" cy="228600"/>
          </a:xfrm>
          <a:prstGeom prst="rect">
            <a:avLst/>
          </a:prstGeom>
          <a:noFill/>
        </p:spPr>
        <p:txBody>
          <a:bodyPr wrap="square" anchor="t" lIns="0" rIns="0" tIns="0" bIns="0">
            <a:spAutoFit/>
          </a:bodyPr>
          <a:lstStyle/>
          <a:p>
            <a:pPr algn="l"/>
            <a:r>
              <a:rPr sz="850" b="1" i="0">
                <a:solidFill>
                  <a:srgbClr val="2A6F97"/>
                </a:solidFill>
                <a:latin typeface="Times New Roman"/>
              </a:rPr>
              <a:t>PART I · EDUCATIONAL PHILOSOPHY</a:t>
            </a:r>
          </a:p>
        </p:txBody>
      </p:sp>
      <p:sp>
        <p:nvSpPr>
          <p:cNvPr id="6" name="TextBox 5"/>
          <p:cNvSpPr txBox="1"/>
          <p:nvPr/>
        </p:nvSpPr>
        <p:spPr>
          <a:xfrm>
            <a:off x="502920" y="640080"/>
            <a:ext cx="9509760" cy="457200"/>
          </a:xfrm>
          <a:prstGeom prst="rect">
            <a:avLst/>
          </a:prstGeom>
          <a:noFill/>
        </p:spPr>
        <p:txBody>
          <a:bodyPr wrap="square" anchor="t" lIns="0" rIns="0" tIns="0" bIns="0">
            <a:spAutoFit/>
          </a:bodyPr>
          <a:lstStyle/>
          <a:p>
            <a:pPr algn="l"/>
            <a:r>
              <a:rPr sz="2400" b="1" i="0">
                <a:solidFill>
                  <a:srgbClr val="111827"/>
                </a:solidFill>
                <a:latin typeface="Times New Roman"/>
              </a:rPr>
              <a:t>Six principles that guide the course</a:t>
            </a:r>
          </a:p>
        </p:txBody>
      </p:sp>
      <p:sp>
        <p:nvSpPr>
          <p:cNvPr id="7" name="Rectangle 6"/>
          <p:cNvSpPr/>
          <p:nvPr/>
        </p:nvSpPr>
        <p:spPr>
          <a:xfrm>
            <a:off x="868680" y="1481328"/>
            <a:ext cx="5047488" cy="1280160"/>
          </a:xfrm>
          <a:prstGeom prst="rect">
            <a:avLst/>
          </a:prstGeom>
          <a:solidFill>
            <a:srgbClr val="F7F8FA"/>
          </a:solidFill>
          <a:ln w="9525">
            <a:solidFill>
              <a:srgbClr val="E2E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68680" y="1481328"/>
            <a:ext cx="384048" cy="1280160"/>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572768"/>
            <a:ext cx="384048" cy="274320"/>
          </a:xfrm>
          <a:prstGeom prst="rect">
            <a:avLst/>
          </a:prstGeom>
          <a:noFill/>
        </p:spPr>
        <p:txBody>
          <a:bodyPr wrap="square" anchor="t" lIns="0" rIns="0" tIns="0" bIns="0">
            <a:spAutoFit/>
          </a:bodyPr>
          <a:lstStyle/>
          <a:p>
            <a:pPr algn="ctr"/>
            <a:r>
              <a:rPr sz="1500" b="1" i="0">
                <a:solidFill>
                  <a:srgbClr val="FFFFFF"/>
                </a:solidFill>
                <a:latin typeface="Times New Roman"/>
              </a:rPr>
              <a:t>1</a:t>
            </a:r>
          </a:p>
        </p:txBody>
      </p:sp>
      <p:sp>
        <p:nvSpPr>
          <p:cNvPr id="10" name="TextBox 9"/>
          <p:cNvSpPr txBox="1"/>
          <p:nvPr/>
        </p:nvSpPr>
        <p:spPr>
          <a:xfrm>
            <a:off x="1435607" y="1627632"/>
            <a:ext cx="4334256" cy="1005840"/>
          </a:xfrm>
          <a:prstGeom prst="rect">
            <a:avLst/>
          </a:prstGeom>
          <a:noFill/>
        </p:spPr>
        <p:txBody>
          <a:bodyPr wrap="square" anchor="t" lIns="0" rIns="0" tIns="0" bIns="0">
            <a:spAutoFit/>
          </a:bodyPr>
          <a:lstStyle/>
          <a:p>
            <a:pPr algn="l">
              <a:lnSpc>
                <a:spcPct val="106000"/>
              </a:lnSpc>
              <a:spcAft>
                <a:spcPts val="500"/>
              </a:spcAft>
            </a:pPr>
            <a:r>
              <a:rPr sz="1350" b="1" i="0">
                <a:solidFill>
                  <a:srgbClr val="10233F"/>
                </a:solidFill>
                <a:latin typeface="Times New Roman"/>
              </a:rPr>
              <a:t>Classical strategy remains essential</a:t>
            </a:r>
          </a:p>
          <a:p>
            <a:pPr algn="l">
              <a:lnSpc>
                <a:spcPct val="120000"/>
              </a:lnSpc>
            </a:pPr>
            <a:r>
              <a:rPr sz="1150" b="0" i="0">
                <a:solidFill>
                  <a:srgbClr val="4B5563"/>
                </a:solidFill>
                <a:latin typeface="Times New Roman"/>
              </a:rPr>
              <a:t>AI does not replace strategic management; strategy provides the lens for understanding AI.</a:t>
            </a:r>
          </a:p>
        </p:txBody>
      </p:sp>
      <p:sp>
        <p:nvSpPr>
          <p:cNvPr id="11" name="Rectangle 10"/>
          <p:cNvSpPr/>
          <p:nvPr/>
        </p:nvSpPr>
        <p:spPr>
          <a:xfrm>
            <a:off x="6245352" y="1481328"/>
            <a:ext cx="5047488" cy="1280160"/>
          </a:xfrm>
          <a:prstGeom prst="rect">
            <a:avLst/>
          </a:prstGeom>
          <a:solidFill>
            <a:srgbClr val="FFFFFF"/>
          </a:solidFill>
          <a:ln w="9525">
            <a:solidFill>
              <a:srgbClr val="E2E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45352" y="1481328"/>
            <a:ext cx="384048" cy="1280160"/>
          </a:xfrm>
          <a:prstGeom prst="rect">
            <a:avLst/>
          </a:prstGeom>
          <a:solidFill>
            <a:srgbClr val="2A6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45352" y="1572768"/>
            <a:ext cx="384048" cy="274320"/>
          </a:xfrm>
          <a:prstGeom prst="rect">
            <a:avLst/>
          </a:prstGeom>
          <a:noFill/>
        </p:spPr>
        <p:txBody>
          <a:bodyPr wrap="square" anchor="t" lIns="0" rIns="0" tIns="0" bIns="0">
            <a:spAutoFit/>
          </a:bodyPr>
          <a:lstStyle/>
          <a:p>
            <a:pPr algn="ctr"/>
            <a:r>
              <a:rPr sz="1500" b="1" i="0">
                <a:solidFill>
                  <a:srgbClr val="FFFFFF"/>
                </a:solidFill>
                <a:latin typeface="Times New Roman"/>
              </a:rPr>
              <a:t>2</a:t>
            </a:r>
          </a:p>
        </p:txBody>
      </p:sp>
      <p:sp>
        <p:nvSpPr>
          <p:cNvPr id="14" name="TextBox 13"/>
          <p:cNvSpPr txBox="1"/>
          <p:nvPr/>
        </p:nvSpPr>
        <p:spPr>
          <a:xfrm>
            <a:off x="6812280" y="1627632"/>
            <a:ext cx="4334256" cy="1005840"/>
          </a:xfrm>
          <a:prstGeom prst="rect">
            <a:avLst/>
          </a:prstGeom>
          <a:noFill/>
        </p:spPr>
        <p:txBody>
          <a:bodyPr wrap="square" anchor="t" lIns="0" rIns="0" tIns="0" bIns="0">
            <a:spAutoFit/>
          </a:bodyPr>
          <a:lstStyle/>
          <a:p>
            <a:pPr algn="l">
              <a:lnSpc>
                <a:spcPct val="106000"/>
              </a:lnSpc>
              <a:spcAft>
                <a:spcPts val="500"/>
              </a:spcAft>
            </a:pPr>
            <a:r>
              <a:rPr sz="1350" b="1" i="0">
                <a:solidFill>
                  <a:srgbClr val="10233F"/>
                </a:solidFill>
                <a:latin typeface="Times New Roman"/>
              </a:rPr>
              <a:t>Artificial intelligence changes assumptions</a:t>
            </a:r>
          </a:p>
          <a:p>
            <a:pPr algn="l">
              <a:lnSpc>
                <a:spcPct val="120000"/>
              </a:lnSpc>
            </a:pPr>
            <a:r>
              <a:rPr sz="1150" b="0" i="0">
                <a:solidFill>
                  <a:srgbClr val="4B5563"/>
                </a:solidFill>
                <a:latin typeface="Times New Roman"/>
              </a:rPr>
              <a:t>Information processing, learning, experimentation, and competitive dynamics all shift. Reinterpret — do not discard.</a:t>
            </a:r>
          </a:p>
        </p:txBody>
      </p:sp>
      <p:sp>
        <p:nvSpPr>
          <p:cNvPr id="15" name="Rectangle 14"/>
          <p:cNvSpPr/>
          <p:nvPr/>
        </p:nvSpPr>
        <p:spPr>
          <a:xfrm>
            <a:off x="868680" y="2926080"/>
            <a:ext cx="5047488" cy="1280160"/>
          </a:xfrm>
          <a:prstGeom prst="rect">
            <a:avLst/>
          </a:prstGeom>
          <a:solidFill>
            <a:srgbClr val="F7F8FA"/>
          </a:solidFill>
          <a:ln w="9525">
            <a:solidFill>
              <a:srgbClr val="E2E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68680" y="2926080"/>
            <a:ext cx="384048" cy="1280160"/>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3017520"/>
            <a:ext cx="384048" cy="274320"/>
          </a:xfrm>
          <a:prstGeom prst="rect">
            <a:avLst/>
          </a:prstGeom>
          <a:noFill/>
        </p:spPr>
        <p:txBody>
          <a:bodyPr wrap="square" anchor="t" lIns="0" rIns="0" tIns="0" bIns="0">
            <a:spAutoFit/>
          </a:bodyPr>
          <a:lstStyle/>
          <a:p>
            <a:pPr algn="ctr"/>
            <a:r>
              <a:rPr sz="1500" b="1" i="0">
                <a:solidFill>
                  <a:srgbClr val="FFFFFF"/>
                </a:solidFill>
                <a:latin typeface="Times New Roman"/>
              </a:rPr>
              <a:t>3</a:t>
            </a:r>
          </a:p>
        </p:txBody>
      </p:sp>
      <p:sp>
        <p:nvSpPr>
          <p:cNvPr id="18" name="TextBox 17"/>
          <p:cNvSpPr txBox="1"/>
          <p:nvPr/>
        </p:nvSpPr>
        <p:spPr>
          <a:xfrm>
            <a:off x="1435607" y="3072384"/>
            <a:ext cx="4334256" cy="1005840"/>
          </a:xfrm>
          <a:prstGeom prst="rect">
            <a:avLst/>
          </a:prstGeom>
          <a:noFill/>
        </p:spPr>
        <p:txBody>
          <a:bodyPr wrap="square" anchor="t" lIns="0" rIns="0" tIns="0" bIns="0">
            <a:spAutoFit/>
          </a:bodyPr>
          <a:lstStyle/>
          <a:p>
            <a:pPr algn="l">
              <a:lnSpc>
                <a:spcPct val="106000"/>
              </a:lnSpc>
              <a:spcAft>
                <a:spcPts val="500"/>
              </a:spcAft>
            </a:pPr>
            <a:r>
              <a:rPr sz="1350" b="1" i="0">
                <a:solidFill>
                  <a:srgbClr val="10233F"/>
                </a:solidFill>
                <a:latin typeface="Times New Roman"/>
              </a:rPr>
              <a:t>Strategy is learned through application</a:t>
            </a:r>
          </a:p>
          <a:p>
            <a:pPr algn="l">
              <a:lnSpc>
                <a:spcPct val="120000"/>
              </a:lnSpc>
            </a:pPr>
            <a:r>
              <a:rPr sz="1150" b="0" i="0">
                <a:solidFill>
                  <a:srgbClr val="4B5563"/>
                </a:solidFill>
                <a:latin typeface="Times New Roman"/>
              </a:rPr>
              <a:t>Case analysis, executive discussion, AI laboratories, consulting engagements, strategic writing, board presentations.</a:t>
            </a:r>
          </a:p>
        </p:txBody>
      </p:sp>
      <p:sp>
        <p:nvSpPr>
          <p:cNvPr id="19" name="Rectangle 18"/>
          <p:cNvSpPr/>
          <p:nvPr/>
        </p:nvSpPr>
        <p:spPr>
          <a:xfrm>
            <a:off x="6245352" y="2926080"/>
            <a:ext cx="5047488" cy="1280160"/>
          </a:xfrm>
          <a:prstGeom prst="rect">
            <a:avLst/>
          </a:prstGeom>
          <a:solidFill>
            <a:srgbClr val="FFFFFF"/>
          </a:solidFill>
          <a:ln w="9525">
            <a:solidFill>
              <a:srgbClr val="E2E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45352" y="2926080"/>
            <a:ext cx="384048" cy="1280160"/>
          </a:xfrm>
          <a:prstGeom prst="rect">
            <a:avLst/>
          </a:prstGeom>
          <a:solidFill>
            <a:srgbClr val="2A6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45352" y="3017520"/>
            <a:ext cx="384048" cy="274320"/>
          </a:xfrm>
          <a:prstGeom prst="rect">
            <a:avLst/>
          </a:prstGeom>
          <a:noFill/>
        </p:spPr>
        <p:txBody>
          <a:bodyPr wrap="square" anchor="t" lIns="0" rIns="0" tIns="0" bIns="0">
            <a:spAutoFit/>
          </a:bodyPr>
          <a:lstStyle/>
          <a:p>
            <a:pPr algn="ctr"/>
            <a:r>
              <a:rPr sz="1500" b="1" i="0">
                <a:solidFill>
                  <a:srgbClr val="FFFFFF"/>
                </a:solidFill>
                <a:latin typeface="Times New Roman"/>
              </a:rPr>
              <a:t>4</a:t>
            </a:r>
          </a:p>
        </p:txBody>
      </p:sp>
      <p:sp>
        <p:nvSpPr>
          <p:cNvPr id="22" name="TextBox 21"/>
          <p:cNvSpPr txBox="1"/>
          <p:nvPr/>
        </p:nvSpPr>
        <p:spPr>
          <a:xfrm>
            <a:off x="6812280" y="3072384"/>
            <a:ext cx="4334256" cy="1005840"/>
          </a:xfrm>
          <a:prstGeom prst="rect">
            <a:avLst/>
          </a:prstGeom>
          <a:noFill/>
        </p:spPr>
        <p:txBody>
          <a:bodyPr wrap="square" anchor="t" lIns="0" rIns="0" tIns="0" bIns="0">
            <a:spAutoFit/>
          </a:bodyPr>
          <a:lstStyle/>
          <a:p>
            <a:pPr algn="l">
              <a:lnSpc>
                <a:spcPct val="106000"/>
              </a:lnSpc>
              <a:spcAft>
                <a:spcPts val="500"/>
              </a:spcAft>
            </a:pPr>
            <a:r>
              <a:rPr sz="1350" b="1" i="0">
                <a:solidFill>
                  <a:srgbClr val="10233F"/>
                </a:solidFill>
                <a:latin typeface="Times New Roman"/>
              </a:rPr>
              <a:t>Artificial intelligence is a learning partner</a:t>
            </a:r>
          </a:p>
          <a:p>
            <a:pPr algn="l">
              <a:lnSpc>
                <a:spcPct val="120000"/>
              </a:lnSpc>
            </a:pPr>
            <a:r>
              <a:rPr sz="1150" b="0" i="0">
                <a:solidFill>
                  <a:srgbClr val="4B5563"/>
                </a:solidFill>
                <a:latin typeface="Times New Roman"/>
              </a:rPr>
              <a:t>Brainstorming, synthesis, comparison, communication, scenario planning — but never a substitute for your reasoning.</a:t>
            </a:r>
          </a:p>
        </p:txBody>
      </p:sp>
      <p:sp>
        <p:nvSpPr>
          <p:cNvPr id="23" name="Rectangle 22"/>
          <p:cNvSpPr/>
          <p:nvPr/>
        </p:nvSpPr>
        <p:spPr>
          <a:xfrm>
            <a:off x="868680" y="4370832"/>
            <a:ext cx="5047488" cy="1280160"/>
          </a:xfrm>
          <a:prstGeom prst="rect">
            <a:avLst/>
          </a:prstGeom>
          <a:solidFill>
            <a:srgbClr val="F7F8FA"/>
          </a:solidFill>
          <a:ln w="9525">
            <a:solidFill>
              <a:srgbClr val="E2E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68680" y="4370832"/>
            <a:ext cx="384048" cy="1280160"/>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8680" y="4462272"/>
            <a:ext cx="384048" cy="274320"/>
          </a:xfrm>
          <a:prstGeom prst="rect">
            <a:avLst/>
          </a:prstGeom>
          <a:noFill/>
        </p:spPr>
        <p:txBody>
          <a:bodyPr wrap="square" anchor="t" lIns="0" rIns="0" tIns="0" bIns="0">
            <a:spAutoFit/>
          </a:bodyPr>
          <a:lstStyle/>
          <a:p>
            <a:pPr algn="ctr"/>
            <a:r>
              <a:rPr sz="1500" b="1" i="0">
                <a:solidFill>
                  <a:srgbClr val="FFFFFF"/>
                </a:solidFill>
                <a:latin typeface="Times New Roman"/>
              </a:rPr>
              <a:t>5</a:t>
            </a:r>
          </a:p>
        </p:txBody>
      </p:sp>
      <p:sp>
        <p:nvSpPr>
          <p:cNvPr id="26" name="TextBox 25"/>
          <p:cNvSpPr txBox="1"/>
          <p:nvPr/>
        </p:nvSpPr>
        <p:spPr>
          <a:xfrm>
            <a:off x="1435607" y="4517136"/>
            <a:ext cx="4334256" cy="1005840"/>
          </a:xfrm>
          <a:prstGeom prst="rect">
            <a:avLst/>
          </a:prstGeom>
          <a:noFill/>
        </p:spPr>
        <p:txBody>
          <a:bodyPr wrap="square" anchor="t" lIns="0" rIns="0" tIns="0" bIns="0">
            <a:spAutoFit/>
          </a:bodyPr>
          <a:lstStyle/>
          <a:p>
            <a:pPr algn="l">
              <a:lnSpc>
                <a:spcPct val="106000"/>
              </a:lnSpc>
              <a:spcAft>
                <a:spcPts val="500"/>
              </a:spcAft>
            </a:pPr>
            <a:r>
              <a:rPr sz="1350" b="1" i="0">
                <a:solidFill>
                  <a:srgbClr val="10233F"/>
                </a:solidFill>
                <a:latin typeface="Times New Roman"/>
              </a:rPr>
              <a:t>Responsible leadership matters</a:t>
            </a:r>
          </a:p>
          <a:p>
            <a:pPr algn="l">
              <a:lnSpc>
                <a:spcPct val="120000"/>
              </a:lnSpc>
            </a:pPr>
            <a:r>
              <a:rPr sz="1150" b="0" i="0">
                <a:solidFill>
                  <a:srgbClr val="4B5563"/>
                </a:solidFill>
                <a:latin typeface="Times New Roman"/>
              </a:rPr>
              <a:t>Innovation, governance, stakeholders, advantage, sustainability — integrated into every module, not isolated in one.</a:t>
            </a:r>
          </a:p>
        </p:txBody>
      </p:sp>
      <p:sp>
        <p:nvSpPr>
          <p:cNvPr id="27" name="Rectangle 26"/>
          <p:cNvSpPr/>
          <p:nvPr/>
        </p:nvSpPr>
        <p:spPr>
          <a:xfrm>
            <a:off x="6245352" y="4370832"/>
            <a:ext cx="5047488" cy="1280160"/>
          </a:xfrm>
          <a:prstGeom prst="rect">
            <a:avLst/>
          </a:prstGeom>
          <a:solidFill>
            <a:srgbClr val="FFFFFF"/>
          </a:solidFill>
          <a:ln w="9525">
            <a:solidFill>
              <a:srgbClr val="E2E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45352" y="4370832"/>
            <a:ext cx="384048" cy="1280160"/>
          </a:xfrm>
          <a:prstGeom prst="rect">
            <a:avLst/>
          </a:prstGeom>
          <a:solidFill>
            <a:srgbClr val="2A6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45352" y="4462272"/>
            <a:ext cx="384048" cy="274320"/>
          </a:xfrm>
          <a:prstGeom prst="rect">
            <a:avLst/>
          </a:prstGeom>
          <a:noFill/>
        </p:spPr>
        <p:txBody>
          <a:bodyPr wrap="square" anchor="t" lIns="0" rIns="0" tIns="0" bIns="0">
            <a:spAutoFit/>
          </a:bodyPr>
          <a:lstStyle/>
          <a:p>
            <a:pPr algn="ctr"/>
            <a:r>
              <a:rPr sz="1500" b="1" i="0">
                <a:solidFill>
                  <a:srgbClr val="FFFFFF"/>
                </a:solidFill>
                <a:latin typeface="Times New Roman"/>
              </a:rPr>
              <a:t>6</a:t>
            </a:r>
          </a:p>
        </p:txBody>
      </p:sp>
      <p:sp>
        <p:nvSpPr>
          <p:cNvPr id="30" name="TextBox 29"/>
          <p:cNvSpPr txBox="1"/>
          <p:nvPr/>
        </p:nvSpPr>
        <p:spPr>
          <a:xfrm>
            <a:off x="6812280" y="4517136"/>
            <a:ext cx="4334256" cy="1005840"/>
          </a:xfrm>
          <a:prstGeom prst="rect">
            <a:avLst/>
          </a:prstGeom>
          <a:noFill/>
        </p:spPr>
        <p:txBody>
          <a:bodyPr wrap="square" anchor="t" lIns="0" rIns="0" tIns="0" bIns="0">
            <a:spAutoFit/>
          </a:bodyPr>
          <a:lstStyle/>
          <a:p>
            <a:pPr algn="l">
              <a:lnSpc>
                <a:spcPct val="106000"/>
              </a:lnSpc>
              <a:spcAft>
                <a:spcPts val="500"/>
              </a:spcAft>
            </a:pPr>
            <a:r>
              <a:rPr sz="1350" b="1" i="0">
                <a:solidFill>
                  <a:srgbClr val="10233F"/>
                </a:solidFill>
                <a:latin typeface="Times New Roman"/>
              </a:rPr>
              <a:t>Lifelong learning is a strategic capability</a:t>
            </a:r>
          </a:p>
          <a:p>
            <a:pPr algn="l">
              <a:lnSpc>
                <a:spcPct val="120000"/>
              </a:lnSpc>
            </a:pPr>
            <a:r>
              <a:rPr sz="1150" b="0" i="0">
                <a:solidFill>
                  <a:srgbClr val="4B5563"/>
                </a:solidFill>
                <a:latin typeface="Times New Roman"/>
              </a:rPr>
              <a:t>Tools will change; strategic thinking endures. The emphasis is transferable reasoning, not software proficiency.</a:t>
            </a:r>
          </a:p>
        </p:txBody>
      </p:sp>
      <p:sp>
        <p:nvSpPr>
          <p:cNvPr id="31" name="Rectangle 30"/>
          <p:cNvSpPr/>
          <p:nvPr/>
        </p:nvSpPr>
        <p:spPr>
          <a:xfrm>
            <a:off x="868680" y="5925312"/>
            <a:ext cx="36576" cy="31089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69848" y="5925312"/>
            <a:ext cx="10424160" cy="365760"/>
          </a:xfrm>
          <a:prstGeom prst="rect">
            <a:avLst/>
          </a:prstGeom>
          <a:noFill/>
        </p:spPr>
        <p:txBody>
          <a:bodyPr wrap="square" anchor="ctr" lIns="0" rIns="0" tIns="0" bIns="0">
            <a:spAutoFit/>
          </a:bodyPr>
          <a:lstStyle/>
          <a:p>
            <a:pPr algn="l"/>
            <a:r>
              <a:rPr sz="1350" b="1" i="1">
                <a:solidFill>
                  <a:srgbClr val="10233F"/>
                </a:solidFill>
                <a:latin typeface="Times New Roman"/>
              </a:rPr>
              <a:t>Students learn to reinterpret classical theory — not to abandon it.</a:t>
            </a:r>
          </a:p>
        </p:txBody>
      </p:sp>
      <p:sp>
        <p:nvSpPr>
          <p:cNvPr id="33" name="TextBox 32"/>
          <p:cNvSpPr txBox="1"/>
          <p:nvPr/>
        </p:nvSpPr>
        <p:spPr>
          <a:xfrm>
            <a:off x="11475720" y="6473952"/>
            <a:ext cx="457200" cy="182880"/>
          </a:xfrm>
          <a:prstGeom prst="rect">
            <a:avLst/>
          </a:prstGeom>
          <a:noFill/>
        </p:spPr>
        <p:txBody>
          <a:bodyPr wrap="square" anchor="t" lIns="0" rIns="0" tIns="0" bIns="0">
            <a:spAutoFit/>
          </a:bodyPr>
          <a:lstStyle/>
          <a:p>
            <a:pPr algn="r"/>
            <a:r>
              <a:rPr sz="800" b="0" i="0">
                <a:solidFill>
                  <a:srgbClr val="9CA3AF"/>
                </a:solidFill>
                <a:latin typeface="Times New Roman"/>
              </a:rPr>
              <a:t>20</a:t>
            </a:r>
          </a:p>
        </p:txBody>
      </p:sp>
      <p:sp>
        <p:nvSpPr>
          <p:cNvPr id="34" name="TextBox 33"/>
          <p:cNvSpPr txBox="1"/>
          <p:nvPr/>
        </p:nvSpPr>
        <p:spPr>
          <a:xfrm>
            <a:off x="502920" y="6473952"/>
            <a:ext cx="6400800" cy="182880"/>
          </a:xfrm>
          <a:prstGeom prst="rect">
            <a:avLst/>
          </a:prstGeom>
          <a:noFill/>
        </p:spPr>
        <p:txBody>
          <a:bodyPr wrap="square" anchor="t" lIns="0" rIns="0" tIns="0" bIns="0">
            <a:spAutoFit/>
          </a:bodyPr>
          <a:lstStyle/>
          <a:p>
            <a:pPr algn="l"/>
            <a:r>
              <a:rPr sz="720" b="0" i="0">
                <a:solidFill>
                  <a:srgbClr val="6B7280"/>
                </a:solidFill>
                <a:latin typeface="Times New Roman"/>
              </a:rPr>
              <a:t>Strategic Management in the Age of AI · MGMT 465/665 · Course Introduction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969" cy="164592"/>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969" cy="3657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411480"/>
            <a:ext cx="5943600" cy="228600"/>
          </a:xfrm>
          <a:prstGeom prst="rect">
            <a:avLst/>
          </a:prstGeom>
          <a:noFill/>
        </p:spPr>
        <p:txBody>
          <a:bodyPr wrap="square" anchor="t" lIns="0" rIns="0" tIns="0" bIns="0">
            <a:spAutoFit/>
          </a:bodyPr>
          <a:lstStyle/>
          <a:p>
            <a:pPr algn="l"/>
            <a:r>
              <a:rPr sz="850" b="1" i="0">
                <a:solidFill>
                  <a:srgbClr val="2A6F97"/>
                </a:solidFill>
                <a:latin typeface="Times New Roman"/>
              </a:rPr>
              <a:t>PART I · LEARNING APPROACH</a:t>
            </a:r>
          </a:p>
        </p:txBody>
      </p:sp>
      <p:sp>
        <p:nvSpPr>
          <p:cNvPr id="6" name="TextBox 5"/>
          <p:cNvSpPr txBox="1"/>
          <p:nvPr/>
        </p:nvSpPr>
        <p:spPr>
          <a:xfrm>
            <a:off x="502920" y="640080"/>
            <a:ext cx="9509760" cy="457200"/>
          </a:xfrm>
          <a:prstGeom prst="rect">
            <a:avLst/>
          </a:prstGeom>
          <a:noFill/>
        </p:spPr>
        <p:txBody>
          <a:bodyPr wrap="square" anchor="t" lIns="0" rIns="0" tIns="0" bIns="0">
            <a:spAutoFit/>
          </a:bodyPr>
          <a:lstStyle/>
          <a:p>
            <a:pPr algn="l"/>
            <a:r>
              <a:rPr sz="2400" b="1" i="0">
                <a:solidFill>
                  <a:srgbClr val="111827"/>
                </a:solidFill>
                <a:latin typeface="Times New Roman"/>
              </a:rPr>
              <a:t>Every module follows the same ten moves</a:t>
            </a:r>
          </a:p>
        </p:txBody>
      </p:sp>
      <p:sp>
        <p:nvSpPr>
          <p:cNvPr id="7" name="TextBox 6"/>
          <p:cNvSpPr txBox="1"/>
          <p:nvPr/>
        </p:nvSpPr>
        <p:spPr>
          <a:xfrm>
            <a:off x="502920" y="1106424"/>
            <a:ext cx="10698480" cy="274320"/>
          </a:xfrm>
          <a:prstGeom prst="rect">
            <a:avLst/>
          </a:prstGeom>
          <a:noFill/>
        </p:spPr>
        <p:txBody>
          <a:bodyPr wrap="square" anchor="t" lIns="0" rIns="0" tIns="0" bIns="0">
            <a:spAutoFit/>
          </a:bodyPr>
          <a:lstStyle/>
          <a:p>
            <a:pPr algn="l"/>
            <a:r>
              <a:rPr sz="1250" b="0" i="1">
                <a:solidFill>
                  <a:srgbClr val="4B5563"/>
                </a:solidFill>
                <a:latin typeface="Times New Roman"/>
              </a:rPr>
              <a:t>A repeated structure lets you compare theories across contexts while building higher-order reasoning.</a:t>
            </a:r>
          </a:p>
        </p:txBody>
      </p:sp>
      <p:sp>
        <p:nvSpPr>
          <p:cNvPr id="8" name="Rectangle 7"/>
          <p:cNvSpPr/>
          <p:nvPr/>
        </p:nvSpPr>
        <p:spPr>
          <a:xfrm>
            <a:off x="868680" y="1792224"/>
            <a:ext cx="5047488" cy="530352"/>
          </a:xfrm>
          <a:prstGeom prst="rect">
            <a:avLst/>
          </a:prstGeom>
          <a:solidFill>
            <a:srgbClr val="F7F8FA"/>
          </a:solidFill>
          <a:ln w="9525">
            <a:solidFill>
              <a:srgbClr val="E2E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68680" y="1792224"/>
            <a:ext cx="384048" cy="530352"/>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1920240"/>
            <a:ext cx="384048" cy="274320"/>
          </a:xfrm>
          <a:prstGeom prst="rect">
            <a:avLst/>
          </a:prstGeom>
          <a:noFill/>
        </p:spPr>
        <p:txBody>
          <a:bodyPr wrap="square" anchor="t" lIns="0" rIns="0" tIns="0" bIns="0">
            <a:spAutoFit/>
          </a:bodyPr>
          <a:lstStyle/>
          <a:p>
            <a:pPr algn="ctr"/>
            <a:r>
              <a:rPr sz="1350" b="1" i="0">
                <a:solidFill>
                  <a:srgbClr val="FFFFFF"/>
                </a:solidFill>
                <a:latin typeface="Times New Roman"/>
              </a:rPr>
              <a:t>1</a:t>
            </a:r>
          </a:p>
        </p:txBody>
      </p:sp>
      <p:sp>
        <p:nvSpPr>
          <p:cNvPr id="11" name="TextBox 10"/>
          <p:cNvSpPr txBox="1"/>
          <p:nvPr/>
        </p:nvSpPr>
        <p:spPr>
          <a:xfrm>
            <a:off x="1435607" y="1792224"/>
            <a:ext cx="4334256" cy="530352"/>
          </a:xfrm>
          <a:prstGeom prst="rect">
            <a:avLst/>
          </a:prstGeom>
          <a:noFill/>
        </p:spPr>
        <p:txBody>
          <a:bodyPr wrap="square" anchor="ctr" lIns="0" rIns="0" tIns="0" bIns="0">
            <a:spAutoFit/>
          </a:bodyPr>
          <a:lstStyle/>
          <a:p>
            <a:pPr algn="l"/>
            <a:r>
              <a:rPr sz="1400" b="1" i="0">
                <a:solidFill>
                  <a:srgbClr val="111827"/>
                </a:solidFill>
                <a:latin typeface="Times New Roman"/>
              </a:rPr>
              <a:t>A strategic question</a:t>
            </a:r>
          </a:p>
        </p:txBody>
      </p:sp>
      <p:sp>
        <p:nvSpPr>
          <p:cNvPr id="12" name="Rectangle 11"/>
          <p:cNvSpPr/>
          <p:nvPr/>
        </p:nvSpPr>
        <p:spPr>
          <a:xfrm>
            <a:off x="6245352" y="1792224"/>
            <a:ext cx="5047488" cy="530352"/>
          </a:xfrm>
          <a:prstGeom prst="rect">
            <a:avLst/>
          </a:prstGeom>
          <a:solidFill>
            <a:srgbClr val="FFFFFF"/>
          </a:solidFill>
          <a:ln w="9525">
            <a:solidFill>
              <a:srgbClr val="E2E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45352" y="1792224"/>
            <a:ext cx="384048" cy="530352"/>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45352" y="1920240"/>
            <a:ext cx="384048" cy="274320"/>
          </a:xfrm>
          <a:prstGeom prst="rect">
            <a:avLst/>
          </a:prstGeom>
          <a:noFill/>
        </p:spPr>
        <p:txBody>
          <a:bodyPr wrap="square" anchor="t" lIns="0" rIns="0" tIns="0" bIns="0">
            <a:spAutoFit/>
          </a:bodyPr>
          <a:lstStyle/>
          <a:p>
            <a:pPr algn="ctr"/>
            <a:r>
              <a:rPr sz="1350" b="1" i="0">
                <a:solidFill>
                  <a:srgbClr val="FFFFFF"/>
                </a:solidFill>
                <a:latin typeface="Times New Roman"/>
              </a:rPr>
              <a:t>2</a:t>
            </a:r>
          </a:p>
        </p:txBody>
      </p:sp>
      <p:sp>
        <p:nvSpPr>
          <p:cNvPr id="15" name="TextBox 14"/>
          <p:cNvSpPr txBox="1"/>
          <p:nvPr/>
        </p:nvSpPr>
        <p:spPr>
          <a:xfrm>
            <a:off x="6812280" y="1792224"/>
            <a:ext cx="4334256" cy="530352"/>
          </a:xfrm>
          <a:prstGeom prst="rect">
            <a:avLst/>
          </a:prstGeom>
          <a:noFill/>
        </p:spPr>
        <p:txBody>
          <a:bodyPr wrap="square" anchor="ctr" lIns="0" rIns="0" tIns="0" bIns="0">
            <a:spAutoFit/>
          </a:bodyPr>
          <a:lstStyle/>
          <a:p>
            <a:pPr algn="l"/>
            <a:r>
              <a:rPr sz="1400" b="1" i="0">
                <a:solidFill>
                  <a:srgbClr val="111827"/>
                </a:solidFill>
                <a:latin typeface="Times New Roman"/>
              </a:rPr>
              <a:t>Why the question matters</a:t>
            </a:r>
          </a:p>
        </p:txBody>
      </p:sp>
      <p:sp>
        <p:nvSpPr>
          <p:cNvPr id="16" name="Rectangle 15"/>
          <p:cNvSpPr/>
          <p:nvPr/>
        </p:nvSpPr>
        <p:spPr>
          <a:xfrm>
            <a:off x="868680" y="2450591"/>
            <a:ext cx="5047488" cy="530352"/>
          </a:xfrm>
          <a:prstGeom prst="rect">
            <a:avLst/>
          </a:prstGeom>
          <a:solidFill>
            <a:srgbClr val="F7F8FA"/>
          </a:solidFill>
          <a:ln w="9525">
            <a:solidFill>
              <a:srgbClr val="E2E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68680" y="2450591"/>
            <a:ext cx="384048" cy="530352"/>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2578608"/>
            <a:ext cx="384048" cy="274320"/>
          </a:xfrm>
          <a:prstGeom prst="rect">
            <a:avLst/>
          </a:prstGeom>
          <a:noFill/>
        </p:spPr>
        <p:txBody>
          <a:bodyPr wrap="square" anchor="t" lIns="0" rIns="0" tIns="0" bIns="0">
            <a:spAutoFit/>
          </a:bodyPr>
          <a:lstStyle/>
          <a:p>
            <a:pPr algn="ctr"/>
            <a:r>
              <a:rPr sz="1350" b="1" i="0">
                <a:solidFill>
                  <a:srgbClr val="FFFFFF"/>
                </a:solidFill>
                <a:latin typeface="Times New Roman"/>
              </a:rPr>
              <a:t>3</a:t>
            </a:r>
          </a:p>
        </p:txBody>
      </p:sp>
      <p:sp>
        <p:nvSpPr>
          <p:cNvPr id="19" name="TextBox 18"/>
          <p:cNvSpPr txBox="1"/>
          <p:nvPr/>
        </p:nvSpPr>
        <p:spPr>
          <a:xfrm>
            <a:off x="1435607" y="2450591"/>
            <a:ext cx="4334256" cy="530352"/>
          </a:xfrm>
          <a:prstGeom prst="rect">
            <a:avLst/>
          </a:prstGeom>
          <a:noFill/>
        </p:spPr>
        <p:txBody>
          <a:bodyPr wrap="square" anchor="ctr" lIns="0" rIns="0" tIns="0" bIns="0">
            <a:spAutoFit/>
          </a:bodyPr>
          <a:lstStyle/>
          <a:p>
            <a:pPr algn="l"/>
            <a:r>
              <a:rPr sz="1400" b="1" i="0">
                <a:solidFill>
                  <a:srgbClr val="111827"/>
                </a:solidFill>
                <a:latin typeface="Times New Roman"/>
              </a:rPr>
              <a:t>Classical strategic theory</a:t>
            </a:r>
          </a:p>
        </p:txBody>
      </p:sp>
      <p:sp>
        <p:nvSpPr>
          <p:cNvPr id="20" name="Rectangle 19"/>
          <p:cNvSpPr/>
          <p:nvPr/>
        </p:nvSpPr>
        <p:spPr>
          <a:xfrm>
            <a:off x="6245352" y="2450591"/>
            <a:ext cx="5047488" cy="530352"/>
          </a:xfrm>
          <a:prstGeom prst="rect">
            <a:avLst/>
          </a:prstGeom>
          <a:solidFill>
            <a:srgbClr val="FFFFFF"/>
          </a:solidFill>
          <a:ln w="9525">
            <a:solidFill>
              <a:srgbClr val="E2E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45352" y="2450591"/>
            <a:ext cx="384048" cy="530352"/>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45352" y="2578608"/>
            <a:ext cx="384048" cy="274320"/>
          </a:xfrm>
          <a:prstGeom prst="rect">
            <a:avLst/>
          </a:prstGeom>
          <a:noFill/>
        </p:spPr>
        <p:txBody>
          <a:bodyPr wrap="square" anchor="t" lIns="0" rIns="0" tIns="0" bIns="0">
            <a:spAutoFit/>
          </a:bodyPr>
          <a:lstStyle/>
          <a:p>
            <a:pPr algn="ctr"/>
            <a:r>
              <a:rPr sz="1350" b="1" i="0">
                <a:solidFill>
                  <a:srgbClr val="FFFFFF"/>
                </a:solidFill>
                <a:latin typeface="Times New Roman"/>
              </a:rPr>
              <a:t>4</a:t>
            </a:r>
          </a:p>
        </p:txBody>
      </p:sp>
      <p:sp>
        <p:nvSpPr>
          <p:cNvPr id="23" name="TextBox 22"/>
          <p:cNvSpPr txBox="1"/>
          <p:nvPr/>
        </p:nvSpPr>
        <p:spPr>
          <a:xfrm>
            <a:off x="6812280" y="2450591"/>
            <a:ext cx="4334256" cy="530352"/>
          </a:xfrm>
          <a:prstGeom prst="rect">
            <a:avLst/>
          </a:prstGeom>
          <a:noFill/>
        </p:spPr>
        <p:txBody>
          <a:bodyPr wrap="square" anchor="ctr" lIns="0" rIns="0" tIns="0" bIns="0">
            <a:spAutoFit/>
          </a:bodyPr>
          <a:lstStyle/>
          <a:p>
            <a:pPr algn="l"/>
            <a:r>
              <a:rPr sz="1400" b="1" i="0">
                <a:solidFill>
                  <a:srgbClr val="111827"/>
                </a:solidFill>
                <a:latin typeface="Times New Roman"/>
              </a:rPr>
              <a:t>Contemporary AI scholarship</a:t>
            </a:r>
          </a:p>
        </p:txBody>
      </p:sp>
      <p:sp>
        <p:nvSpPr>
          <p:cNvPr id="24" name="Rectangle 23"/>
          <p:cNvSpPr/>
          <p:nvPr/>
        </p:nvSpPr>
        <p:spPr>
          <a:xfrm>
            <a:off x="868680" y="3108960"/>
            <a:ext cx="5047488" cy="530352"/>
          </a:xfrm>
          <a:prstGeom prst="rect">
            <a:avLst/>
          </a:prstGeom>
          <a:solidFill>
            <a:srgbClr val="F7F8FA"/>
          </a:solidFill>
          <a:ln w="9525">
            <a:solidFill>
              <a:srgbClr val="E2E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68680" y="3108960"/>
            <a:ext cx="384048" cy="530352"/>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8680" y="3236976"/>
            <a:ext cx="384048" cy="274320"/>
          </a:xfrm>
          <a:prstGeom prst="rect">
            <a:avLst/>
          </a:prstGeom>
          <a:noFill/>
        </p:spPr>
        <p:txBody>
          <a:bodyPr wrap="square" anchor="t" lIns="0" rIns="0" tIns="0" bIns="0">
            <a:spAutoFit/>
          </a:bodyPr>
          <a:lstStyle/>
          <a:p>
            <a:pPr algn="ctr"/>
            <a:r>
              <a:rPr sz="1350" b="1" i="0">
                <a:solidFill>
                  <a:srgbClr val="FFFFFF"/>
                </a:solidFill>
                <a:latin typeface="Times New Roman"/>
              </a:rPr>
              <a:t>5</a:t>
            </a:r>
          </a:p>
        </p:txBody>
      </p:sp>
      <p:sp>
        <p:nvSpPr>
          <p:cNvPr id="27" name="TextBox 26"/>
          <p:cNvSpPr txBox="1"/>
          <p:nvPr/>
        </p:nvSpPr>
        <p:spPr>
          <a:xfrm>
            <a:off x="1435607" y="3108960"/>
            <a:ext cx="4334256" cy="530352"/>
          </a:xfrm>
          <a:prstGeom prst="rect">
            <a:avLst/>
          </a:prstGeom>
          <a:noFill/>
        </p:spPr>
        <p:txBody>
          <a:bodyPr wrap="square" anchor="ctr" lIns="0" rIns="0" tIns="0" bIns="0">
            <a:spAutoFit/>
          </a:bodyPr>
          <a:lstStyle/>
          <a:p>
            <a:pPr algn="l"/>
            <a:r>
              <a:rPr sz="1400" b="1" i="0">
                <a:solidFill>
                  <a:srgbClr val="111827"/>
                </a:solidFill>
                <a:latin typeface="Times New Roman"/>
              </a:rPr>
              <a:t>Comparative analysis</a:t>
            </a:r>
          </a:p>
        </p:txBody>
      </p:sp>
      <p:sp>
        <p:nvSpPr>
          <p:cNvPr id="28" name="Rectangle 27"/>
          <p:cNvSpPr/>
          <p:nvPr/>
        </p:nvSpPr>
        <p:spPr>
          <a:xfrm>
            <a:off x="6245352" y="3108960"/>
            <a:ext cx="5047488" cy="530352"/>
          </a:xfrm>
          <a:prstGeom prst="rect">
            <a:avLst/>
          </a:prstGeom>
          <a:solidFill>
            <a:srgbClr val="FFFFFF"/>
          </a:solidFill>
          <a:ln w="9525">
            <a:solidFill>
              <a:srgbClr val="E2E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45352" y="3108960"/>
            <a:ext cx="384048" cy="530352"/>
          </a:xfrm>
          <a:prstGeom prst="rect">
            <a:avLst/>
          </a:prstGeom>
          <a:solidFill>
            <a:srgbClr val="2A6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45352" y="3236976"/>
            <a:ext cx="384048" cy="274320"/>
          </a:xfrm>
          <a:prstGeom prst="rect">
            <a:avLst/>
          </a:prstGeom>
          <a:noFill/>
        </p:spPr>
        <p:txBody>
          <a:bodyPr wrap="square" anchor="t" lIns="0" rIns="0" tIns="0" bIns="0">
            <a:spAutoFit/>
          </a:bodyPr>
          <a:lstStyle/>
          <a:p>
            <a:pPr algn="ctr"/>
            <a:r>
              <a:rPr sz="1350" b="1" i="0">
                <a:solidFill>
                  <a:srgbClr val="FFFFFF"/>
                </a:solidFill>
                <a:latin typeface="Times New Roman"/>
              </a:rPr>
              <a:t>6</a:t>
            </a:r>
          </a:p>
        </p:txBody>
      </p:sp>
      <p:sp>
        <p:nvSpPr>
          <p:cNvPr id="31" name="TextBox 30"/>
          <p:cNvSpPr txBox="1"/>
          <p:nvPr/>
        </p:nvSpPr>
        <p:spPr>
          <a:xfrm>
            <a:off x="6812280" y="3108960"/>
            <a:ext cx="4334256" cy="530352"/>
          </a:xfrm>
          <a:prstGeom prst="rect">
            <a:avLst/>
          </a:prstGeom>
          <a:noFill/>
        </p:spPr>
        <p:txBody>
          <a:bodyPr wrap="square" anchor="ctr" lIns="0" rIns="0" tIns="0" bIns="0">
            <a:spAutoFit/>
          </a:bodyPr>
          <a:lstStyle/>
          <a:p>
            <a:pPr algn="l"/>
            <a:r>
              <a:rPr sz="1400" b="1" i="0">
                <a:solidFill>
                  <a:srgbClr val="111827"/>
                </a:solidFill>
                <a:latin typeface="Times New Roman"/>
              </a:rPr>
              <a:t>Executive perspectives</a:t>
            </a:r>
          </a:p>
        </p:txBody>
      </p:sp>
      <p:sp>
        <p:nvSpPr>
          <p:cNvPr id="32" name="Rectangle 31"/>
          <p:cNvSpPr/>
          <p:nvPr/>
        </p:nvSpPr>
        <p:spPr>
          <a:xfrm>
            <a:off x="868680" y="3767328"/>
            <a:ext cx="5047488" cy="530352"/>
          </a:xfrm>
          <a:prstGeom prst="rect">
            <a:avLst/>
          </a:prstGeom>
          <a:solidFill>
            <a:srgbClr val="F7F8FA"/>
          </a:solidFill>
          <a:ln w="9525">
            <a:solidFill>
              <a:srgbClr val="E2E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68680" y="3767328"/>
            <a:ext cx="384048" cy="530352"/>
          </a:xfrm>
          <a:prstGeom prst="rect">
            <a:avLst/>
          </a:prstGeom>
          <a:solidFill>
            <a:srgbClr val="2A6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68680" y="3895344"/>
            <a:ext cx="384048" cy="274320"/>
          </a:xfrm>
          <a:prstGeom prst="rect">
            <a:avLst/>
          </a:prstGeom>
          <a:noFill/>
        </p:spPr>
        <p:txBody>
          <a:bodyPr wrap="square" anchor="t" lIns="0" rIns="0" tIns="0" bIns="0">
            <a:spAutoFit/>
          </a:bodyPr>
          <a:lstStyle/>
          <a:p>
            <a:pPr algn="ctr"/>
            <a:r>
              <a:rPr sz="1350" b="1" i="0">
                <a:solidFill>
                  <a:srgbClr val="FFFFFF"/>
                </a:solidFill>
                <a:latin typeface="Times New Roman"/>
              </a:rPr>
              <a:t>7</a:t>
            </a:r>
          </a:p>
        </p:txBody>
      </p:sp>
      <p:sp>
        <p:nvSpPr>
          <p:cNvPr id="35" name="TextBox 34"/>
          <p:cNvSpPr txBox="1"/>
          <p:nvPr/>
        </p:nvSpPr>
        <p:spPr>
          <a:xfrm>
            <a:off x="1435607" y="3767328"/>
            <a:ext cx="4334256" cy="530352"/>
          </a:xfrm>
          <a:prstGeom prst="rect">
            <a:avLst/>
          </a:prstGeom>
          <a:noFill/>
        </p:spPr>
        <p:txBody>
          <a:bodyPr wrap="square" anchor="ctr" lIns="0" rIns="0" tIns="0" bIns="0">
            <a:spAutoFit/>
          </a:bodyPr>
          <a:lstStyle/>
          <a:p>
            <a:pPr algn="l"/>
            <a:r>
              <a:rPr sz="1400" b="1" i="0">
                <a:solidFill>
                  <a:srgbClr val="111827"/>
                </a:solidFill>
                <a:latin typeface="Times New Roman"/>
              </a:rPr>
              <a:t>Applied organizational case</a:t>
            </a:r>
          </a:p>
        </p:txBody>
      </p:sp>
      <p:sp>
        <p:nvSpPr>
          <p:cNvPr id="36" name="Rectangle 35"/>
          <p:cNvSpPr/>
          <p:nvPr/>
        </p:nvSpPr>
        <p:spPr>
          <a:xfrm>
            <a:off x="6245352" y="3767328"/>
            <a:ext cx="5047488" cy="530352"/>
          </a:xfrm>
          <a:prstGeom prst="rect">
            <a:avLst/>
          </a:prstGeom>
          <a:solidFill>
            <a:srgbClr val="FFFFFF"/>
          </a:solidFill>
          <a:ln w="9525">
            <a:solidFill>
              <a:srgbClr val="E2E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245352" y="3767328"/>
            <a:ext cx="384048" cy="530352"/>
          </a:xfrm>
          <a:prstGeom prst="rect">
            <a:avLst/>
          </a:prstGeom>
          <a:solidFill>
            <a:srgbClr val="2A6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245352" y="3895344"/>
            <a:ext cx="384048" cy="274320"/>
          </a:xfrm>
          <a:prstGeom prst="rect">
            <a:avLst/>
          </a:prstGeom>
          <a:noFill/>
        </p:spPr>
        <p:txBody>
          <a:bodyPr wrap="square" anchor="t" lIns="0" rIns="0" tIns="0" bIns="0">
            <a:spAutoFit/>
          </a:bodyPr>
          <a:lstStyle/>
          <a:p>
            <a:pPr algn="ctr"/>
            <a:r>
              <a:rPr sz="1350" b="1" i="0">
                <a:solidFill>
                  <a:srgbClr val="FFFFFF"/>
                </a:solidFill>
                <a:latin typeface="Times New Roman"/>
              </a:rPr>
              <a:t>8</a:t>
            </a:r>
          </a:p>
        </p:txBody>
      </p:sp>
      <p:sp>
        <p:nvSpPr>
          <p:cNvPr id="39" name="TextBox 38"/>
          <p:cNvSpPr txBox="1"/>
          <p:nvPr/>
        </p:nvSpPr>
        <p:spPr>
          <a:xfrm>
            <a:off x="6812280" y="3767328"/>
            <a:ext cx="4334256" cy="530352"/>
          </a:xfrm>
          <a:prstGeom prst="rect">
            <a:avLst/>
          </a:prstGeom>
          <a:noFill/>
        </p:spPr>
        <p:txBody>
          <a:bodyPr wrap="square" anchor="ctr" lIns="0" rIns="0" tIns="0" bIns="0">
            <a:spAutoFit/>
          </a:bodyPr>
          <a:lstStyle/>
          <a:p>
            <a:pPr algn="l"/>
            <a:r>
              <a:rPr sz="1400" b="1" i="0">
                <a:solidFill>
                  <a:srgbClr val="111827"/>
                </a:solidFill>
                <a:latin typeface="Times New Roman"/>
              </a:rPr>
              <a:t>AI laboratory</a:t>
            </a:r>
          </a:p>
        </p:txBody>
      </p:sp>
      <p:sp>
        <p:nvSpPr>
          <p:cNvPr id="40" name="Rectangle 39"/>
          <p:cNvSpPr/>
          <p:nvPr/>
        </p:nvSpPr>
        <p:spPr>
          <a:xfrm>
            <a:off x="868680" y="4425696"/>
            <a:ext cx="5047488" cy="530352"/>
          </a:xfrm>
          <a:prstGeom prst="rect">
            <a:avLst/>
          </a:prstGeom>
          <a:solidFill>
            <a:srgbClr val="F7F8FA"/>
          </a:solidFill>
          <a:ln w="9525">
            <a:solidFill>
              <a:srgbClr val="E2E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868680" y="4425696"/>
            <a:ext cx="384048" cy="530352"/>
          </a:xfrm>
          <a:prstGeom prst="rect">
            <a:avLst/>
          </a:prstGeom>
          <a:solidFill>
            <a:srgbClr val="2A6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68680" y="4553712"/>
            <a:ext cx="384048" cy="274320"/>
          </a:xfrm>
          <a:prstGeom prst="rect">
            <a:avLst/>
          </a:prstGeom>
          <a:noFill/>
        </p:spPr>
        <p:txBody>
          <a:bodyPr wrap="square" anchor="t" lIns="0" rIns="0" tIns="0" bIns="0">
            <a:spAutoFit/>
          </a:bodyPr>
          <a:lstStyle/>
          <a:p>
            <a:pPr algn="ctr"/>
            <a:r>
              <a:rPr sz="1350" b="1" i="0">
                <a:solidFill>
                  <a:srgbClr val="FFFFFF"/>
                </a:solidFill>
                <a:latin typeface="Times New Roman"/>
              </a:rPr>
              <a:t>9</a:t>
            </a:r>
          </a:p>
        </p:txBody>
      </p:sp>
      <p:sp>
        <p:nvSpPr>
          <p:cNvPr id="43" name="TextBox 42"/>
          <p:cNvSpPr txBox="1"/>
          <p:nvPr/>
        </p:nvSpPr>
        <p:spPr>
          <a:xfrm>
            <a:off x="1435607" y="4425696"/>
            <a:ext cx="4334256" cy="530352"/>
          </a:xfrm>
          <a:prstGeom prst="rect">
            <a:avLst/>
          </a:prstGeom>
          <a:noFill/>
        </p:spPr>
        <p:txBody>
          <a:bodyPr wrap="square" anchor="ctr" lIns="0" rIns="0" tIns="0" bIns="0">
            <a:spAutoFit/>
          </a:bodyPr>
          <a:lstStyle/>
          <a:p>
            <a:pPr algn="l"/>
            <a:r>
              <a:rPr sz="1400" b="1" i="0">
                <a:solidFill>
                  <a:srgbClr val="111827"/>
                </a:solidFill>
                <a:latin typeface="Times New Roman"/>
              </a:rPr>
              <a:t>Consulting milestone</a:t>
            </a:r>
          </a:p>
        </p:txBody>
      </p:sp>
      <p:sp>
        <p:nvSpPr>
          <p:cNvPr id="44" name="Rectangle 43"/>
          <p:cNvSpPr/>
          <p:nvPr/>
        </p:nvSpPr>
        <p:spPr>
          <a:xfrm>
            <a:off x="6245352" y="4425696"/>
            <a:ext cx="5047488" cy="530352"/>
          </a:xfrm>
          <a:prstGeom prst="rect">
            <a:avLst/>
          </a:prstGeom>
          <a:solidFill>
            <a:srgbClr val="FFFFFF"/>
          </a:solidFill>
          <a:ln w="9525">
            <a:solidFill>
              <a:srgbClr val="E2E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245352" y="4425696"/>
            <a:ext cx="384048" cy="530352"/>
          </a:xfrm>
          <a:prstGeom prst="rect">
            <a:avLst/>
          </a:prstGeom>
          <a:solidFill>
            <a:srgbClr val="2A6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245352" y="4553712"/>
            <a:ext cx="384048" cy="274320"/>
          </a:xfrm>
          <a:prstGeom prst="rect">
            <a:avLst/>
          </a:prstGeom>
          <a:noFill/>
        </p:spPr>
        <p:txBody>
          <a:bodyPr wrap="square" anchor="t" lIns="0" rIns="0" tIns="0" bIns="0">
            <a:spAutoFit/>
          </a:bodyPr>
          <a:lstStyle/>
          <a:p>
            <a:pPr algn="ctr"/>
            <a:r>
              <a:rPr sz="1350" b="1" i="0">
                <a:solidFill>
                  <a:srgbClr val="FFFFFF"/>
                </a:solidFill>
                <a:latin typeface="Times New Roman"/>
              </a:rPr>
              <a:t>10</a:t>
            </a:r>
          </a:p>
        </p:txBody>
      </p:sp>
      <p:sp>
        <p:nvSpPr>
          <p:cNvPr id="47" name="TextBox 46"/>
          <p:cNvSpPr txBox="1"/>
          <p:nvPr/>
        </p:nvSpPr>
        <p:spPr>
          <a:xfrm>
            <a:off x="6812280" y="4425696"/>
            <a:ext cx="4334256" cy="530352"/>
          </a:xfrm>
          <a:prstGeom prst="rect">
            <a:avLst/>
          </a:prstGeom>
          <a:noFill/>
        </p:spPr>
        <p:txBody>
          <a:bodyPr wrap="square" anchor="ctr" lIns="0" rIns="0" tIns="0" bIns="0">
            <a:spAutoFit/>
          </a:bodyPr>
          <a:lstStyle/>
          <a:p>
            <a:pPr algn="l"/>
            <a:r>
              <a:rPr sz="1400" b="1" i="0">
                <a:solidFill>
                  <a:srgbClr val="111827"/>
                </a:solidFill>
                <a:latin typeface="Times New Roman"/>
              </a:rPr>
              <a:t>Reflection</a:t>
            </a:r>
          </a:p>
        </p:txBody>
      </p:sp>
      <p:sp>
        <p:nvSpPr>
          <p:cNvPr id="48" name="Rectangle 47"/>
          <p:cNvSpPr/>
          <p:nvPr/>
        </p:nvSpPr>
        <p:spPr>
          <a:xfrm>
            <a:off x="868680" y="5559552"/>
            <a:ext cx="36576" cy="31089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69848" y="5559552"/>
            <a:ext cx="10424160" cy="365760"/>
          </a:xfrm>
          <a:prstGeom prst="rect">
            <a:avLst/>
          </a:prstGeom>
          <a:noFill/>
        </p:spPr>
        <p:txBody>
          <a:bodyPr wrap="square" anchor="ctr" lIns="0" rIns="0" tIns="0" bIns="0">
            <a:spAutoFit/>
          </a:bodyPr>
          <a:lstStyle/>
          <a:p>
            <a:pPr algn="l"/>
            <a:r>
              <a:rPr sz="1350" b="1" i="1">
                <a:solidFill>
                  <a:srgbClr val="10233F"/>
                </a:solidFill>
                <a:latin typeface="Times New Roman"/>
              </a:rPr>
              <a:t>Theory, then critique, then comparison, then application, then reflection — ten times over.</a:t>
            </a:r>
          </a:p>
        </p:txBody>
      </p:sp>
      <p:sp>
        <p:nvSpPr>
          <p:cNvPr id="50" name="TextBox 49"/>
          <p:cNvSpPr txBox="1"/>
          <p:nvPr/>
        </p:nvSpPr>
        <p:spPr>
          <a:xfrm>
            <a:off x="11475720" y="6473952"/>
            <a:ext cx="457200" cy="182880"/>
          </a:xfrm>
          <a:prstGeom prst="rect">
            <a:avLst/>
          </a:prstGeom>
          <a:noFill/>
        </p:spPr>
        <p:txBody>
          <a:bodyPr wrap="square" anchor="t" lIns="0" rIns="0" tIns="0" bIns="0">
            <a:spAutoFit/>
          </a:bodyPr>
          <a:lstStyle/>
          <a:p>
            <a:pPr algn="r"/>
            <a:r>
              <a:rPr sz="800" b="0" i="0">
                <a:solidFill>
                  <a:srgbClr val="9CA3AF"/>
                </a:solidFill>
                <a:latin typeface="Times New Roman"/>
              </a:rPr>
              <a:t>21</a:t>
            </a:r>
          </a:p>
        </p:txBody>
      </p:sp>
      <p:sp>
        <p:nvSpPr>
          <p:cNvPr id="51" name="TextBox 50"/>
          <p:cNvSpPr txBox="1"/>
          <p:nvPr/>
        </p:nvSpPr>
        <p:spPr>
          <a:xfrm>
            <a:off x="502920" y="6473952"/>
            <a:ext cx="6400800" cy="182880"/>
          </a:xfrm>
          <a:prstGeom prst="rect">
            <a:avLst/>
          </a:prstGeom>
          <a:noFill/>
        </p:spPr>
        <p:txBody>
          <a:bodyPr wrap="square" anchor="t" lIns="0" rIns="0" tIns="0" bIns="0">
            <a:spAutoFit/>
          </a:bodyPr>
          <a:lstStyle/>
          <a:p>
            <a:pPr algn="l"/>
            <a:r>
              <a:rPr sz="720" b="0" i="0">
                <a:solidFill>
                  <a:srgbClr val="6B7280"/>
                </a:solidFill>
                <a:latin typeface="Times New Roman"/>
              </a:rPr>
              <a:t>Strategic Management in the Age of AI · MGMT 465/665 · Course Introduction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969" cy="164592"/>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969" cy="3657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411480"/>
            <a:ext cx="5943600" cy="228600"/>
          </a:xfrm>
          <a:prstGeom prst="rect">
            <a:avLst/>
          </a:prstGeom>
          <a:noFill/>
        </p:spPr>
        <p:txBody>
          <a:bodyPr wrap="square" anchor="t" lIns="0" rIns="0" tIns="0" bIns="0">
            <a:spAutoFit/>
          </a:bodyPr>
          <a:lstStyle/>
          <a:p>
            <a:pPr algn="l"/>
            <a:r>
              <a:rPr sz="850" b="1" i="0">
                <a:solidFill>
                  <a:srgbClr val="2A6F97"/>
                </a:solidFill>
                <a:latin typeface="Times New Roman"/>
              </a:rPr>
              <a:t>PART I · PEDAGOGICAL MODEL</a:t>
            </a:r>
          </a:p>
        </p:txBody>
      </p:sp>
      <p:sp>
        <p:nvSpPr>
          <p:cNvPr id="6" name="TextBox 5"/>
          <p:cNvSpPr txBox="1"/>
          <p:nvPr/>
        </p:nvSpPr>
        <p:spPr>
          <a:xfrm>
            <a:off x="502920" y="640080"/>
            <a:ext cx="9509760" cy="457200"/>
          </a:xfrm>
          <a:prstGeom prst="rect">
            <a:avLst/>
          </a:prstGeom>
          <a:noFill/>
        </p:spPr>
        <p:txBody>
          <a:bodyPr wrap="square" anchor="t" lIns="0" rIns="0" tIns="0" bIns="0">
            <a:spAutoFit/>
          </a:bodyPr>
          <a:lstStyle/>
          <a:p>
            <a:pPr algn="l"/>
            <a:r>
              <a:rPr sz="2400" b="1" i="0">
                <a:solidFill>
                  <a:srgbClr val="111827"/>
                </a:solidFill>
                <a:latin typeface="Times New Roman"/>
              </a:rPr>
              <a:t>Learning through four complementary perspectives</a:t>
            </a:r>
          </a:p>
        </p:txBody>
      </p:sp>
      <p:sp>
        <p:nvSpPr>
          <p:cNvPr id="7" name="Rectangle 6"/>
          <p:cNvSpPr/>
          <p:nvPr/>
        </p:nvSpPr>
        <p:spPr>
          <a:xfrm>
            <a:off x="868680" y="1536192"/>
            <a:ext cx="2505456" cy="3017520"/>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68680" y="1536192"/>
            <a:ext cx="2505456" cy="45720"/>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9848" y="1828800"/>
            <a:ext cx="2103120" cy="2560320"/>
          </a:xfrm>
          <a:prstGeom prst="rect">
            <a:avLst/>
          </a:prstGeom>
          <a:noFill/>
        </p:spPr>
        <p:txBody>
          <a:bodyPr wrap="square" anchor="t" lIns="0" rIns="0" tIns="0" bIns="0">
            <a:spAutoFit/>
          </a:bodyPr>
          <a:lstStyle/>
          <a:p>
            <a:pPr algn="l">
              <a:spcAft>
                <a:spcPts val="1200"/>
              </a:spcAft>
            </a:pPr>
            <a:r>
              <a:rPr sz="1100" b="1" i="0">
                <a:solidFill>
                  <a:srgbClr val="D4A017"/>
                </a:solidFill>
                <a:latin typeface="Times New Roman"/>
              </a:rPr>
              <a:t>01</a:t>
            </a:r>
          </a:p>
          <a:p>
            <a:pPr algn="l">
              <a:spcAft>
                <a:spcPts val="1400"/>
              </a:spcAft>
            </a:pPr>
            <a:r>
              <a:rPr sz="2200" b="1" i="0">
                <a:solidFill>
                  <a:srgbClr val="FFFFFF"/>
                </a:solidFill>
                <a:latin typeface="Times New Roman"/>
              </a:rPr>
              <a:t>Theory</a:t>
            </a:r>
          </a:p>
          <a:p>
            <a:pPr algn="l">
              <a:lnSpc>
                <a:spcPct val="130000"/>
              </a:lnSpc>
            </a:pPr>
            <a:r>
              <a:rPr sz="1200" b="0" i="0">
                <a:solidFill>
                  <a:srgbClr val="C9D2DE"/>
                </a:solidFill>
                <a:latin typeface="Times New Roman"/>
              </a:rPr>
              <a:t>Engage directly with the foundational literature of strategic management — the original papers, not summaries of them.</a:t>
            </a:r>
          </a:p>
        </p:txBody>
      </p:sp>
      <p:sp>
        <p:nvSpPr>
          <p:cNvPr id="10" name="Rectangle 9"/>
          <p:cNvSpPr/>
          <p:nvPr/>
        </p:nvSpPr>
        <p:spPr>
          <a:xfrm>
            <a:off x="3575304" y="1536192"/>
            <a:ext cx="2505456" cy="3017520"/>
          </a:xfrm>
          <a:prstGeom prst="rect">
            <a:avLst/>
          </a:prstGeom>
          <a:solidFill>
            <a:srgbClr val="2A6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575304" y="1536192"/>
            <a:ext cx="2505456" cy="45720"/>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76472" y="1828800"/>
            <a:ext cx="2103120" cy="2560320"/>
          </a:xfrm>
          <a:prstGeom prst="rect">
            <a:avLst/>
          </a:prstGeom>
          <a:noFill/>
        </p:spPr>
        <p:txBody>
          <a:bodyPr wrap="square" anchor="t" lIns="0" rIns="0" tIns="0" bIns="0">
            <a:spAutoFit/>
          </a:bodyPr>
          <a:lstStyle/>
          <a:p>
            <a:pPr algn="l">
              <a:spcAft>
                <a:spcPts val="1200"/>
              </a:spcAft>
            </a:pPr>
            <a:r>
              <a:rPr sz="1100" b="1" i="0">
                <a:solidFill>
                  <a:srgbClr val="D4A017"/>
                </a:solidFill>
                <a:latin typeface="Times New Roman"/>
              </a:rPr>
              <a:t>02</a:t>
            </a:r>
          </a:p>
          <a:p>
            <a:pPr algn="l">
              <a:spcAft>
                <a:spcPts val="1400"/>
              </a:spcAft>
            </a:pPr>
            <a:r>
              <a:rPr sz="2200" b="1" i="0">
                <a:solidFill>
                  <a:srgbClr val="FFFFFF"/>
                </a:solidFill>
                <a:latin typeface="Times New Roman"/>
              </a:rPr>
              <a:t>Research</a:t>
            </a:r>
          </a:p>
          <a:p>
            <a:pPr algn="l">
              <a:lnSpc>
                <a:spcPct val="130000"/>
              </a:lnSpc>
            </a:pPr>
            <a:r>
              <a:rPr sz="1200" b="0" i="0">
                <a:solidFill>
                  <a:srgbClr val="C9D2DE"/>
                </a:solidFill>
                <a:latin typeface="Times New Roman"/>
              </a:rPr>
              <a:t>Examine contemporary scholarship investigating artificial intelligence and organizational transformation.</a:t>
            </a:r>
          </a:p>
        </p:txBody>
      </p:sp>
      <p:sp>
        <p:nvSpPr>
          <p:cNvPr id="13" name="Rectangle 12"/>
          <p:cNvSpPr/>
          <p:nvPr/>
        </p:nvSpPr>
        <p:spPr>
          <a:xfrm>
            <a:off x="6281928" y="1536192"/>
            <a:ext cx="2505456" cy="3017520"/>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81928" y="1536192"/>
            <a:ext cx="2505456" cy="45720"/>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3096" y="1828800"/>
            <a:ext cx="2103120" cy="2560320"/>
          </a:xfrm>
          <a:prstGeom prst="rect">
            <a:avLst/>
          </a:prstGeom>
          <a:noFill/>
        </p:spPr>
        <p:txBody>
          <a:bodyPr wrap="square" anchor="t" lIns="0" rIns="0" tIns="0" bIns="0">
            <a:spAutoFit/>
          </a:bodyPr>
          <a:lstStyle/>
          <a:p>
            <a:pPr algn="l">
              <a:spcAft>
                <a:spcPts val="1200"/>
              </a:spcAft>
            </a:pPr>
            <a:r>
              <a:rPr sz="1100" b="1" i="0">
                <a:solidFill>
                  <a:srgbClr val="D4A017"/>
                </a:solidFill>
                <a:latin typeface="Times New Roman"/>
              </a:rPr>
              <a:t>03</a:t>
            </a:r>
          </a:p>
          <a:p>
            <a:pPr algn="l">
              <a:spcAft>
                <a:spcPts val="1400"/>
              </a:spcAft>
            </a:pPr>
            <a:r>
              <a:rPr sz="2200" b="1" i="0">
                <a:solidFill>
                  <a:srgbClr val="FFFFFF"/>
                </a:solidFill>
                <a:latin typeface="Times New Roman"/>
              </a:rPr>
              <a:t>Practice</a:t>
            </a:r>
          </a:p>
          <a:p>
            <a:pPr algn="l">
              <a:lnSpc>
                <a:spcPct val="130000"/>
              </a:lnSpc>
            </a:pPr>
            <a:r>
              <a:rPr sz="1200" b="0" i="0">
                <a:solidFill>
                  <a:srgbClr val="C9D2DE"/>
                </a:solidFill>
                <a:latin typeface="Times New Roman"/>
              </a:rPr>
              <a:t>Analyze organizations through Harvard Business School cases, executive reports, and consulting frameworks.</a:t>
            </a:r>
          </a:p>
        </p:txBody>
      </p:sp>
      <p:sp>
        <p:nvSpPr>
          <p:cNvPr id="16" name="Rectangle 15"/>
          <p:cNvSpPr/>
          <p:nvPr/>
        </p:nvSpPr>
        <p:spPr>
          <a:xfrm>
            <a:off x="8988552" y="1536192"/>
            <a:ext cx="2505456" cy="3017520"/>
          </a:xfrm>
          <a:prstGeom prst="rect">
            <a:avLst/>
          </a:prstGeom>
          <a:solidFill>
            <a:srgbClr val="2A6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988552" y="1536192"/>
            <a:ext cx="2505456" cy="45720"/>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89720" y="1828800"/>
            <a:ext cx="2103120" cy="2560320"/>
          </a:xfrm>
          <a:prstGeom prst="rect">
            <a:avLst/>
          </a:prstGeom>
          <a:noFill/>
        </p:spPr>
        <p:txBody>
          <a:bodyPr wrap="square" anchor="t" lIns="0" rIns="0" tIns="0" bIns="0">
            <a:spAutoFit/>
          </a:bodyPr>
          <a:lstStyle/>
          <a:p>
            <a:pPr algn="l">
              <a:spcAft>
                <a:spcPts val="1200"/>
              </a:spcAft>
            </a:pPr>
            <a:r>
              <a:rPr sz="1100" b="1" i="0">
                <a:solidFill>
                  <a:srgbClr val="D4A017"/>
                </a:solidFill>
                <a:latin typeface="Times New Roman"/>
              </a:rPr>
              <a:t>04</a:t>
            </a:r>
          </a:p>
          <a:p>
            <a:pPr algn="l">
              <a:spcAft>
                <a:spcPts val="1400"/>
              </a:spcAft>
            </a:pPr>
            <a:r>
              <a:rPr sz="2200" b="1" i="0">
                <a:solidFill>
                  <a:srgbClr val="FFFFFF"/>
                </a:solidFill>
                <a:latin typeface="Times New Roman"/>
              </a:rPr>
              <a:t>Application</a:t>
            </a:r>
          </a:p>
          <a:p>
            <a:pPr algn="l">
              <a:lnSpc>
                <a:spcPct val="130000"/>
              </a:lnSpc>
            </a:pPr>
            <a:r>
              <a:rPr sz="1200" b="0" i="0">
                <a:solidFill>
                  <a:srgbClr val="C9D2DE"/>
                </a:solidFill>
                <a:latin typeface="Times New Roman"/>
              </a:rPr>
              <a:t>Apply both classical theory and AI research within a semester-long consulting engagement for a real organization.</a:t>
            </a:r>
          </a:p>
        </p:txBody>
      </p:sp>
      <p:sp>
        <p:nvSpPr>
          <p:cNvPr id="19" name="Rectangle 18"/>
          <p:cNvSpPr/>
          <p:nvPr/>
        </p:nvSpPr>
        <p:spPr>
          <a:xfrm>
            <a:off x="868680" y="4809744"/>
            <a:ext cx="10424160" cy="877824"/>
          </a:xfrm>
          <a:prstGeom prst="rect">
            <a:avLst/>
          </a:prstGeom>
          <a:solidFill>
            <a:srgbClr val="F6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43000" y="4809744"/>
            <a:ext cx="9875520" cy="877824"/>
          </a:xfrm>
          <a:prstGeom prst="rect">
            <a:avLst/>
          </a:prstGeom>
          <a:noFill/>
        </p:spPr>
        <p:txBody>
          <a:bodyPr wrap="square" anchor="ctr" lIns="0" rIns="0" tIns="0" bIns="0">
            <a:spAutoFit/>
          </a:bodyPr>
          <a:lstStyle/>
          <a:p>
            <a:pPr algn="l">
              <a:lnSpc>
                <a:spcPct val="126000"/>
              </a:lnSpc>
            </a:pPr>
            <a:r>
              <a:rPr sz="1400" b="0" i="0">
                <a:solidFill>
                  <a:srgbClr val="111827"/>
                </a:solidFill>
                <a:latin typeface="Times New Roman"/>
              </a:rPr>
              <a:t>No single perspective is sufficient. Theory without practice becomes abstraction; practice without theory becomes improvisation. The course insists on all four.</a:t>
            </a:r>
          </a:p>
        </p:txBody>
      </p:sp>
      <p:sp>
        <p:nvSpPr>
          <p:cNvPr id="21" name="Rectangle 20"/>
          <p:cNvSpPr/>
          <p:nvPr/>
        </p:nvSpPr>
        <p:spPr>
          <a:xfrm>
            <a:off x="868680" y="5888736"/>
            <a:ext cx="36576" cy="31089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69848" y="5888736"/>
            <a:ext cx="10424160" cy="365760"/>
          </a:xfrm>
          <a:prstGeom prst="rect">
            <a:avLst/>
          </a:prstGeom>
          <a:noFill/>
        </p:spPr>
        <p:txBody>
          <a:bodyPr wrap="square" anchor="ctr" lIns="0" rIns="0" tIns="0" bIns="0">
            <a:spAutoFit/>
          </a:bodyPr>
          <a:lstStyle/>
          <a:p>
            <a:pPr algn="l"/>
            <a:r>
              <a:rPr sz="1350" b="1" i="1">
                <a:solidFill>
                  <a:srgbClr val="10233F"/>
                </a:solidFill>
                <a:latin typeface="Times New Roman"/>
              </a:rPr>
              <a:t>Each perspective reinforces the others across all ten weeks.</a:t>
            </a:r>
          </a:p>
        </p:txBody>
      </p:sp>
      <p:sp>
        <p:nvSpPr>
          <p:cNvPr id="23" name="TextBox 22"/>
          <p:cNvSpPr txBox="1"/>
          <p:nvPr/>
        </p:nvSpPr>
        <p:spPr>
          <a:xfrm>
            <a:off x="11475720" y="6473952"/>
            <a:ext cx="457200" cy="182880"/>
          </a:xfrm>
          <a:prstGeom prst="rect">
            <a:avLst/>
          </a:prstGeom>
          <a:noFill/>
        </p:spPr>
        <p:txBody>
          <a:bodyPr wrap="square" anchor="t" lIns="0" rIns="0" tIns="0" bIns="0">
            <a:spAutoFit/>
          </a:bodyPr>
          <a:lstStyle/>
          <a:p>
            <a:pPr algn="r"/>
            <a:r>
              <a:rPr sz="800" b="0" i="0">
                <a:solidFill>
                  <a:srgbClr val="9CA3AF"/>
                </a:solidFill>
                <a:latin typeface="Times New Roman"/>
              </a:rPr>
              <a:t>22</a:t>
            </a:r>
          </a:p>
        </p:txBody>
      </p:sp>
      <p:sp>
        <p:nvSpPr>
          <p:cNvPr id="24" name="TextBox 23"/>
          <p:cNvSpPr txBox="1"/>
          <p:nvPr/>
        </p:nvSpPr>
        <p:spPr>
          <a:xfrm>
            <a:off x="502920" y="6473952"/>
            <a:ext cx="6400800" cy="182880"/>
          </a:xfrm>
          <a:prstGeom prst="rect">
            <a:avLst/>
          </a:prstGeom>
          <a:noFill/>
        </p:spPr>
        <p:txBody>
          <a:bodyPr wrap="square" anchor="t" lIns="0" rIns="0" tIns="0" bIns="0">
            <a:spAutoFit/>
          </a:bodyPr>
          <a:lstStyle/>
          <a:p>
            <a:pPr algn="l"/>
            <a:r>
              <a:rPr sz="720" b="0" i="0">
                <a:solidFill>
                  <a:srgbClr val="6B7280"/>
                </a:solidFill>
                <a:latin typeface="Times New Roman"/>
              </a:rPr>
              <a:t>Strategic Management in the Age of AI · MGMT 465/665 · Course Introduction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969" cy="164592"/>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969" cy="3657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411480"/>
            <a:ext cx="5943600" cy="228600"/>
          </a:xfrm>
          <a:prstGeom prst="rect">
            <a:avLst/>
          </a:prstGeom>
          <a:noFill/>
        </p:spPr>
        <p:txBody>
          <a:bodyPr wrap="square" anchor="t" lIns="0" rIns="0" tIns="0" bIns="0">
            <a:spAutoFit/>
          </a:bodyPr>
          <a:lstStyle/>
          <a:p>
            <a:pPr algn="l"/>
            <a:r>
              <a:rPr sz="850" b="1" i="0">
                <a:solidFill>
                  <a:srgbClr val="2A6F97"/>
                </a:solidFill>
                <a:latin typeface="Times New Roman"/>
              </a:rPr>
              <a:t>PART I · SIGNATURE LEARNING EXPERIENCE</a:t>
            </a:r>
          </a:p>
        </p:txBody>
      </p:sp>
      <p:sp>
        <p:nvSpPr>
          <p:cNvPr id="6" name="TextBox 5"/>
          <p:cNvSpPr txBox="1"/>
          <p:nvPr/>
        </p:nvSpPr>
        <p:spPr>
          <a:xfrm>
            <a:off x="502920" y="640080"/>
            <a:ext cx="9509760" cy="457200"/>
          </a:xfrm>
          <a:prstGeom prst="rect">
            <a:avLst/>
          </a:prstGeom>
          <a:noFill/>
        </p:spPr>
        <p:txBody>
          <a:bodyPr wrap="square" anchor="t" lIns="0" rIns="0" tIns="0" bIns="0">
            <a:spAutoFit/>
          </a:bodyPr>
          <a:lstStyle/>
          <a:p>
            <a:pPr algn="l"/>
            <a:r>
              <a:rPr sz="2400" b="1" i="0">
                <a:solidFill>
                  <a:srgbClr val="111827"/>
                </a:solidFill>
                <a:latin typeface="Times New Roman"/>
              </a:rPr>
              <a:t>The AI Strategy Consulting Project</a:t>
            </a:r>
          </a:p>
        </p:txBody>
      </p:sp>
      <p:sp>
        <p:nvSpPr>
          <p:cNvPr id="7" name="Rectangle 6"/>
          <p:cNvSpPr/>
          <p:nvPr/>
        </p:nvSpPr>
        <p:spPr>
          <a:xfrm>
            <a:off x="868680" y="1481328"/>
            <a:ext cx="10424160" cy="1097280"/>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68680" y="1481328"/>
            <a:ext cx="10424160" cy="45720"/>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88720" y="1481328"/>
            <a:ext cx="9875520" cy="1097280"/>
          </a:xfrm>
          <a:prstGeom prst="rect">
            <a:avLst/>
          </a:prstGeom>
          <a:noFill/>
        </p:spPr>
        <p:txBody>
          <a:bodyPr wrap="square" anchor="ctr" lIns="0" rIns="0" tIns="0" bIns="0">
            <a:spAutoFit/>
          </a:bodyPr>
          <a:lstStyle/>
          <a:p>
            <a:pPr algn="l">
              <a:lnSpc>
                <a:spcPct val="124000"/>
              </a:lnSpc>
            </a:pPr>
            <a:r>
              <a:rPr sz="1550" b="1" i="0">
                <a:solidFill>
                  <a:srgbClr val="FFFFFF"/>
                </a:solidFill>
                <a:latin typeface="Times New Roman"/>
              </a:rPr>
              <a:t>Working in consulting teams, you advise an existing organization on how artificial intelligence should influence its competitive strategy, organizational capabilities, governance, operating model, and long-term positioning.</a:t>
            </a:r>
          </a:p>
        </p:txBody>
      </p:sp>
      <p:sp>
        <p:nvSpPr>
          <p:cNvPr id="10" name="TextBox 9"/>
          <p:cNvSpPr txBox="1"/>
          <p:nvPr/>
        </p:nvSpPr>
        <p:spPr>
          <a:xfrm>
            <a:off x="868680" y="2816352"/>
            <a:ext cx="10424160" cy="274320"/>
          </a:xfrm>
          <a:prstGeom prst="rect">
            <a:avLst/>
          </a:prstGeom>
          <a:noFill/>
        </p:spPr>
        <p:txBody>
          <a:bodyPr wrap="square" anchor="t" lIns="0" rIns="0" tIns="0" bIns="0">
            <a:spAutoFit/>
          </a:bodyPr>
          <a:lstStyle/>
          <a:p>
            <a:pPr algn="l"/>
            <a:r>
              <a:rPr sz="950" b="1" i="0">
                <a:solidFill>
                  <a:srgbClr val="2A6F97"/>
                </a:solidFill>
                <a:latin typeface="Times New Roman"/>
              </a:rPr>
              <a:t>THE COURSE CONCLUDES WITH THREE DELIVERABLES</a:t>
            </a:r>
          </a:p>
        </p:txBody>
      </p:sp>
      <p:sp>
        <p:nvSpPr>
          <p:cNvPr id="11" name="Rectangle 10"/>
          <p:cNvSpPr/>
          <p:nvPr/>
        </p:nvSpPr>
        <p:spPr>
          <a:xfrm>
            <a:off x="868680" y="3145536"/>
            <a:ext cx="3383280" cy="1572768"/>
          </a:xfrm>
          <a:prstGeom prst="rect">
            <a:avLst/>
          </a:prstGeom>
          <a:solidFill>
            <a:srgbClr val="F6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68680" y="3145536"/>
            <a:ext cx="3383280" cy="45720"/>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69848" y="3383280"/>
            <a:ext cx="2980944" cy="1243584"/>
          </a:xfrm>
          <a:prstGeom prst="rect">
            <a:avLst/>
          </a:prstGeom>
          <a:noFill/>
        </p:spPr>
        <p:txBody>
          <a:bodyPr wrap="square" anchor="t" lIns="0" rIns="0" tIns="0" bIns="0">
            <a:spAutoFit/>
          </a:bodyPr>
          <a:lstStyle/>
          <a:p>
            <a:pPr algn="l">
              <a:lnSpc>
                <a:spcPct val="106000"/>
              </a:lnSpc>
              <a:spcAft>
                <a:spcPts val="800"/>
              </a:spcAft>
            </a:pPr>
            <a:r>
              <a:rPr sz="1500" b="1" i="0">
                <a:solidFill>
                  <a:srgbClr val="10233F"/>
                </a:solidFill>
                <a:latin typeface="Times New Roman"/>
              </a:rPr>
              <a:t>Consulting Report</a:t>
            </a:r>
          </a:p>
          <a:p>
            <a:pPr algn="l">
              <a:lnSpc>
                <a:spcPct val="124000"/>
              </a:lnSpc>
            </a:pPr>
            <a:r>
              <a:rPr sz="1200" b="0" i="0">
                <a:solidFill>
                  <a:srgbClr val="4B5563"/>
                </a:solidFill>
                <a:latin typeface="Times New Roman"/>
              </a:rPr>
              <a:t>A professional document of executive quality, grounded in theory and evidence.</a:t>
            </a:r>
          </a:p>
        </p:txBody>
      </p:sp>
      <p:sp>
        <p:nvSpPr>
          <p:cNvPr id="14" name="Rectangle 13"/>
          <p:cNvSpPr/>
          <p:nvPr/>
        </p:nvSpPr>
        <p:spPr>
          <a:xfrm>
            <a:off x="4389120" y="3145536"/>
            <a:ext cx="3383280" cy="1572768"/>
          </a:xfrm>
          <a:prstGeom prst="rect">
            <a:avLst/>
          </a:prstGeom>
          <a:solidFill>
            <a:srgbClr val="EA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89120" y="3145536"/>
            <a:ext cx="3383280" cy="45720"/>
          </a:xfrm>
          <a:prstGeom prst="rect">
            <a:avLst/>
          </a:prstGeom>
          <a:solidFill>
            <a:srgbClr val="2A6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90288" y="3383280"/>
            <a:ext cx="2980944" cy="1243584"/>
          </a:xfrm>
          <a:prstGeom prst="rect">
            <a:avLst/>
          </a:prstGeom>
          <a:noFill/>
        </p:spPr>
        <p:txBody>
          <a:bodyPr wrap="square" anchor="t" lIns="0" rIns="0" tIns="0" bIns="0">
            <a:spAutoFit/>
          </a:bodyPr>
          <a:lstStyle/>
          <a:p>
            <a:pPr algn="l">
              <a:lnSpc>
                <a:spcPct val="106000"/>
              </a:lnSpc>
              <a:spcAft>
                <a:spcPts val="800"/>
              </a:spcAft>
            </a:pPr>
            <a:r>
              <a:rPr sz="1500" b="1" i="0">
                <a:solidFill>
                  <a:srgbClr val="10233F"/>
                </a:solidFill>
                <a:latin typeface="Times New Roman"/>
              </a:rPr>
              <a:t>Executive Presentation</a:t>
            </a:r>
          </a:p>
          <a:p>
            <a:pPr algn="l">
              <a:lnSpc>
                <a:spcPct val="124000"/>
              </a:lnSpc>
            </a:pPr>
            <a:r>
              <a:rPr sz="1200" b="0" i="0">
                <a:solidFill>
                  <a:srgbClr val="4B5563"/>
                </a:solidFill>
                <a:latin typeface="Times New Roman"/>
              </a:rPr>
              <a:t>A concise, decision-oriented briefing for senior leadership.</a:t>
            </a:r>
          </a:p>
        </p:txBody>
      </p:sp>
      <p:sp>
        <p:nvSpPr>
          <p:cNvPr id="17" name="Rectangle 16"/>
          <p:cNvSpPr/>
          <p:nvPr/>
        </p:nvSpPr>
        <p:spPr>
          <a:xfrm>
            <a:off x="7909560" y="3145536"/>
            <a:ext cx="3383280" cy="1572768"/>
          </a:xfrm>
          <a:prstGeom prst="rect">
            <a:avLst/>
          </a:prstGeom>
          <a:solidFill>
            <a:srgbClr val="F6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909560" y="3145536"/>
            <a:ext cx="3383280" cy="45720"/>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10728" y="3383280"/>
            <a:ext cx="2980944" cy="1243584"/>
          </a:xfrm>
          <a:prstGeom prst="rect">
            <a:avLst/>
          </a:prstGeom>
          <a:noFill/>
        </p:spPr>
        <p:txBody>
          <a:bodyPr wrap="square" anchor="t" lIns="0" rIns="0" tIns="0" bIns="0">
            <a:spAutoFit/>
          </a:bodyPr>
          <a:lstStyle/>
          <a:p>
            <a:pPr algn="l">
              <a:lnSpc>
                <a:spcPct val="106000"/>
              </a:lnSpc>
              <a:spcAft>
                <a:spcPts val="800"/>
              </a:spcAft>
            </a:pPr>
            <a:r>
              <a:rPr sz="1500" b="1" i="0">
                <a:solidFill>
                  <a:srgbClr val="10233F"/>
                </a:solidFill>
                <a:latin typeface="Times New Roman"/>
              </a:rPr>
              <a:t>Board of Directors Meeting</a:t>
            </a:r>
          </a:p>
          <a:p>
            <a:pPr algn="l">
              <a:lnSpc>
                <a:spcPct val="124000"/>
              </a:lnSpc>
            </a:pPr>
            <a:r>
              <a:rPr sz="1200" b="0" i="0">
                <a:solidFill>
                  <a:srgbClr val="4B5563"/>
                </a:solidFill>
                <a:latin typeface="Times New Roman"/>
              </a:rPr>
              <a:t>A simulated board session in which you defend your recommendations under challenge.</a:t>
            </a:r>
          </a:p>
        </p:txBody>
      </p:sp>
      <p:sp>
        <p:nvSpPr>
          <p:cNvPr id="20" name="TextBox 19"/>
          <p:cNvSpPr txBox="1"/>
          <p:nvPr/>
        </p:nvSpPr>
        <p:spPr>
          <a:xfrm>
            <a:off x="868680" y="4956048"/>
            <a:ext cx="10424160" cy="731520"/>
          </a:xfrm>
          <a:prstGeom prst="rect">
            <a:avLst/>
          </a:prstGeom>
          <a:noFill/>
        </p:spPr>
        <p:txBody>
          <a:bodyPr wrap="square" anchor="t" lIns="0" rIns="0" tIns="0" bIns="0">
            <a:spAutoFit/>
          </a:bodyPr>
          <a:lstStyle/>
          <a:p>
            <a:pPr algn="l">
              <a:lnSpc>
                <a:spcPct val="130000"/>
              </a:lnSpc>
            </a:pPr>
            <a:r>
              <a:rPr sz="1350" b="0" i="0">
                <a:solidFill>
                  <a:srgbClr val="4B5563"/>
                </a:solidFill>
                <a:latin typeface="Times New Roman"/>
              </a:rPr>
              <a:t>Each weekly assignment contributes toward the cumulative engagement. You will defend your recommendations using scholarly research, strategic theory, empirical evidence, and executive reasoning.</a:t>
            </a:r>
          </a:p>
        </p:txBody>
      </p:sp>
      <p:sp>
        <p:nvSpPr>
          <p:cNvPr id="21" name="Rectangle 20"/>
          <p:cNvSpPr/>
          <p:nvPr/>
        </p:nvSpPr>
        <p:spPr>
          <a:xfrm>
            <a:off x="868680" y="5870448"/>
            <a:ext cx="36576" cy="31089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69848" y="5870448"/>
            <a:ext cx="10424160" cy="365760"/>
          </a:xfrm>
          <a:prstGeom prst="rect">
            <a:avLst/>
          </a:prstGeom>
          <a:noFill/>
        </p:spPr>
        <p:txBody>
          <a:bodyPr wrap="square" anchor="ctr" lIns="0" rIns="0" tIns="0" bIns="0">
            <a:spAutoFit/>
          </a:bodyPr>
          <a:lstStyle/>
          <a:p>
            <a:pPr algn="l"/>
            <a:r>
              <a:rPr sz="1350" b="1" i="1">
                <a:solidFill>
                  <a:srgbClr val="10233F"/>
                </a:solidFill>
                <a:latin typeface="Times New Roman"/>
              </a:rPr>
              <a:t>This is the centerpiece of the course — everything else feeds into it.</a:t>
            </a:r>
          </a:p>
        </p:txBody>
      </p:sp>
      <p:sp>
        <p:nvSpPr>
          <p:cNvPr id="23" name="TextBox 22"/>
          <p:cNvSpPr txBox="1"/>
          <p:nvPr/>
        </p:nvSpPr>
        <p:spPr>
          <a:xfrm>
            <a:off x="11475720" y="6473952"/>
            <a:ext cx="457200" cy="182880"/>
          </a:xfrm>
          <a:prstGeom prst="rect">
            <a:avLst/>
          </a:prstGeom>
          <a:noFill/>
        </p:spPr>
        <p:txBody>
          <a:bodyPr wrap="square" anchor="t" lIns="0" rIns="0" tIns="0" bIns="0">
            <a:spAutoFit/>
          </a:bodyPr>
          <a:lstStyle/>
          <a:p>
            <a:pPr algn="r"/>
            <a:r>
              <a:rPr sz="800" b="0" i="0">
                <a:solidFill>
                  <a:srgbClr val="9CA3AF"/>
                </a:solidFill>
                <a:latin typeface="Times New Roman"/>
              </a:rPr>
              <a:t>23</a:t>
            </a:r>
          </a:p>
        </p:txBody>
      </p:sp>
      <p:sp>
        <p:nvSpPr>
          <p:cNvPr id="24" name="TextBox 23"/>
          <p:cNvSpPr txBox="1"/>
          <p:nvPr/>
        </p:nvSpPr>
        <p:spPr>
          <a:xfrm>
            <a:off x="502920" y="6473952"/>
            <a:ext cx="6400800" cy="182880"/>
          </a:xfrm>
          <a:prstGeom prst="rect">
            <a:avLst/>
          </a:prstGeom>
          <a:noFill/>
        </p:spPr>
        <p:txBody>
          <a:bodyPr wrap="square" anchor="t" lIns="0" rIns="0" tIns="0" bIns="0">
            <a:spAutoFit/>
          </a:bodyPr>
          <a:lstStyle/>
          <a:p>
            <a:pPr algn="l"/>
            <a:r>
              <a:rPr sz="720" b="0" i="0">
                <a:solidFill>
                  <a:srgbClr val="6B7280"/>
                </a:solidFill>
                <a:latin typeface="Times New Roman"/>
              </a:rPr>
              <a:t>Strategic Management in the Age of AI · MGMT 465/665 · Course Introduction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969" cy="164592"/>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969" cy="3657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411480"/>
            <a:ext cx="5943600" cy="228600"/>
          </a:xfrm>
          <a:prstGeom prst="rect">
            <a:avLst/>
          </a:prstGeom>
          <a:noFill/>
        </p:spPr>
        <p:txBody>
          <a:bodyPr wrap="square" anchor="t" lIns="0" rIns="0" tIns="0" bIns="0">
            <a:spAutoFit/>
          </a:bodyPr>
          <a:lstStyle/>
          <a:p>
            <a:pPr algn="l"/>
            <a:r>
              <a:rPr sz="850" b="1" i="0">
                <a:solidFill>
                  <a:srgbClr val="2A6F97"/>
                </a:solidFill>
                <a:latin typeface="Times New Roman"/>
              </a:rPr>
              <a:t>PART I · EXPECTED STUDENT MINDSET</a:t>
            </a:r>
          </a:p>
        </p:txBody>
      </p:sp>
      <p:sp>
        <p:nvSpPr>
          <p:cNvPr id="6" name="TextBox 5"/>
          <p:cNvSpPr txBox="1"/>
          <p:nvPr/>
        </p:nvSpPr>
        <p:spPr>
          <a:xfrm>
            <a:off x="502920" y="640080"/>
            <a:ext cx="9509760" cy="457200"/>
          </a:xfrm>
          <a:prstGeom prst="rect">
            <a:avLst/>
          </a:prstGeom>
          <a:noFill/>
        </p:spPr>
        <p:txBody>
          <a:bodyPr wrap="square" anchor="t" lIns="0" rIns="0" tIns="0" bIns="0">
            <a:spAutoFit/>
          </a:bodyPr>
          <a:lstStyle/>
          <a:p>
            <a:pPr algn="l"/>
            <a:r>
              <a:rPr sz="2400" b="1" i="0">
                <a:solidFill>
                  <a:srgbClr val="111827"/>
                </a:solidFill>
                <a:latin typeface="Times New Roman"/>
              </a:rPr>
              <a:t>Approach this course as a corporate strategy group</a:t>
            </a:r>
          </a:p>
        </p:txBody>
      </p:sp>
      <p:sp>
        <p:nvSpPr>
          <p:cNvPr id="7" name="TextBox 6"/>
          <p:cNvSpPr txBox="1"/>
          <p:nvPr/>
        </p:nvSpPr>
        <p:spPr>
          <a:xfrm>
            <a:off x="502920" y="1106424"/>
            <a:ext cx="10698480" cy="274320"/>
          </a:xfrm>
          <a:prstGeom prst="rect">
            <a:avLst/>
          </a:prstGeom>
          <a:noFill/>
        </p:spPr>
        <p:txBody>
          <a:bodyPr wrap="square" anchor="t" lIns="0" rIns="0" tIns="0" bIns="0">
            <a:spAutoFit/>
          </a:bodyPr>
          <a:lstStyle/>
          <a:p>
            <a:pPr algn="l"/>
            <a:r>
              <a:rPr sz="1250" b="0" i="1">
                <a:solidFill>
                  <a:srgbClr val="4B5563"/>
                </a:solidFill>
                <a:latin typeface="Times New Roman"/>
              </a:rPr>
              <a:t>Not as passive learners. Successful students do the following, routinely.</a:t>
            </a:r>
          </a:p>
        </p:txBody>
      </p:sp>
      <p:sp>
        <p:nvSpPr>
          <p:cNvPr id="8" name="Rectangle 7"/>
          <p:cNvSpPr/>
          <p:nvPr/>
        </p:nvSpPr>
        <p:spPr>
          <a:xfrm>
            <a:off x="868680" y="1792224"/>
            <a:ext cx="5047488" cy="694944"/>
          </a:xfrm>
          <a:prstGeom prst="rect">
            <a:avLst/>
          </a:prstGeom>
          <a:solidFill>
            <a:srgbClr val="F6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68680" y="1792224"/>
            <a:ext cx="41148" cy="694944"/>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9848" y="1792224"/>
            <a:ext cx="4681727" cy="694944"/>
          </a:xfrm>
          <a:prstGeom prst="rect">
            <a:avLst/>
          </a:prstGeom>
          <a:noFill/>
        </p:spPr>
        <p:txBody>
          <a:bodyPr wrap="square" anchor="ctr" lIns="0" rIns="0" tIns="0" bIns="0">
            <a:spAutoFit/>
          </a:bodyPr>
          <a:lstStyle/>
          <a:p>
            <a:pPr algn="l">
              <a:lnSpc>
                <a:spcPct val="110000"/>
              </a:lnSpc>
            </a:pPr>
            <a:r>
              <a:rPr sz="1450" b="1" i="0">
                <a:solidFill>
                  <a:srgbClr val="10233F"/>
                </a:solidFill>
                <a:latin typeface="Times New Roman"/>
              </a:rPr>
              <a:t>Question assumptions</a:t>
            </a:r>
          </a:p>
        </p:txBody>
      </p:sp>
      <p:sp>
        <p:nvSpPr>
          <p:cNvPr id="11" name="Rectangle 10"/>
          <p:cNvSpPr/>
          <p:nvPr/>
        </p:nvSpPr>
        <p:spPr>
          <a:xfrm>
            <a:off x="6245352" y="1792224"/>
            <a:ext cx="5047488" cy="694944"/>
          </a:xfrm>
          <a:prstGeom prst="rect">
            <a:avLst/>
          </a:prstGeom>
          <a:solidFill>
            <a:srgbClr val="F6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45352" y="1792224"/>
            <a:ext cx="41148" cy="694944"/>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46520" y="1792224"/>
            <a:ext cx="4681727" cy="694944"/>
          </a:xfrm>
          <a:prstGeom prst="rect">
            <a:avLst/>
          </a:prstGeom>
          <a:noFill/>
        </p:spPr>
        <p:txBody>
          <a:bodyPr wrap="square" anchor="ctr" lIns="0" rIns="0" tIns="0" bIns="0">
            <a:spAutoFit/>
          </a:bodyPr>
          <a:lstStyle/>
          <a:p>
            <a:pPr algn="l">
              <a:lnSpc>
                <a:spcPct val="110000"/>
              </a:lnSpc>
            </a:pPr>
            <a:r>
              <a:rPr sz="1450" b="1" i="0">
                <a:solidFill>
                  <a:srgbClr val="10233F"/>
                </a:solidFill>
                <a:latin typeface="Times New Roman"/>
              </a:rPr>
              <a:t>Compare competing theories</a:t>
            </a:r>
          </a:p>
        </p:txBody>
      </p:sp>
      <p:sp>
        <p:nvSpPr>
          <p:cNvPr id="14" name="Rectangle 13"/>
          <p:cNvSpPr/>
          <p:nvPr/>
        </p:nvSpPr>
        <p:spPr>
          <a:xfrm>
            <a:off x="868680" y="2688336"/>
            <a:ext cx="5047488" cy="694944"/>
          </a:xfrm>
          <a:prstGeom prst="rect">
            <a:avLst/>
          </a:prstGeom>
          <a:solidFill>
            <a:srgbClr val="F6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68680" y="2688336"/>
            <a:ext cx="41148" cy="694944"/>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69848" y="2688336"/>
            <a:ext cx="4681727" cy="694944"/>
          </a:xfrm>
          <a:prstGeom prst="rect">
            <a:avLst/>
          </a:prstGeom>
          <a:noFill/>
        </p:spPr>
        <p:txBody>
          <a:bodyPr wrap="square" anchor="ctr" lIns="0" rIns="0" tIns="0" bIns="0">
            <a:spAutoFit/>
          </a:bodyPr>
          <a:lstStyle/>
          <a:p>
            <a:pPr algn="l">
              <a:lnSpc>
                <a:spcPct val="110000"/>
              </a:lnSpc>
            </a:pPr>
            <a:r>
              <a:rPr sz="1450" b="1" i="0">
                <a:solidFill>
                  <a:srgbClr val="10233F"/>
                </a:solidFill>
                <a:latin typeface="Times New Roman"/>
              </a:rPr>
              <a:t>Evaluate evidence critically</a:t>
            </a:r>
          </a:p>
        </p:txBody>
      </p:sp>
      <p:sp>
        <p:nvSpPr>
          <p:cNvPr id="17" name="Rectangle 16"/>
          <p:cNvSpPr/>
          <p:nvPr/>
        </p:nvSpPr>
        <p:spPr>
          <a:xfrm>
            <a:off x="6245352" y="2688336"/>
            <a:ext cx="5047488" cy="694944"/>
          </a:xfrm>
          <a:prstGeom prst="rect">
            <a:avLst/>
          </a:prstGeom>
          <a:solidFill>
            <a:srgbClr val="F6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45352" y="2688336"/>
            <a:ext cx="41148" cy="694944"/>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6520" y="2688336"/>
            <a:ext cx="4681727" cy="694944"/>
          </a:xfrm>
          <a:prstGeom prst="rect">
            <a:avLst/>
          </a:prstGeom>
          <a:noFill/>
        </p:spPr>
        <p:txBody>
          <a:bodyPr wrap="square" anchor="ctr" lIns="0" rIns="0" tIns="0" bIns="0">
            <a:spAutoFit/>
          </a:bodyPr>
          <a:lstStyle/>
          <a:p>
            <a:pPr algn="l">
              <a:lnSpc>
                <a:spcPct val="110000"/>
              </a:lnSpc>
            </a:pPr>
            <a:r>
              <a:rPr sz="1450" b="1" i="0">
                <a:solidFill>
                  <a:srgbClr val="10233F"/>
                </a:solidFill>
                <a:latin typeface="Times New Roman"/>
              </a:rPr>
              <a:t>Challenge AI-generated recommendations</a:t>
            </a:r>
          </a:p>
        </p:txBody>
      </p:sp>
      <p:sp>
        <p:nvSpPr>
          <p:cNvPr id="20" name="Rectangle 19"/>
          <p:cNvSpPr/>
          <p:nvPr/>
        </p:nvSpPr>
        <p:spPr>
          <a:xfrm>
            <a:off x="868680" y="3584448"/>
            <a:ext cx="5047488" cy="694944"/>
          </a:xfrm>
          <a:prstGeom prst="rect">
            <a:avLst/>
          </a:prstGeom>
          <a:solidFill>
            <a:srgbClr val="F6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68680" y="3584448"/>
            <a:ext cx="41148" cy="694944"/>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69848" y="3584448"/>
            <a:ext cx="4681727" cy="694944"/>
          </a:xfrm>
          <a:prstGeom prst="rect">
            <a:avLst/>
          </a:prstGeom>
          <a:noFill/>
        </p:spPr>
        <p:txBody>
          <a:bodyPr wrap="square" anchor="ctr" lIns="0" rIns="0" tIns="0" bIns="0">
            <a:spAutoFit/>
          </a:bodyPr>
          <a:lstStyle/>
          <a:p>
            <a:pPr algn="l">
              <a:lnSpc>
                <a:spcPct val="110000"/>
              </a:lnSpc>
            </a:pPr>
            <a:r>
              <a:rPr sz="1450" b="1" i="0">
                <a:solidFill>
                  <a:srgbClr val="10233F"/>
                </a:solidFill>
                <a:latin typeface="Times New Roman"/>
              </a:rPr>
              <a:t>Defend positions with scholarly support</a:t>
            </a:r>
          </a:p>
        </p:txBody>
      </p:sp>
      <p:sp>
        <p:nvSpPr>
          <p:cNvPr id="23" name="Rectangle 22"/>
          <p:cNvSpPr/>
          <p:nvPr/>
        </p:nvSpPr>
        <p:spPr>
          <a:xfrm>
            <a:off x="6245352" y="3584448"/>
            <a:ext cx="5047488" cy="694944"/>
          </a:xfrm>
          <a:prstGeom prst="rect">
            <a:avLst/>
          </a:prstGeom>
          <a:solidFill>
            <a:srgbClr val="F6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45352" y="3584448"/>
            <a:ext cx="41148" cy="694944"/>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46520" y="3584448"/>
            <a:ext cx="4681727" cy="694944"/>
          </a:xfrm>
          <a:prstGeom prst="rect">
            <a:avLst/>
          </a:prstGeom>
          <a:noFill/>
        </p:spPr>
        <p:txBody>
          <a:bodyPr wrap="square" anchor="ctr" lIns="0" rIns="0" tIns="0" bIns="0">
            <a:spAutoFit/>
          </a:bodyPr>
          <a:lstStyle/>
          <a:p>
            <a:pPr algn="l">
              <a:lnSpc>
                <a:spcPct val="110000"/>
              </a:lnSpc>
            </a:pPr>
            <a:r>
              <a:rPr sz="1450" b="1" i="0">
                <a:solidFill>
                  <a:srgbClr val="10233F"/>
                </a:solidFill>
                <a:latin typeface="Times New Roman"/>
              </a:rPr>
              <a:t>Communicate professionally</a:t>
            </a:r>
          </a:p>
        </p:txBody>
      </p:sp>
      <p:sp>
        <p:nvSpPr>
          <p:cNvPr id="26" name="Rectangle 25"/>
          <p:cNvSpPr/>
          <p:nvPr/>
        </p:nvSpPr>
        <p:spPr>
          <a:xfrm>
            <a:off x="868680" y="4480560"/>
            <a:ext cx="5047488" cy="694944"/>
          </a:xfrm>
          <a:prstGeom prst="rect">
            <a:avLst/>
          </a:prstGeom>
          <a:solidFill>
            <a:srgbClr val="F6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68680" y="4480560"/>
            <a:ext cx="41148" cy="694944"/>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69848" y="4480560"/>
            <a:ext cx="4681727" cy="694944"/>
          </a:xfrm>
          <a:prstGeom prst="rect">
            <a:avLst/>
          </a:prstGeom>
          <a:noFill/>
        </p:spPr>
        <p:txBody>
          <a:bodyPr wrap="square" anchor="ctr" lIns="0" rIns="0" tIns="0" bIns="0">
            <a:spAutoFit/>
          </a:bodyPr>
          <a:lstStyle/>
          <a:p>
            <a:pPr algn="l">
              <a:lnSpc>
                <a:spcPct val="110000"/>
              </a:lnSpc>
            </a:pPr>
            <a:r>
              <a:rPr sz="1450" b="1" i="0">
                <a:solidFill>
                  <a:srgbClr val="10233F"/>
                </a:solidFill>
                <a:latin typeface="Times New Roman"/>
              </a:rPr>
              <a:t>Demonstrate ethical judgment</a:t>
            </a:r>
          </a:p>
        </p:txBody>
      </p:sp>
      <p:sp>
        <p:nvSpPr>
          <p:cNvPr id="29" name="Rectangle 28"/>
          <p:cNvSpPr/>
          <p:nvPr/>
        </p:nvSpPr>
        <p:spPr>
          <a:xfrm>
            <a:off x="6245352" y="4480560"/>
            <a:ext cx="5047488" cy="694944"/>
          </a:xfrm>
          <a:prstGeom prst="rect">
            <a:avLst/>
          </a:prstGeom>
          <a:solidFill>
            <a:srgbClr val="F6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245352" y="4480560"/>
            <a:ext cx="41148" cy="694944"/>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46520" y="4480560"/>
            <a:ext cx="4681727" cy="694944"/>
          </a:xfrm>
          <a:prstGeom prst="rect">
            <a:avLst/>
          </a:prstGeom>
          <a:noFill/>
        </p:spPr>
        <p:txBody>
          <a:bodyPr wrap="square" anchor="ctr" lIns="0" rIns="0" tIns="0" bIns="0">
            <a:spAutoFit/>
          </a:bodyPr>
          <a:lstStyle/>
          <a:p>
            <a:pPr algn="l">
              <a:lnSpc>
                <a:spcPct val="110000"/>
              </a:lnSpc>
            </a:pPr>
            <a:r>
              <a:rPr sz="1450" b="1" i="0">
                <a:solidFill>
                  <a:srgbClr val="10233F"/>
                </a:solidFill>
                <a:latin typeface="Times New Roman"/>
              </a:rPr>
              <a:t>Refine thinking as evidence emerges</a:t>
            </a:r>
          </a:p>
        </p:txBody>
      </p:sp>
      <p:sp>
        <p:nvSpPr>
          <p:cNvPr id="32" name="Rectangle 31"/>
          <p:cNvSpPr/>
          <p:nvPr/>
        </p:nvSpPr>
        <p:spPr>
          <a:xfrm>
            <a:off x="868680" y="5486400"/>
            <a:ext cx="36576" cy="31089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69848" y="5486400"/>
            <a:ext cx="10424160" cy="365760"/>
          </a:xfrm>
          <a:prstGeom prst="rect">
            <a:avLst/>
          </a:prstGeom>
          <a:noFill/>
        </p:spPr>
        <p:txBody>
          <a:bodyPr wrap="square" anchor="ctr" lIns="0" rIns="0" tIns="0" bIns="0">
            <a:spAutoFit/>
          </a:bodyPr>
          <a:lstStyle/>
          <a:p>
            <a:pPr algn="l"/>
            <a:r>
              <a:rPr sz="1350" b="1" i="1">
                <a:solidFill>
                  <a:srgbClr val="10233F"/>
                </a:solidFill>
                <a:latin typeface="Times New Roman"/>
              </a:rPr>
              <a:t>Strategic thinking is a practice, not a body of content. It develops only through repetition under pressure.</a:t>
            </a:r>
          </a:p>
        </p:txBody>
      </p:sp>
      <p:sp>
        <p:nvSpPr>
          <p:cNvPr id="34" name="TextBox 33"/>
          <p:cNvSpPr txBox="1"/>
          <p:nvPr/>
        </p:nvSpPr>
        <p:spPr>
          <a:xfrm>
            <a:off x="868680" y="5961888"/>
            <a:ext cx="10424160" cy="274320"/>
          </a:xfrm>
          <a:prstGeom prst="rect">
            <a:avLst/>
          </a:prstGeom>
          <a:noFill/>
        </p:spPr>
        <p:txBody>
          <a:bodyPr wrap="square" anchor="t" lIns="0" rIns="0" tIns="0" bIns="0">
            <a:spAutoFit/>
          </a:bodyPr>
          <a:lstStyle/>
          <a:p>
            <a:pPr algn="l">
              <a:lnSpc>
                <a:spcPct val="120000"/>
              </a:lnSpc>
            </a:pPr>
            <a:r>
              <a:rPr sz="1150" b="0" i="0">
                <a:solidFill>
                  <a:srgbClr val="6B7280"/>
                </a:solidFill>
                <a:latin typeface="Times New Roman"/>
              </a:rPr>
              <a:t>Participation is evaluated on the quality of contributions to executive discussions, case debriefs, and laboratory sessions — not on frequency of speaking.</a:t>
            </a:r>
          </a:p>
        </p:txBody>
      </p:sp>
      <p:sp>
        <p:nvSpPr>
          <p:cNvPr id="35" name="TextBox 34"/>
          <p:cNvSpPr txBox="1"/>
          <p:nvPr/>
        </p:nvSpPr>
        <p:spPr>
          <a:xfrm>
            <a:off x="11475720" y="6473952"/>
            <a:ext cx="457200" cy="182880"/>
          </a:xfrm>
          <a:prstGeom prst="rect">
            <a:avLst/>
          </a:prstGeom>
          <a:noFill/>
        </p:spPr>
        <p:txBody>
          <a:bodyPr wrap="square" anchor="t" lIns="0" rIns="0" tIns="0" bIns="0">
            <a:spAutoFit/>
          </a:bodyPr>
          <a:lstStyle/>
          <a:p>
            <a:pPr algn="r"/>
            <a:r>
              <a:rPr sz="800" b="0" i="0">
                <a:solidFill>
                  <a:srgbClr val="9CA3AF"/>
                </a:solidFill>
                <a:latin typeface="Times New Roman"/>
              </a:rPr>
              <a:t>24</a:t>
            </a:r>
          </a:p>
        </p:txBody>
      </p:sp>
      <p:sp>
        <p:nvSpPr>
          <p:cNvPr id="36" name="TextBox 35"/>
          <p:cNvSpPr txBox="1"/>
          <p:nvPr/>
        </p:nvSpPr>
        <p:spPr>
          <a:xfrm>
            <a:off x="502920" y="6473952"/>
            <a:ext cx="6400800" cy="182880"/>
          </a:xfrm>
          <a:prstGeom prst="rect">
            <a:avLst/>
          </a:prstGeom>
          <a:noFill/>
        </p:spPr>
        <p:txBody>
          <a:bodyPr wrap="square" anchor="t" lIns="0" rIns="0" tIns="0" bIns="0">
            <a:spAutoFit/>
          </a:bodyPr>
          <a:lstStyle/>
          <a:p>
            <a:pPr algn="l"/>
            <a:r>
              <a:rPr sz="720" b="0" i="0">
                <a:solidFill>
                  <a:srgbClr val="6B7280"/>
                </a:solidFill>
                <a:latin typeface="Times New Roman"/>
              </a:rPr>
              <a:t>Strategic Management in the Age of AI · MGMT 465/665 · Course Introduction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969" cy="164592"/>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969" cy="3657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411480"/>
            <a:ext cx="5943600" cy="228600"/>
          </a:xfrm>
          <a:prstGeom prst="rect">
            <a:avLst/>
          </a:prstGeom>
          <a:noFill/>
        </p:spPr>
        <p:txBody>
          <a:bodyPr wrap="square" anchor="t" lIns="0" rIns="0" tIns="0" bIns="0">
            <a:spAutoFit/>
          </a:bodyPr>
          <a:lstStyle/>
          <a:p>
            <a:pPr algn="l"/>
            <a:r>
              <a:rPr sz="850" b="1" i="0">
                <a:solidFill>
                  <a:srgbClr val="2A6F97"/>
                </a:solidFill>
                <a:latin typeface="Times New Roman"/>
              </a:rPr>
              <a:t>PART I · WHAT MAKES THIS COURSE DIFFERENT</a:t>
            </a:r>
          </a:p>
        </p:txBody>
      </p:sp>
      <p:sp>
        <p:nvSpPr>
          <p:cNvPr id="6" name="TextBox 5"/>
          <p:cNvSpPr txBox="1"/>
          <p:nvPr/>
        </p:nvSpPr>
        <p:spPr>
          <a:xfrm>
            <a:off x="502920" y="640080"/>
            <a:ext cx="9509760" cy="457200"/>
          </a:xfrm>
          <a:prstGeom prst="rect">
            <a:avLst/>
          </a:prstGeom>
          <a:noFill/>
        </p:spPr>
        <p:txBody>
          <a:bodyPr wrap="square" anchor="t" lIns="0" rIns="0" tIns="0" bIns="0">
            <a:spAutoFit/>
          </a:bodyPr>
          <a:lstStyle/>
          <a:p>
            <a:pPr algn="l"/>
            <a:r>
              <a:rPr sz="2400" b="1" i="0">
                <a:solidFill>
                  <a:srgbClr val="111827"/>
                </a:solidFill>
                <a:latin typeface="Times New Roman"/>
              </a:rPr>
              <a:t>A course about the evolution of a discipline</a:t>
            </a:r>
          </a:p>
        </p:txBody>
      </p:sp>
      <p:sp>
        <p:nvSpPr>
          <p:cNvPr id="7" name="Rectangle 6"/>
          <p:cNvSpPr/>
          <p:nvPr/>
        </p:nvSpPr>
        <p:spPr>
          <a:xfrm>
            <a:off x="868680" y="1536192"/>
            <a:ext cx="3383280" cy="3035808"/>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68680" y="1536192"/>
            <a:ext cx="3383280" cy="45720"/>
          </a:xfrm>
          <a:prstGeom prst="rect">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9848" y="1773936"/>
            <a:ext cx="2980944" cy="2651760"/>
          </a:xfrm>
          <a:prstGeom prst="rect">
            <a:avLst/>
          </a:prstGeom>
          <a:noFill/>
        </p:spPr>
        <p:txBody>
          <a:bodyPr wrap="square" anchor="t" lIns="0" rIns="0" tIns="0" bIns="0">
            <a:spAutoFit/>
          </a:bodyPr>
          <a:lstStyle/>
          <a:p>
            <a:pPr algn="l">
              <a:lnSpc>
                <a:spcPct val="105000"/>
              </a:lnSpc>
              <a:spcAft>
                <a:spcPts val="500"/>
              </a:spcAft>
            </a:pPr>
            <a:r>
              <a:rPr sz="1600" b="1" i="0">
                <a:solidFill>
                  <a:srgbClr val="10233F"/>
                </a:solidFill>
                <a:latin typeface="Times New Roman"/>
              </a:rPr>
              <a:t>Traditional strategy course</a:t>
            </a:r>
          </a:p>
          <a:p>
            <a:pPr algn="l">
              <a:lnSpc>
                <a:spcPct val="115000"/>
              </a:lnSpc>
              <a:spcAft>
                <a:spcPts val="1200"/>
              </a:spcAft>
            </a:pPr>
            <a:r>
              <a:rPr sz="1150" b="0" i="1">
                <a:solidFill>
                  <a:srgbClr val="4B5563"/>
                </a:solidFill>
                <a:latin typeface="Times New Roman"/>
              </a:rPr>
              <a:t>Focuses on established frameworks</a:t>
            </a:r>
          </a:p>
          <a:p>
            <a:pPr algn="l">
              <a:lnSpc>
                <a:spcPct val="120000"/>
              </a:lnSpc>
              <a:spcAft>
                <a:spcPts val="700"/>
              </a:spcAft>
            </a:pPr>
            <a:r>
              <a:rPr sz="1200" b="0" i="0">
                <a:solidFill>
                  <a:srgbClr val="111827"/>
                </a:solidFill>
                <a:latin typeface="Times New Roman"/>
              </a:rPr>
              <a:t>—  Teaches Porter, Barney, Teece, March</a:t>
            </a:r>
          </a:p>
          <a:p>
            <a:pPr algn="l">
              <a:lnSpc>
                <a:spcPct val="120000"/>
              </a:lnSpc>
              <a:spcAft>
                <a:spcPts val="700"/>
              </a:spcAft>
            </a:pPr>
            <a:r>
              <a:rPr sz="1200" b="0" i="0">
                <a:solidFill>
                  <a:srgbClr val="111827"/>
                </a:solidFill>
                <a:latin typeface="Times New Roman"/>
              </a:rPr>
              <a:t>—  Applies existing models</a:t>
            </a:r>
          </a:p>
          <a:p>
            <a:pPr algn="l">
              <a:lnSpc>
                <a:spcPct val="120000"/>
              </a:lnSpc>
              <a:spcAft>
                <a:spcPts val="700"/>
              </a:spcAft>
            </a:pPr>
            <a:r>
              <a:rPr sz="1200" b="0" i="0">
                <a:solidFill>
                  <a:srgbClr val="111827"/>
                </a:solidFill>
                <a:latin typeface="Times New Roman"/>
              </a:rPr>
              <a:t>—  Treats the canon as settled</a:t>
            </a:r>
          </a:p>
        </p:txBody>
      </p:sp>
      <p:sp>
        <p:nvSpPr>
          <p:cNvPr id="10" name="Rectangle 9"/>
          <p:cNvSpPr/>
          <p:nvPr/>
        </p:nvSpPr>
        <p:spPr>
          <a:xfrm>
            <a:off x="4389120" y="1536192"/>
            <a:ext cx="3383280" cy="3035808"/>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89120" y="1536192"/>
            <a:ext cx="3383280" cy="45720"/>
          </a:xfrm>
          <a:prstGeom prst="rect">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90288" y="1773936"/>
            <a:ext cx="2980944" cy="2651760"/>
          </a:xfrm>
          <a:prstGeom prst="rect">
            <a:avLst/>
          </a:prstGeom>
          <a:noFill/>
        </p:spPr>
        <p:txBody>
          <a:bodyPr wrap="square" anchor="t" lIns="0" rIns="0" tIns="0" bIns="0">
            <a:spAutoFit/>
          </a:bodyPr>
          <a:lstStyle/>
          <a:p>
            <a:pPr algn="l">
              <a:lnSpc>
                <a:spcPct val="105000"/>
              </a:lnSpc>
              <a:spcAft>
                <a:spcPts val="500"/>
              </a:spcAft>
            </a:pPr>
            <a:r>
              <a:rPr sz="1600" b="1" i="0">
                <a:solidFill>
                  <a:srgbClr val="10233F"/>
                </a:solidFill>
                <a:latin typeface="Times New Roman"/>
              </a:rPr>
              <a:t>Traditional AI course</a:t>
            </a:r>
          </a:p>
          <a:p>
            <a:pPr algn="l">
              <a:lnSpc>
                <a:spcPct val="115000"/>
              </a:lnSpc>
              <a:spcAft>
                <a:spcPts val="1200"/>
              </a:spcAft>
            </a:pPr>
            <a:r>
              <a:rPr sz="1150" b="0" i="1">
                <a:solidFill>
                  <a:srgbClr val="4B5563"/>
                </a:solidFill>
                <a:latin typeface="Times New Roman"/>
              </a:rPr>
              <a:t>Focuses on technologies</a:t>
            </a:r>
          </a:p>
          <a:p>
            <a:pPr algn="l">
              <a:lnSpc>
                <a:spcPct val="120000"/>
              </a:lnSpc>
              <a:spcAft>
                <a:spcPts val="700"/>
              </a:spcAft>
            </a:pPr>
            <a:r>
              <a:rPr sz="1200" b="0" i="0">
                <a:solidFill>
                  <a:srgbClr val="111827"/>
                </a:solidFill>
                <a:latin typeface="Times New Roman"/>
              </a:rPr>
              <a:t>—  Algorithms, programming, analytics</a:t>
            </a:r>
          </a:p>
          <a:p>
            <a:pPr algn="l">
              <a:lnSpc>
                <a:spcPct val="120000"/>
              </a:lnSpc>
              <a:spcAft>
                <a:spcPts val="700"/>
              </a:spcAft>
            </a:pPr>
            <a:r>
              <a:rPr sz="1200" b="0" i="0">
                <a:solidFill>
                  <a:srgbClr val="111827"/>
                </a:solidFill>
                <a:latin typeface="Times New Roman"/>
              </a:rPr>
              <a:t>—  Tool proficiency</a:t>
            </a:r>
          </a:p>
          <a:p>
            <a:pPr algn="l">
              <a:lnSpc>
                <a:spcPct val="120000"/>
              </a:lnSpc>
              <a:spcAft>
                <a:spcPts val="700"/>
              </a:spcAft>
            </a:pPr>
            <a:r>
              <a:rPr sz="1200" b="0" i="0">
                <a:solidFill>
                  <a:srgbClr val="111827"/>
                </a:solidFill>
                <a:latin typeface="Times New Roman"/>
              </a:rPr>
              <a:t>—  Treats strategy as out of scope</a:t>
            </a:r>
          </a:p>
        </p:txBody>
      </p:sp>
      <p:sp>
        <p:nvSpPr>
          <p:cNvPr id="13" name="Rectangle 12"/>
          <p:cNvSpPr/>
          <p:nvPr/>
        </p:nvSpPr>
        <p:spPr>
          <a:xfrm>
            <a:off x="7909560" y="1536192"/>
            <a:ext cx="3383280" cy="3035808"/>
          </a:xfrm>
          <a:prstGeom prst="rect">
            <a:avLst/>
          </a:prstGeom>
          <a:solidFill>
            <a:srgbClr val="EA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909560" y="1536192"/>
            <a:ext cx="3383280" cy="45720"/>
          </a:xfrm>
          <a:prstGeom prst="rect">
            <a:avLst/>
          </a:prstGeom>
          <a:solidFill>
            <a:srgbClr val="2A6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110728" y="1773936"/>
            <a:ext cx="2980944" cy="2651760"/>
          </a:xfrm>
          <a:prstGeom prst="rect">
            <a:avLst/>
          </a:prstGeom>
          <a:noFill/>
        </p:spPr>
        <p:txBody>
          <a:bodyPr wrap="square" anchor="t" lIns="0" rIns="0" tIns="0" bIns="0">
            <a:spAutoFit/>
          </a:bodyPr>
          <a:lstStyle/>
          <a:p>
            <a:pPr algn="l">
              <a:lnSpc>
                <a:spcPct val="105000"/>
              </a:lnSpc>
              <a:spcAft>
                <a:spcPts val="500"/>
              </a:spcAft>
            </a:pPr>
            <a:r>
              <a:rPr sz="1600" b="1" i="0">
                <a:solidFill>
                  <a:srgbClr val="2A6F97"/>
                </a:solidFill>
                <a:latin typeface="Times New Roman"/>
              </a:rPr>
              <a:t>This course</a:t>
            </a:r>
          </a:p>
          <a:p>
            <a:pPr algn="l">
              <a:lnSpc>
                <a:spcPct val="115000"/>
              </a:lnSpc>
              <a:spcAft>
                <a:spcPts val="1200"/>
              </a:spcAft>
            </a:pPr>
            <a:r>
              <a:rPr sz="1150" b="0" i="1">
                <a:solidFill>
                  <a:srgbClr val="4B5563"/>
                </a:solidFill>
                <a:latin typeface="Times New Roman"/>
              </a:rPr>
              <a:t>Focuses on the evolution of strategy itself</a:t>
            </a:r>
          </a:p>
          <a:p>
            <a:pPr algn="l">
              <a:lnSpc>
                <a:spcPct val="120000"/>
              </a:lnSpc>
              <a:spcAft>
                <a:spcPts val="700"/>
              </a:spcAft>
            </a:pPr>
            <a:r>
              <a:rPr sz="1200" b="0" i="0">
                <a:solidFill>
                  <a:srgbClr val="111827"/>
                </a:solidFill>
                <a:latin typeface="Times New Roman"/>
              </a:rPr>
              <a:t>—  Asks how each scholar would revise their theory today</a:t>
            </a:r>
          </a:p>
          <a:p>
            <a:pPr algn="l">
              <a:lnSpc>
                <a:spcPct val="120000"/>
              </a:lnSpc>
              <a:spcAft>
                <a:spcPts val="700"/>
              </a:spcAft>
            </a:pPr>
            <a:r>
              <a:rPr sz="1200" b="0" i="0">
                <a:solidFill>
                  <a:srgbClr val="111827"/>
                </a:solidFill>
                <a:latin typeface="Times New Roman"/>
              </a:rPr>
              <a:t>—  Places two literatures in dialogue</a:t>
            </a:r>
          </a:p>
          <a:p>
            <a:pPr algn="l">
              <a:lnSpc>
                <a:spcPct val="120000"/>
              </a:lnSpc>
              <a:spcAft>
                <a:spcPts val="700"/>
              </a:spcAft>
            </a:pPr>
            <a:r>
              <a:rPr sz="1200" b="0" i="0">
                <a:solidFill>
                  <a:srgbClr val="111827"/>
                </a:solidFill>
                <a:latin typeface="Times New Roman"/>
              </a:rPr>
              <a:t>—  Treats the canon as live and contestable</a:t>
            </a:r>
          </a:p>
        </p:txBody>
      </p:sp>
      <p:sp>
        <p:nvSpPr>
          <p:cNvPr id="16" name="Rectangle 15"/>
          <p:cNvSpPr/>
          <p:nvPr/>
        </p:nvSpPr>
        <p:spPr>
          <a:xfrm>
            <a:off x="868680" y="4809744"/>
            <a:ext cx="41148" cy="822960"/>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24712" y="4809744"/>
            <a:ext cx="10168128" cy="822960"/>
          </a:xfrm>
          <a:prstGeom prst="rect">
            <a:avLst/>
          </a:prstGeom>
          <a:noFill/>
        </p:spPr>
        <p:txBody>
          <a:bodyPr wrap="square" anchor="t" lIns="0" rIns="0" tIns="0" bIns="0">
            <a:spAutoFit/>
          </a:bodyPr>
          <a:lstStyle/>
          <a:p>
            <a:pPr algn="l">
              <a:lnSpc>
                <a:spcPct val="125000"/>
              </a:lnSpc>
            </a:pPr>
            <a:r>
              <a:rPr sz="1600" b="0" i="1">
                <a:solidFill>
                  <a:srgbClr val="10233F"/>
                </a:solidFill>
                <a:latin typeface="Times New Roman"/>
              </a:rPr>
              <a:t>Students will not simply learn Porter, Barney, Teece, or March. They will ask how each of these scholars might revise their theories if writing today.</a:t>
            </a:r>
          </a:p>
        </p:txBody>
      </p:sp>
      <p:sp>
        <p:nvSpPr>
          <p:cNvPr id="18" name="Rectangle 17"/>
          <p:cNvSpPr/>
          <p:nvPr/>
        </p:nvSpPr>
        <p:spPr>
          <a:xfrm>
            <a:off x="868680" y="5870448"/>
            <a:ext cx="36576" cy="31089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69848" y="5870448"/>
            <a:ext cx="10424160" cy="365760"/>
          </a:xfrm>
          <a:prstGeom prst="rect">
            <a:avLst/>
          </a:prstGeom>
          <a:noFill/>
        </p:spPr>
        <p:txBody>
          <a:bodyPr wrap="square" anchor="ctr" lIns="0" rIns="0" tIns="0" bIns="0">
            <a:spAutoFit/>
          </a:bodyPr>
          <a:lstStyle/>
          <a:p>
            <a:pPr algn="l"/>
            <a:r>
              <a:rPr sz="1350" b="1" i="1">
                <a:solidFill>
                  <a:srgbClr val="10233F"/>
                </a:solidFill>
                <a:latin typeface="Times New Roman"/>
              </a:rPr>
              <a:t>The invitation is to become a contributor to the next generation of strategic management thinking.</a:t>
            </a:r>
          </a:p>
        </p:txBody>
      </p:sp>
      <p:sp>
        <p:nvSpPr>
          <p:cNvPr id="20" name="TextBox 19"/>
          <p:cNvSpPr txBox="1"/>
          <p:nvPr/>
        </p:nvSpPr>
        <p:spPr>
          <a:xfrm>
            <a:off x="11475720" y="6473952"/>
            <a:ext cx="457200" cy="182880"/>
          </a:xfrm>
          <a:prstGeom prst="rect">
            <a:avLst/>
          </a:prstGeom>
          <a:noFill/>
        </p:spPr>
        <p:txBody>
          <a:bodyPr wrap="square" anchor="t" lIns="0" rIns="0" tIns="0" bIns="0">
            <a:spAutoFit/>
          </a:bodyPr>
          <a:lstStyle/>
          <a:p>
            <a:pPr algn="r"/>
            <a:r>
              <a:rPr sz="800" b="0" i="0">
                <a:solidFill>
                  <a:srgbClr val="9CA3AF"/>
                </a:solidFill>
                <a:latin typeface="Times New Roman"/>
              </a:rPr>
              <a:t>25</a:t>
            </a:r>
          </a:p>
        </p:txBody>
      </p:sp>
      <p:sp>
        <p:nvSpPr>
          <p:cNvPr id="21" name="TextBox 20"/>
          <p:cNvSpPr txBox="1"/>
          <p:nvPr/>
        </p:nvSpPr>
        <p:spPr>
          <a:xfrm>
            <a:off x="502920" y="6473952"/>
            <a:ext cx="6400800" cy="182880"/>
          </a:xfrm>
          <a:prstGeom prst="rect">
            <a:avLst/>
          </a:prstGeom>
          <a:noFill/>
        </p:spPr>
        <p:txBody>
          <a:bodyPr wrap="square" anchor="t" lIns="0" rIns="0" tIns="0" bIns="0">
            <a:spAutoFit/>
          </a:bodyPr>
          <a:lstStyle/>
          <a:p>
            <a:pPr algn="l"/>
            <a:r>
              <a:rPr sz="720" b="0" i="0">
                <a:solidFill>
                  <a:srgbClr val="6B7280"/>
                </a:solidFill>
                <a:latin typeface="Times New Roman"/>
              </a:rPr>
              <a:t>Strategic Management in the Age of AI · MGMT 465/665 · Course Introduction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6858000"/>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51560" y="1828800"/>
            <a:ext cx="5486400" cy="274320"/>
          </a:xfrm>
          <a:prstGeom prst="rect">
            <a:avLst/>
          </a:prstGeom>
          <a:noFill/>
        </p:spPr>
        <p:txBody>
          <a:bodyPr wrap="square" anchor="t" lIns="0" rIns="0" tIns="0" bIns="0">
            <a:spAutoFit/>
          </a:bodyPr>
          <a:lstStyle/>
          <a:p>
            <a:pPr algn="l"/>
            <a:r>
              <a:rPr sz="1200" b="1" i="0">
                <a:solidFill>
                  <a:srgbClr val="D4A017"/>
                </a:solidFill>
                <a:latin typeface="Times New Roman"/>
              </a:rPr>
              <a:t>PART II</a:t>
            </a:r>
          </a:p>
        </p:txBody>
      </p:sp>
      <p:sp>
        <p:nvSpPr>
          <p:cNvPr id="5" name="TextBox 4"/>
          <p:cNvSpPr txBox="1"/>
          <p:nvPr/>
        </p:nvSpPr>
        <p:spPr>
          <a:xfrm>
            <a:off x="1051560" y="2194560"/>
            <a:ext cx="8412480" cy="1005840"/>
          </a:xfrm>
          <a:prstGeom prst="rect">
            <a:avLst/>
          </a:prstGeom>
          <a:noFill/>
        </p:spPr>
        <p:txBody>
          <a:bodyPr wrap="square" anchor="t" lIns="0" rIns="0" tIns="0" bIns="0">
            <a:spAutoFit/>
          </a:bodyPr>
          <a:lstStyle/>
          <a:p>
            <a:pPr algn="l">
              <a:lnSpc>
                <a:spcPct val="95000"/>
              </a:lnSpc>
            </a:pPr>
            <a:r>
              <a:rPr sz="3800" b="1" i="0">
                <a:solidFill>
                  <a:srgbClr val="FFFFFF"/>
                </a:solidFill>
                <a:latin typeface="Times New Roman"/>
              </a:rPr>
              <a:t>Course Design</a:t>
            </a:r>
          </a:p>
        </p:txBody>
      </p:sp>
      <p:sp>
        <p:nvSpPr>
          <p:cNvPr id="6" name="Rectangle 5"/>
          <p:cNvSpPr/>
          <p:nvPr/>
        </p:nvSpPr>
        <p:spPr>
          <a:xfrm>
            <a:off x="1078992" y="3438144"/>
            <a:ext cx="1371600" cy="32004"/>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3712463"/>
            <a:ext cx="7863840" cy="731520"/>
          </a:xfrm>
          <a:prstGeom prst="rect">
            <a:avLst/>
          </a:prstGeom>
          <a:noFill/>
        </p:spPr>
        <p:txBody>
          <a:bodyPr wrap="square" anchor="t" lIns="0" rIns="0" tIns="0" bIns="0">
            <a:spAutoFit/>
          </a:bodyPr>
          <a:lstStyle/>
          <a:p>
            <a:pPr algn="l">
              <a:lnSpc>
                <a:spcPct val="125000"/>
              </a:lnSpc>
            </a:pPr>
            <a:r>
              <a:rPr sz="1500" b="0" i="1">
                <a:solidFill>
                  <a:srgbClr val="C9D2DE"/>
                </a:solidFill>
                <a:latin typeface="Times New Roman"/>
              </a:rPr>
              <a:t>“Education should not simply transfer knowledge; it should develop the capacity to generate new knowledge. This course is designed to prepare students not only to understand strategic management, but to participate in its evolution.”</a:t>
            </a:r>
          </a:p>
        </p:txBody>
      </p:sp>
      <p:sp>
        <p:nvSpPr>
          <p:cNvPr id="8" name="Rectangle 7"/>
          <p:cNvSpPr/>
          <p:nvPr/>
        </p:nvSpPr>
        <p:spPr>
          <a:xfrm>
            <a:off x="1051560" y="4956048"/>
            <a:ext cx="82296" cy="237744"/>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52728" y="4946904"/>
            <a:ext cx="2926080" cy="274320"/>
          </a:xfrm>
          <a:prstGeom prst="rect">
            <a:avLst/>
          </a:prstGeom>
          <a:noFill/>
        </p:spPr>
        <p:txBody>
          <a:bodyPr wrap="square" anchor="t" lIns="0" rIns="0" tIns="0" bIns="0">
            <a:spAutoFit/>
          </a:bodyPr>
          <a:lstStyle/>
          <a:p>
            <a:pPr algn="l"/>
            <a:r>
              <a:rPr sz="1150" b="1" i="0">
                <a:solidFill>
                  <a:srgbClr val="FFFFFF"/>
                </a:solidFill>
                <a:latin typeface="Times New Roman"/>
              </a:rPr>
              <a:t>Objectives and outcomes</a:t>
            </a:r>
          </a:p>
        </p:txBody>
      </p:sp>
      <p:sp>
        <p:nvSpPr>
          <p:cNvPr id="10" name="Rectangle 9"/>
          <p:cNvSpPr/>
          <p:nvPr/>
        </p:nvSpPr>
        <p:spPr>
          <a:xfrm>
            <a:off x="4297679" y="4956048"/>
            <a:ext cx="82296" cy="237744"/>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98847" y="4946904"/>
            <a:ext cx="2926080" cy="274320"/>
          </a:xfrm>
          <a:prstGeom prst="rect">
            <a:avLst/>
          </a:prstGeom>
          <a:noFill/>
        </p:spPr>
        <p:txBody>
          <a:bodyPr wrap="square" anchor="t" lIns="0" rIns="0" tIns="0" bIns="0">
            <a:spAutoFit/>
          </a:bodyPr>
          <a:lstStyle/>
          <a:p>
            <a:pPr algn="l"/>
            <a:r>
              <a:rPr sz="1150" b="1" i="0">
                <a:solidFill>
                  <a:srgbClr val="FFFFFF"/>
                </a:solidFill>
                <a:latin typeface="Times New Roman"/>
              </a:rPr>
              <a:t>Assurance of learning</a:t>
            </a:r>
          </a:p>
        </p:txBody>
      </p:sp>
      <p:sp>
        <p:nvSpPr>
          <p:cNvPr id="12" name="Rectangle 11"/>
          <p:cNvSpPr/>
          <p:nvPr/>
        </p:nvSpPr>
        <p:spPr>
          <a:xfrm>
            <a:off x="7543800" y="4956048"/>
            <a:ext cx="82296" cy="237744"/>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44968" y="4946904"/>
            <a:ext cx="2926080" cy="274320"/>
          </a:xfrm>
          <a:prstGeom prst="rect">
            <a:avLst/>
          </a:prstGeom>
          <a:noFill/>
        </p:spPr>
        <p:txBody>
          <a:bodyPr wrap="square" anchor="t" lIns="0" rIns="0" tIns="0" bIns="0">
            <a:spAutoFit/>
          </a:bodyPr>
          <a:lstStyle/>
          <a:p>
            <a:pPr algn="l"/>
            <a:r>
              <a:rPr sz="1150" b="1" i="0">
                <a:solidFill>
                  <a:srgbClr val="FFFFFF"/>
                </a:solidFill>
                <a:latin typeface="Times New Roman"/>
              </a:rPr>
              <a:t>Ten-week progression</a:t>
            </a:r>
          </a:p>
        </p:txBody>
      </p:sp>
      <p:sp>
        <p:nvSpPr>
          <p:cNvPr id="14" name="TextBox 13"/>
          <p:cNvSpPr txBox="1"/>
          <p:nvPr/>
        </p:nvSpPr>
        <p:spPr>
          <a:xfrm>
            <a:off x="11475720" y="6473952"/>
            <a:ext cx="457200" cy="182880"/>
          </a:xfrm>
          <a:prstGeom prst="rect">
            <a:avLst/>
          </a:prstGeom>
          <a:noFill/>
        </p:spPr>
        <p:txBody>
          <a:bodyPr wrap="square" anchor="t" lIns="0" rIns="0" tIns="0" bIns="0">
            <a:spAutoFit/>
          </a:bodyPr>
          <a:lstStyle/>
          <a:p>
            <a:pPr algn="r"/>
            <a:r>
              <a:rPr sz="800" b="0" i="0">
                <a:solidFill>
                  <a:srgbClr val="D4A017"/>
                </a:solidFill>
                <a:latin typeface="Times New Roman"/>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969" cy="164592"/>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969" cy="3657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411480"/>
            <a:ext cx="5943600" cy="228600"/>
          </a:xfrm>
          <a:prstGeom prst="rect">
            <a:avLst/>
          </a:prstGeom>
          <a:noFill/>
        </p:spPr>
        <p:txBody>
          <a:bodyPr wrap="square" anchor="t" lIns="0" rIns="0" tIns="0" bIns="0">
            <a:spAutoFit/>
          </a:bodyPr>
          <a:lstStyle/>
          <a:p>
            <a:pPr algn="l"/>
            <a:r>
              <a:rPr sz="850" b="1" i="0">
                <a:solidFill>
                  <a:srgbClr val="2A6F97"/>
                </a:solidFill>
                <a:latin typeface="Times New Roman"/>
              </a:rPr>
              <a:t>PART II · COURSE DESCRIPTION</a:t>
            </a:r>
          </a:p>
        </p:txBody>
      </p:sp>
      <p:sp>
        <p:nvSpPr>
          <p:cNvPr id="6" name="TextBox 5"/>
          <p:cNvSpPr txBox="1"/>
          <p:nvPr/>
        </p:nvSpPr>
        <p:spPr>
          <a:xfrm>
            <a:off x="502920" y="640080"/>
            <a:ext cx="9509760" cy="457200"/>
          </a:xfrm>
          <a:prstGeom prst="rect">
            <a:avLst/>
          </a:prstGeom>
          <a:noFill/>
        </p:spPr>
        <p:txBody>
          <a:bodyPr wrap="square" anchor="t" lIns="0" rIns="0" tIns="0" bIns="0">
            <a:spAutoFit/>
          </a:bodyPr>
          <a:lstStyle/>
          <a:p>
            <a:pPr algn="l"/>
            <a:r>
              <a:rPr sz="2400" b="1" i="0">
                <a:solidFill>
                  <a:srgbClr val="111827"/>
                </a:solidFill>
                <a:latin typeface="Times New Roman"/>
              </a:rPr>
              <a:t>MGMT 465 / 665 — catalog description</a:t>
            </a:r>
          </a:p>
        </p:txBody>
      </p:sp>
      <p:sp>
        <p:nvSpPr>
          <p:cNvPr id="7" name="Rectangle 6"/>
          <p:cNvSpPr/>
          <p:nvPr/>
        </p:nvSpPr>
        <p:spPr>
          <a:xfrm>
            <a:off x="868680" y="1481328"/>
            <a:ext cx="7040880" cy="3749039"/>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68680" y="1481328"/>
            <a:ext cx="45720" cy="3749039"/>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88720" y="1737360"/>
            <a:ext cx="6446520" cy="3291840"/>
          </a:xfrm>
          <a:prstGeom prst="rect">
            <a:avLst/>
          </a:prstGeom>
          <a:noFill/>
        </p:spPr>
        <p:txBody>
          <a:bodyPr wrap="square" anchor="t" lIns="0" rIns="0" tIns="0" bIns="0">
            <a:spAutoFit/>
          </a:bodyPr>
          <a:lstStyle/>
          <a:p>
            <a:pPr algn="l">
              <a:lnSpc>
                <a:spcPct val="132000"/>
              </a:lnSpc>
              <a:spcAft>
                <a:spcPts val="1000"/>
              </a:spcAft>
            </a:pPr>
            <a:r>
              <a:rPr sz="1250" b="0" i="0">
                <a:solidFill>
                  <a:srgbClr val="111827"/>
                </a:solidFill>
                <a:latin typeface="Times New Roman"/>
              </a:rPr>
              <a:t>Strategic Management in the Age of Artificial Intelligence examines how AI is transforming competitive strategy, organizational capabilities, executive decision making, innovation, and enterprise performance. The course integrates classical strategic management theories — industry analysis, the Resource-Based View, Dynamic Capabilities, Organizational Learning, Transaction Cost Economics, and Strategic Leadership — with contemporary scholarship on artificial intelligence, digital transformation, platform ecosystems, and human–AI collaboration.</a:t>
            </a:r>
          </a:p>
          <a:p>
            <a:pPr algn="l">
              <a:lnSpc>
                <a:spcPct val="132000"/>
              </a:lnSpc>
            </a:pPr>
            <a:r>
              <a:rPr sz="1250" b="0" i="0">
                <a:solidFill>
                  <a:srgbClr val="111827"/>
                </a:solidFill>
                <a:latin typeface="Times New Roman"/>
              </a:rPr>
              <a:t>Students critically evaluate how AI influences the assumptions underlying strategic management while developing practical competencies through case analyses, AI laboratories, executive briefings, and a semester-long consulting engagement. Emphasis is placed on evidence-based decision making, responsible AI governance, organizational transformation, and strategic leadership.</a:t>
            </a:r>
          </a:p>
        </p:txBody>
      </p:sp>
      <p:sp>
        <p:nvSpPr>
          <p:cNvPr id="10" name="Rectangle 9"/>
          <p:cNvSpPr/>
          <p:nvPr/>
        </p:nvSpPr>
        <p:spPr>
          <a:xfrm>
            <a:off x="8229600" y="1481328"/>
            <a:ext cx="3063240" cy="1783080"/>
          </a:xfrm>
          <a:prstGeom prst="rect">
            <a:avLst/>
          </a:prstGeom>
          <a:solidFill>
            <a:srgbClr val="F6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229600" y="1481328"/>
            <a:ext cx="3063240" cy="41148"/>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85048" y="1673352"/>
            <a:ext cx="2752344" cy="1472184"/>
          </a:xfrm>
          <a:prstGeom prst="rect">
            <a:avLst/>
          </a:prstGeom>
          <a:noFill/>
        </p:spPr>
        <p:txBody>
          <a:bodyPr wrap="square" anchor="t" lIns="0" rIns="0" tIns="0" bIns="0">
            <a:spAutoFit/>
          </a:bodyPr>
          <a:lstStyle/>
          <a:p>
            <a:pPr algn="l">
              <a:lnSpc>
                <a:spcPct val="105000"/>
              </a:lnSpc>
              <a:spcAft>
                <a:spcPts val="500"/>
              </a:spcAft>
            </a:pPr>
            <a:r>
              <a:rPr sz="1300" b="1" i="0">
                <a:solidFill>
                  <a:srgbClr val="10233F"/>
                </a:solidFill>
                <a:latin typeface="Times New Roman"/>
              </a:rPr>
              <a:t>Course facts</a:t>
            </a:r>
          </a:p>
          <a:p>
            <a:pPr algn="l">
              <a:lnSpc>
                <a:spcPct val="130000"/>
              </a:lnSpc>
              <a:spcAft>
                <a:spcPts val="300"/>
              </a:spcAft>
            </a:pPr>
            <a:r>
              <a:rPr sz="1200" b="0" i="0">
                <a:solidFill>
                  <a:srgbClr val="111827"/>
                </a:solidFill>
                <a:latin typeface="Times New Roman"/>
              </a:rPr>
              <a:t>MGMT 465 / MGMT 665</a:t>
            </a:r>
          </a:p>
          <a:p>
            <a:pPr algn="l">
              <a:lnSpc>
                <a:spcPct val="130000"/>
              </a:lnSpc>
              <a:spcAft>
                <a:spcPts val="300"/>
              </a:spcAft>
            </a:pPr>
            <a:r>
              <a:rPr sz="1200" b="0" i="0">
                <a:solidFill>
                  <a:srgbClr val="111827"/>
                </a:solidFill>
                <a:latin typeface="Times New Roman"/>
              </a:rPr>
              <a:t>3 credit hours</a:t>
            </a:r>
          </a:p>
          <a:p>
            <a:pPr algn="l">
              <a:lnSpc>
                <a:spcPct val="130000"/>
              </a:lnSpc>
              <a:spcAft>
                <a:spcPts val="300"/>
              </a:spcAft>
            </a:pPr>
            <a:r>
              <a:rPr sz="1200" b="0" i="0">
                <a:solidFill>
                  <a:srgbClr val="111827"/>
                </a:solidFill>
                <a:latin typeface="Times New Roman"/>
              </a:rPr>
              <a:t>Summer 2026</a:t>
            </a:r>
          </a:p>
          <a:p>
            <a:pPr algn="l">
              <a:lnSpc>
                <a:spcPct val="130000"/>
              </a:lnSpc>
              <a:spcAft>
                <a:spcPts val="300"/>
              </a:spcAft>
            </a:pPr>
            <a:r>
              <a:rPr sz="1200" b="0" i="0">
                <a:solidFill>
                  <a:srgbClr val="111827"/>
                </a:solidFill>
                <a:latin typeface="Times New Roman"/>
              </a:rPr>
              <a:t>Mon &amp; Thu, 1:20–3:25 p.m.</a:t>
            </a:r>
          </a:p>
          <a:p>
            <a:pPr algn="l">
              <a:lnSpc>
                <a:spcPct val="130000"/>
              </a:lnSpc>
              <a:spcAft>
                <a:spcPts val="300"/>
              </a:spcAft>
            </a:pPr>
            <a:r>
              <a:rPr sz="1200" b="0" i="0">
                <a:solidFill>
                  <a:srgbClr val="111827"/>
                </a:solidFill>
                <a:latin typeface="Times New Roman"/>
              </a:rPr>
              <a:t>AB 3336 · In-person</a:t>
            </a:r>
          </a:p>
        </p:txBody>
      </p:sp>
      <p:sp>
        <p:nvSpPr>
          <p:cNvPr id="13" name="Rectangle 12"/>
          <p:cNvSpPr/>
          <p:nvPr/>
        </p:nvSpPr>
        <p:spPr>
          <a:xfrm>
            <a:off x="8229600" y="3438144"/>
            <a:ext cx="3063240" cy="1792224"/>
          </a:xfrm>
          <a:prstGeom prst="rect">
            <a:avLst/>
          </a:prstGeom>
          <a:solidFill>
            <a:srgbClr val="EA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229600" y="3438144"/>
            <a:ext cx="3063240" cy="41148"/>
          </a:xfrm>
          <a:prstGeom prst="rect">
            <a:avLst/>
          </a:prstGeom>
          <a:solidFill>
            <a:srgbClr val="2A6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85048" y="3630168"/>
            <a:ext cx="2752344" cy="1481328"/>
          </a:xfrm>
          <a:prstGeom prst="rect">
            <a:avLst/>
          </a:prstGeom>
          <a:noFill/>
        </p:spPr>
        <p:txBody>
          <a:bodyPr wrap="square" anchor="t" lIns="0" rIns="0" tIns="0" bIns="0">
            <a:spAutoFit/>
          </a:bodyPr>
          <a:lstStyle/>
          <a:p>
            <a:pPr algn="l">
              <a:lnSpc>
                <a:spcPct val="105000"/>
              </a:lnSpc>
              <a:spcAft>
                <a:spcPts val="500"/>
              </a:spcAft>
            </a:pPr>
            <a:r>
              <a:rPr sz="1300" b="1" i="0">
                <a:solidFill>
                  <a:srgbClr val="10233F"/>
                </a:solidFill>
                <a:latin typeface="Times New Roman"/>
              </a:rPr>
              <a:t>Prerequisites</a:t>
            </a:r>
          </a:p>
          <a:p>
            <a:pPr algn="l">
              <a:lnSpc>
                <a:spcPct val="126000"/>
              </a:lnSpc>
              <a:spcAft>
                <a:spcPts val="300"/>
              </a:spcAft>
            </a:pPr>
            <a:r>
              <a:rPr sz="1150" b="0" i="0">
                <a:solidFill>
                  <a:srgbClr val="111827"/>
                </a:solidFill>
                <a:latin typeface="Times New Roman"/>
              </a:rPr>
              <a:t>An introductory course in strategic management, or equivalent knowledge of organizational behavior, management, marketing, finance, or economics.</a:t>
            </a:r>
          </a:p>
          <a:p>
            <a:pPr algn="l">
              <a:lnSpc>
                <a:spcPct val="126000"/>
              </a:lnSpc>
              <a:spcAft>
                <a:spcPts val="300"/>
              </a:spcAft>
            </a:pPr>
            <a:r>
              <a:rPr sz="1150" b="0" i="0">
                <a:solidFill>
                  <a:srgbClr val="111827"/>
                </a:solidFill>
                <a:latin typeface="Times New Roman"/>
              </a:rPr>
              <a:t/>
            </a:r>
          </a:p>
          <a:p>
            <a:pPr algn="l">
              <a:lnSpc>
                <a:spcPct val="126000"/>
              </a:lnSpc>
              <a:spcAft>
                <a:spcPts val="300"/>
              </a:spcAft>
            </a:pPr>
            <a:r>
              <a:rPr sz="1150" b="0" i="0">
                <a:solidFill>
                  <a:srgbClr val="111827"/>
                </a:solidFill>
                <a:latin typeface="Times New Roman"/>
              </a:rPr>
              <a:t>No programming experience is required.</a:t>
            </a:r>
          </a:p>
        </p:txBody>
      </p:sp>
      <p:sp>
        <p:nvSpPr>
          <p:cNvPr id="16" name="Rectangle 15"/>
          <p:cNvSpPr/>
          <p:nvPr/>
        </p:nvSpPr>
        <p:spPr>
          <a:xfrm>
            <a:off x="868680" y="5486400"/>
            <a:ext cx="36576" cy="31089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69848" y="5486400"/>
            <a:ext cx="10424160" cy="365760"/>
          </a:xfrm>
          <a:prstGeom prst="rect">
            <a:avLst/>
          </a:prstGeom>
          <a:noFill/>
        </p:spPr>
        <p:txBody>
          <a:bodyPr wrap="square" anchor="ctr" lIns="0" rIns="0" tIns="0" bIns="0">
            <a:spAutoFit/>
          </a:bodyPr>
          <a:lstStyle/>
          <a:p>
            <a:pPr algn="l"/>
            <a:r>
              <a:rPr sz="1350" b="1" i="1">
                <a:solidFill>
                  <a:srgbClr val="10233F"/>
                </a:solidFill>
                <a:latin typeface="Times New Roman"/>
              </a:rPr>
              <a:t>Graduate-level reading, writing, and analytical skills are assumed, along with readiness to engage critically with scholarly literature.</a:t>
            </a:r>
          </a:p>
        </p:txBody>
      </p:sp>
      <p:sp>
        <p:nvSpPr>
          <p:cNvPr id="18" name="TextBox 17"/>
          <p:cNvSpPr txBox="1"/>
          <p:nvPr/>
        </p:nvSpPr>
        <p:spPr>
          <a:xfrm>
            <a:off x="11475720" y="6473952"/>
            <a:ext cx="457200" cy="182880"/>
          </a:xfrm>
          <a:prstGeom prst="rect">
            <a:avLst/>
          </a:prstGeom>
          <a:noFill/>
        </p:spPr>
        <p:txBody>
          <a:bodyPr wrap="square" anchor="t" lIns="0" rIns="0" tIns="0" bIns="0">
            <a:spAutoFit/>
          </a:bodyPr>
          <a:lstStyle/>
          <a:p>
            <a:pPr algn="r"/>
            <a:r>
              <a:rPr sz="800" b="0" i="0">
                <a:solidFill>
                  <a:srgbClr val="9CA3AF"/>
                </a:solidFill>
                <a:latin typeface="Times New Roman"/>
              </a:rPr>
              <a:t>27</a:t>
            </a:r>
          </a:p>
        </p:txBody>
      </p:sp>
      <p:sp>
        <p:nvSpPr>
          <p:cNvPr id="19" name="TextBox 18"/>
          <p:cNvSpPr txBox="1"/>
          <p:nvPr/>
        </p:nvSpPr>
        <p:spPr>
          <a:xfrm>
            <a:off x="502920" y="6473952"/>
            <a:ext cx="6400800" cy="182880"/>
          </a:xfrm>
          <a:prstGeom prst="rect">
            <a:avLst/>
          </a:prstGeom>
          <a:noFill/>
        </p:spPr>
        <p:txBody>
          <a:bodyPr wrap="square" anchor="t" lIns="0" rIns="0" tIns="0" bIns="0">
            <a:spAutoFit/>
          </a:bodyPr>
          <a:lstStyle/>
          <a:p>
            <a:pPr algn="l"/>
            <a:r>
              <a:rPr sz="720" b="0" i="0">
                <a:solidFill>
                  <a:srgbClr val="6B7280"/>
                </a:solidFill>
                <a:latin typeface="Times New Roman"/>
              </a:rPr>
              <a:t>Strategic Management in the Age of AI · MGMT 465/665 · Course Introduction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969" cy="164592"/>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969" cy="3657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411480"/>
            <a:ext cx="5943600" cy="228600"/>
          </a:xfrm>
          <a:prstGeom prst="rect">
            <a:avLst/>
          </a:prstGeom>
          <a:noFill/>
        </p:spPr>
        <p:txBody>
          <a:bodyPr wrap="square" anchor="t" lIns="0" rIns="0" tIns="0" bIns="0">
            <a:spAutoFit/>
          </a:bodyPr>
          <a:lstStyle/>
          <a:p>
            <a:pPr algn="l"/>
            <a:r>
              <a:rPr sz="850" b="1" i="0">
                <a:solidFill>
                  <a:srgbClr val="2A6F97"/>
                </a:solidFill>
                <a:latin typeface="Times New Roman"/>
              </a:rPr>
              <a:t>PART II · COURSE OBJECTIVES</a:t>
            </a:r>
          </a:p>
        </p:txBody>
      </p:sp>
      <p:sp>
        <p:nvSpPr>
          <p:cNvPr id="6" name="TextBox 5"/>
          <p:cNvSpPr txBox="1"/>
          <p:nvPr/>
        </p:nvSpPr>
        <p:spPr>
          <a:xfrm>
            <a:off x="502920" y="640080"/>
            <a:ext cx="9509760" cy="457200"/>
          </a:xfrm>
          <a:prstGeom prst="rect">
            <a:avLst/>
          </a:prstGeom>
          <a:noFill/>
        </p:spPr>
        <p:txBody>
          <a:bodyPr wrap="square" anchor="t" lIns="0" rIns="0" tIns="0" bIns="0">
            <a:spAutoFit/>
          </a:bodyPr>
          <a:lstStyle/>
          <a:p>
            <a:pPr algn="l"/>
            <a:r>
              <a:rPr sz="2400" b="1" i="0">
                <a:solidFill>
                  <a:srgbClr val="111827"/>
                </a:solidFill>
                <a:latin typeface="Times New Roman"/>
              </a:rPr>
              <a:t>What you should understand by the end</a:t>
            </a:r>
          </a:p>
        </p:txBody>
      </p:sp>
      <p:sp>
        <p:nvSpPr>
          <p:cNvPr id="7" name="Rectangle 6"/>
          <p:cNvSpPr/>
          <p:nvPr/>
        </p:nvSpPr>
        <p:spPr>
          <a:xfrm>
            <a:off x="868680" y="1481328"/>
            <a:ext cx="10424160" cy="841248"/>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88720" y="1481328"/>
            <a:ext cx="9875520" cy="841248"/>
          </a:xfrm>
          <a:prstGeom prst="rect">
            <a:avLst/>
          </a:prstGeom>
          <a:noFill/>
        </p:spPr>
        <p:txBody>
          <a:bodyPr wrap="square" anchor="ctr" lIns="0" rIns="0" tIns="0" bIns="0">
            <a:spAutoFit/>
          </a:bodyPr>
          <a:lstStyle/>
          <a:p>
            <a:pPr algn="l">
              <a:lnSpc>
                <a:spcPct val="122000"/>
              </a:lnSpc>
            </a:pPr>
            <a:r>
              <a:rPr sz="1450" b="1" i="0">
                <a:solidFill>
                  <a:srgbClr val="FFFFFF"/>
                </a:solidFill>
                <a:latin typeface="Times New Roman"/>
              </a:rPr>
              <a:t>The primary objective is to develop strategic leaders capable of integrating classical strategic management theory with contemporary AI research to formulate, evaluate, and implement organizational strategy.</a:t>
            </a:r>
          </a:p>
        </p:txBody>
      </p:sp>
      <p:sp>
        <p:nvSpPr>
          <p:cNvPr id="9" name="Rectangle 8"/>
          <p:cNvSpPr/>
          <p:nvPr/>
        </p:nvSpPr>
        <p:spPr>
          <a:xfrm>
            <a:off x="868680" y="2596896"/>
            <a:ext cx="10424160" cy="475488"/>
          </a:xfrm>
          <a:prstGeom prst="rect">
            <a:avLst/>
          </a:prstGeom>
          <a:solidFill>
            <a:srgbClr val="F7F8FA"/>
          </a:solidFill>
          <a:ln w="9525">
            <a:solidFill>
              <a:srgbClr val="E2E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68680" y="2596896"/>
            <a:ext cx="45720" cy="475488"/>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34440" y="2596896"/>
            <a:ext cx="9875520" cy="475488"/>
          </a:xfrm>
          <a:prstGeom prst="rect">
            <a:avLst/>
          </a:prstGeom>
          <a:noFill/>
        </p:spPr>
        <p:txBody>
          <a:bodyPr wrap="square" anchor="ctr" lIns="0" rIns="0" tIns="0" bIns="0">
            <a:spAutoFit/>
          </a:bodyPr>
          <a:lstStyle/>
          <a:p>
            <a:pPr algn="l"/>
            <a:r>
              <a:rPr sz="1400" b="0" i="0">
                <a:solidFill>
                  <a:srgbClr val="111827"/>
                </a:solidFill>
                <a:latin typeface="Times New Roman"/>
              </a:rPr>
              <a:t>Why strategic management theories emerged</a:t>
            </a:r>
          </a:p>
        </p:txBody>
      </p:sp>
      <p:sp>
        <p:nvSpPr>
          <p:cNvPr id="12" name="Rectangle 11"/>
          <p:cNvSpPr/>
          <p:nvPr/>
        </p:nvSpPr>
        <p:spPr>
          <a:xfrm>
            <a:off x="868680" y="3182112"/>
            <a:ext cx="10424160" cy="475488"/>
          </a:xfrm>
          <a:prstGeom prst="rect">
            <a:avLst/>
          </a:prstGeom>
          <a:solidFill>
            <a:srgbClr val="FFFFFF"/>
          </a:solidFill>
          <a:ln w="9525">
            <a:solidFill>
              <a:srgbClr val="E2E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68680" y="3182112"/>
            <a:ext cx="45720" cy="475488"/>
          </a:xfrm>
          <a:prstGeom prst="rect">
            <a:avLst/>
          </a:prstGeom>
          <a:solidFill>
            <a:srgbClr val="2A6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34440" y="3182112"/>
            <a:ext cx="9875520" cy="475488"/>
          </a:xfrm>
          <a:prstGeom prst="rect">
            <a:avLst/>
          </a:prstGeom>
          <a:noFill/>
        </p:spPr>
        <p:txBody>
          <a:bodyPr wrap="square" anchor="ctr" lIns="0" rIns="0" tIns="0" bIns="0">
            <a:spAutoFit/>
          </a:bodyPr>
          <a:lstStyle/>
          <a:p>
            <a:pPr algn="l"/>
            <a:r>
              <a:rPr sz="1400" b="0" i="0">
                <a:solidFill>
                  <a:srgbClr val="111827"/>
                </a:solidFill>
                <a:latin typeface="Times New Roman"/>
              </a:rPr>
              <a:t>The assumptions underlying those theories</a:t>
            </a:r>
          </a:p>
        </p:txBody>
      </p:sp>
      <p:sp>
        <p:nvSpPr>
          <p:cNvPr id="15" name="Rectangle 14"/>
          <p:cNvSpPr/>
          <p:nvPr/>
        </p:nvSpPr>
        <p:spPr>
          <a:xfrm>
            <a:off x="868680" y="3767328"/>
            <a:ext cx="10424160" cy="475488"/>
          </a:xfrm>
          <a:prstGeom prst="rect">
            <a:avLst/>
          </a:prstGeom>
          <a:solidFill>
            <a:srgbClr val="F7F8FA"/>
          </a:solidFill>
          <a:ln w="9525">
            <a:solidFill>
              <a:srgbClr val="E2E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68680" y="3767328"/>
            <a:ext cx="45720" cy="475488"/>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34440" y="3767328"/>
            <a:ext cx="9875520" cy="475488"/>
          </a:xfrm>
          <a:prstGeom prst="rect">
            <a:avLst/>
          </a:prstGeom>
          <a:noFill/>
        </p:spPr>
        <p:txBody>
          <a:bodyPr wrap="square" anchor="ctr" lIns="0" rIns="0" tIns="0" bIns="0">
            <a:spAutoFit/>
          </a:bodyPr>
          <a:lstStyle/>
          <a:p>
            <a:pPr algn="l"/>
            <a:r>
              <a:rPr sz="1400" b="0" i="0">
                <a:solidFill>
                  <a:srgbClr val="111827"/>
                </a:solidFill>
                <a:latin typeface="Times New Roman"/>
              </a:rPr>
              <a:t>How artificial intelligence changes those assumptions</a:t>
            </a:r>
          </a:p>
        </p:txBody>
      </p:sp>
      <p:sp>
        <p:nvSpPr>
          <p:cNvPr id="18" name="Rectangle 17"/>
          <p:cNvSpPr/>
          <p:nvPr/>
        </p:nvSpPr>
        <p:spPr>
          <a:xfrm>
            <a:off x="868680" y="4352544"/>
            <a:ext cx="10424160" cy="475488"/>
          </a:xfrm>
          <a:prstGeom prst="rect">
            <a:avLst/>
          </a:prstGeom>
          <a:solidFill>
            <a:srgbClr val="FFFFFF"/>
          </a:solidFill>
          <a:ln w="9525">
            <a:solidFill>
              <a:srgbClr val="E2E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68680" y="4352544"/>
            <a:ext cx="45720" cy="475488"/>
          </a:xfrm>
          <a:prstGeom prst="rect">
            <a:avLst/>
          </a:prstGeom>
          <a:solidFill>
            <a:srgbClr val="2A6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234440" y="4352544"/>
            <a:ext cx="9875520" cy="475488"/>
          </a:xfrm>
          <a:prstGeom prst="rect">
            <a:avLst/>
          </a:prstGeom>
          <a:noFill/>
        </p:spPr>
        <p:txBody>
          <a:bodyPr wrap="square" anchor="ctr" lIns="0" rIns="0" tIns="0" bIns="0">
            <a:spAutoFit/>
          </a:bodyPr>
          <a:lstStyle/>
          <a:p>
            <a:pPr algn="l"/>
            <a:r>
              <a:rPr sz="1400" b="0" i="0">
                <a:solidFill>
                  <a:srgbClr val="111827"/>
                </a:solidFill>
                <a:latin typeface="Times New Roman"/>
              </a:rPr>
              <a:t>How organizations create competitive advantage using AI</a:t>
            </a:r>
          </a:p>
        </p:txBody>
      </p:sp>
      <p:sp>
        <p:nvSpPr>
          <p:cNvPr id="21" name="Rectangle 20"/>
          <p:cNvSpPr/>
          <p:nvPr/>
        </p:nvSpPr>
        <p:spPr>
          <a:xfrm>
            <a:off x="868680" y="4937759"/>
            <a:ext cx="10424160" cy="475488"/>
          </a:xfrm>
          <a:prstGeom prst="rect">
            <a:avLst/>
          </a:prstGeom>
          <a:solidFill>
            <a:srgbClr val="F7F8FA"/>
          </a:solidFill>
          <a:ln w="9525">
            <a:solidFill>
              <a:srgbClr val="E2E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68680" y="4937759"/>
            <a:ext cx="45720" cy="475488"/>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34440" y="4937759"/>
            <a:ext cx="9875520" cy="475488"/>
          </a:xfrm>
          <a:prstGeom prst="rect">
            <a:avLst/>
          </a:prstGeom>
          <a:noFill/>
        </p:spPr>
        <p:txBody>
          <a:bodyPr wrap="square" anchor="ctr" lIns="0" rIns="0" tIns="0" bIns="0">
            <a:spAutoFit/>
          </a:bodyPr>
          <a:lstStyle/>
          <a:p>
            <a:pPr algn="l"/>
            <a:r>
              <a:rPr sz="1400" b="0" i="0">
                <a:solidFill>
                  <a:srgbClr val="111827"/>
                </a:solidFill>
                <a:latin typeface="Times New Roman"/>
              </a:rPr>
              <a:t>How executives should govern AI responsibly</a:t>
            </a:r>
          </a:p>
        </p:txBody>
      </p:sp>
      <p:sp>
        <p:nvSpPr>
          <p:cNvPr id="24" name="Rectangle 23"/>
          <p:cNvSpPr/>
          <p:nvPr/>
        </p:nvSpPr>
        <p:spPr>
          <a:xfrm>
            <a:off x="868680" y="5522975"/>
            <a:ext cx="10424160" cy="475488"/>
          </a:xfrm>
          <a:prstGeom prst="rect">
            <a:avLst/>
          </a:prstGeom>
          <a:solidFill>
            <a:srgbClr val="FFFFFF"/>
          </a:solidFill>
          <a:ln w="9525">
            <a:solidFill>
              <a:srgbClr val="E2E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68680" y="5522975"/>
            <a:ext cx="45720" cy="475488"/>
          </a:xfrm>
          <a:prstGeom prst="rect">
            <a:avLst/>
          </a:prstGeom>
          <a:solidFill>
            <a:srgbClr val="2A6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234440" y="5522975"/>
            <a:ext cx="9875520" cy="475488"/>
          </a:xfrm>
          <a:prstGeom prst="rect">
            <a:avLst/>
          </a:prstGeom>
          <a:noFill/>
        </p:spPr>
        <p:txBody>
          <a:bodyPr wrap="square" anchor="ctr" lIns="0" rIns="0" tIns="0" bIns="0">
            <a:spAutoFit/>
          </a:bodyPr>
          <a:lstStyle/>
          <a:p>
            <a:pPr algn="l"/>
            <a:r>
              <a:rPr sz="1400" b="0" i="0">
                <a:solidFill>
                  <a:srgbClr val="111827"/>
                </a:solidFill>
                <a:latin typeface="Times New Roman"/>
              </a:rPr>
              <a:t>How strategic management itself may evolve over coming decades</a:t>
            </a:r>
          </a:p>
        </p:txBody>
      </p:sp>
      <p:sp>
        <p:nvSpPr>
          <p:cNvPr id="27" name="Rectangle 26"/>
          <p:cNvSpPr/>
          <p:nvPr/>
        </p:nvSpPr>
        <p:spPr>
          <a:xfrm>
            <a:off x="868680" y="6053328"/>
            <a:ext cx="36576" cy="31089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69848" y="6053328"/>
            <a:ext cx="10424160" cy="365760"/>
          </a:xfrm>
          <a:prstGeom prst="rect">
            <a:avLst/>
          </a:prstGeom>
          <a:noFill/>
        </p:spPr>
        <p:txBody>
          <a:bodyPr wrap="square" anchor="ctr" lIns="0" rIns="0" tIns="0" bIns="0">
            <a:spAutoFit/>
          </a:bodyPr>
          <a:lstStyle/>
          <a:p>
            <a:pPr algn="l"/>
            <a:r>
              <a:rPr sz="1350" b="1" i="1">
                <a:solidFill>
                  <a:srgbClr val="10233F"/>
                </a:solidFill>
                <a:latin typeface="Times New Roman"/>
              </a:rPr>
              <a:t>Understanding why a theory exists is prerequisite to judging whether it still holds.</a:t>
            </a:r>
          </a:p>
        </p:txBody>
      </p:sp>
      <p:sp>
        <p:nvSpPr>
          <p:cNvPr id="29" name="TextBox 28"/>
          <p:cNvSpPr txBox="1"/>
          <p:nvPr/>
        </p:nvSpPr>
        <p:spPr>
          <a:xfrm>
            <a:off x="11475720" y="6473952"/>
            <a:ext cx="457200" cy="182880"/>
          </a:xfrm>
          <a:prstGeom prst="rect">
            <a:avLst/>
          </a:prstGeom>
          <a:noFill/>
        </p:spPr>
        <p:txBody>
          <a:bodyPr wrap="square" anchor="t" lIns="0" rIns="0" tIns="0" bIns="0">
            <a:spAutoFit/>
          </a:bodyPr>
          <a:lstStyle/>
          <a:p>
            <a:pPr algn="r"/>
            <a:r>
              <a:rPr sz="800" b="0" i="0">
                <a:solidFill>
                  <a:srgbClr val="9CA3AF"/>
                </a:solidFill>
                <a:latin typeface="Times New Roman"/>
              </a:rPr>
              <a:t>28</a:t>
            </a:r>
          </a:p>
        </p:txBody>
      </p:sp>
      <p:sp>
        <p:nvSpPr>
          <p:cNvPr id="30" name="TextBox 29"/>
          <p:cNvSpPr txBox="1"/>
          <p:nvPr/>
        </p:nvSpPr>
        <p:spPr>
          <a:xfrm>
            <a:off x="502920" y="6473952"/>
            <a:ext cx="6400800" cy="182880"/>
          </a:xfrm>
          <a:prstGeom prst="rect">
            <a:avLst/>
          </a:prstGeom>
          <a:noFill/>
        </p:spPr>
        <p:txBody>
          <a:bodyPr wrap="square" anchor="t" lIns="0" rIns="0" tIns="0" bIns="0">
            <a:spAutoFit/>
          </a:bodyPr>
          <a:lstStyle/>
          <a:p>
            <a:pPr algn="l"/>
            <a:r>
              <a:rPr sz="720" b="0" i="0">
                <a:solidFill>
                  <a:srgbClr val="6B7280"/>
                </a:solidFill>
                <a:latin typeface="Times New Roman"/>
              </a:rPr>
              <a:t>Strategic Management in the Age of AI · MGMT 465/665 · Course Introduction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969" cy="164592"/>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969" cy="3657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411480"/>
            <a:ext cx="5943600" cy="228600"/>
          </a:xfrm>
          <a:prstGeom prst="rect">
            <a:avLst/>
          </a:prstGeom>
          <a:noFill/>
        </p:spPr>
        <p:txBody>
          <a:bodyPr wrap="square" anchor="t" lIns="0" rIns="0" tIns="0" bIns="0">
            <a:spAutoFit/>
          </a:bodyPr>
          <a:lstStyle/>
          <a:p>
            <a:pPr algn="l"/>
            <a:r>
              <a:rPr sz="850" b="1" i="0">
                <a:solidFill>
                  <a:srgbClr val="2A6F97"/>
                </a:solidFill>
                <a:latin typeface="Times New Roman"/>
              </a:rPr>
              <a:t>PART II · EDUCATIONAL GOALS</a:t>
            </a:r>
          </a:p>
        </p:txBody>
      </p:sp>
      <p:sp>
        <p:nvSpPr>
          <p:cNvPr id="6" name="TextBox 5"/>
          <p:cNvSpPr txBox="1"/>
          <p:nvPr/>
        </p:nvSpPr>
        <p:spPr>
          <a:xfrm>
            <a:off x="502920" y="640080"/>
            <a:ext cx="9509760" cy="457200"/>
          </a:xfrm>
          <a:prstGeom prst="rect">
            <a:avLst/>
          </a:prstGeom>
          <a:noFill/>
        </p:spPr>
        <p:txBody>
          <a:bodyPr wrap="square" anchor="t" lIns="0" rIns="0" tIns="0" bIns="0">
            <a:spAutoFit/>
          </a:bodyPr>
          <a:lstStyle/>
          <a:p>
            <a:pPr algn="l"/>
            <a:r>
              <a:rPr sz="2400" b="1" i="0">
                <a:solidFill>
                  <a:srgbClr val="111827"/>
                </a:solidFill>
                <a:latin typeface="Times New Roman"/>
              </a:rPr>
              <a:t>Five dimensions of executive capability</a:t>
            </a:r>
          </a:p>
        </p:txBody>
      </p:sp>
      <p:sp>
        <p:nvSpPr>
          <p:cNvPr id="7" name="Rectangle 6"/>
          <p:cNvSpPr/>
          <p:nvPr/>
        </p:nvSpPr>
        <p:spPr>
          <a:xfrm>
            <a:off x="868680" y="1536192"/>
            <a:ext cx="10424160" cy="804672"/>
          </a:xfrm>
          <a:prstGeom prst="rect">
            <a:avLst/>
          </a:prstGeom>
          <a:solidFill>
            <a:srgbClr val="F7F8FA"/>
          </a:solidFill>
          <a:ln w="9525">
            <a:solidFill>
              <a:srgbClr val="E2E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68680" y="1536192"/>
            <a:ext cx="475488" cy="804672"/>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536192"/>
            <a:ext cx="475488" cy="804672"/>
          </a:xfrm>
          <a:prstGeom prst="rect">
            <a:avLst/>
          </a:prstGeom>
          <a:noFill/>
        </p:spPr>
        <p:txBody>
          <a:bodyPr wrap="square" anchor="ctr" lIns="0" rIns="0" tIns="0" bIns="0">
            <a:spAutoFit/>
          </a:bodyPr>
          <a:lstStyle/>
          <a:p>
            <a:pPr algn="ctr"/>
            <a:r>
              <a:rPr sz="1700" b="1" i="0">
                <a:solidFill>
                  <a:srgbClr val="FFFFFF"/>
                </a:solidFill>
                <a:latin typeface="Times New Roman"/>
              </a:rPr>
              <a:t>1</a:t>
            </a:r>
          </a:p>
        </p:txBody>
      </p:sp>
      <p:sp>
        <p:nvSpPr>
          <p:cNvPr id="10" name="TextBox 9"/>
          <p:cNvSpPr txBox="1"/>
          <p:nvPr/>
        </p:nvSpPr>
        <p:spPr>
          <a:xfrm>
            <a:off x="1572768" y="1645919"/>
            <a:ext cx="3017520" cy="548640"/>
          </a:xfrm>
          <a:prstGeom prst="rect">
            <a:avLst/>
          </a:prstGeom>
          <a:noFill/>
        </p:spPr>
        <p:txBody>
          <a:bodyPr wrap="square" anchor="t" lIns="0" rIns="0" tIns="0" bIns="0">
            <a:spAutoFit/>
          </a:bodyPr>
          <a:lstStyle/>
          <a:p>
            <a:pPr algn="l"/>
            <a:r>
              <a:rPr sz="1450" b="1" i="0">
                <a:solidFill>
                  <a:srgbClr val="10233F"/>
                </a:solidFill>
                <a:latin typeface="Times New Roman"/>
              </a:rPr>
              <a:t>Strategic Thinking</a:t>
            </a:r>
          </a:p>
        </p:txBody>
      </p:sp>
      <p:sp>
        <p:nvSpPr>
          <p:cNvPr id="11" name="TextBox 10"/>
          <p:cNvSpPr txBox="1"/>
          <p:nvPr/>
        </p:nvSpPr>
        <p:spPr>
          <a:xfrm>
            <a:off x="4709160" y="1627632"/>
            <a:ext cx="6309360" cy="640080"/>
          </a:xfrm>
          <a:prstGeom prst="rect">
            <a:avLst/>
          </a:prstGeom>
          <a:noFill/>
        </p:spPr>
        <p:txBody>
          <a:bodyPr wrap="square" anchor="t" lIns="0" rIns="0" tIns="0" bIns="0">
            <a:spAutoFit/>
          </a:bodyPr>
          <a:lstStyle/>
          <a:p>
            <a:pPr algn="l">
              <a:lnSpc>
                <a:spcPct val="120000"/>
              </a:lnSpc>
            </a:pPr>
            <a:r>
              <a:rPr sz="1150" b="0" i="0">
                <a:solidFill>
                  <a:srgbClr val="4B5563"/>
                </a:solidFill>
                <a:latin typeface="Times New Roman"/>
              </a:rPr>
              <a:t>Diagnose complex organizational problems, evaluate competitive environments, identify opportunities, and formulate evidence-based recommendations.</a:t>
            </a:r>
          </a:p>
        </p:txBody>
      </p:sp>
      <p:sp>
        <p:nvSpPr>
          <p:cNvPr id="12" name="Rectangle 11"/>
          <p:cNvSpPr/>
          <p:nvPr/>
        </p:nvSpPr>
        <p:spPr>
          <a:xfrm>
            <a:off x="868680" y="2450591"/>
            <a:ext cx="10424160" cy="804672"/>
          </a:xfrm>
          <a:prstGeom prst="rect">
            <a:avLst/>
          </a:prstGeom>
          <a:solidFill>
            <a:srgbClr val="FFFFFF"/>
          </a:solidFill>
          <a:ln w="9525">
            <a:solidFill>
              <a:srgbClr val="E2E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68680" y="2450591"/>
            <a:ext cx="475488" cy="804672"/>
          </a:xfrm>
          <a:prstGeom prst="rect">
            <a:avLst/>
          </a:prstGeom>
          <a:solidFill>
            <a:srgbClr val="2A6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2450591"/>
            <a:ext cx="475488" cy="804672"/>
          </a:xfrm>
          <a:prstGeom prst="rect">
            <a:avLst/>
          </a:prstGeom>
          <a:noFill/>
        </p:spPr>
        <p:txBody>
          <a:bodyPr wrap="square" anchor="ctr" lIns="0" rIns="0" tIns="0" bIns="0">
            <a:spAutoFit/>
          </a:bodyPr>
          <a:lstStyle/>
          <a:p>
            <a:pPr algn="ctr"/>
            <a:r>
              <a:rPr sz="1700" b="1" i="0">
                <a:solidFill>
                  <a:srgbClr val="FFFFFF"/>
                </a:solidFill>
                <a:latin typeface="Times New Roman"/>
              </a:rPr>
              <a:t>2</a:t>
            </a:r>
          </a:p>
        </p:txBody>
      </p:sp>
      <p:sp>
        <p:nvSpPr>
          <p:cNvPr id="15" name="TextBox 14"/>
          <p:cNvSpPr txBox="1"/>
          <p:nvPr/>
        </p:nvSpPr>
        <p:spPr>
          <a:xfrm>
            <a:off x="1572768" y="2560320"/>
            <a:ext cx="3017520" cy="548640"/>
          </a:xfrm>
          <a:prstGeom prst="rect">
            <a:avLst/>
          </a:prstGeom>
          <a:noFill/>
        </p:spPr>
        <p:txBody>
          <a:bodyPr wrap="square" anchor="t" lIns="0" rIns="0" tIns="0" bIns="0">
            <a:spAutoFit/>
          </a:bodyPr>
          <a:lstStyle/>
          <a:p>
            <a:pPr algn="l"/>
            <a:r>
              <a:rPr sz="1450" b="1" i="0">
                <a:solidFill>
                  <a:srgbClr val="10233F"/>
                </a:solidFill>
                <a:latin typeface="Times New Roman"/>
              </a:rPr>
              <a:t>Scholarly Reasoning</a:t>
            </a:r>
          </a:p>
        </p:txBody>
      </p:sp>
      <p:sp>
        <p:nvSpPr>
          <p:cNvPr id="16" name="TextBox 15"/>
          <p:cNvSpPr txBox="1"/>
          <p:nvPr/>
        </p:nvSpPr>
        <p:spPr>
          <a:xfrm>
            <a:off x="4709160" y="2542032"/>
            <a:ext cx="6309360" cy="640080"/>
          </a:xfrm>
          <a:prstGeom prst="rect">
            <a:avLst/>
          </a:prstGeom>
          <a:noFill/>
        </p:spPr>
        <p:txBody>
          <a:bodyPr wrap="square" anchor="t" lIns="0" rIns="0" tIns="0" bIns="0">
            <a:spAutoFit/>
          </a:bodyPr>
          <a:lstStyle/>
          <a:p>
            <a:pPr algn="l">
              <a:lnSpc>
                <a:spcPct val="120000"/>
              </a:lnSpc>
            </a:pPr>
            <a:r>
              <a:rPr sz="1150" b="0" i="0">
                <a:solidFill>
                  <a:srgbClr val="4B5563"/>
                </a:solidFill>
                <a:latin typeface="Times New Roman"/>
              </a:rPr>
              <a:t>Engage directly with seminal and contemporary research, compare competing theoretical perspectives, critically evaluate emerging scholarship.</a:t>
            </a:r>
          </a:p>
        </p:txBody>
      </p:sp>
      <p:sp>
        <p:nvSpPr>
          <p:cNvPr id="17" name="Rectangle 16"/>
          <p:cNvSpPr/>
          <p:nvPr/>
        </p:nvSpPr>
        <p:spPr>
          <a:xfrm>
            <a:off x="868680" y="3364991"/>
            <a:ext cx="10424160" cy="804672"/>
          </a:xfrm>
          <a:prstGeom prst="rect">
            <a:avLst/>
          </a:prstGeom>
          <a:solidFill>
            <a:srgbClr val="F7F8FA"/>
          </a:solidFill>
          <a:ln w="9525">
            <a:solidFill>
              <a:srgbClr val="E2E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68680" y="3364991"/>
            <a:ext cx="475488" cy="804672"/>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3364991"/>
            <a:ext cx="475488" cy="804672"/>
          </a:xfrm>
          <a:prstGeom prst="rect">
            <a:avLst/>
          </a:prstGeom>
          <a:noFill/>
        </p:spPr>
        <p:txBody>
          <a:bodyPr wrap="square" anchor="ctr" lIns="0" rIns="0" tIns="0" bIns="0">
            <a:spAutoFit/>
          </a:bodyPr>
          <a:lstStyle/>
          <a:p>
            <a:pPr algn="ctr"/>
            <a:r>
              <a:rPr sz="1700" b="1" i="0">
                <a:solidFill>
                  <a:srgbClr val="FFFFFF"/>
                </a:solidFill>
                <a:latin typeface="Times New Roman"/>
              </a:rPr>
              <a:t>3</a:t>
            </a:r>
          </a:p>
        </p:txBody>
      </p:sp>
      <p:sp>
        <p:nvSpPr>
          <p:cNvPr id="20" name="TextBox 19"/>
          <p:cNvSpPr txBox="1"/>
          <p:nvPr/>
        </p:nvSpPr>
        <p:spPr>
          <a:xfrm>
            <a:off x="1572768" y="3474720"/>
            <a:ext cx="3017520" cy="548640"/>
          </a:xfrm>
          <a:prstGeom prst="rect">
            <a:avLst/>
          </a:prstGeom>
          <a:noFill/>
        </p:spPr>
        <p:txBody>
          <a:bodyPr wrap="square" anchor="t" lIns="0" rIns="0" tIns="0" bIns="0">
            <a:spAutoFit/>
          </a:bodyPr>
          <a:lstStyle/>
          <a:p>
            <a:pPr algn="l"/>
            <a:r>
              <a:rPr sz="1450" b="1" i="0">
                <a:solidFill>
                  <a:srgbClr val="10233F"/>
                </a:solidFill>
                <a:latin typeface="Times New Roman"/>
              </a:rPr>
              <a:t>Technological Literacy</a:t>
            </a:r>
          </a:p>
        </p:txBody>
      </p:sp>
      <p:sp>
        <p:nvSpPr>
          <p:cNvPr id="21" name="TextBox 20"/>
          <p:cNvSpPr txBox="1"/>
          <p:nvPr/>
        </p:nvSpPr>
        <p:spPr>
          <a:xfrm>
            <a:off x="4709160" y="3456432"/>
            <a:ext cx="6309360" cy="640080"/>
          </a:xfrm>
          <a:prstGeom prst="rect">
            <a:avLst/>
          </a:prstGeom>
          <a:noFill/>
        </p:spPr>
        <p:txBody>
          <a:bodyPr wrap="square" anchor="t" lIns="0" rIns="0" tIns="0" bIns="0">
            <a:spAutoFit/>
          </a:bodyPr>
          <a:lstStyle/>
          <a:p>
            <a:pPr algn="l">
              <a:lnSpc>
                <a:spcPct val="120000"/>
              </a:lnSpc>
            </a:pPr>
            <a:r>
              <a:rPr sz="1150" b="0" i="0">
                <a:solidFill>
                  <a:srgbClr val="4B5563"/>
                </a:solidFill>
                <a:latin typeface="Times New Roman"/>
              </a:rPr>
              <a:t>Develop conceptual understanding of AI, digital transformation, data-driven decision making, and enterprise AI — without advanced programming.</a:t>
            </a:r>
          </a:p>
        </p:txBody>
      </p:sp>
      <p:sp>
        <p:nvSpPr>
          <p:cNvPr id="22" name="Rectangle 21"/>
          <p:cNvSpPr/>
          <p:nvPr/>
        </p:nvSpPr>
        <p:spPr>
          <a:xfrm>
            <a:off x="868680" y="4279392"/>
            <a:ext cx="10424160" cy="804672"/>
          </a:xfrm>
          <a:prstGeom prst="rect">
            <a:avLst/>
          </a:prstGeom>
          <a:solidFill>
            <a:srgbClr val="FFFFFF"/>
          </a:solidFill>
          <a:ln w="9525">
            <a:solidFill>
              <a:srgbClr val="E2E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 y="4279392"/>
            <a:ext cx="475488" cy="804672"/>
          </a:xfrm>
          <a:prstGeom prst="rect">
            <a:avLst/>
          </a:prstGeom>
          <a:solidFill>
            <a:srgbClr val="2A6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8680" y="4279392"/>
            <a:ext cx="475488" cy="804672"/>
          </a:xfrm>
          <a:prstGeom prst="rect">
            <a:avLst/>
          </a:prstGeom>
          <a:noFill/>
        </p:spPr>
        <p:txBody>
          <a:bodyPr wrap="square" anchor="ctr" lIns="0" rIns="0" tIns="0" bIns="0">
            <a:spAutoFit/>
          </a:bodyPr>
          <a:lstStyle/>
          <a:p>
            <a:pPr algn="ctr"/>
            <a:r>
              <a:rPr sz="1700" b="1" i="0">
                <a:solidFill>
                  <a:srgbClr val="FFFFFF"/>
                </a:solidFill>
                <a:latin typeface="Times New Roman"/>
              </a:rPr>
              <a:t>4</a:t>
            </a:r>
          </a:p>
        </p:txBody>
      </p:sp>
      <p:sp>
        <p:nvSpPr>
          <p:cNvPr id="25" name="TextBox 24"/>
          <p:cNvSpPr txBox="1"/>
          <p:nvPr/>
        </p:nvSpPr>
        <p:spPr>
          <a:xfrm>
            <a:off x="1572768" y="4389120"/>
            <a:ext cx="3017520" cy="548640"/>
          </a:xfrm>
          <a:prstGeom prst="rect">
            <a:avLst/>
          </a:prstGeom>
          <a:noFill/>
        </p:spPr>
        <p:txBody>
          <a:bodyPr wrap="square" anchor="t" lIns="0" rIns="0" tIns="0" bIns="0">
            <a:spAutoFit/>
          </a:bodyPr>
          <a:lstStyle/>
          <a:p>
            <a:pPr algn="l"/>
            <a:r>
              <a:rPr sz="1450" b="1" i="0">
                <a:solidFill>
                  <a:srgbClr val="10233F"/>
                </a:solidFill>
                <a:latin typeface="Times New Roman"/>
              </a:rPr>
              <a:t>Executive Communication</a:t>
            </a:r>
          </a:p>
        </p:txBody>
      </p:sp>
      <p:sp>
        <p:nvSpPr>
          <p:cNvPr id="26" name="TextBox 25"/>
          <p:cNvSpPr txBox="1"/>
          <p:nvPr/>
        </p:nvSpPr>
        <p:spPr>
          <a:xfrm>
            <a:off x="4709160" y="4370831"/>
            <a:ext cx="6309360" cy="640080"/>
          </a:xfrm>
          <a:prstGeom prst="rect">
            <a:avLst/>
          </a:prstGeom>
          <a:noFill/>
        </p:spPr>
        <p:txBody>
          <a:bodyPr wrap="square" anchor="t" lIns="0" rIns="0" tIns="0" bIns="0">
            <a:spAutoFit/>
          </a:bodyPr>
          <a:lstStyle/>
          <a:p>
            <a:pPr algn="l">
              <a:lnSpc>
                <a:spcPct val="120000"/>
              </a:lnSpc>
            </a:pPr>
            <a:r>
              <a:rPr sz="1150" b="0" i="0">
                <a:solidFill>
                  <a:srgbClr val="4B5563"/>
                </a:solidFill>
                <a:latin typeface="Times New Roman"/>
              </a:rPr>
              <a:t>Communicate recommendations through executive memoranda, consulting reports, board presentations, and professional discussion.</a:t>
            </a:r>
          </a:p>
        </p:txBody>
      </p:sp>
      <p:sp>
        <p:nvSpPr>
          <p:cNvPr id="27" name="Rectangle 26"/>
          <p:cNvSpPr/>
          <p:nvPr/>
        </p:nvSpPr>
        <p:spPr>
          <a:xfrm>
            <a:off x="868680" y="5193792"/>
            <a:ext cx="10424160" cy="804672"/>
          </a:xfrm>
          <a:prstGeom prst="rect">
            <a:avLst/>
          </a:prstGeom>
          <a:solidFill>
            <a:srgbClr val="F7F8FA"/>
          </a:solidFill>
          <a:ln w="9525">
            <a:solidFill>
              <a:srgbClr val="E2E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68680" y="5193792"/>
            <a:ext cx="475488" cy="804672"/>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68680" y="5193792"/>
            <a:ext cx="475488" cy="804672"/>
          </a:xfrm>
          <a:prstGeom prst="rect">
            <a:avLst/>
          </a:prstGeom>
          <a:noFill/>
        </p:spPr>
        <p:txBody>
          <a:bodyPr wrap="square" anchor="ctr" lIns="0" rIns="0" tIns="0" bIns="0">
            <a:spAutoFit/>
          </a:bodyPr>
          <a:lstStyle/>
          <a:p>
            <a:pPr algn="ctr"/>
            <a:r>
              <a:rPr sz="1700" b="1" i="0">
                <a:solidFill>
                  <a:srgbClr val="FFFFFF"/>
                </a:solidFill>
                <a:latin typeface="Times New Roman"/>
              </a:rPr>
              <a:t>5</a:t>
            </a:r>
          </a:p>
        </p:txBody>
      </p:sp>
      <p:sp>
        <p:nvSpPr>
          <p:cNvPr id="30" name="TextBox 29"/>
          <p:cNvSpPr txBox="1"/>
          <p:nvPr/>
        </p:nvSpPr>
        <p:spPr>
          <a:xfrm>
            <a:off x="1572768" y="5303520"/>
            <a:ext cx="3017520" cy="548640"/>
          </a:xfrm>
          <a:prstGeom prst="rect">
            <a:avLst/>
          </a:prstGeom>
          <a:noFill/>
        </p:spPr>
        <p:txBody>
          <a:bodyPr wrap="square" anchor="t" lIns="0" rIns="0" tIns="0" bIns="0">
            <a:spAutoFit/>
          </a:bodyPr>
          <a:lstStyle/>
          <a:p>
            <a:pPr algn="l"/>
            <a:r>
              <a:rPr sz="1450" b="1" i="0">
                <a:solidFill>
                  <a:srgbClr val="10233F"/>
                </a:solidFill>
                <a:latin typeface="Times New Roman"/>
              </a:rPr>
              <a:t>Responsible Leadership</a:t>
            </a:r>
          </a:p>
        </p:txBody>
      </p:sp>
      <p:sp>
        <p:nvSpPr>
          <p:cNvPr id="31" name="TextBox 30"/>
          <p:cNvSpPr txBox="1"/>
          <p:nvPr/>
        </p:nvSpPr>
        <p:spPr>
          <a:xfrm>
            <a:off x="4709160" y="5285231"/>
            <a:ext cx="6309360" cy="640080"/>
          </a:xfrm>
          <a:prstGeom prst="rect">
            <a:avLst/>
          </a:prstGeom>
          <a:noFill/>
        </p:spPr>
        <p:txBody>
          <a:bodyPr wrap="square" anchor="t" lIns="0" rIns="0" tIns="0" bIns="0">
            <a:spAutoFit/>
          </a:bodyPr>
          <a:lstStyle/>
          <a:p>
            <a:pPr algn="l">
              <a:lnSpc>
                <a:spcPct val="120000"/>
              </a:lnSpc>
            </a:pPr>
            <a:r>
              <a:rPr sz="1150" b="0" i="0">
                <a:solidFill>
                  <a:srgbClr val="4B5563"/>
                </a:solidFill>
                <a:latin typeface="Times New Roman"/>
              </a:rPr>
              <a:t>Examine ethical, legal, organizational, and societal implications of AI while creating sustainable value for stakeholders.</a:t>
            </a:r>
          </a:p>
        </p:txBody>
      </p:sp>
      <p:sp>
        <p:nvSpPr>
          <p:cNvPr id="32" name="Rectangle 31"/>
          <p:cNvSpPr/>
          <p:nvPr/>
        </p:nvSpPr>
        <p:spPr>
          <a:xfrm>
            <a:off x="868680" y="6053328"/>
            <a:ext cx="36576" cy="31089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69848" y="6053328"/>
            <a:ext cx="10424160" cy="365760"/>
          </a:xfrm>
          <a:prstGeom prst="rect">
            <a:avLst/>
          </a:prstGeom>
          <a:noFill/>
        </p:spPr>
        <p:txBody>
          <a:bodyPr wrap="square" anchor="ctr" lIns="0" rIns="0" tIns="0" bIns="0">
            <a:spAutoFit/>
          </a:bodyPr>
          <a:lstStyle/>
          <a:p>
            <a:pPr algn="l"/>
            <a:r>
              <a:rPr sz="1350" b="1" i="1">
                <a:solidFill>
                  <a:srgbClr val="10233F"/>
                </a:solidFill>
                <a:latin typeface="Times New Roman"/>
              </a:rPr>
              <a:t>Five capabilities, developed in parallel rather than in sequence.</a:t>
            </a:r>
          </a:p>
        </p:txBody>
      </p:sp>
      <p:sp>
        <p:nvSpPr>
          <p:cNvPr id="34" name="TextBox 33"/>
          <p:cNvSpPr txBox="1"/>
          <p:nvPr/>
        </p:nvSpPr>
        <p:spPr>
          <a:xfrm>
            <a:off x="11475720" y="6473952"/>
            <a:ext cx="457200" cy="182880"/>
          </a:xfrm>
          <a:prstGeom prst="rect">
            <a:avLst/>
          </a:prstGeom>
          <a:noFill/>
        </p:spPr>
        <p:txBody>
          <a:bodyPr wrap="square" anchor="t" lIns="0" rIns="0" tIns="0" bIns="0">
            <a:spAutoFit/>
          </a:bodyPr>
          <a:lstStyle/>
          <a:p>
            <a:pPr algn="r"/>
            <a:r>
              <a:rPr sz="800" b="0" i="0">
                <a:solidFill>
                  <a:srgbClr val="9CA3AF"/>
                </a:solidFill>
                <a:latin typeface="Times New Roman"/>
              </a:rPr>
              <a:t>29</a:t>
            </a:r>
          </a:p>
        </p:txBody>
      </p:sp>
      <p:sp>
        <p:nvSpPr>
          <p:cNvPr id="35" name="TextBox 34"/>
          <p:cNvSpPr txBox="1"/>
          <p:nvPr/>
        </p:nvSpPr>
        <p:spPr>
          <a:xfrm>
            <a:off x="502920" y="6473952"/>
            <a:ext cx="6400800" cy="182880"/>
          </a:xfrm>
          <a:prstGeom prst="rect">
            <a:avLst/>
          </a:prstGeom>
          <a:noFill/>
        </p:spPr>
        <p:txBody>
          <a:bodyPr wrap="square" anchor="t" lIns="0" rIns="0" tIns="0" bIns="0">
            <a:spAutoFit/>
          </a:bodyPr>
          <a:lstStyle/>
          <a:p>
            <a:pPr algn="l"/>
            <a:r>
              <a:rPr sz="720" b="0" i="0">
                <a:solidFill>
                  <a:srgbClr val="6B7280"/>
                </a:solidFill>
                <a:latin typeface="Times New Roman"/>
              </a:rPr>
              <a:t>Strategic Management in the Age of AI · MGMT 465/665 · Course Introduction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969" cy="164592"/>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969" cy="3657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411480"/>
            <a:ext cx="5943600" cy="228600"/>
          </a:xfrm>
          <a:prstGeom prst="rect">
            <a:avLst/>
          </a:prstGeom>
          <a:noFill/>
        </p:spPr>
        <p:txBody>
          <a:bodyPr wrap="square" anchor="t" lIns="0" rIns="0" tIns="0" bIns="0">
            <a:spAutoFit/>
          </a:bodyPr>
          <a:lstStyle/>
          <a:p>
            <a:pPr algn="l"/>
            <a:r>
              <a:rPr sz="850" b="1" i="0">
                <a:solidFill>
                  <a:srgbClr val="2A6F97"/>
                </a:solidFill>
                <a:latin typeface="Times New Roman"/>
              </a:rPr>
              <a:t>PART II · COURSE LEARNING OBJECTIVES</a:t>
            </a:r>
          </a:p>
        </p:txBody>
      </p:sp>
      <p:sp>
        <p:nvSpPr>
          <p:cNvPr id="6" name="TextBox 5"/>
          <p:cNvSpPr txBox="1"/>
          <p:nvPr/>
        </p:nvSpPr>
        <p:spPr>
          <a:xfrm>
            <a:off x="502920" y="640080"/>
            <a:ext cx="9509760" cy="457200"/>
          </a:xfrm>
          <a:prstGeom prst="rect">
            <a:avLst/>
          </a:prstGeom>
          <a:noFill/>
        </p:spPr>
        <p:txBody>
          <a:bodyPr wrap="square" anchor="t" lIns="0" rIns="0" tIns="0" bIns="0">
            <a:spAutoFit/>
          </a:bodyPr>
          <a:lstStyle/>
          <a:p>
            <a:pPr algn="l"/>
            <a:r>
              <a:rPr sz="2400" b="1" i="0">
                <a:solidFill>
                  <a:srgbClr val="111827"/>
                </a:solidFill>
                <a:latin typeface="Times New Roman"/>
              </a:rPr>
              <a:t>Upon completion, you will be able to…</a:t>
            </a:r>
          </a:p>
        </p:txBody>
      </p:sp>
      <p:sp>
        <p:nvSpPr>
          <p:cNvPr id="7" name="Rectangle 6"/>
          <p:cNvSpPr/>
          <p:nvPr/>
        </p:nvSpPr>
        <p:spPr>
          <a:xfrm>
            <a:off x="868680" y="1481328"/>
            <a:ext cx="5047488" cy="969264"/>
          </a:xfrm>
          <a:prstGeom prst="rect">
            <a:avLst/>
          </a:prstGeom>
          <a:solidFill>
            <a:srgbClr val="F7F8FA"/>
          </a:solidFill>
          <a:ln w="9525">
            <a:solidFill>
              <a:srgbClr val="E2E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68680" y="1481328"/>
            <a:ext cx="384048" cy="969264"/>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554480"/>
            <a:ext cx="384048" cy="274320"/>
          </a:xfrm>
          <a:prstGeom prst="rect">
            <a:avLst/>
          </a:prstGeom>
          <a:noFill/>
        </p:spPr>
        <p:txBody>
          <a:bodyPr wrap="square" anchor="t" lIns="0" rIns="0" tIns="0" bIns="0">
            <a:spAutoFit/>
          </a:bodyPr>
          <a:lstStyle/>
          <a:p>
            <a:pPr algn="ctr"/>
            <a:r>
              <a:rPr sz="1400" b="1" i="0">
                <a:solidFill>
                  <a:srgbClr val="FFFFFF"/>
                </a:solidFill>
                <a:latin typeface="Times New Roman"/>
              </a:rPr>
              <a:t>1</a:t>
            </a:r>
          </a:p>
        </p:txBody>
      </p:sp>
      <p:sp>
        <p:nvSpPr>
          <p:cNvPr id="10" name="TextBox 9"/>
          <p:cNvSpPr txBox="1"/>
          <p:nvPr/>
        </p:nvSpPr>
        <p:spPr>
          <a:xfrm>
            <a:off x="1435607" y="1609344"/>
            <a:ext cx="4334256" cy="768096"/>
          </a:xfrm>
          <a:prstGeom prst="rect">
            <a:avLst/>
          </a:prstGeom>
          <a:noFill/>
        </p:spPr>
        <p:txBody>
          <a:bodyPr wrap="square" anchor="t" lIns="0" rIns="0" tIns="0" bIns="0">
            <a:spAutoFit/>
          </a:bodyPr>
          <a:lstStyle/>
          <a:p>
            <a:pPr algn="l">
              <a:lnSpc>
                <a:spcPct val="105000"/>
              </a:lnSpc>
              <a:spcAft>
                <a:spcPts val="400"/>
              </a:spcAft>
            </a:pPr>
            <a:r>
              <a:rPr sz="1300" b="1" i="0">
                <a:solidFill>
                  <a:srgbClr val="10233F"/>
                </a:solidFill>
                <a:latin typeface="Times New Roman"/>
              </a:rPr>
              <a:t>Evaluate industries and environments</a:t>
            </a:r>
          </a:p>
          <a:p>
            <a:pPr algn="l">
              <a:lnSpc>
                <a:spcPct val="118000"/>
              </a:lnSpc>
            </a:pPr>
            <a:r>
              <a:rPr sz="1100" b="0" i="0">
                <a:solidFill>
                  <a:srgbClr val="4B5563"/>
                </a:solidFill>
                <a:latin typeface="Times New Roman"/>
              </a:rPr>
              <a:t>Using established strategic frameworks while accounting for AI's effect on competitive dynamics.</a:t>
            </a:r>
          </a:p>
        </p:txBody>
      </p:sp>
      <p:sp>
        <p:nvSpPr>
          <p:cNvPr id="11" name="Rectangle 10"/>
          <p:cNvSpPr/>
          <p:nvPr/>
        </p:nvSpPr>
        <p:spPr>
          <a:xfrm>
            <a:off x="6245352" y="1481328"/>
            <a:ext cx="5047488" cy="969264"/>
          </a:xfrm>
          <a:prstGeom prst="rect">
            <a:avLst/>
          </a:prstGeom>
          <a:solidFill>
            <a:srgbClr val="FFFFFF"/>
          </a:solidFill>
          <a:ln w="9525">
            <a:solidFill>
              <a:srgbClr val="E2E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45352" y="1481328"/>
            <a:ext cx="384048" cy="969264"/>
          </a:xfrm>
          <a:prstGeom prst="rect">
            <a:avLst/>
          </a:prstGeom>
          <a:solidFill>
            <a:srgbClr val="2A6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45352" y="1554480"/>
            <a:ext cx="384048" cy="274320"/>
          </a:xfrm>
          <a:prstGeom prst="rect">
            <a:avLst/>
          </a:prstGeom>
          <a:noFill/>
        </p:spPr>
        <p:txBody>
          <a:bodyPr wrap="square" anchor="t" lIns="0" rIns="0" tIns="0" bIns="0">
            <a:spAutoFit/>
          </a:bodyPr>
          <a:lstStyle/>
          <a:p>
            <a:pPr algn="ctr"/>
            <a:r>
              <a:rPr sz="1400" b="1" i="0">
                <a:solidFill>
                  <a:srgbClr val="FFFFFF"/>
                </a:solidFill>
                <a:latin typeface="Times New Roman"/>
              </a:rPr>
              <a:t>2</a:t>
            </a:r>
          </a:p>
        </p:txBody>
      </p:sp>
      <p:sp>
        <p:nvSpPr>
          <p:cNvPr id="14" name="TextBox 13"/>
          <p:cNvSpPr txBox="1"/>
          <p:nvPr/>
        </p:nvSpPr>
        <p:spPr>
          <a:xfrm>
            <a:off x="6812280" y="1609344"/>
            <a:ext cx="4334256" cy="768096"/>
          </a:xfrm>
          <a:prstGeom prst="rect">
            <a:avLst/>
          </a:prstGeom>
          <a:noFill/>
        </p:spPr>
        <p:txBody>
          <a:bodyPr wrap="square" anchor="t" lIns="0" rIns="0" tIns="0" bIns="0">
            <a:spAutoFit/>
          </a:bodyPr>
          <a:lstStyle/>
          <a:p>
            <a:pPr algn="l">
              <a:lnSpc>
                <a:spcPct val="105000"/>
              </a:lnSpc>
              <a:spcAft>
                <a:spcPts val="400"/>
              </a:spcAft>
            </a:pPr>
            <a:r>
              <a:rPr sz="1300" b="1" i="0">
                <a:solidFill>
                  <a:srgbClr val="10233F"/>
                </a:solidFill>
                <a:latin typeface="Times New Roman"/>
              </a:rPr>
              <a:t>Analyze resources and capabilities</a:t>
            </a:r>
          </a:p>
          <a:p>
            <a:pPr algn="l">
              <a:lnSpc>
                <a:spcPct val="118000"/>
              </a:lnSpc>
            </a:pPr>
            <a:r>
              <a:rPr sz="1100" b="0" i="0">
                <a:solidFill>
                  <a:srgbClr val="4B5563"/>
                </a:solidFill>
                <a:latin typeface="Times New Roman"/>
              </a:rPr>
              <a:t>Through the Resource-Based View, Dynamic Capabilities, and the Knowledge-Based Theory of the Firm.</a:t>
            </a:r>
          </a:p>
        </p:txBody>
      </p:sp>
      <p:sp>
        <p:nvSpPr>
          <p:cNvPr id="15" name="Rectangle 14"/>
          <p:cNvSpPr/>
          <p:nvPr/>
        </p:nvSpPr>
        <p:spPr>
          <a:xfrm>
            <a:off x="868680" y="2596896"/>
            <a:ext cx="5047488" cy="969264"/>
          </a:xfrm>
          <a:prstGeom prst="rect">
            <a:avLst/>
          </a:prstGeom>
          <a:solidFill>
            <a:srgbClr val="F7F8FA"/>
          </a:solidFill>
          <a:ln w="9525">
            <a:solidFill>
              <a:srgbClr val="E2E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68680" y="2596896"/>
            <a:ext cx="384048" cy="969264"/>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2670048"/>
            <a:ext cx="384048" cy="274320"/>
          </a:xfrm>
          <a:prstGeom prst="rect">
            <a:avLst/>
          </a:prstGeom>
          <a:noFill/>
        </p:spPr>
        <p:txBody>
          <a:bodyPr wrap="square" anchor="t" lIns="0" rIns="0" tIns="0" bIns="0">
            <a:spAutoFit/>
          </a:bodyPr>
          <a:lstStyle/>
          <a:p>
            <a:pPr algn="ctr"/>
            <a:r>
              <a:rPr sz="1400" b="1" i="0">
                <a:solidFill>
                  <a:srgbClr val="FFFFFF"/>
                </a:solidFill>
                <a:latin typeface="Times New Roman"/>
              </a:rPr>
              <a:t>3</a:t>
            </a:r>
          </a:p>
        </p:txBody>
      </p:sp>
      <p:sp>
        <p:nvSpPr>
          <p:cNvPr id="18" name="TextBox 17"/>
          <p:cNvSpPr txBox="1"/>
          <p:nvPr/>
        </p:nvSpPr>
        <p:spPr>
          <a:xfrm>
            <a:off x="1435607" y="2724912"/>
            <a:ext cx="4334256" cy="768096"/>
          </a:xfrm>
          <a:prstGeom prst="rect">
            <a:avLst/>
          </a:prstGeom>
          <a:noFill/>
        </p:spPr>
        <p:txBody>
          <a:bodyPr wrap="square" anchor="t" lIns="0" rIns="0" tIns="0" bIns="0">
            <a:spAutoFit/>
          </a:bodyPr>
          <a:lstStyle/>
          <a:p>
            <a:pPr algn="l">
              <a:lnSpc>
                <a:spcPct val="105000"/>
              </a:lnSpc>
              <a:spcAft>
                <a:spcPts val="400"/>
              </a:spcAft>
            </a:pPr>
            <a:r>
              <a:rPr sz="1300" b="1" i="0">
                <a:solidFill>
                  <a:srgbClr val="10233F"/>
                </a:solidFill>
                <a:latin typeface="Times New Roman"/>
              </a:rPr>
              <a:t>Compare classical theory with AI research</a:t>
            </a:r>
          </a:p>
          <a:p>
            <a:pPr algn="l">
              <a:lnSpc>
                <a:spcPct val="118000"/>
              </a:lnSpc>
            </a:pPr>
            <a:r>
              <a:rPr sz="1100" b="0" i="0">
                <a:solidFill>
                  <a:srgbClr val="4B5563"/>
                </a:solidFill>
                <a:latin typeface="Times New Roman"/>
              </a:rPr>
              <a:t>Evaluating how AI reinforces, extends, or challenges existing theoretical assumptions.</a:t>
            </a:r>
          </a:p>
        </p:txBody>
      </p:sp>
      <p:sp>
        <p:nvSpPr>
          <p:cNvPr id="19" name="Rectangle 18"/>
          <p:cNvSpPr/>
          <p:nvPr/>
        </p:nvSpPr>
        <p:spPr>
          <a:xfrm>
            <a:off x="6245352" y="2596896"/>
            <a:ext cx="5047488" cy="969264"/>
          </a:xfrm>
          <a:prstGeom prst="rect">
            <a:avLst/>
          </a:prstGeom>
          <a:solidFill>
            <a:srgbClr val="FFFFFF"/>
          </a:solidFill>
          <a:ln w="9525">
            <a:solidFill>
              <a:srgbClr val="E2E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45352" y="2596896"/>
            <a:ext cx="384048" cy="969264"/>
          </a:xfrm>
          <a:prstGeom prst="rect">
            <a:avLst/>
          </a:prstGeom>
          <a:solidFill>
            <a:srgbClr val="2A6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45352" y="2670048"/>
            <a:ext cx="384048" cy="274320"/>
          </a:xfrm>
          <a:prstGeom prst="rect">
            <a:avLst/>
          </a:prstGeom>
          <a:noFill/>
        </p:spPr>
        <p:txBody>
          <a:bodyPr wrap="square" anchor="t" lIns="0" rIns="0" tIns="0" bIns="0">
            <a:spAutoFit/>
          </a:bodyPr>
          <a:lstStyle/>
          <a:p>
            <a:pPr algn="ctr"/>
            <a:r>
              <a:rPr sz="1400" b="1" i="0">
                <a:solidFill>
                  <a:srgbClr val="FFFFFF"/>
                </a:solidFill>
                <a:latin typeface="Times New Roman"/>
              </a:rPr>
              <a:t>4</a:t>
            </a:r>
          </a:p>
        </p:txBody>
      </p:sp>
      <p:sp>
        <p:nvSpPr>
          <p:cNvPr id="22" name="TextBox 21"/>
          <p:cNvSpPr txBox="1"/>
          <p:nvPr/>
        </p:nvSpPr>
        <p:spPr>
          <a:xfrm>
            <a:off x="6812280" y="2724912"/>
            <a:ext cx="4334256" cy="768096"/>
          </a:xfrm>
          <a:prstGeom prst="rect">
            <a:avLst/>
          </a:prstGeom>
          <a:noFill/>
        </p:spPr>
        <p:txBody>
          <a:bodyPr wrap="square" anchor="t" lIns="0" rIns="0" tIns="0" bIns="0">
            <a:spAutoFit/>
          </a:bodyPr>
          <a:lstStyle/>
          <a:p>
            <a:pPr algn="l">
              <a:lnSpc>
                <a:spcPct val="105000"/>
              </a:lnSpc>
              <a:spcAft>
                <a:spcPts val="400"/>
              </a:spcAft>
            </a:pPr>
            <a:r>
              <a:rPr sz="1300" b="1" i="0">
                <a:solidFill>
                  <a:srgbClr val="10233F"/>
                </a:solidFill>
                <a:latin typeface="Times New Roman"/>
              </a:rPr>
              <a:t>Develop AI-enabled strategies</a:t>
            </a:r>
          </a:p>
          <a:p>
            <a:pPr algn="l">
              <a:lnSpc>
                <a:spcPct val="118000"/>
              </a:lnSpc>
            </a:pPr>
            <a:r>
              <a:rPr sz="1100" b="0" i="0">
                <a:solidFill>
                  <a:srgbClr val="4B5563"/>
                </a:solidFill>
                <a:latin typeface="Times New Roman"/>
              </a:rPr>
              <a:t>Aligning capabilities, positioning, governance, and long-term value creation.</a:t>
            </a:r>
          </a:p>
        </p:txBody>
      </p:sp>
      <p:sp>
        <p:nvSpPr>
          <p:cNvPr id="23" name="Rectangle 22"/>
          <p:cNvSpPr/>
          <p:nvPr/>
        </p:nvSpPr>
        <p:spPr>
          <a:xfrm>
            <a:off x="868680" y="3712464"/>
            <a:ext cx="5047488" cy="969264"/>
          </a:xfrm>
          <a:prstGeom prst="rect">
            <a:avLst/>
          </a:prstGeom>
          <a:solidFill>
            <a:srgbClr val="F7F8FA"/>
          </a:solidFill>
          <a:ln w="9525">
            <a:solidFill>
              <a:srgbClr val="E2E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68680" y="3712464"/>
            <a:ext cx="384048" cy="969264"/>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8680" y="3785616"/>
            <a:ext cx="384048" cy="274320"/>
          </a:xfrm>
          <a:prstGeom prst="rect">
            <a:avLst/>
          </a:prstGeom>
          <a:noFill/>
        </p:spPr>
        <p:txBody>
          <a:bodyPr wrap="square" anchor="t" lIns="0" rIns="0" tIns="0" bIns="0">
            <a:spAutoFit/>
          </a:bodyPr>
          <a:lstStyle/>
          <a:p>
            <a:pPr algn="ctr"/>
            <a:r>
              <a:rPr sz="1400" b="1" i="0">
                <a:solidFill>
                  <a:srgbClr val="FFFFFF"/>
                </a:solidFill>
                <a:latin typeface="Times New Roman"/>
              </a:rPr>
              <a:t>5</a:t>
            </a:r>
          </a:p>
        </p:txBody>
      </p:sp>
      <p:sp>
        <p:nvSpPr>
          <p:cNvPr id="26" name="TextBox 25"/>
          <p:cNvSpPr txBox="1"/>
          <p:nvPr/>
        </p:nvSpPr>
        <p:spPr>
          <a:xfrm>
            <a:off x="1435607" y="3840480"/>
            <a:ext cx="4334256" cy="768096"/>
          </a:xfrm>
          <a:prstGeom prst="rect">
            <a:avLst/>
          </a:prstGeom>
          <a:noFill/>
        </p:spPr>
        <p:txBody>
          <a:bodyPr wrap="square" anchor="t" lIns="0" rIns="0" tIns="0" bIns="0">
            <a:spAutoFit/>
          </a:bodyPr>
          <a:lstStyle/>
          <a:p>
            <a:pPr algn="l">
              <a:lnSpc>
                <a:spcPct val="105000"/>
              </a:lnSpc>
              <a:spcAft>
                <a:spcPts val="400"/>
              </a:spcAft>
            </a:pPr>
            <a:r>
              <a:rPr sz="1300" b="1" i="0">
                <a:solidFill>
                  <a:srgbClr val="10233F"/>
                </a:solidFill>
                <a:latin typeface="Times New Roman"/>
              </a:rPr>
              <a:t>Evaluate organizational AI readiness</a:t>
            </a:r>
          </a:p>
          <a:p>
            <a:pPr algn="l">
              <a:lnSpc>
                <a:spcPct val="118000"/>
              </a:lnSpc>
            </a:pPr>
            <a:r>
              <a:rPr sz="1100" b="0" i="0">
                <a:solidFill>
                  <a:srgbClr val="4B5563"/>
                </a:solidFill>
                <a:latin typeface="Times New Roman"/>
              </a:rPr>
              <a:t>Assessing leadership, culture, technology, data, governance, and strategic capability.</a:t>
            </a:r>
          </a:p>
        </p:txBody>
      </p:sp>
      <p:sp>
        <p:nvSpPr>
          <p:cNvPr id="27" name="Rectangle 26"/>
          <p:cNvSpPr/>
          <p:nvPr/>
        </p:nvSpPr>
        <p:spPr>
          <a:xfrm>
            <a:off x="6245352" y="3712464"/>
            <a:ext cx="5047488" cy="969264"/>
          </a:xfrm>
          <a:prstGeom prst="rect">
            <a:avLst/>
          </a:prstGeom>
          <a:solidFill>
            <a:srgbClr val="FFFFFF"/>
          </a:solidFill>
          <a:ln w="9525">
            <a:solidFill>
              <a:srgbClr val="E2E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45352" y="3712464"/>
            <a:ext cx="384048" cy="969264"/>
          </a:xfrm>
          <a:prstGeom prst="rect">
            <a:avLst/>
          </a:prstGeom>
          <a:solidFill>
            <a:srgbClr val="2A6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45352" y="3785616"/>
            <a:ext cx="384048" cy="274320"/>
          </a:xfrm>
          <a:prstGeom prst="rect">
            <a:avLst/>
          </a:prstGeom>
          <a:noFill/>
        </p:spPr>
        <p:txBody>
          <a:bodyPr wrap="square" anchor="t" lIns="0" rIns="0" tIns="0" bIns="0">
            <a:spAutoFit/>
          </a:bodyPr>
          <a:lstStyle/>
          <a:p>
            <a:pPr algn="ctr"/>
            <a:r>
              <a:rPr sz="1400" b="1" i="0">
                <a:solidFill>
                  <a:srgbClr val="FFFFFF"/>
                </a:solidFill>
                <a:latin typeface="Times New Roman"/>
              </a:rPr>
              <a:t>6</a:t>
            </a:r>
          </a:p>
        </p:txBody>
      </p:sp>
      <p:sp>
        <p:nvSpPr>
          <p:cNvPr id="30" name="TextBox 29"/>
          <p:cNvSpPr txBox="1"/>
          <p:nvPr/>
        </p:nvSpPr>
        <p:spPr>
          <a:xfrm>
            <a:off x="6812280" y="3840480"/>
            <a:ext cx="4334256" cy="768096"/>
          </a:xfrm>
          <a:prstGeom prst="rect">
            <a:avLst/>
          </a:prstGeom>
          <a:noFill/>
        </p:spPr>
        <p:txBody>
          <a:bodyPr wrap="square" anchor="t" lIns="0" rIns="0" tIns="0" bIns="0">
            <a:spAutoFit/>
          </a:bodyPr>
          <a:lstStyle/>
          <a:p>
            <a:pPr algn="l">
              <a:lnSpc>
                <a:spcPct val="105000"/>
              </a:lnSpc>
              <a:spcAft>
                <a:spcPts val="400"/>
              </a:spcAft>
            </a:pPr>
            <a:r>
              <a:rPr sz="1300" b="1" i="0">
                <a:solidFill>
                  <a:srgbClr val="10233F"/>
                </a:solidFill>
                <a:latin typeface="Times New Roman"/>
              </a:rPr>
              <a:t>Communicate to executive audiences</a:t>
            </a:r>
          </a:p>
          <a:p>
            <a:pPr algn="l">
              <a:lnSpc>
                <a:spcPct val="118000"/>
              </a:lnSpc>
            </a:pPr>
            <a:r>
              <a:rPr sz="1100" b="0" i="0">
                <a:solidFill>
                  <a:srgbClr val="4B5563"/>
                </a:solidFill>
                <a:latin typeface="Times New Roman"/>
              </a:rPr>
              <a:t>Through written analyses, consulting reports, and professional presentations.</a:t>
            </a:r>
          </a:p>
        </p:txBody>
      </p:sp>
      <p:sp>
        <p:nvSpPr>
          <p:cNvPr id="31" name="Rectangle 30"/>
          <p:cNvSpPr/>
          <p:nvPr/>
        </p:nvSpPr>
        <p:spPr>
          <a:xfrm>
            <a:off x="868680" y="4828032"/>
            <a:ext cx="5047488" cy="969264"/>
          </a:xfrm>
          <a:prstGeom prst="rect">
            <a:avLst/>
          </a:prstGeom>
          <a:solidFill>
            <a:srgbClr val="F7F8FA"/>
          </a:solidFill>
          <a:ln w="9525">
            <a:solidFill>
              <a:srgbClr val="E2E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68680" y="4828032"/>
            <a:ext cx="384048" cy="969264"/>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68680" y="4901184"/>
            <a:ext cx="384048" cy="274320"/>
          </a:xfrm>
          <a:prstGeom prst="rect">
            <a:avLst/>
          </a:prstGeom>
          <a:noFill/>
        </p:spPr>
        <p:txBody>
          <a:bodyPr wrap="square" anchor="t" lIns="0" rIns="0" tIns="0" bIns="0">
            <a:spAutoFit/>
          </a:bodyPr>
          <a:lstStyle/>
          <a:p>
            <a:pPr algn="ctr"/>
            <a:r>
              <a:rPr sz="1400" b="1" i="0">
                <a:solidFill>
                  <a:srgbClr val="FFFFFF"/>
                </a:solidFill>
                <a:latin typeface="Times New Roman"/>
              </a:rPr>
              <a:t>7</a:t>
            </a:r>
          </a:p>
        </p:txBody>
      </p:sp>
      <p:sp>
        <p:nvSpPr>
          <p:cNvPr id="34" name="TextBox 33"/>
          <p:cNvSpPr txBox="1"/>
          <p:nvPr/>
        </p:nvSpPr>
        <p:spPr>
          <a:xfrm>
            <a:off x="1435607" y="4956048"/>
            <a:ext cx="4334256" cy="768096"/>
          </a:xfrm>
          <a:prstGeom prst="rect">
            <a:avLst/>
          </a:prstGeom>
          <a:noFill/>
        </p:spPr>
        <p:txBody>
          <a:bodyPr wrap="square" anchor="t" lIns="0" rIns="0" tIns="0" bIns="0">
            <a:spAutoFit/>
          </a:bodyPr>
          <a:lstStyle/>
          <a:p>
            <a:pPr algn="l">
              <a:lnSpc>
                <a:spcPct val="105000"/>
              </a:lnSpc>
              <a:spcAft>
                <a:spcPts val="400"/>
              </a:spcAft>
            </a:pPr>
            <a:r>
              <a:rPr sz="1300" b="1" i="0">
                <a:solidFill>
                  <a:srgbClr val="10233F"/>
                </a:solidFill>
                <a:latin typeface="Times New Roman"/>
              </a:rPr>
              <a:t>Apply theory to real challenges</a:t>
            </a:r>
          </a:p>
          <a:p>
            <a:pPr algn="l">
              <a:lnSpc>
                <a:spcPct val="118000"/>
              </a:lnSpc>
            </a:pPr>
            <a:r>
              <a:rPr sz="1100" b="0" i="0">
                <a:solidFill>
                  <a:srgbClr val="4B5563"/>
                </a:solidFill>
                <a:latin typeface="Times New Roman"/>
              </a:rPr>
              <a:t>Via case analyses, AI laboratories, and a semester-long consulting engagement.</a:t>
            </a:r>
          </a:p>
        </p:txBody>
      </p:sp>
      <p:sp>
        <p:nvSpPr>
          <p:cNvPr id="35" name="Rectangle 34"/>
          <p:cNvSpPr/>
          <p:nvPr/>
        </p:nvSpPr>
        <p:spPr>
          <a:xfrm>
            <a:off x="6245352" y="4828032"/>
            <a:ext cx="5047488" cy="969264"/>
          </a:xfrm>
          <a:prstGeom prst="rect">
            <a:avLst/>
          </a:prstGeom>
          <a:solidFill>
            <a:srgbClr val="FFFFFF"/>
          </a:solidFill>
          <a:ln w="9525">
            <a:solidFill>
              <a:srgbClr val="E2E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245352" y="4828032"/>
            <a:ext cx="384048" cy="969264"/>
          </a:xfrm>
          <a:prstGeom prst="rect">
            <a:avLst/>
          </a:prstGeom>
          <a:solidFill>
            <a:srgbClr val="2A6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45352" y="4901184"/>
            <a:ext cx="384048" cy="274320"/>
          </a:xfrm>
          <a:prstGeom prst="rect">
            <a:avLst/>
          </a:prstGeom>
          <a:noFill/>
        </p:spPr>
        <p:txBody>
          <a:bodyPr wrap="square" anchor="t" lIns="0" rIns="0" tIns="0" bIns="0">
            <a:spAutoFit/>
          </a:bodyPr>
          <a:lstStyle/>
          <a:p>
            <a:pPr algn="ctr"/>
            <a:r>
              <a:rPr sz="1400" b="1" i="0">
                <a:solidFill>
                  <a:srgbClr val="FFFFFF"/>
                </a:solidFill>
                <a:latin typeface="Times New Roman"/>
              </a:rPr>
              <a:t>8</a:t>
            </a:r>
          </a:p>
        </p:txBody>
      </p:sp>
      <p:sp>
        <p:nvSpPr>
          <p:cNvPr id="38" name="TextBox 37"/>
          <p:cNvSpPr txBox="1"/>
          <p:nvPr/>
        </p:nvSpPr>
        <p:spPr>
          <a:xfrm>
            <a:off x="6812280" y="4956048"/>
            <a:ext cx="4334256" cy="768096"/>
          </a:xfrm>
          <a:prstGeom prst="rect">
            <a:avLst/>
          </a:prstGeom>
          <a:noFill/>
        </p:spPr>
        <p:txBody>
          <a:bodyPr wrap="square" anchor="t" lIns="0" rIns="0" tIns="0" bIns="0">
            <a:spAutoFit/>
          </a:bodyPr>
          <a:lstStyle/>
          <a:p>
            <a:pPr algn="l">
              <a:lnSpc>
                <a:spcPct val="105000"/>
              </a:lnSpc>
              <a:spcAft>
                <a:spcPts val="400"/>
              </a:spcAft>
            </a:pPr>
            <a:r>
              <a:rPr sz="1300" b="1" i="0">
                <a:solidFill>
                  <a:srgbClr val="10233F"/>
                </a:solidFill>
                <a:latin typeface="Times New Roman"/>
              </a:rPr>
              <a:t>Exercise responsible judgment</a:t>
            </a:r>
          </a:p>
          <a:p>
            <a:pPr algn="l">
              <a:lnSpc>
                <a:spcPct val="118000"/>
              </a:lnSpc>
            </a:pPr>
            <a:r>
              <a:rPr sz="1100" b="0" i="0">
                <a:solidFill>
                  <a:srgbClr val="4B5563"/>
                </a:solidFill>
                <a:latin typeface="Times New Roman"/>
              </a:rPr>
              <a:t>On the ethical, legal, and governance implications of enterprise artificial intelligence.</a:t>
            </a:r>
          </a:p>
        </p:txBody>
      </p:sp>
      <p:sp>
        <p:nvSpPr>
          <p:cNvPr id="39" name="Rectangle 38"/>
          <p:cNvSpPr/>
          <p:nvPr/>
        </p:nvSpPr>
        <p:spPr>
          <a:xfrm>
            <a:off x="868680" y="5961888"/>
            <a:ext cx="36576" cy="31089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69848" y="5961888"/>
            <a:ext cx="10424160" cy="365760"/>
          </a:xfrm>
          <a:prstGeom prst="rect">
            <a:avLst/>
          </a:prstGeom>
          <a:noFill/>
        </p:spPr>
        <p:txBody>
          <a:bodyPr wrap="square" anchor="ctr" lIns="0" rIns="0" tIns="0" bIns="0">
            <a:spAutoFit/>
          </a:bodyPr>
          <a:lstStyle/>
          <a:p>
            <a:pPr algn="l"/>
            <a:r>
              <a:rPr sz="1350" b="1" i="1">
                <a:solidFill>
                  <a:srgbClr val="10233F"/>
                </a:solidFill>
                <a:latin typeface="Times New Roman"/>
              </a:rPr>
              <a:t>Eight objectives, each assessed through authentic executive work rather than recall.</a:t>
            </a:r>
          </a:p>
        </p:txBody>
      </p:sp>
      <p:sp>
        <p:nvSpPr>
          <p:cNvPr id="41" name="TextBox 40"/>
          <p:cNvSpPr txBox="1"/>
          <p:nvPr/>
        </p:nvSpPr>
        <p:spPr>
          <a:xfrm>
            <a:off x="11475720" y="6473952"/>
            <a:ext cx="457200" cy="182880"/>
          </a:xfrm>
          <a:prstGeom prst="rect">
            <a:avLst/>
          </a:prstGeom>
          <a:noFill/>
        </p:spPr>
        <p:txBody>
          <a:bodyPr wrap="square" anchor="t" lIns="0" rIns="0" tIns="0" bIns="0">
            <a:spAutoFit/>
          </a:bodyPr>
          <a:lstStyle/>
          <a:p>
            <a:pPr algn="r"/>
            <a:r>
              <a:rPr sz="800" b="0" i="0">
                <a:solidFill>
                  <a:srgbClr val="9CA3AF"/>
                </a:solidFill>
                <a:latin typeface="Times New Roman"/>
              </a:rPr>
              <a:t>30</a:t>
            </a:r>
          </a:p>
        </p:txBody>
      </p:sp>
      <p:sp>
        <p:nvSpPr>
          <p:cNvPr id="42" name="TextBox 41"/>
          <p:cNvSpPr txBox="1"/>
          <p:nvPr/>
        </p:nvSpPr>
        <p:spPr>
          <a:xfrm>
            <a:off x="502920" y="6473952"/>
            <a:ext cx="6400800" cy="182880"/>
          </a:xfrm>
          <a:prstGeom prst="rect">
            <a:avLst/>
          </a:prstGeom>
          <a:noFill/>
        </p:spPr>
        <p:txBody>
          <a:bodyPr wrap="square" anchor="t" lIns="0" rIns="0" tIns="0" bIns="0">
            <a:spAutoFit/>
          </a:bodyPr>
          <a:lstStyle/>
          <a:p>
            <a:pPr algn="l"/>
            <a:r>
              <a:rPr sz="720" b="0" i="0">
                <a:solidFill>
                  <a:srgbClr val="6B7280"/>
                </a:solidFill>
                <a:latin typeface="Times New Roman"/>
              </a:rPr>
              <a:t>Strategic Management in the Age of AI · MGMT 465/665 · Course Introduction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969" cy="164592"/>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969" cy="3657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411480"/>
            <a:ext cx="5943600" cy="228600"/>
          </a:xfrm>
          <a:prstGeom prst="rect">
            <a:avLst/>
          </a:prstGeom>
          <a:noFill/>
        </p:spPr>
        <p:txBody>
          <a:bodyPr wrap="square" anchor="t" lIns="0" rIns="0" tIns="0" bIns="0">
            <a:spAutoFit/>
          </a:bodyPr>
          <a:lstStyle/>
          <a:p>
            <a:pPr algn="l"/>
            <a:r>
              <a:rPr sz="850" b="1" i="0">
                <a:solidFill>
                  <a:srgbClr val="2A6F97"/>
                </a:solidFill>
                <a:latin typeface="Times New Roman"/>
              </a:rPr>
              <a:t>PART II · COURSE LEARNING OUTCOMES</a:t>
            </a:r>
          </a:p>
        </p:txBody>
      </p:sp>
      <p:sp>
        <p:nvSpPr>
          <p:cNvPr id="6" name="TextBox 5"/>
          <p:cNvSpPr txBox="1"/>
          <p:nvPr/>
        </p:nvSpPr>
        <p:spPr>
          <a:xfrm>
            <a:off x="502920" y="640080"/>
            <a:ext cx="9509760" cy="457200"/>
          </a:xfrm>
          <a:prstGeom prst="rect">
            <a:avLst/>
          </a:prstGeom>
          <a:noFill/>
        </p:spPr>
        <p:txBody>
          <a:bodyPr wrap="square" anchor="t" lIns="0" rIns="0" tIns="0" bIns="0">
            <a:spAutoFit/>
          </a:bodyPr>
          <a:lstStyle/>
          <a:p>
            <a:pPr algn="l"/>
            <a:r>
              <a:rPr sz="2400" b="1" i="0">
                <a:solidFill>
                  <a:srgbClr val="111827"/>
                </a:solidFill>
                <a:latin typeface="Times New Roman"/>
              </a:rPr>
              <a:t>Ten outcomes mapped to Bloom's revised taxonomy</a:t>
            </a:r>
          </a:p>
        </p:txBody>
      </p:sp>
      <p:sp>
        <p:nvSpPr>
          <p:cNvPr id="7" name="TextBox 6"/>
          <p:cNvSpPr txBox="1"/>
          <p:nvPr/>
        </p:nvSpPr>
        <p:spPr>
          <a:xfrm>
            <a:off x="502920" y="1106424"/>
            <a:ext cx="10698480" cy="274320"/>
          </a:xfrm>
          <a:prstGeom prst="rect">
            <a:avLst/>
          </a:prstGeom>
          <a:noFill/>
        </p:spPr>
        <p:txBody>
          <a:bodyPr wrap="square" anchor="t" lIns="0" rIns="0" tIns="0" bIns="0">
            <a:spAutoFit/>
          </a:bodyPr>
          <a:lstStyle/>
          <a:p>
            <a:pPr algn="l"/>
            <a:r>
              <a:rPr sz="1250" b="0" i="1">
                <a:solidFill>
                  <a:srgbClr val="4B5563"/>
                </a:solidFill>
                <a:latin typeface="Times New Roman"/>
              </a:rPr>
              <a:t>Outcomes emphasize higher-order cognition, consistent with AACSB standards.</a:t>
            </a:r>
          </a:p>
        </p:txBody>
      </p:sp>
      <p:sp>
        <p:nvSpPr>
          <p:cNvPr id="8" name="Rectangle 7"/>
          <p:cNvSpPr/>
          <p:nvPr/>
        </p:nvSpPr>
        <p:spPr>
          <a:xfrm>
            <a:off x="868680" y="1810512"/>
            <a:ext cx="10424160" cy="329184"/>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7" y="1810512"/>
            <a:ext cx="877824" cy="329184"/>
          </a:xfrm>
          <a:prstGeom prst="rect">
            <a:avLst/>
          </a:prstGeom>
          <a:noFill/>
        </p:spPr>
        <p:txBody>
          <a:bodyPr wrap="square" anchor="ctr" lIns="0" rIns="0" tIns="0" bIns="0">
            <a:spAutoFit/>
          </a:bodyPr>
          <a:lstStyle/>
          <a:p>
            <a:pPr algn="l"/>
            <a:r>
              <a:rPr sz="950" b="1" i="0">
                <a:solidFill>
                  <a:srgbClr val="FFFFFF"/>
                </a:solidFill>
                <a:latin typeface="Times New Roman"/>
              </a:rPr>
              <a:t>CLO</a:t>
            </a:r>
          </a:p>
        </p:txBody>
      </p:sp>
      <p:sp>
        <p:nvSpPr>
          <p:cNvPr id="10" name="TextBox 9"/>
          <p:cNvSpPr txBox="1"/>
          <p:nvPr/>
        </p:nvSpPr>
        <p:spPr>
          <a:xfrm>
            <a:off x="2075688" y="1810512"/>
            <a:ext cx="7552944" cy="329184"/>
          </a:xfrm>
          <a:prstGeom prst="rect">
            <a:avLst/>
          </a:prstGeom>
          <a:noFill/>
        </p:spPr>
        <p:txBody>
          <a:bodyPr wrap="square" anchor="ctr" lIns="0" rIns="0" tIns="0" bIns="0">
            <a:spAutoFit/>
          </a:bodyPr>
          <a:lstStyle/>
          <a:p>
            <a:pPr algn="l"/>
            <a:r>
              <a:rPr sz="950" b="1" i="0">
                <a:solidFill>
                  <a:srgbClr val="FFFFFF"/>
                </a:solidFill>
                <a:latin typeface="Times New Roman"/>
              </a:rPr>
              <a:t>LEARNING OUTCOME</a:t>
            </a:r>
          </a:p>
        </p:txBody>
      </p:sp>
      <p:sp>
        <p:nvSpPr>
          <p:cNvPr id="11" name="TextBox 10"/>
          <p:cNvSpPr txBox="1"/>
          <p:nvPr/>
        </p:nvSpPr>
        <p:spPr>
          <a:xfrm>
            <a:off x="9848088" y="1810512"/>
            <a:ext cx="1335024" cy="329184"/>
          </a:xfrm>
          <a:prstGeom prst="rect">
            <a:avLst/>
          </a:prstGeom>
          <a:noFill/>
        </p:spPr>
        <p:txBody>
          <a:bodyPr wrap="square" anchor="ctr" lIns="0" rIns="0" tIns="0" bIns="0">
            <a:spAutoFit/>
          </a:bodyPr>
          <a:lstStyle/>
          <a:p>
            <a:pPr algn="l"/>
            <a:r>
              <a:rPr sz="950" b="1" i="0">
                <a:solidFill>
                  <a:srgbClr val="FFFFFF"/>
                </a:solidFill>
                <a:latin typeface="Times New Roman"/>
              </a:rPr>
              <a:t>BLOOM'S LEVEL</a:t>
            </a:r>
          </a:p>
        </p:txBody>
      </p:sp>
      <p:sp>
        <p:nvSpPr>
          <p:cNvPr id="12" name="Rectangle 11"/>
          <p:cNvSpPr/>
          <p:nvPr/>
        </p:nvSpPr>
        <p:spPr>
          <a:xfrm>
            <a:off x="868680" y="2139696"/>
            <a:ext cx="10424160" cy="36576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68680" y="2494483"/>
            <a:ext cx="10424160" cy="10972"/>
          </a:xfrm>
          <a:prstGeom prst="rect">
            <a:avLst/>
          </a:prstGeom>
          <a:solidFill>
            <a:srgbClr val="E2E5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2139696"/>
            <a:ext cx="877824" cy="365760"/>
          </a:xfrm>
          <a:prstGeom prst="rect">
            <a:avLst/>
          </a:prstGeom>
          <a:noFill/>
        </p:spPr>
        <p:txBody>
          <a:bodyPr wrap="square" anchor="ctr" lIns="0" rIns="0" tIns="0" bIns="0">
            <a:spAutoFit/>
          </a:bodyPr>
          <a:lstStyle/>
          <a:p>
            <a:pPr algn="l">
              <a:lnSpc>
                <a:spcPct val="106000"/>
              </a:lnSpc>
            </a:pPr>
            <a:r>
              <a:rPr sz="1100" b="1" i="0">
                <a:solidFill>
                  <a:srgbClr val="10233F"/>
                </a:solidFill>
                <a:latin typeface="Times New Roman"/>
              </a:rPr>
              <a:t>CLO 1</a:t>
            </a:r>
          </a:p>
        </p:txBody>
      </p:sp>
      <p:sp>
        <p:nvSpPr>
          <p:cNvPr id="15" name="TextBox 14"/>
          <p:cNvSpPr txBox="1"/>
          <p:nvPr/>
        </p:nvSpPr>
        <p:spPr>
          <a:xfrm>
            <a:off x="2075688" y="2139696"/>
            <a:ext cx="7552944" cy="365760"/>
          </a:xfrm>
          <a:prstGeom prst="rect">
            <a:avLst/>
          </a:prstGeom>
          <a:noFill/>
        </p:spPr>
        <p:txBody>
          <a:bodyPr wrap="square" anchor="ctr" lIns="0" rIns="0" tIns="0" bIns="0">
            <a:spAutoFit/>
          </a:bodyPr>
          <a:lstStyle/>
          <a:p>
            <a:pPr algn="l">
              <a:lnSpc>
                <a:spcPct val="106000"/>
              </a:lnSpc>
            </a:pPr>
            <a:r>
              <a:rPr sz="1100" b="0" i="0">
                <a:solidFill>
                  <a:srgbClr val="111827"/>
                </a:solidFill>
                <a:latin typeface="Times New Roman"/>
              </a:rPr>
              <a:t>Analyze competitive environments using classical and AI-enabled strategic frameworks.</a:t>
            </a:r>
          </a:p>
        </p:txBody>
      </p:sp>
      <p:sp>
        <p:nvSpPr>
          <p:cNvPr id="16" name="TextBox 15"/>
          <p:cNvSpPr txBox="1"/>
          <p:nvPr/>
        </p:nvSpPr>
        <p:spPr>
          <a:xfrm>
            <a:off x="9848088" y="2139696"/>
            <a:ext cx="1335024" cy="365760"/>
          </a:xfrm>
          <a:prstGeom prst="rect">
            <a:avLst/>
          </a:prstGeom>
          <a:noFill/>
        </p:spPr>
        <p:txBody>
          <a:bodyPr wrap="square" anchor="ctr" lIns="0" rIns="0" tIns="0" bIns="0">
            <a:spAutoFit/>
          </a:bodyPr>
          <a:lstStyle/>
          <a:p>
            <a:pPr algn="l">
              <a:lnSpc>
                <a:spcPct val="106000"/>
              </a:lnSpc>
            </a:pPr>
            <a:r>
              <a:rPr sz="1100" b="0" i="0">
                <a:solidFill>
                  <a:srgbClr val="111827"/>
                </a:solidFill>
                <a:latin typeface="Times New Roman"/>
              </a:rPr>
              <a:t>Analyze</a:t>
            </a:r>
          </a:p>
        </p:txBody>
      </p:sp>
      <p:sp>
        <p:nvSpPr>
          <p:cNvPr id="17" name="Rectangle 16"/>
          <p:cNvSpPr/>
          <p:nvPr/>
        </p:nvSpPr>
        <p:spPr>
          <a:xfrm>
            <a:off x="868680" y="2860243"/>
            <a:ext cx="10424160" cy="10972"/>
          </a:xfrm>
          <a:prstGeom prst="rect">
            <a:avLst/>
          </a:prstGeom>
          <a:solidFill>
            <a:srgbClr val="E2E5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78407" y="2505456"/>
            <a:ext cx="877824" cy="365760"/>
          </a:xfrm>
          <a:prstGeom prst="rect">
            <a:avLst/>
          </a:prstGeom>
          <a:noFill/>
        </p:spPr>
        <p:txBody>
          <a:bodyPr wrap="square" anchor="ctr" lIns="0" rIns="0" tIns="0" bIns="0">
            <a:spAutoFit/>
          </a:bodyPr>
          <a:lstStyle/>
          <a:p>
            <a:pPr algn="l">
              <a:lnSpc>
                <a:spcPct val="106000"/>
              </a:lnSpc>
            </a:pPr>
            <a:r>
              <a:rPr sz="1100" b="1" i="0">
                <a:solidFill>
                  <a:srgbClr val="10233F"/>
                </a:solidFill>
                <a:latin typeface="Times New Roman"/>
              </a:rPr>
              <a:t>CLO 2</a:t>
            </a:r>
          </a:p>
        </p:txBody>
      </p:sp>
      <p:sp>
        <p:nvSpPr>
          <p:cNvPr id="19" name="TextBox 18"/>
          <p:cNvSpPr txBox="1"/>
          <p:nvPr/>
        </p:nvSpPr>
        <p:spPr>
          <a:xfrm>
            <a:off x="2075688" y="2505456"/>
            <a:ext cx="7552944" cy="365760"/>
          </a:xfrm>
          <a:prstGeom prst="rect">
            <a:avLst/>
          </a:prstGeom>
          <a:noFill/>
        </p:spPr>
        <p:txBody>
          <a:bodyPr wrap="square" anchor="ctr" lIns="0" rIns="0" tIns="0" bIns="0">
            <a:spAutoFit/>
          </a:bodyPr>
          <a:lstStyle/>
          <a:p>
            <a:pPr algn="l">
              <a:lnSpc>
                <a:spcPct val="106000"/>
              </a:lnSpc>
            </a:pPr>
            <a:r>
              <a:rPr sz="1100" b="0" i="0">
                <a:solidFill>
                  <a:srgbClr val="111827"/>
                </a:solidFill>
                <a:latin typeface="Times New Roman"/>
              </a:rPr>
              <a:t>Evaluate organizational capabilities and AI readiness.</a:t>
            </a:r>
          </a:p>
        </p:txBody>
      </p:sp>
      <p:sp>
        <p:nvSpPr>
          <p:cNvPr id="20" name="TextBox 19"/>
          <p:cNvSpPr txBox="1"/>
          <p:nvPr/>
        </p:nvSpPr>
        <p:spPr>
          <a:xfrm>
            <a:off x="9848088" y="2505456"/>
            <a:ext cx="1335024" cy="365760"/>
          </a:xfrm>
          <a:prstGeom prst="rect">
            <a:avLst/>
          </a:prstGeom>
          <a:noFill/>
        </p:spPr>
        <p:txBody>
          <a:bodyPr wrap="square" anchor="ctr" lIns="0" rIns="0" tIns="0" bIns="0">
            <a:spAutoFit/>
          </a:bodyPr>
          <a:lstStyle/>
          <a:p>
            <a:pPr algn="l">
              <a:lnSpc>
                <a:spcPct val="106000"/>
              </a:lnSpc>
            </a:pPr>
            <a:r>
              <a:rPr sz="1100" b="0" i="0">
                <a:solidFill>
                  <a:srgbClr val="111827"/>
                </a:solidFill>
                <a:latin typeface="Times New Roman"/>
              </a:rPr>
              <a:t>Evaluate</a:t>
            </a:r>
          </a:p>
        </p:txBody>
      </p:sp>
      <p:sp>
        <p:nvSpPr>
          <p:cNvPr id="21" name="Rectangle 20"/>
          <p:cNvSpPr/>
          <p:nvPr/>
        </p:nvSpPr>
        <p:spPr>
          <a:xfrm>
            <a:off x="868680" y="2871215"/>
            <a:ext cx="10424160" cy="36576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68680" y="3226003"/>
            <a:ext cx="10424160" cy="10972"/>
          </a:xfrm>
          <a:prstGeom prst="rect">
            <a:avLst/>
          </a:prstGeom>
          <a:solidFill>
            <a:srgbClr val="E2E5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78407" y="2871215"/>
            <a:ext cx="877824" cy="365760"/>
          </a:xfrm>
          <a:prstGeom prst="rect">
            <a:avLst/>
          </a:prstGeom>
          <a:noFill/>
        </p:spPr>
        <p:txBody>
          <a:bodyPr wrap="square" anchor="ctr" lIns="0" rIns="0" tIns="0" bIns="0">
            <a:spAutoFit/>
          </a:bodyPr>
          <a:lstStyle/>
          <a:p>
            <a:pPr algn="l">
              <a:lnSpc>
                <a:spcPct val="106000"/>
              </a:lnSpc>
            </a:pPr>
            <a:r>
              <a:rPr sz="1100" b="1" i="0">
                <a:solidFill>
                  <a:srgbClr val="10233F"/>
                </a:solidFill>
                <a:latin typeface="Times New Roman"/>
              </a:rPr>
              <a:t>CLO 3</a:t>
            </a:r>
          </a:p>
        </p:txBody>
      </p:sp>
      <p:sp>
        <p:nvSpPr>
          <p:cNvPr id="24" name="TextBox 23"/>
          <p:cNvSpPr txBox="1"/>
          <p:nvPr/>
        </p:nvSpPr>
        <p:spPr>
          <a:xfrm>
            <a:off x="2075688" y="2871215"/>
            <a:ext cx="7552944" cy="365760"/>
          </a:xfrm>
          <a:prstGeom prst="rect">
            <a:avLst/>
          </a:prstGeom>
          <a:noFill/>
        </p:spPr>
        <p:txBody>
          <a:bodyPr wrap="square" anchor="ctr" lIns="0" rIns="0" tIns="0" bIns="0">
            <a:spAutoFit/>
          </a:bodyPr>
          <a:lstStyle/>
          <a:p>
            <a:pPr algn="l">
              <a:lnSpc>
                <a:spcPct val="106000"/>
              </a:lnSpc>
            </a:pPr>
            <a:r>
              <a:rPr sz="1100" b="0" i="0">
                <a:solidFill>
                  <a:srgbClr val="111827"/>
                </a:solidFill>
                <a:latin typeface="Times New Roman"/>
              </a:rPr>
              <a:t>Formulate AI-enabled competitive strategies.</a:t>
            </a:r>
          </a:p>
        </p:txBody>
      </p:sp>
      <p:sp>
        <p:nvSpPr>
          <p:cNvPr id="25" name="TextBox 24"/>
          <p:cNvSpPr txBox="1"/>
          <p:nvPr/>
        </p:nvSpPr>
        <p:spPr>
          <a:xfrm>
            <a:off x="9848088" y="2871215"/>
            <a:ext cx="1335024" cy="365760"/>
          </a:xfrm>
          <a:prstGeom prst="rect">
            <a:avLst/>
          </a:prstGeom>
          <a:noFill/>
        </p:spPr>
        <p:txBody>
          <a:bodyPr wrap="square" anchor="ctr" lIns="0" rIns="0" tIns="0" bIns="0">
            <a:spAutoFit/>
          </a:bodyPr>
          <a:lstStyle/>
          <a:p>
            <a:pPr algn="l">
              <a:lnSpc>
                <a:spcPct val="106000"/>
              </a:lnSpc>
            </a:pPr>
            <a:r>
              <a:rPr sz="1100" b="0" i="0">
                <a:solidFill>
                  <a:srgbClr val="111827"/>
                </a:solidFill>
                <a:latin typeface="Times New Roman"/>
              </a:rPr>
              <a:t>Create</a:t>
            </a:r>
          </a:p>
        </p:txBody>
      </p:sp>
      <p:sp>
        <p:nvSpPr>
          <p:cNvPr id="26" name="Rectangle 25"/>
          <p:cNvSpPr/>
          <p:nvPr/>
        </p:nvSpPr>
        <p:spPr>
          <a:xfrm>
            <a:off x="868680" y="3591763"/>
            <a:ext cx="10424160" cy="10972"/>
          </a:xfrm>
          <a:prstGeom prst="rect">
            <a:avLst/>
          </a:prstGeom>
          <a:solidFill>
            <a:srgbClr val="E2E5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8407" y="3236975"/>
            <a:ext cx="877824" cy="365760"/>
          </a:xfrm>
          <a:prstGeom prst="rect">
            <a:avLst/>
          </a:prstGeom>
          <a:noFill/>
        </p:spPr>
        <p:txBody>
          <a:bodyPr wrap="square" anchor="ctr" lIns="0" rIns="0" tIns="0" bIns="0">
            <a:spAutoFit/>
          </a:bodyPr>
          <a:lstStyle/>
          <a:p>
            <a:pPr algn="l">
              <a:lnSpc>
                <a:spcPct val="106000"/>
              </a:lnSpc>
            </a:pPr>
            <a:r>
              <a:rPr sz="1100" b="1" i="0">
                <a:solidFill>
                  <a:srgbClr val="10233F"/>
                </a:solidFill>
                <a:latin typeface="Times New Roman"/>
              </a:rPr>
              <a:t>CLO 4</a:t>
            </a:r>
          </a:p>
        </p:txBody>
      </p:sp>
      <p:sp>
        <p:nvSpPr>
          <p:cNvPr id="28" name="TextBox 27"/>
          <p:cNvSpPr txBox="1"/>
          <p:nvPr/>
        </p:nvSpPr>
        <p:spPr>
          <a:xfrm>
            <a:off x="2075688" y="3236975"/>
            <a:ext cx="7552944" cy="365760"/>
          </a:xfrm>
          <a:prstGeom prst="rect">
            <a:avLst/>
          </a:prstGeom>
          <a:noFill/>
        </p:spPr>
        <p:txBody>
          <a:bodyPr wrap="square" anchor="ctr" lIns="0" rIns="0" tIns="0" bIns="0">
            <a:spAutoFit/>
          </a:bodyPr>
          <a:lstStyle/>
          <a:p>
            <a:pPr algn="l">
              <a:lnSpc>
                <a:spcPct val="106000"/>
              </a:lnSpc>
            </a:pPr>
            <a:r>
              <a:rPr sz="1100" b="0" i="0">
                <a:solidFill>
                  <a:srgbClr val="111827"/>
                </a:solidFill>
                <a:latin typeface="Times New Roman"/>
              </a:rPr>
              <a:t>Assess governance, ethical, legal, and societal implications of AI.</a:t>
            </a:r>
          </a:p>
        </p:txBody>
      </p:sp>
      <p:sp>
        <p:nvSpPr>
          <p:cNvPr id="29" name="TextBox 28"/>
          <p:cNvSpPr txBox="1"/>
          <p:nvPr/>
        </p:nvSpPr>
        <p:spPr>
          <a:xfrm>
            <a:off x="9848088" y="3236975"/>
            <a:ext cx="1335024" cy="365760"/>
          </a:xfrm>
          <a:prstGeom prst="rect">
            <a:avLst/>
          </a:prstGeom>
          <a:noFill/>
        </p:spPr>
        <p:txBody>
          <a:bodyPr wrap="square" anchor="ctr" lIns="0" rIns="0" tIns="0" bIns="0">
            <a:spAutoFit/>
          </a:bodyPr>
          <a:lstStyle/>
          <a:p>
            <a:pPr algn="l">
              <a:lnSpc>
                <a:spcPct val="106000"/>
              </a:lnSpc>
            </a:pPr>
            <a:r>
              <a:rPr sz="1100" b="0" i="0">
                <a:solidFill>
                  <a:srgbClr val="111827"/>
                </a:solidFill>
                <a:latin typeface="Times New Roman"/>
              </a:rPr>
              <a:t>Evaluate</a:t>
            </a:r>
          </a:p>
        </p:txBody>
      </p:sp>
      <p:sp>
        <p:nvSpPr>
          <p:cNvPr id="30" name="Rectangle 29"/>
          <p:cNvSpPr/>
          <p:nvPr/>
        </p:nvSpPr>
        <p:spPr>
          <a:xfrm>
            <a:off x="868680" y="3602735"/>
            <a:ext cx="10424160" cy="36576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68680" y="3957523"/>
            <a:ext cx="10424160" cy="10972"/>
          </a:xfrm>
          <a:prstGeom prst="rect">
            <a:avLst/>
          </a:prstGeom>
          <a:solidFill>
            <a:srgbClr val="E2E5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78407" y="3602735"/>
            <a:ext cx="877824" cy="365760"/>
          </a:xfrm>
          <a:prstGeom prst="rect">
            <a:avLst/>
          </a:prstGeom>
          <a:noFill/>
        </p:spPr>
        <p:txBody>
          <a:bodyPr wrap="square" anchor="ctr" lIns="0" rIns="0" tIns="0" bIns="0">
            <a:spAutoFit/>
          </a:bodyPr>
          <a:lstStyle/>
          <a:p>
            <a:pPr algn="l">
              <a:lnSpc>
                <a:spcPct val="106000"/>
              </a:lnSpc>
            </a:pPr>
            <a:r>
              <a:rPr sz="1100" b="1" i="0">
                <a:solidFill>
                  <a:srgbClr val="10233F"/>
                </a:solidFill>
                <a:latin typeface="Times New Roman"/>
              </a:rPr>
              <a:t>CLO 5</a:t>
            </a:r>
          </a:p>
        </p:txBody>
      </p:sp>
      <p:sp>
        <p:nvSpPr>
          <p:cNvPr id="33" name="TextBox 32"/>
          <p:cNvSpPr txBox="1"/>
          <p:nvPr/>
        </p:nvSpPr>
        <p:spPr>
          <a:xfrm>
            <a:off x="2075688" y="3602735"/>
            <a:ext cx="7552944" cy="365760"/>
          </a:xfrm>
          <a:prstGeom prst="rect">
            <a:avLst/>
          </a:prstGeom>
          <a:noFill/>
        </p:spPr>
        <p:txBody>
          <a:bodyPr wrap="square" anchor="ctr" lIns="0" rIns="0" tIns="0" bIns="0">
            <a:spAutoFit/>
          </a:bodyPr>
          <a:lstStyle/>
          <a:p>
            <a:pPr algn="l">
              <a:lnSpc>
                <a:spcPct val="106000"/>
              </a:lnSpc>
            </a:pPr>
            <a:r>
              <a:rPr sz="1100" b="0" i="0">
                <a:solidFill>
                  <a:srgbClr val="111827"/>
                </a:solidFill>
                <a:latin typeface="Times New Roman"/>
              </a:rPr>
              <a:t>Integrate multiple strategic theories into comprehensive organizational analyses.</a:t>
            </a:r>
          </a:p>
        </p:txBody>
      </p:sp>
      <p:sp>
        <p:nvSpPr>
          <p:cNvPr id="34" name="TextBox 33"/>
          <p:cNvSpPr txBox="1"/>
          <p:nvPr/>
        </p:nvSpPr>
        <p:spPr>
          <a:xfrm>
            <a:off x="9848088" y="3602735"/>
            <a:ext cx="1335024" cy="365760"/>
          </a:xfrm>
          <a:prstGeom prst="rect">
            <a:avLst/>
          </a:prstGeom>
          <a:noFill/>
        </p:spPr>
        <p:txBody>
          <a:bodyPr wrap="square" anchor="ctr" lIns="0" rIns="0" tIns="0" bIns="0">
            <a:spAutoFit/>
          </a:bodyPr>
          <a:lstStyle/>
          <a:p>
            <a:pPr algn="l">
              <a:lnSpc>
                <a:spcPct val="106000"/>
              </a:lnSpc>
            </a:pPr>
            <a:r>
              <a:rPr sz="1100" b="0" i="0">
                <a:solidFill>
                  <a:srgbClr val="111827"/>
                </a:solidFill>
                <a:latin typeface="Times New Roman"/>
              </a:rPr>
              <a:t>Create</a:t>
            </a:r>
          </a:p>
        </p:txBody>
      </p:sp>
      <p:sp>
        <p:nvSpPr>
          <p:cNvPr id="35" name="Rectangle 34"/>
          <p:cNvSpPr/>
          <p:nvPr/>
        </p:nvSpPr>
        <p:spPr>
          <a:xfrm>
            <a:off x="868680" y="4323283"/>
            <a:ext cx="10424160" cy="10972"/>
          </a:xfrm>
          <a:prstGeom prst="rect">
            <a:avLst/>
          </a:prstGeom>
          <a:solidFill>
            <a:srgbClr val="E2E5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78407" y="3968496"/>
            <a:ext cx="877824" cy="365760"/>
          </a:xfrm>
          <a:prstGeom prst="rect">
            <a:avLst/>
          </a:prstGeom>
          <a:noFill/>
        </p:spPr>
        <p:txBody>
          <a:bodyPr wrap="square" anchor="ctr" lIns="0" rIns="0" tIns="0" bIns="0">
            <a:spAutoFit/>
          </a:bodyPr>
          <a:lstStyle/>
          <a:p>
            <a:pPr algn="l">
              <a:lnSpc>
                <a:spcPct val="106000"/>
              </a:lnSpc>
            </a:pPr>
            <a:r>
              <a:rPr sz="1100" b="1" i="0">
                <a:solidFill>
                  <a:srgbClr val="10233F"/>
                </a:solidFill>
                <a:latin typeface="Times New Roman"/>
              </a:rPr>
              <a:t>CLO 6</a:t>
            </a:r>
          </a:p>
        </p:txBody>
      </p:sp>
      <p:sp>
        <p:nvSpPr>
          <p:cNvPr id="37" name="TextBox 36"/>
          <p:cNvSpPr txBox="1"/>
          <p:nvPr/>
        </p:nvSpPr>
        <p:spPr>
          <a:xfrm>
            <a:off x="2075688" y="3968496"/>
            <a:ext cx="7552944" cy="365760"/>
          </a:xfrm>
          <a:prstGeom prst="rect">
            <a:avLst/>
          </a:prstGeom>
          <a:noFill/>
        </p:spPr>
        <p:txBody>
          <a:bodyPr wrap="square" anchor="ctr" lIns="0" rIns="0" tIns="0" bIns="0">
            <a:spAutoFit/>
          </a:bodyPr>
          <a:lstStyle/>
          <a:p>
            <a:pPr algn="l">
              <a:lnSpc>
                <a:spcPct val="106000"/>
              </a:lnSpc>
            </a:pPr>
            <a:r>
              <a:rPr sz="1100" b="0" i="0">
                <a:solidFill>
                  <a:srgbClr val="111827"/>
                </a:solidFill>
                <a:latin typeface="Times New Roman"/>
              </a:rPr>
              <a:t>Employ AI responsibly to support strategic decision making.</a:t>
            </a:r>
          </a:p>
        </p:txBody>
      </p:sp>
      <p:sp>
        <p:nvSpPr>
          <p:cNvPr id="38" name="TextBox 37"/>
          <p:cNvSpPr txBox="1"/>
          <p:nvPr/>
        </p:nvSpPr>
        <p:spPr>
          <a:xfrm>
            <a:off x="9848088" y="3968496"/>
            <a:ext cx="1335024" cy="365760"/>
          </a:xfrm>
          <a:prstGeom prst="rect">
            <a:avLst/>
          </a:prstGeom>
          <a:noFill/>
        </p:spPr>
        <p:txBody>
          <a:bodyPr wrap="square" anchor="ctr" lIns="0" rIns="0" tIns="0" bIns="0">
            <a:spAutoFit/>
          </a:bodyPr>
          <a:lstStyle/>
          <a:p>
            <a:pPr algn="l">
              <a:lnSpc>
                <a:spcPct val="106000"/>
              </a:lnSpc>
            </a:pPr>
            <a:r>
              <a:rPr sz="1100" b="0" i="0">
                <a:solidFill>
                  <a:srgbClr val="111827"/>
                </a:solidFill>
                <a:latin typeface="Times New Roman"/>
              </a:rPr>
              <a:t>Evaluate</a:t>
            </a:r>
          </a:p>
        </p:txBody>
      </p:sp>
      <p:sp>
        <p:nvSpPr>
          <p:cNvPr id="39" name="Rectangle 38"/>
          <p:cNvSpPr/>
          <p:nvPr/>
        </p:nvSpPr>
        <p:spPr>
          <a:xfrm>
            <a:off x="868680" y="4334256"/>
            <a:ext cx="10424160" cy="36576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68680" y="4689043"/>
            <a:ext cx="10424160" cy="10972"/>
          </a:xfrm>
          <a:prstGeom prst="rect">
            <a:avLst/>
          </a:prstGeom>
          <a:solidFill>
            <a:srgbClr val="E2E5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78407" y="4334256"/>
            <a:ext cx="877824" cy="365760"/>
          </a:xfrm>
          <a:prstGeom prst="rect">
            <a:avLst/>
          </a:prstGeom>
          <a:noFill/>
        </p:spPr>
        <p:txBody>
          <a:bodyPr wrap="square" anchor="ctr" lIns="0" rIns="0" tIns="0" bIns="0">
            <a:spAutoFit/>
          </a:bodyPr>
          <a:lstStyle/>
          <a:p>
            <a:pPr algn="l">
              <a:lnSpc>
                <a:spcPct val="106000"/>
              </a:lnSpc>
            </a:pPr>
            <a:r>
              <a:rPr sz="1100" b="1" i="0">
                <a:solidFill>
                  <a:srgbClr val="10233F"/>
                </a:solidFill>
                <a:latin typeface="Times New Roman"/>
              </a:rPr>
              <a:t>CLO 7</a:t>
            </a:r>
          </a:p>
        </p:txBody>
      </p:sp>
      <p:sp>
        <p:nvSpPr>
          <p:cNvPr id="42" name="TextBox 41"/>
          <p:cNvSpPr txBox="1"/>
          <p:nvPr/>
        </p:nvSpPr>
        <p:spPr>
          <a:xfrm>
            <a:off x="2075688" y="4334256"/>
            <a:ext cx="7552944" cy="365760"/>
          </a:xfrm>
          <a:prstGeom prst="rect">
            <a:avLst/>
          </a:prstGeom>
          <a:noFill/>
        </p:spPr>
        <p:txBody>
          <a:bodyPr wrap="square" anchor="ctr" lIns="0" rIns="0" tIns="0" bIns="0">
            <a:spAutoFit/>
          </a:bodyPr>
          <a:lstStyle/>
          <a:p>
            <a:pPr algn="l">
              <a:lnSpc>
                <a:spcPct val="106000"/>
              </a:lnSpc>
            </a:pPr>
            <a:r>
              <a:rPr sz="1100" b="0" i="0">
                <a:solidFill>
                  <a:srgbClr val="111827"/>
                </a:solidFill>
                <a:latin typeface="Times New Roman"/>
              </a:rPr>
              <a:t>Communicate executive-quality strategic recommendations.</a:t>
            </a:r>
          </a:p>
        </p:txBody>
      </p:sp>
      <p:sp>
        <p:nvSpPr>
          <p:cNvPr id="43" name="TextBox 42"/>
          <p:cNvSpPr txBox="1"/>
          <p:nvPr/>
        </p:nvSpPr>
        <p:spPr>
          <a:xfrm>
            <a:off x="9848088" y="4334256"/>
            <a:ext cx="1335024" cy="365760"/>
          </a:xfrm>
          <a:prstGeom prst="rect">
            <a:avLst/>
          </a:prstGeom>
          <a:noFill/>
        </p:spPr>
        <p:txBody>
          <a:bodyPr wrap="square" anchor="ctr" lIns="0" rIns="0" tIns="0" bIns="0">
            <a:spAutoFit/>
          </a:bodyPr>
          <a:lstStyle/>
          <a:p>
            <a:pPr algn="l">
              <a:lnSpc>
                <a:spcPct val="106000"/>
              </a:lnSpc>
            </a:pPr>
            <a:r>
              <a:rPr sz="1100" b="0" i="0">
                <a:solidFill>
                  <a:srgbClr val="111827"/>
                </a:solidFill>
                <a:latin typeface="Times New Roman"/>
              </a:rPr>
              <a:t>Create</a:t>
            </a:r>
          </a:p>
        </p:txBody>
      </p:sp>
      <p:sp>
        <p:nvSpPr>
          <p:cNvPr id="44" name="Rectangle 43"/>
          <p:cNvSpPr/>
          <p:nvPr/>
        </p:nvSpPr>
        <p:spPr>
          <a:xfrm>
            <a:off x="868680" y="5054803"/>
            <a:ext cx="10424160" cy="10972"/>
          </a:xfrm>
          <a:prstGeom prst="rect">
            <a:avLst/>
          </a:prstGeom>
          <a:solidFill>
            <a:srgbClr val="E2E5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78407" y="4700016"/>
            <a:ext cx="877824" cy="365760"/>
          </a:xfrm>
          <a:prstGeom prst="rect">
            <a:avLst/>
          </a:prstGeom>
          <a:noFill/>
        </p:spPr>
        <p:txBody>
          <a:bodyPr wrap="square" anchor="ctr" lIns="0" rIns="0" tIns="0" bIns="0">
            <a:spAutoFit/>
          </a:bodyPr>
          <a:lstStyle/>
          <a:p>
            <a:pPr algn="l">
              <a:lnSpc>
                <a:spcPct val="106000"/>
              </a:lnSpc>
            </a:pPr>
            <a:r>
              <a:rPr sz="1100" b="1" i="0">
                <a:solidFill>
                  <a:srgbClr val="10233F"/>
                </a:solidFill>
                <a:latin typeface="Times New Roman"/>
              </a:rPr>
              <a:t>CLO 8</a:t>
            </a:r>
          </a:p>
        </p:txBody>
      </p:sp>
      <p:sp>
        <p:nvSpPr>
          <p:cNvPr id="46" name="TextBox 45"/>
          <p:cNvSpPr txBox="1"/>
          <p:nvPr/>
        </p:nvSpPr>
        <p:spPr>
          <a:xfrm>
            <a:off x="2075688" y="4700016"/>
            <a:ext cx="7552944" cy="365760"/>
          </a:xfrm>
          <a:prstGeom prst="rect">
            <a:avLst/>
          </a:prstGeom>
          <a:noFill/>
        </p:spPr>
        <p:txBody>
          <a:bodyPr wrap="square" anchor="ctr" lIns="0" rIns="0" tIns="0" bIns="0">
            <a:spAutoFit/>
          </a:bodyPr>
          <a:lstStyle/>
          <a:p>
            <a:pPr algn="l">
              <a:lnSpc>
                <a:spcPct val="106000"/>
              </a:lnSpc>
            </a:pPr>
            <a:r>
              <a:rPr sz="1100" b="0" i="0">
                <a:solidFill>
                  <a:srgbClr val="111827"/>
                </a:solidFill>
                <a:latin typeface="Times New Roman"/>
              </a:rPr>
              <a:t>Design organizational transformation strategies for AI adoption.</a:t>
            </a:r>
          </a:p>
        </p:txBody>
      </p:sp>
      <p:sp>
        <p:nvSpPr>
          <p:cNvPr id="47" name="TextBox 46"/>
          <p:cNvSpPr txBox="1"/>
          <p:nvPr/>
        </p:nvSpPr>
        <p:spPr>
          <a:xfrm>
            <a:off x="9848088" y="4700016"/>
            <a:ext cx="1335024" cy="365760"/>
          </a:xfrm>
          <a:prstGeom prst="rect">
            <a:avLst/>
          </a:prstGeom>
          <a:noFill/>
        </p:spPr>
        <p:txBody>
          <a:bodyPr wrap="square" anchor="ctr" lIns="0" rIns="0" tIns="0" bIns="0">
            <a:spAutoFit/>
          </a:bodyPr>
          <a:lstStyle/>
          <a:p>
            <a:pPr algn="l">
              <a:lnSpc>
                <a:spcPct val="106000"/>
              </a:lnSpc>
            </a:pPr>
            <a:r>
              <a:rPr sz="1100" b="0" i="0">
                <a:solidFill>
                  <a:srgbClr val="111827"/>
                </a:solidFill>
                <a:latin typeface="Times New Roman"/>
              </a:rPr>
              <a:t>Create</a:t>
            </a:r>
          </a:p>
        </p:txBody>
      </p:sp>
      <p:sp>
        <p:nvSpPr>
          <p:cNvPr id="48" name="Rectangle 47"/>
          <p:cNvSpPr/>
          <p:nvPr/>
        </p:nvSpPr>
        <p:spPr>
          <a:xfrm>
            <a:off x="868680" y="5065776"/>
            <a:ext cx="10424160" cy="36576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68680" y="5420563"/>
            <a:ext cx="10424160" cy="10972"/>
          </a:xfrm>
          <a:prstGeom prst="rect">
            <a:avLst/>
          </a:prstGeom>
          <a:solidFill>
            <a:srgbClr val="E2E5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78407" y="5065776"/>
            <a:ext cx="877824" cy="365760"/>
          </a:xfrm>
          <a:prstGeom prst="rect">
            <a:avLst/>
          </a:prstGeom>
          <a:noFill/>
        </p:spPr>
        <p:txBody>
          <a:bodyPr wrap="square" anchor="ctr" lIns="0" rIns="0" tIns="0" bIns="0">
            <a:spAutoFit/>
          </a:bodyPr>
          <a:lstStyle/>
          <a:p>
            <a:pPr algn="l">
              <a:lnSpc>
                <a:spcPct val="106000"/>
              </a:lnSpc>
            </a:pPr>
            <a:r>
              <a:rPr sz="1100" b="1" i="0">
                <a:solidFill>
                  <a:srgbClr val="10233F"/>
                </a:solidFill>
                <a:latin typeface="Times New Roman"/>
              </a:rPr>
              <a:t>CLO 9</a:t>
            </a:r>
          </a:p>
        </p:txBody>
      </p:sp>
      <p:sp>
        <p:nvSpPr>
          <p:cNvPr id="51" name="TextBox 50"/>
          <p:cNvSpPr txBox="1"/>
          <p:nvPr/>
        </p:nvSpPr>
        <p:spPr>
          <a:xfrm>
            <a:off x="2075688" y="5065776"/>
            <a:ext cx="7552944" cy="365760"/>
          </a:xfrm>
          <a:prstGeom prst="rect">
            <a:avLst/>
          </a:prstGeom>
          <a:noFill/>
        </p:spPr>
        <p:txBody>
          <a:bodyPr wrap="square" anchor="ctr" lIns="0" rIns="0" tIns="0" bIns="0">
            <a:spAutoFit/>
          </a:bodyPr>
          <a:lstStyle/>
          <a:p>
            <a:pPr algn="l">
              <a:lnSpc>
                <a:spcPct val="106000"/>
              </a:lnSpc>
            </a:pPr>
            <a:r>
              <a:rPr sz="1100" b="0" i="0">
                <a:solidFill>
                  <a:srgbClr val="111827"/>
                </a:solidFill>
                <a:latin typeface="Times New Roman"/>
              </a:rPr>
              <a:t>Critically evaluate the continuing relevance of strategic management theory.</a:t>
            </a:r>
          </a:p>
        </p:txBody>
      </p:sp>
      <p:sp>
        <p:nvSpPr>
          <p:cNvPr id="52" name="TextBox 51"/>
          <p:cNvSpPr txBox="1"/>
          <p:nvPr/>
        </p:nvSpPr>
        <p:spPr>
          <a:xfrm>
            <a:off x="9848088" y="5065776"/>
            <a:ext cx="1335024" cy="365760"/>
          </a:xfrm>
          <a:prstGeom prst="rect">
            <a:avLst/>
          </a:prstGeom>
          <a:noFill/>
        </p:spPr>
        <p:txBody>
          <a:bodyPr wrap="square" anchor="ctr" lIns="0" rIns="0" tIns="0" bIns="0">
            <a:spAutoFit/>
          </a:bodyPr>
          <a:lstStyle/>
          <a:p>
            <a:pPr algn="l">
              <a:lnSpc>
                <a:spcPct val="106000"/>
              </a:lnSpc>
            </a:pPr>
            <a:r>
              <a:rPr sz="1100" b="0" i="0">
                <a:solidFill>
                  <a:srgbClr val="111827"/>
                </a:solidFill>
                <a:latin typeface="Times New Roman"/>
              </a:rPr>
              <a:t>Evaluate</a:t>
            </a:r>
          </a:p>
        </p:txBody>
      </p:sp>
      <p:sp>
        <p:nvSpPr>
          <p:cNvPr id="53" name="Rectangle 52"/>
          <p:cNvSpPr/>
          <p:nvPr/>
        </p:nvSpPr>
        <p:spPr>
          <a:xfrm>
            <a:off x="868680" y="5786323"/>
            <a:ext cx="10424160" cy="10972"/>
          </a:xfrm>
          <a:prstGeom prst="rect">
            <a:avLst/>
          </a:prstGeom>
          <a:solidFill>
            <a:srgbClr val="E2E5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978407" y="5431536"/>
            <a:ext cx="877824" cy="365760"/>
          </a:xfrm>
          <a:prstGeom prst="rect">
            <a:avLst/>
          </a:prstGeom>
          <a:noFill/>
        </p:spPr>
        <p:txBody>
          <a:bodyPr wrap="square" anchor="ctr" lIns="0" rIns="0" tIns="0" bIns="0">
            <a:spAutoFit/>
          </a:bodyPr>
          <a:lstStyle/>
          <a:p>
            <a:pPr algn="l">
              <a:lnSpc>
                <a:spcPct val="106000"/>
              </a:lnSpc>
            </a:pPr>
            <a:r>
              <a:rPr sz="1100" b="1" i="0">
                <a:solidFill>
                  <a:srgbClr val="10233F"/>
                </a:solidFill>
                <a:latin typeface="Times New Roman"/>
              </a:rPr>
              <a:t>CLO 10</a:t>
            </a:r>
          </a:p>
        </p:txBody>
      </p:sp>
      <p:sp>
        <p:nvSpPr>
          <p:cNvPr id="55" name="TextBox 54"/>
          <p:cNvSpPr txBox="1"/>
          <p:nvPr/>
        </p:nvSpPr>
        <p:spPr>
          <a:xfrm>
            <a:off x="2075688" y="5431536"/>
            <a:ext cx="7552944" cy="365760"/>
          </a:xfrm>
          <a:prstGeom prst="rect">
            <a:avLst/>
          </a:prstGeom>
          <a:noFill/>
        </p:spPr>
        <p:txBody>
          <a:bodyPr wrap="square" anchor="ctr" lIns="0" rIns="0" tIns="0" bIns="0">
            <a:spAutoFit/>
          </a:bodyPr>
          <a:lstStyle/>
          <a:p>
            <a:pPr algn="l">
              <a:lnSpc>
                <a:spcPct val="106000"/>
              </a:lnSpc>
            </a:pPr>
            <a:r>
              <a:rPr sz="1100" b="0" i="0">
                <a:solidFill>
                  <a:srgbClr val="111827"/>
                </a:solidFill>
                <a:latin typeface="Times New Roman"/>
              </a:rPr>
              <a:t>Integrate strategy, leadership, technology, and capabilities into a coherent executive perspective.</a:t>
            </a:r>
          </a:p>
        </p:txBody>
      </p:sp>
      <p:sp>
        <p:nvSpPr>
          <p:cNvPr id="56" name="TextBox 55"/>
          <p:cNvSpPr txBox="1"/>
          <p:nvPr/>
        </p:nvSpPr>
        <p:spPr>
          <a:xfrm>
            <a:off x="9848088" y="5431536"/>
            <a:ext cx="1335024" cy="365760"/>
          </a:xfrm>
          <a:prstGeom prst="rect">
            <a:avLst/>
          </a:prstGeom>
          <a:noFill/>
        </p:spPr>
        <p:txBody>
          <a:bodyPr wrap="square" anchor="ctr" lIns="0" rIns="0" tIns="0" bIns="0">
            <a:spAutoFit/>
          </a:bodyPr>
          <a:lstStyle/>
          <a:p>
            <a:pPr algn="l">
              <a:lnSpc>
                <a:spcPct val="106000"/>
              </a:lnSpc>
            </a:pPr>
            <a:r>
              <a:rPr sz="1100" b="0" i="0">
                <a:solidFill>
                  <a:srgbClr val="111827"/>
                </a:solidFill>
                <a:latin typeface="Times New Roman"/>
              </a:rPr>
              <a:t>Create</a:t>
            </a:r>
          </a:p>
        </p:txBody>
      </p:sp>
      <p:sp>
        <p:nvSpPr>
          <p:cNvPr id="57" name="Rectangle 56"/>
          <p:cNvSpPr/>
          <p:nvPr/>
        </p:nvSpPr>
        <p:spPr>
          <a:xfrm>
            <a:off x="868680" y="5907024"/>
            <a:ext cx="36576" cy="31089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069848" y="5907024"/>
            <a:ext cx="10424160" cy="365760"/>
          </a:xfrm>
          <a:prstGeom prst="rect">
            <a:avLst/>
          </a:prstGeom>
          <a:noFill/>
        </p:spPr>
        <p:txBody>
          <a:bodyPr wrap="square" anchor="ctr" lIns="0" rIns="0" tIns="0" bIns="0">
            <a:spAutoFit/>
          </a:bodyPr>
          <a:lstStyle/>
          <a:p>
            <a:pPr algn="l"/>
            <a:r>
              <a:rPr sz="1350" b="1" i="1">
                <a:solidFill>
                  <a:srgbClr val="10233F"/>
                </a:solidFill>
                <a:latin typeface="Times New Roman"/>
              </a:rPr>
              <a:t>Analyze, evaluate, create — no outcome in this course stops at remembering.</a:t>
            </a:r>
          </a:p>
        </p:txBody>
      </p:sp>
      <p:sp>
        <p:nvSpPr>
          <p:cNvPr id="59" name="TextBox 58"/>
          <p:cNvSpPr txBox="1"/>
          <p:nvPr/>
        </p:nvSpPr>
        <p:spPr>
          <a:xfrm>
            <a:off x="11475720" y="6473952"/>
            <a:ext cx="457200" cy="182880"/>
          </a:xfrm>
          <a:prstGeom prst="rect">
            <a:avLst/>
          </a:prstGeom>
          <a:noFill/>
        </p:spPr>
        <p:txBody>
          <a:bodyPr wrap="square" anchor="t" lIns="0" rIns="0" tIns="0" bIns="0">
            <a:spAutoFit/>
          </a:bodyPr>
          <a:lstStyle/>
          <a:p>
            <a:pPr algn="r"/>
            <a:r>
              <a:rPr sz="800" b="0" i="0">
                <a:solidFill>
                  <a:srgbClr val="9CA3AF"/>
                </a:solidFill>
                <a:latin typeface="Times New Roman"/>
              </a:rPr>
              <a:t>31</a:t>
            </a:r>
          </a:p>
        </p:txBody>
      </p:sp>
      <p:sp>
        <p:nvSpPr>
          <p:cNvPr id="60" name="TextBox 59"/>
          <p:cNvSpPr txBox="1"/>
          <p:nvPr/>
        </p:nvSpPr>
        <p:spPr>
          <a:xfrm>
            <a:off x="502920" y="6473952"/>
            <a:ext cx="6400800" cy="182880"/>
          </a:xfrm>
          <a:prstGeom prst="rect">
            <a:avLst/>
          </a:prstGeom>
          <a:noFill/>
        </p:spPr>
        <p:txBody>
          <a:bodyPr wrap="square" anchor="t" lIns="0" rIns="0" tIns="0" bIns="0">
            <a:spAutoFit/>
          </a:bodyPr>
          <a:lstStyle/>
          <a:p>
            <a:pPr algn="l"/>
            <a:r>
              <a:rPr sz="720" b="0" i="0">
                <a:solidFill>
                  <a:srgbClr val="6B7280"/>
                </a:solidFill>
                <a:latin typeface="Times New Roman"/>
              </a:rPr>
              <a:t>Strategic Management in the Age of AI · MGMT 465/665 · Course Introduction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969" cy="164592"/>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969" cy="3657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411480"/>
            <a:ext cx="5943600" cy="228600"/>
          </a:xfrm>
          <a:prstGeom prst="rect">
            <a:avLst/>
          </a:prstGeom>
          <a:noFill/>
        </p:spPr>
        <p:txBody>
          <a:bodyPr wrap="square" anchor="t" lIns="0" rIns="0" tIns="0" bIns="0">
            <a:spAutoFit/>
          </a:bodyPr>
          <a:lstStyle/>
          <a:p>
            <a:pPr algn="l"/>
            <a:r>
              <a:rPr sz="850" b="1" i="0">
                <a:solidFill>
                  <a:srgbClr val="2A6F97"/>
                </a:solidFill>
                <a:latin typeface="Times New Roman"/>
              </a:rPr>
              <a:t>PART II · LEARNING PROGRESSION</a:t>
            </a:r>
          </a:p>
        </p:txBody>
      </p:sp>
      <p:sp>
        <p:nvSpPr>
          <p:cNvPr id="6" name="TextBox 5"/>
          <p:cNvSpPr txBox="1"/>
          <p:nvPr/>
        </p:nvSpPr>
        <p:spPr>
          <a:xfrm>
            <a:off x="502920" y="640080"/>
            <a:ext cx="9509760" cy="457200"/>
          </a:xfrm>
          <a:prstGeom prst="rect">
            <a:avLst/>
          </a:prstGeom>
          <a:noFill/>
        </p:spPr>
        <p:txBody>
          <a:bodyPr wrap="square" anchor="t" lIns="0" rIns="0" tIns="0" bIns="0">
            <a:spAutoFit/>
          </a:bodyPr>
          <a:lstStyle/>
          <a:p>
            <a:pPr algn="l"/>
            <a:r>
              <a:rPr sz="2400" b="1" i="0">
                <a:solidFill>
                  <a:srgbClr val="111827"/>
                </a:solidFill>
                <a:latin typeface="Times New Roman"/>
              </a:rPr>
              <a:t>A ten-week developmental arc</a:t>
            </a:r>
          </a:p>
        </p:txBody>
      </p:sp>
      <p:sp>
        <p:nvSpPr>
          <p:cNvPr id="7" name="Rectangle 6"/>
          <p:cNvSpPr/>
          <p:nvPr/>
        </p:nvSpPr>
        <p:spPr>
          <a:xfrm>
            <a:off x="868680" y="1536192"/>
            <a:ext cx="2505456" cy="2377440"/>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68680" y="1536192"/>
            <a:ext cx="2505456" cy="45720"/>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9848" y="1792224"/>
            <a:ext cx="2103120" cy="2011680"/>
          </a:xfrm>
          <a:prstGeom prst="rect">
            <a:avLst/>
          </a:prstGeom>
          <a:noFill/>
        </p:spPr>
        <p:txBody>
          <a:bodyPr wrap="square" anchor="t" lIns="0" rIns="0" tIns="0" bIns="0">
            <a:spAutoFit/>
          </a:bodyPr>
          <a:lstStyle/>
          <a:p>
            <a:pPr algn="l">
              <a:spcAft>
                <a:spcPts val="1000"/>
              </a:spcAft>
            </a:pPr>
            <a:r>
              <a:rPr sz="1000" b="1" i="0">
                <a:solidFill>
                  <a:srgbClr val="D4A017"/>
                </a:solidFill>
                <a:latin typeface="Times New Roman"/>
              </a:rPr>
              <a:t>WEEKS 1–2</a:t>
            </a:r>
          </a:p>
          <a:p>
            <a:pPr algn="l">
              <a:lnSpc>
                <a:spcPct val="105000"/>
              </a:lnSpc>
              <a:spcAft>
                <a:spcPts val="1200"/>
              </a:spcAft>
            </a:pPr>
            <a:r>
              <a:rPr sz="1600" b="1" i="0">
                <a:solidFill>
                  <a:srgbClr val="FFFFFF"/>
                </a:solidFill>
                <a:latin typeface="Times New Roman"/>
              </a:rPr>
              <a:t>Foundations</a:t>
            </a:r>
          </a:p>
          <a:p>
            <a:pPr algn="l">
              <a:lnSpc>
                <a:spcPct val="126000"/>
              </a:lnSpc>
            </a:pPr>
            <a:r>
              <a:rPr sz="1150" b="0" i="0">
                <a:solidFill>
                  <a:srgbClr val="C9D2DE"/>
                </a:solidFill>
                <a:latin typeface="Times New Roman"/>
              </a:rPr>
              <a:t>Strategic thinking, AI fundamentals, competitive analysis</a:t>
            </a:r>
          </a:p>
        </p:txBody>
      </p:sp>
      <p:sp>
        <p:nvSpPr>
          <p:cNvPr id="10" name="Rectangle 9"/>
          <p:cNvSpPr/>
          <p:nvPr/>
        </p:nvSpPr>
        <p:spPr>
          <a:xfrm>
            <a:off x="3575304" y="1536192"/>
            <a:ext cx="2505456" cy="2377440"/>
          </a:xfrm>
          <a:prstGeom prst="rect">
            <a:avLst/>
          </a:prstGeom>
          <a:solidFill>
            <a:srgbClr val="2A6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575304" y="1536192"/>
            <a:ext cx="2505456" cy="45720"/>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76472" y="1792224"/>
            <a:ext cx="2103120" cy="2011680"/>
          </a:xfrm>
          <a:prstGeom prst="rect">
            <a:avLst/>
          </a:prstGeom>
          <a:noFill/>
        </p:spPr>
        <p:txBody>
          <a:bodyPr wrap="square" anchor="t" lIns="0" rIns="0" tIns="0" bIns="0">
            <a:spAutoFit/>
          </a:bodyPr>
          <a:lstStyle/>
          <a:p>
            <a:pPr algn="l">
              <a:spcAft>
                <a:spcPts val="1000"/>
              </a:spcAft>
            </a:pPr>
            <a:r>
              <a:rPr sz="1000" b="1" i="0">
                <a:solidFill>
                  <a:srgbClr val="D4A017"/>
                </a:solidFill>
                <a:latin typeface="Times New Roman"/>
              </a:rPr>
              <a:t>WEEKS 3–6</a:t>
            </a:r>
          </a:p>
          <a:p>
            <a:pPr algn="l">
              <a:lnSpc>
                <a:spcPct val="105000"/>
              </a:lnSpc>
              <a:spcAft>
                <a:spcPts val="1200"/>
              </a:spcAft>
            </a:pPr>
            <a:r>
              <a:rPr sz="1600" b="1" i="0">
                <a:solidFill>
                  <a:srgbClr val="FFFFFF"/>
                </a:solidFill>
                <a:latin typeface="Times New Roman"/>
              </a:rPr>
              <a:t>Theoretical Development</a:t>
            </a:r>
          </a:p>
          <a:p>
            <a:pPr algn="l">
              <a:lnSpc>
                <a:spcPct val="126000"/>
              </a:lnSpc>
            </a:pPr>
            <a:r>
              <a:rPr sz="1150" b="0" i="0">
                <a:solidFill>
                  <a:srgbClr val="C9D2DE"/>
                </a:solidFill>
                <a:latin typeface="Times New Roman"/>
              </a:rPr>
              <a:t>Reinterpreting classical strategy through AI</a:t>
            </a:r>
          </a:p>
        </p:txBody>
      </p:sp>
      <p:sp>
        <p:nvSpPr>
          <p:cNvPr id="13" name="Rectangle 12"/>
          <p:cNvSpPr/>
          <p:nvPr/>
        </p:nvSpPr>
        <p:spPr>
          <a:xfrm>
            <a:off x="6281928" y="1536192"/>
            <a:ext cx="2505456" cy="2377440"/>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81928" y="1536192"/>
            <a:ext cx="2505456" cy="45720"/>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3096" y="1792224"/>
            <a:ext cx="2103120" cy="2011680"/>
          </a:xfrm>
          <a:prstGeom prst="rect">
            <a:avLst/>
          </a:prstGeom>
          <a:noFill/>
        </p:spPr>
        <p:txBody>
          <a:bodyPr wrap="square" anchor="t" lIns="0" rIns="0" tIns="0" bIns="0">
            <a:spAutoFit/>
          </a:bodyPr>
          <a:lstStyle/>
          <a:p>
            <a:pPr algn="l">
              <a:spcAft>
                <a:spcPts val="1000"/>
              </a:spcAft>
            </a:pPr>
            <a:r>
              <a:rPr sz="1000" b="1" i="0">
                <a:solidFill>
                  <a:srgbClr val="D4A017"/>
                </a:solidFill>
                <a:latin typeface="Times New Roman"/>
              </a:rPr>
              <a:t>WEEKS 7–8</a:t>
            </a:r>
          </a:p>
          <a:p>
            <a:pPr algn="l">
              <a:lnSpc>
                <a:spcPct val="105000"/>
              </a:lnSpc>
              <a:spcAft>
                <a:spcPts val="1200"/>
              </a:spcAft>
            </a:pPr>
            <a:r>
              <a:rPr sz="1600" b="1" i="0">
                <a:solidFill>
                  <a:srgbClr val="FFFFFF"/>
                </a:solidFill>
                <a:latin typeface="Times New Roman"/>
              </a:rPr>
              <a:t>Organizational Transformation</a:t>
            </a:r>
          </a:p>
          <a:p>
            <a:pPr algn="l">
              <a:lnSpc>
                <a:spcPct val="126000"/>
              </a:lnSpc>
            </a:pPr>
            <a:r>
              <a:rPr sz="1150" b="0" i="0">
                <a:solidFill>
                  <a:srgbClr val="C9D2DE"/>
                </a:solidFill>
                <a:latin typeface="Times New Roman"/>
              </a:rPr>
              <a:t>Governance, leadership, implementation</a:t>
            </a:r>
          </a:p>
        </p:txBody>
      </p:sp>
      <p:sp>
        <p:nvSpPr>
          <p:cNvPr id="16" name="Rectangle 15"/>
          <p:cNvSpPr/>
          <p:nvPr/>
        </p:nvSpPr>
        <p:spPr>
          <a:xfrm>
            <a:off x="8988552" y="1536192"/>
            <a:ext cx="2505456" cy="2377440"/>
          </a:xfrm>
          <a:prstGeom prst="rect">
            <a:avLst/>
          </a:prstGeom>
          <a:solidFill>
            <a:srgbClr val="2A6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988552" y="1536192"/>
            <a:ext cx="2505456" cy="45720"/>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89720" y="1792224"/>
            <a:ext cx="2103120" cy="2011680"/>
          </a:xfrm>
          <a:prstGeom prst="rect">
            <a:avLst/>
          </a:prstGeom>
          <a:noFill/>
        </p:spPr>
        <p:txBody>
          <a:bodyPr wrap="square" anchor="t" lIns="0" rIns="0" tIns="0" bIns="0">
            <a:spAutoFit/>
          </a:bodyPr>
          <a:lstStyle/>
          <a:p>
            <a:pPr algn="l">
              <a:spcAft>
                <a:spcPts val="1000"/>
              </a:spcAft>
            </a:pPr>
            <a:r>
              <a:rPr sz="1000" b="1" i="0">
                <a:solidFill>
                  <a:srgbClr val="D4A017"/>
                </a:solidFill>
                <a:latin typeface="Times New Roman"/>
              </a:rPr>
              <a:t>WEEKS 9–10</a:t>
            </a:r>
          </a:p>
          <a:p>
            <a:pPr algn="l">
              <a:lnSpc>
                <a:spcPct val="105000"/>
              </a:lnSpc>
              <a:spcAft>
                <a:spcPts val="1200"/>
              </a:spcAft>
            </a:pPr>
            <a:r>
              <a:rPr sz="1600" b="1" i="0">
                <a:solidFill>
                  <a:srgbClr val="FFFFFF"/>
                </a:solidFill>
                <a:latin typeface="Times New Roman"/>
              </a:rPr>
              <a:t>Strategic Integration</a:t>
            </a:r>
          </a:p>
          <a:p>
            <a:pPr algn="l">
              <a:lnSpc>
                <a:spcPct val="126000"/>
              </a:lnSpc>
            </a:pPr>
            <a:r>
              <a:rPr sz="1150" b="0" i="0">
                <a:solidFill>
                  <a:srgbClr val="C9D2DE"/>
                </a:solidFill>
                <a:latin typeface="Times New Roman"/>
              </a:rPr>
              <a:t>Consulting engagement, synthesis, executive communication</a:t>
            </a:r>
          </a:p>
        </p:txBody>
      </p:sp>
      <p:sp>
        <p:nvSpPr>
          <p:cNvPr id="19" name="TextBox 18"/>
          <p:cNvSpPr txBox="1"/>
          <p:nvPr/>
        </p:nvSpPr>
        <p:spPr>
          <a:xfrm>
            <a:off x="3374136" y="2578608"/>
            <a:ext cx="219456" cy="292608"/>
          </a:xfrm>
          <a:prstGeom prst="rect">
            <a:avLst/>
          </a:prstGeom>
          <a:noFill/>
        </p:spPr>
        <p:txBody>
          <a:bodyPr wrap="square" anchor="t" lIns="0" rIns="0" tIns="0" bIns="0">
            <a:spAutoFit/>
          </a:bodyPr>
          <a:lstStyle/>
          <a:p>
            <a:pPr algn="ctr"/>
            <a:r>
              <a:rPr sz="1300" b="1" i="0">
                <a:solidFill>
                  <a:srgbClr val="D4A017"/>
                </a:solidFill>
                <a:latin typeface="Times New Roman"/>
              </a:rPr>
              <a:t>❯</a:t>
            </a:r>
          </a:p>
        </p:txBody>
      </p:sp>
      <p:sp>
        <p:nvSpPr>
          <p:cNvPr id="20" name="TextBox 19"/>
          <p:cNvSpPr txBox="1"/>
          <p:nvPr/>
        </p:nvSpPr>
        <p:spPr>
          <a:xfrm>
            <a:off x="6080760" y="2578608"/>
            <a:ext cx="219456" cy="292608"/>
          </a:xfrm>
          <a:prstGeom prst="rect">
            <a:avLst/>
          </a:prstGeom>
          <a:noFill/>
        </p:spPr>
        <p:txBody>
          <a:bodyPr wrap="square" anchor="t" lIns="0" rIns="0" tIns="0" bIns="0">
            <a:spAutoFit/>
          </a:bodyPr>
          <a:lstStyle/>
          <a:p>
            <a:pPr algn="ctr"/>
            <a:r>
              <a:rPr sz="1300" b="1" i="0">
                <a:solidFill>
                  <a:srgbClr val="D4A017"/>
                </a:solidFill>
                <a:latin typeface="Times New Roman"/>
              </a:rPr>
              <a:t>❯</a:t>
            </a:r>
          </a:p>
        </p:txBody>
      </p:sp>
      <p:sp>
        <p:nvSpPr>
          <p:cNvPr id="21" name="TextBox 20"/>
          <p:cNvSpPr txBox="1"/>
          <p:nvPr/>
        </p:nvSpPr>
        <p:spPr>
          <a:xfrm>
            <a:off x="8787384" y="2578608"/>
            <a:ext cx="219456" cy="292608"/>
          </a:xfrm>
          <a:prstGeom prst="rect">
            <a:avLst/>
          </a:prstGeom>
          <a:noFill/>
        </p:spPr>
        <p:txBody>
          <a:bodyPr wrap="square" anchor="t" lIns="0" rIns="0" tIns="0" bIns="0">
            <a:spAutoFit/>
          </a:bodyPr>
          <a:lstStyle/>
          <a:p>
            <a:pPr algn="ctr"/>
            <a:r>
              <a:rPr sz="1300" b="1" i="0">
                <a:solidFill>
                  <a:srgbClr val="D4A017"/>
                </a:solidFill>
                <a:latin typeface="Times New Roman"/>
              </a:rPr>
              <a:t>❯</a:t>
            </a:r>
          </a:p>
        </p:txBody>
      </p:sp>
      <p:sp>
        <p:nvSpPr>
          <p:cNvPr id="22" name="Rectangle 21"/>
          <p:cNvSpPr/>
          <p:nvPr/>
        </p:nvSpPr>
        <p:spPr>
          <a:xfrm>
            <a:off x="868680" y="4169663"/>
            <a:ext cx="10424160" cy="822960"/>
          </a:xfrm>
          <a:prstGeom prst="rect">
            <a:avLst/>
          </a:prstGeom>
          <a:solidFill>
            <a:srgbClr val="F6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43000" y="4169663"/>
            <a:ext cx="9875520" cy="822960"/>
          </a:xfrm>
          <a:prstGeom prst="rect">
            <a:avLst/>
          </a:prstGeom>
          <a:noFill/>
        </p:spPr>
        <p:txBody>
          <a:bodyPr wrap="square" anchor="ctr" lIns="0" rIns="0" tIns="0" bIns="0">
            <a:spAutoFit/>
          </a:bodyPr>
          <a:lstStyle/>
          <a:p>
            <a:pPr algn="l">
              <a:lnSpc>
                <a:spcPct val="126000"/>
              </a:lnSpc>
            </a:pPr>
            <a:r>
              <a:rPr sz="1400" b="0" i="0">
                <a:solidFill>
                  <a:srgbClr val="111827"/>
                </a:solidFill>
                <a:latin typeface="Times New Roman"/>
              </a:rPr>
              <a:t>You begin by understanding individual theories, then integrate them into increasingly complex organizational analyses. Complexity rises deliberately, week by week.</a:t>
            </a:r>
          </a:p>
        </p:txBody>
      </p:sp>
      <p:sp>
        <p:nvSpPr>
          <p:cNvPr id="24" name="TextBox 23"/>
          <p:cNvSpPr txBox="1"/>
          <p:nvPr/>
        </p:nvSpPr>
        <p:spPr>
          <a:xfrm>
            <a:off x="868680" y="5248656"/>
            <a:ext cx="10424160" cy="365760"/>
          </a:xfrm>
          <a:prstGeom prst="rect">
            <a:avLst/>
          </a:prstGeom>
          <a:noFill/>
        </p:spPr>
        <p:txBody>
          <a:bodyPr wrap="square" anchor="t" lIns="0" rIns="0" tIns="0" bIns="0">
            <a:spAutoFit/>
          </a:bodyPr>
          <a:lstStyle/>
          <a:p>
            <a:pPr algn="l"/>
            <a:r>
              <a:rPr sz="1300" b="1" i="0">
                <a:solidFill>
                  <a:srgbClr val="10233F"/>
                </a:solidFill>
                <a:latin typeface="Times New Roman"/>
              </a:rPr>
              <a:t>Learning occurs through repeated cycles: theory → critique → comparison → application → reflection → synthesis.</a:t>
            </a:r>
          </a:p>
        </p:txBody>
      </p:sp>
      <p:sp>
        <p:nvSpPr>
          <p:cNvPr id="25" name="Rectangle 24"/>
          <p:cNvSpPr/>
          <p:nvPr/>
        </p:nvSpPr>
        <p:spPr>
          <a:xfrm>
            <a:off x="868680" y="5724144"/>
            <a:ext cx="36576" cy="31089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69848" y="5724144"/>
            <a:ext cx="10424160" cy="365760"/>
          </a:xfrm>
          <a:prstGeom prst="rect">
            <a:avLst/>
          </a:prstGeom>
          <a:noFill/>
        </p:spPr>
        <p:txBody>
          <a:bodyPr wrap="square" anchor="ctr" lIns="0" rIns="0" tIns="0" bIns="0">
            <a:spAutoFit/>
          </a:bodyPr>
          <a:lstStyle/>
          <a:p>
            <a:pPr algn="l"/>
            <a:r>
              <a:rPr sz="1350" b="1" i="1">
                <a:solidFill>
                  <a:srgbClr val="10233F"/>
                </a:solidFill>
                <a:latin typeface="Times New Roman"/>
              </a:rPr>
              <a:t>Rather than mastering isolated frameworks, you build an integrated understanding of strategy.</a:t>
            </a:r>
          </a:p>
        </p:txBody>
      </p:sp>
      <p:sp>
        <p:nvSpPr>
          <p:cNvPr id="27" name="TextBox 26"/>
          <p:cNvSpPr txBox="1"/>
          <p:nvPr/>
        </p:nvSpPr>
        <p:spPr>
          <a:xfrm>
            <a:off x="11475720" y="6473952"/>
            <a:ext cx="457200" cy="182880"/>
          </a:xfrm>
          <a:prstGeom prst="rect">
            <a:avLst/>
          </a:prstGeom>
          <a:noFill/>
        </p:spPr>
        <p:txBody>
          <a:bodyPr wrap="square" anchor="t" lIns="0" rIns="0" tIns="0" bIns="0">
            <a:spAutoFit/>
          </a:bodyPr>
          <a:lstStyle/>
          <a:p>
            <a:pPr algn="r"/>
            <a:r>
              <a:rPr sz="800" b="0" i="0">
                <a:solidFill>
                  <a:srgbClr val="9CA3AF"/>
                </a:solidFill>
                <a:latin typeface="Times New Roman"/>
              </a:rPr>
              <a:t>32</a:t>
            </a:r>
          </a:p>
        </p:txBody>
      </p:sp>
      <p:sp>
        <p:nvSpPr>
          <p:cNvPr id="28" name="TextBox 27"/>
          <p:cNvSpPr txBox="1"/>
          <p:nvPr/>
        </p:nvSpPr>
        <p:spPr>
          <a:xfrm>
            <a:off x="502920" y="6473952"/>
            <a:ext cx="6400800" cy="182880"/>
          </a:xfrm>
          <a:prstGeom prst="rect">
            <a:avLst/>
          </a:prstGeom>
          <a:noFill/>
        </p:spPr>
        <p:txBody>
          <a:bodyPr wrap="square" anchor="t" lIns="0" rIns="0" tIns="0" bIns="0">
            <a:spAutoFit/>
          </a:bodyPr>
          <a:lstStyle/>
          <a:p>
            <a:pPr algn="l"/>
            <a:r>
              <a:rPr sz="720" b="0" i="0">
                <a:solidFill>
                  <a:srgbClr val="6B7280"/>
                </a:solidFill>
                <a:latin typeface="Times New Roman"/>
              </a:rPr>
              <a:t>Strategic Management in the Age of AI · MGMT 465/665 · Course Introduction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969" cy="164592"/>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969" cy="3657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411480"/>
            <a:ext cx="5943600" cy="228600"/>
          </a:xfrm>
          <a:prstGeom prst="rect">
            <a:avLst/>
          </a:prstGeom>
          <a:noFill/>
        </p:spPr>
        <p:txBody>
          <a:bodyPr wrap="square" anchor="t" lIns="0" rIns="0" tIns="0" bIns="0">
            <a:spAutoFit/>
          </a:bodyPr>
          <a:lstStyle/>
          <a:p>
            <a:pPr algn="l"/>
            <a:r>
              <a:rPr sz="850" b="1" i="0">
                <a:solidFill>
                  <a:srgbClr val="2A6F97"/>
                </a:solidFill>
                <a:latin typeface="Times New Roman"/>
              </a:rPr>
              <a:t>PART II · ASSURANCE OF LEARNING</a:t>
            </a:r>
          </a:p>
        </p:txBody>
      </p:sp>
      <p:sp>
        <p:nvSpPr>
          <p:cNvPr id="6" name="TextBox 5"/>
          <p:cNvSpPr txBox="1"/>
          <p:nvPr/>
        </p:nvSpPr>
        <p:spPr>
          <a:xfrm>
            <a:off x="502920" y="640080"/>
            <a:ext cx="9509760" cy="457200"/>
          </a:xfrm>
          <a:prstGeom prst="rect">
            <a:avLst/>
          </a:prstGeom>
          <a:noFill/>
        </p:spPr>
        <p:txBody>
          <a:bodyPr wrap="square" anchor="t" lIns="0" rIns="0" tIns="0" bIns="0">
            <a:spAutoFit/>
          </a:bodyPr>
          <a:lstStyle/>
          <a:p>
            <a:pPr algn="l"/>
            <a:r>
              <a:rPr sz="2400" b="1" i="0">
                <a:solidFill>
                  <a:srgbClr val="111827"/>
                </a:solidFill>
                <a:latin typeface="Times New Roman"/>
              </a:rPr>
              <a:t>Eight authentic assessments</a:t>
            </a:r>
          </a:p>
        </p:txBody>
      </p:sp>
      <p:sp>
        <p:nvSpPr>
          <p:cNvPr id="7" name="TextBox 6"/>
          <p:cNvSpPr txBox="1"/>
          <p:nvPr/>
        </p:nvSpPr>
        <p:spPr>
          <a:xfrm>
            <a:off x="502920" y="1106424"/>
            <a:ext cx="10698480" cy="274320"/>
          </a:xfrm>
          <a:prstGeom prst="rect">
            <a:avLst/>
          </a:prstGeom>
          <a:noFill/>
        </p:spPr>
        <p:txBody>
          <a:bodyPr wrap="square" anchor="t" lIns="0" rIns="0" tIns="0" bIns="0">
            <a:spAutoFit/>
          </a:bodyPr>
          <a:lstStyle/>
          <a:p>
            <a:pPr algn="l"/>
            <a:r>
              <a:rPr sz="1250" b="0" i="1">
                <a:solidFill>
                  <a:srgbClr val="4B5563"/>
                </a:solidFill>
                <a:latin typeface="Times New Roman"/>
              </a:rPr>
              <a:t>Designed to measure executive-level strategic thinking rather than factual recall.</a:t>
            </a:r>
          </a:p>
        </p:txBody>
      </p:sp>
      <p:sp>
        <p:nvSpPr>
          <p:cNvPr id="8" name="Rectangle 7"/>
          <p:cNvSpPr/>
          <p:nvPr/>
        </p:nvSpPr>
        <p:spPr>
          <a:xfrm>
            <a:off x="868680" y="1792224"/>
            <a:ext cx="5047488" cy="658368"/>
          </a:xfrm>
          <a:prstGeom prst="rect">
            <a:avLst/>
          </a:prstGeom>
          <a:solidFill>
            <a:srgbClr val="F6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68680" y="1792224"/>
            <a:ext cx="41148" cy="658368"/>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9848" y="1792224"/>
            <a:ext cx="4681727" cy="658368"/>
          </a:xfrm>
          <a:prstGeom prst="rect">
            <a:avLst/>
          </a:prstGeom>
          <a:noFill/>
        </p:spPr>
        <p:txBody>
          <a:bodyPr wrap="square" anchor="ctr" lIns="0" rIns="0" tIns="0" bIns="0">
            <a:spAutoFit/>
          </a:bodyPr>
          <a:lstStyle/>
          <a:p>
            <a:pPr algn="l">
              <a:lnSpc>
                <a:spcPct val="110000"/>
              </a:lnSpc>
            </a:pPr>
            <a:r>
              <a:rPr sz="1450" b="1" i="0">
                <a:solidFill>
                  <a:srgbClr val="10233F"/>
                </a:solidFill>
                <a:latin typeface="Times New Roman"/>
              </a:rPr>
              <a:t>Industry Analysis</a:t>
            </a:r>
          </a:p>
        </p:txBody>
      </p:sp>
      <p:sp>
        <p:nvSpPr>
          <p:cNvPr id="11" name="Rectangle 10"/>
          <p:cNvSpPr/>
          <p:nvPr/>
        </p:nvSpPr>
        <p:spPr>
          <a:xfrm>
            <a:off x="6245352" y="1792224"/>
            <a:ext cx="5047488" cy="658368"/>
          </a:xfrm>
          <a:prstGeom prst="rect">
            <a:avLst/>
          </a:prstGeom>
          <a:solidFill>
            <a:srgbClr val="F6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45352" y="1792224"/>
            <a:ext cx="41148" cy="658368"/>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46520" y="1792224"/>
            <a:ext cx="4681727" cy="658368"/>
          </a:xfrm>
          <a:prstGeom prst="rect">
            <a:avLst/>
          </a:prstGeom>
          <a:noFill/>
        </p:spPr>
        <p:txBody>
          <a:bodyPr wrap="square" anchor="ctr" lIns="0" rIns="0" tIns="0" bIns="0">
            <a:spAutoFit/>
          </a:bodyPr>
          <a:lstStyle/>
          <a:p>
            <a:pPr algn="l">
              <a:lnSpc>
                <a:spcPct val="110000"/>
              </a:lnSpc>
            </a:pPr>
            <a:r>
              <a:rPr sz="1450" b="1" i="0">
                <a:solidFill>
                  <a:srgbClr val="10233F"/>
                </a:solidFill>
                <a:latin typeface="Times New Roman"/>
              </a:rPr>
              <a:t>Strategic Reflection Papers</a:t>
            </a:r>
          </a:p>
        </p:txBody>
      </p:sp>
      <p:sp>
        <p:nvSpPr>
          <p:cNvPr id="14" name="Rectangle 13"/>
          <p:cNvSpPr/>
          <p:nvPr/>
        </p:nvSpPr>
        <p:spPr>
          <a:xfrm>
            <a:off x="868680" y="2633472"/>
            <a:ext cx="5047488" cy="658368"/>
          </a:xfrm>
          <a:prstGeom prst="rect">
            <a:avLst/>
          </a:prstGeom>
          <a:solidFill>
            <a:srgbClr val="F6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68680" y="2633472"/>
            <a:ext cx="41148" cy="658368"/>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69848" y="2633472"/>
            <a:ext cx="4681727" cy="658368"/>
          </a:xfrm>
          <a:prstGeom prst="rect">
            <a:avLst/>
          </a:prstGeom>
          <a:noFill/>
        </p:spPr>
        <p:txBody>
          <a:bodyPr wrap="square" anchor="ctr" lIns="0" rIns="0" tIns="0" bIns="0">
            <a:spAutoFit/>
          </a:bodyPr>
          <a:lstStyle/>
          <a:p>
            <a:pPr algn="l">
              <a:lnSpc>
                <a:spcPct val="110000"/>
              </a:lnSpc>
            </a:pPr>
            <a:r>
              <a:rPr sz="1450" b="1" i="0">
                <a:solidFill>
                  <a:srgbClr val="10233F"/>
                </a:solidFill>
                <a:latin typeface="Times New Roman"/>
              </a:rPr>
              <a:t>Harvard Business School Case Analyses</a:t>
            </a:r>
          </a:p>
        </p:txBody>
      </p:sp>
      <p:sp>
        <p:nvSpPr>
          <p:cNvPr id="17" name="Rectangle 16"/>
          <p:cNvSpPr/>
          <p:nvPr/>
        </p:nvSpPr>
        <p:spPr>
          <a:xfrm>
            <a:off x="6245352" y="2633472"/>
            <a:ext cx="5047488" cy="658368"/>
          </a:xfrm>
          <a:prstGeom prst="rect">
            <a:avLst/>
          </a:prstGeom>
          <a:solidFill>
            <a:srgbClr val="F6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45352" y="2633472"/>
            <a:ext cx="41148" cy="658368"/>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46520" y="2633472"/>
            <a:ext cx="4681727" cy="658368"/>
          </a:xfrm>
          <a:prstGeom prst="rect">
            <a:avLst/>
          </a:prstGeom>
          <a:noFill/>
        </p:spPr>
        <p:txBody>
          <a:bodyPr wrap="square" anchor="ctr" lIns="0" rIns="0" tIns="0" bIns="0">
            <a:spAutoFit/>
          </a:bodyPr>
          <a:lstStyle/>
          <a:p>
            <a:pPr algn="l">
              <a:lnSpc>
                <a:spcPct val="110000"/>
              </a:lnSpc>
            </a:pPr>
            <a:r>
              <a:rPr sz="1450" b="1" i="0">
                <a:solidFill>
                  <a:srgbClr val="10233F"/>
                </a:solidFill>
                <a:latin typeface="Times New Roman"/>
              </a:rPr>
              <a:t>AI Laboratory Portfolio</a:t>
            </a:r>
          </a:p>
        </p:txBody>
      </p:sp>
      <p:sp>
        <p:nvSpPr>
          <p:cNvPr id="20" name="Rectangle 19"/>
          <p:cNvSpPr/>
          <p:nvPr/>
        </p:nvSpPr>
        <p:spPr>
          <a:xfrm>
            <a:off x="868680" y="3474720"/>
            <a:ext cx="5047488" cy="658368"/>
          </a:xfrm>
          <a:prstGeom prst="rect">
            <a:avLst/>
          </a:prstGeom>
          <a:solidFill>
            <a:srgbClr val="F6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68680" y="3474720"/>
            <a:ext cx="41148" cy="658368"/>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69848" y="3474720"/>
            <a:ext cx="4681727" cy="658368"/>
          </a:xfrm>
          <a:prstGeom prst="rect">
            <a:avLst/>
          </a:prstGeom>
          <a:noFill/>
        </p:spPr>
        <p:txBody>
          <a:bodyPr wrap="square" anchor="ctr" lIns="0" rIns="0" tIns="0" bIns="0">
            <a:spAutoFit/>
          </a:bodyPr>
          <a:lstStyle/>
          <a:p>
            <a:pPr algn="l">
              <a:lnSpc>
                <a:spcPct val="110000"/>
              </a:lnSpc>
            </a:pPr>
            <a:r>
              <a:rPr sz="1450" b="1" i="0">
                <a:solidFill>
                  <a:srgbClr val="10233F"/>
                </a:solidFill>
                <a:latin typeface="Times New Roman"/>
              </a:rPr>
              <a:t>Executive Memoranda</a:t>
            </a:r>
          </a:p>
        </p:txBody>
      </p:sp>
      <p:sp>
        <p:nvSpPr>
          <p:cNvPr id="23" name="Rectangle 22"/>
          <p:cNvSpPr/>
          <p:nvPr/>
        </p:nvSpPr>
        <p:spPr>
          <a:xfrm>
            <a:off x="6245352" y="3474720"/>
            <a:ext cx="5047488" cy="658368"/>
          </a:xfrm>
          <a:prstGeom prst="rect">
            <a:avLst/>
          </a:prstGeom>
          <a:solidFill>
            <a:srgbClr val="F6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45352" y="3474720"/>
            <a:ext cx="41148" cy="658368"/>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46520" y="3474720"/>
            <a:ext cx="4681727" cy="658368"/>
          </a:xfrm>
          <a:prstGeom prst="rect">
            <a:avLst/>
          </a:prstGeom>
          <a:noFill/>
        </p:spPr>
        <p:txBody>
          <a:bodyPr wrap="square" anchor="ctr" lIns="0" rIns="0" tIns="0" bIns="0">
            <a:spAutoFit/>
          </a:bodyPr>
          <a:lstStyle/>
          <a:p>
            <a:pPr algn="l">
              <a:lnSpc>
                <a:spcPct val="110000"/>
              </a:lnSpc>
            </a:pPr>
            <a:r>
              <a:rPr sz="1450" b="1" i="0">
                <a:solidFill>
                  <a:srgbClr val="10233F"/>
                </a:solidFill>
                <a:latin typeface="Times New Roman"/>
              </a:rPr>
              <a:t>AI Strategy Consulting Project</a:t>
            </a:r>
          </a:p>
        </p:txBody>
      </p:sp>
      <p:sp>
        <p:nvSpPr>
          <p:cNvPr id="26" name="Rectangle 25"/>
          <p:cNvSpPr/>
          <p:nvPr/>
        </p:nvSpPr>
        <p:spPr>
          <a:xfrm>
            <a:off x="868680" y="4315968"/>
            <a:ext cx="5047488" cy="658368"/>
          </a:xfrm>
          <a:prstGeom prst="rect">
            <a:avLst/>
          </a:prstGeom>
          <a:solidFill>
            <a:srgbClr val="F6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68680" y="4315968"/>
            <a:ext cx="41148" cy="658368"/>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69848" y="4315968"/>
            <a:ext cx="4681727" cy="658368"/>
          </a:xfrm>
          <a:prstGeom prst="rect">
            <a:avLst/>
          </a:prstGeom>
          <a:noFill/>
        </p:spPr>
        <p:txBody>
          <a:bodyPr wrap="square" anchor="ctr" lIns="0" rIns="0" tIns="0" bIns="0">
            <a:spAutoFit/>
          </a:bodyPr>
          <a:lstStyle/>
          <a:p>
            <a:pPr algn="l">
              <a:lnSpc>
                <a:spcPct val="110000"/>
              </a:lnSpc>
            </a:pPr>
            <a:r>
              <a:rPr sz="1450" b="1" i="0">
                <a:solidFill>
                  <a:srgbClr val="10233F"/>
                </a:solidFill>
                <a:latin typeface="Times New Roman"/>
              </a:rPr>
              <a:t>Executive Board Presentation</a:t>
            </a:r>
          </a:p>
        </p:txBody>
      </p:sp>
      <p:sp>
        <p:nvSpPr>
          <p:cNvPr id="29" name="Rectangle 28"/>
          <p:cNvSpPr/>
          <p:nvPr/>
        </p:nvSpPr>
        <p:spPr>
          <a:xfrm>
            <a:off x="6245352" y="4315968"/>
            <a:ext cx="5047488" cy="658368"/>
          </a:xfrm>
          <a:prstGeom prst="rect">
            <a:avLst/>
          </a:prstGeom>
          <a:solidFill>
            <a:srgbClr val="F6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245352" y="4315968"/>
            <a:ext cx="41148" cy="658368"/>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46520" y="4315968"/>
            <a:ext cx="4681727" cy="658368"/>
          </a:xfrm>
          <a:prstGeom prst="rect">
            <a:avLst/>
          </a:prstGeom>
          <a:noFill/>
        </p:spPr>
        <p:txBody>
          <a:bodyPr wrap="square" anchor="ctr" lIns="0" rIns="0" tIns="0" bIns="0">
            <a:spAutoFit/>
          </a:bodyPr>
          <a:lstStyle/>
          <a:p>
            <a:pPr algn="l">
              <a:lnSpc>
                <a:spcPct val="110000"/>
              </a:lnSpc>
            </a:pPr>
            <a:r>
              <a:rPr sz="1450" b="1" i="0">
                <a:solidFill>
                  <a:srgbClr val="10233F"/>
                </a:solidFill>
                <a:latin typeface="Times New Roman"/>
              </a:rPr>
              <a:t>Final Consulting Report</a:t>
            </a:r>
          </a:p>
        </p:txBody>
      </p:sp>
      <p:sp>
        <p:nvSpPr>
          <p:cNvPr id="32" name="Rectangle 31"/>
          <p:cNvSpPr/>
          <p:nvPr/>
        </p:nvSpPr>
        <p:spPr>
          <a:xfrm>
            <a:off x="868680" y="5340096"/>
            <a:ext cx="10424160" cy="585216"/>
          </a:xfrm>
          <a:prstGeom prst="rect">
            <a:avLst/>
          </a:prstGeom>
          <a:solidFill>
            <a:srgbClr val="EA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68680" y="5340096"/>
            <a:ext cx="45720" cy="585216"/>
          </a:xfrm>
          <a:prstGeom prst="rect">
            <a:avLst/>
          </a:prstGeom>
          <a:solidFill>
            <a:srgbClr val="2A6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188720" y="5340096"/>
            <a:ext cx="9875520" cy="585216"/>
          </a:xfrm>
          <a:prstGeom prst="rect">
            <a:avLst/>
          </a:prstGeom>
          <a:noFill/>
        </p:spPr>
        <p:txBody>
          <a:bodyPr wrap="square" anchor="ctr" lIns="0" rIns="0" tIns="0" bIns="0">
            <a:spAutoFit/>
          </a:bodyPr>
          <a:lstStyle/>
          <a:p>
            <a:pPr algn="l"/>
            <a:r>
              <a:rPr sz="1350" b="0" i="0">
                <a:solidFill>
                  <a:srgbClr val="111827"/>
                </a:solidFill>
                <a:latin typeface="Times New Roman"/>
              </a:rPr>
              <a:t>Each assessment measures multiple learning outcomes while progressively increasing analytical complexity throughout the semester.</a:t>
            </a:r>
          </a:p>
        </p:txBody>
      </p:sp>
      <p:sp>
        <p:nvSpPr>
          <p:cNvPr id="35" name="Rectangle 34"/>
          <p:cNvSpPr/>
          <p:nvPr/>
        </p:nvSpPr>
        <p:spPr>
          <a:xfrm>
            <a:off x="868680" y="6035040"/>
            <a:ext cx="36576" cy="31089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69848" y="6035040"/>
            <a:ext cx="10424160" cy="365760"/>
          </a:xfrm>
          <a:prstGeom prst="rect">
            <a:avLst/>
          </a:prstGeom>
          <a:noFill/>
        </p:spPr>
        <p:txBody>
          <a:bodyPr wrap="square" anchor="ctr" lIns="0" rIns="0" tIns="0" bIns="0">
            <a:spAutoFit/>
          </a:bodyPr>
          <a:lstStyle/>
          <a:p>
            <a:pPr algn="l"/>
            <a:r>
              <a:rPr sz="1350" b="1" i="1">
                <a:solidFill>
                  <a:srgbClr val="10233F"/>
                </a:solidFill>
                <a:latin typeface="Times New Roman"/>
              </a:rPr>
              <a:t>Nothing in this course is assessed by recall alone.</a:t>
            </a:r>
          </a:p>
        </p:txBody>
      </p:sp>
      <p:sp>
        <p:nvSpPr>
          <p:cNvPr id="37" name="TextBox 36"/>
          <p:cNvSpPr txBox="1"/>
          <p:nvPr/>
        </p:nvSpPr>
        <p:spPr>
          <a:xfrm>
            <a:off x="11475720" y="6473952"/>
            <a:ext cx="457200" cy="182880"/>
          </a:xfrm>
          <a:prstGeom prst="rect">
            <a:avLst/>
          </a:prstGeom>
          <a:noFill/>
        </p:spPr>
        <p:txBody>
          <a:bodyPr wrap="square" anchor="t" lIns="0" rIns="0" tIns="0" bIns="0">
            <a:spAutoFit/>
          </a:bodyPr>
          <a:lstStyle/>
          <a:p>
            <a:pPr algn="r"/>
            <a:r>
              <a:rPr sz="800" b="0" i="0">
                <a:solidFill>
                  <a:srgbClr val="9CA3AF"/>
                </a:solidFill>
                <a:latin typeface="Times New Roman"/>
              </a:rPr>
              <a:t>33</a:t>
            </a:r>
          </a:p>
        </p:txBody>
      </p:sp>
      <p:sp>
        <p:nvSpPr>
          <p:cNvPr id="38" name="TextBox 37"/>
          <p:cNvSpPr txBox="1"/>
          <p:nvPr/>
        </p:nvSpPr>
        <p:spPr>
          <a:xfrm>
            <a:off x="502920" y="6473952"/>
            <a:ext cx="6400800" cy="182880"/>
          </a:xfrm>
          <a:prstGeom prst="rect">
            <a:avLst/>
          </a:prstGeom>
          <a:noFill/>
        </p:spPr>
        <p:txBody>
          <a:bodyPr wrap="square" anchor="t" lIns="0" rIns="0" tIns="0" bIns="0">
            <a:spAutoFit/>
          </a:bodyPr>
          <a:lstStyle/>
          <a:p>
            <a:pPr algn="l"/>
            <a:r>
              <a:rPr sz="720" b="0" i="0">
                <a:solidFill>
                  <a:srgbClr val="6B7280"/>
                </a:solidFill>
                <a:latin typeface="Times New Roman"/>
              </a:rPr>
              <a:t>Strategic Management in the Age of AI · MGMT 465/665 · Course Introduction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969" cy="164592"/>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969" cy="3657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411480"/>
            <a:ext cx="5943600" cy="228600"/>
          </a:xfrm>
          <a:prstGeom prst="rect">
            <a:avLst/>
          </a:prstGeom>
          <a:noFill/>
        </p:spPr>
        <p:txBody>
          <a:bodyPr wrap="square" anchor="t" lIns="0" rIns="0" tIns="0" bIns="0">
            <a:spAutoFit/>
          </a:bodyPr>
          <a:lstStyle/>
          <a:p>
            <a:pPr algn="l"/>
            <a:r>
              <a:rPr sz="850" b="1" i="0">
                <a:solidFill>
                  <a:srgbClr val="2A6F97"/>
                </a:solidFill>
                <a:latin typeface="Times New Roman"/>
              </a:rPr>
              <a:t>PART II · PROFESSIONAL COMPETENCIES</a:t>
            </a:r>
          </a:p>
        </p:txBody>
      </p:sp>
      <p:sp>
        <p:nvSpPr>
          <p:cNvPr id="6" name="TextBox 5"/>
          <p:cNvSpPr txBox="1"/>
          <p:nvPr/>
        </p:nvSpPr>
        <p:spPr>
          <a:xfrm>
            <a:off x="502920" y="640080"/>
            <a:ext cx="9509760" cy="457200"/>
          </a:xfrm>
          <a:prstGeom prst="rect">
            <a:avLst/>
          </a:prstGeom>
          <a:noFill/>
        </p:spPr>
        <p:txBody>
          <a:bodyPr wrap="square" anchor="t" lIns="0" rIns="0" tIns="0" bIns="0">
            <a:spAutoFit/>
          </a:bodyPr>
          <a:lstStyle/>
          <a:p>
            <a:pPr algn="l"/>
            <a:r>
              <a:rPr sz="2400" b="1" i="0">
                <a:solidFill>
                  <a:srgbClr val="111827"/>
                </a:solidFill>
                <a:latin typeface="Times New Roman"/>
              </a:rPr>
              <a:t>What you should be able to do professionally</a:t>
            </a:r>
          </a:p>
        </p:txBody>
      </p:sp>
      <p:sp>
        <p:nvSpPr>
          <p:cNvPr id="7" name="Rectangle 6"/>
          <p:cNvSpPr/>
          <p:nvPr/>
        </p:nvSpPr>
        <p:spPr>
          <a:xfrm>
            <a:off x="868680" y="1554480"/>
            <a:ext cx="5047488" cy="566928"/>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68680" y="1554480"/>
            <a:ext cx="41148" cy="566928"/>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69848" y="1554480"/>
            <a:ext cx="4681727" cy="566928"/>
          </a:xfrm>
          <a:prstGeom prst="rect">
            <a:avLst/>
          </a:prstGeom>
          <a:noFill/>
        </p:spPr>
        <p:txBody>
          <a:bodyPr wrap="square" anchor="ctr" lIns="0" rIns="0" tIns="0" bIns="0">
            <a:spAutoFit/>
          </a:bodyPr>
          <a:lstStyle/>
          <a:p>
            <a:pPr algn="l">
              <a:lnSpc>
                <a:spcPct val="110000"/>
              </a:lnSpc>
            </a:pPr>
            <a:r>
              <a:rPr sz="1400" b="1" i="0">
                <a:solidFill>
                  <a:srgbClr val="10233F"/>
                </a:solidFill>
                <a:latin typeface="Times New Roman"/>
              </a:rPr>
              <a:t>Strategic analysis</a:t>
            </a:r>
          </a:p>
        </p:txBody>
      </p:sp>
      <p:sp>
        <p:nvSpPr>
          <p:cNvPr id="10" name="Rectangle 9"/>
          <p:cNvSpPr/>
          <p:nvPr/>
        </p:nvSpPr>
        <p:spPr>
          <a:xfrm>
            <a:off x="6245352" y="1554480"/>
            <a:ext cx="5047488" cy="566928"/>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45352" y="1554480"/>
            <a:ext cx="41148" cy="566928"/>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554480"/>
            <a:ext cx="4681727" cy="566928"/>
          </a:xfrm>
          <a:prstGeom prst="rect">
            <a:avLst/>
          </a:prstGeom>
          <a:noFill/>
        </p:spPr>
        <p:txBody>
          <a:bodyPr wrap="square" anchor="ctr" lIns="0" rIns="0" tIns="0" bIns="0">
            <a:spAutoFit/>
          </a:bodyPr>
          <a:lstStyle/>
          <a:p>
            <a:pPr algn="l">
              <a:lnSpc>
                <a:spcPct val="110000"/>
              </a:lnSpc>
            </a:pPr>
            <a:r>
              <a:rPr sz="1400" b="1" i="0">
                <a:solidFill>
                  <a:srgbClr val="10233F"/>
                </a:solidFill>
                <a:latin typeface="Times New Roman"/>
              </a:rPr>
              <a:t>Executive communication</a:t>
            </a:r>
          </a:p>
        </p:txBody>
      </p:sp>
      <p:sp>
        <p:nvSpPr>
          <p:cNvPr id="13" name="Rectangle 12"/>
          <p:cNvSpPr/>
          <p:nvPr/>
        </p:nvSpPr>
        <p:spPr>
          <a:xfrm>
            <a:off x="868680" y="2276856"/>
            <a:ext cx="5047488" cy="566928"/>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68680" y="2276856"/>
            <a:ext cx="41148" cy="566928"/>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69848" y="2276856"/>
            <a:ext cx="4681727" cy="566928"/>
          </a:xfrm>
          <a:prstGeom prst="rect">
            <a:avLst/>
          </a:prstGeom>
          <a:noFill/>
        </p:spPr>
        <p:txBody>
          <a:bodyPr wrap="square" anchor="ctr" lIns="0" rIns="0" tIns="0" bIns="0">
            <a:spAutoFit/>
          </a:bodyPr>
          <a:lstStyle/>
          <a:p>
            <a:pPr algn="l">
              <a:lnSpc>
                <a:spcPct val="110000"/>
              </a:lnSpc>
            </a:pPr>
            <a:r>
              <a:rPr sz="1400" b="1" i="0">
                <a:solidFill>
                  <a:srgbClr val="10233F"/>
                </a:solidFill>
                <a:latin typeface="Times New Roman"/>
              </a:rPr>
              <a:t>Evidence-based decision making</a:t>
            </a:r>
          </a:p>
        </p:txBody>
      </p:sp>
      <p:sp>
        <p:nvSpPr>
          <p:cNvPr id="16" name="Rectangle 15"/>
          <p:cNvSpPr/>
          <p:nvPr/>
        </p:nvSpPr>
        <p:spPr>
          <a:xfrm>
            <a:off x="6245352" y="2276856"/>
            <a:ext cx="5047488" cy="566928"/>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45352" y="2276856"/>
            <a:ext cx="41148" cy="566928"/>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6520" y="2276856"/>
            <a:ext cx="4681727" cy="566928"/>
          </a:xfrm>
          <a:prstGeom prst="rect">
            <a:avLst/>
          </a:prstGeom>
          <a:noFill/>
        </p:spPr>
        <p:txBody>
          <a:bodyPr wrap="square" anchor="ctr" lIns="0" rIns="0" tIns="0" bIns="0">
            <a:spAutoFit/>
          </a:bodyPr>
          <a:lstStyle/>
          <a:p>
            <a:pPr algn="l">
              <a:lnSpc>
                <a:spcPct val="110000"/>
              </a:lnSpc>
            </a:pPr>
            <a:r>
              <a:rPr sz="1400" b="1" i="0">
                <a:solidFill>
                  <a:srgbClr val="10233F"/>
                </a:solidFill>
                <a:latin typeface="Times New Roman"/>
              </a:rPr>
              <a:t>AI-enabled organizational design</a:t>
            </a:r>
          </a:p>
        </p:txBody>
      </p:sp>
      <p:sp>
        <p:nvSpPr>
          <p:cNvPr id="19" name="Rectangle 18"/>
          <p:cNvSpPr/>
          <p:nvPr/>
        </p:nvSpPr>
        <p:spPr>
          <a:xfrm>
            <a:off x="868680" y="2999232"/>
            <a:ext cx="5047488" cy="566928"/>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68680" y="2999232"/>
            <a:ext cx="41148" cy="566928"/>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69848" y="2999232"/>
            <a:ext cx="4681727" cy="566928"/>
          </a:xfrm>
          <a:prstGeom prst="rect">
            <a:avLst/>
          </a:prstGeom>
          <a:noFill/>
        </p:spPr>
        <p:txBody>
          <a:bodyPr wrap="square" anchor="ctr" lIns="0" rIns="0" tIns="0" bIns="0">
            <a:spAutoFit/>
          </a:bodyPr>
          <a:lstStyle/>
          <a:p>
            <a:pPr algn="l">
              <a:lnSpc>
                <a:spcPct val="110000"/>
              </a:lnSpc>
            </a:pPr>
            <a:r>
              <a:rPr sz="1400" b="1" i="0">
                <a:solidFill>
                  <a:srgbClr val="10233F"/>
                </a:solidFill>
                <a:latin typeface="Times New Roman"/>
              </a:rPr>
              <a:t>Responsible AI governance</a:t>
            </a:r>
          </a:p>
        </p:txBody>
      </p:sp>
      <p:sp>
        <p:nvSpPr>
          <p:cNvPr id="22" name="Rectangle 21"/>
          <p:cNvSpPr/>
          <p:nvPr/>
        </p:nvSpPr>
        <p:spPr>
          <a:xfrm>
            <a:off x="6245352" y="2999232"/>
            <a:ext cx="5047488" cy="566928"/>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45352" y="2999232"/>
            <a:ext cx="41148" cy="566928"/>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46520" y="2999232"/>
            <a:ext cx="4681727" cy="566928"/>
          </a:xfrm>
          <a:prstGeom prst="rect">
            <a:avLst/>
          </a:prstGeom>
          <a:noFill/>
        </p:spPr>
        <p:txBody>
          <a:bodyPr wrap="square" anchor="ctr" lIns="0" rIns="0" tIns="0" bIns="0">
            <a:spAutoFit/>
          </a:bodyPr>
          <a:lstStyle/>
          <a:p>
            <a:pPr algn="l">
              <a:lnSpc>
                <a:spcPct val="110000"/>
              </a:lnSpc>
            </a:pPr>
            <a:r>
              <a:rPr sz="1400" b="1" i="0">
                <a:solidFill>
                  <a:srgbClr val="10233F"/>
                </a:solidFill>
                <a:latin typeface="Times New Roman"/>
              </a:rPr>
              <a:t>Critical evaluation of research</a:t>
            </a:r>
          </a:p>
        </p:txBody>
      </p:sp>
      <p:sp>
        <p:nvSpPr>
          <p:cNvPr id="25" name="Rectangle 24"/>
          <p:cNvSpPr/>
          <p:nvPr/>
        </p:nvSpPr>
        <p:spPr>
          <a:xfrm>
            <a:off x="868680" y="3721608"/>
            <a:ext cx="5047488" cy="566928"/>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68680" y="3721608"/>
            <a:ext cx="41148" cy="566928"/>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69848" y="3721608"/>
            <a:ext cx="4681727" cy="566928"/>
          </a:xfrm>
          <a:prstGeom prst="rect">
            <a:avLst/>
          </a:prstGeom>
          <a:noFill/>
        </p:spPr>
        <p:txBody>
          <a:bodyPr wrap="square" anchor="ctr" lIns="0" rIns="0" tIns="0" bIns="0">
            <a:spAutoFit/>
          </a:bodyPr>
          <a:lstStyle/>
          <a:p>
            <a:pPr algn="l">
              <a:lnSpc>
                <a:spcPct val="110000"/>
              </a:lnSpc>
            </a:pPr>
            <a:r>
              <a:rPr sz="1400" b="1" i="0">
                <a:solidFill>
                  <a:srgbClr val="10233F"/>
                </a:solidFill>
                <a:latin typeface="Times New Roman"/>
              </a:rPr>
              <a:t>Consulting methodology</a:t>
            </a:r>
          </a:p>
        </p:txBody>
      </p:sp>
      <p:sp>
        <p:nvSpPr>
          <p:cNvPr id="28" name="Rectangle 27"/>
          <p:cNvSpPr/>
          <p:nvPr/>
        </p:nvSpPr>
        <p:spPr>
          <a:xfrm>
            <a:off x="6245352" y="3721608"/>
            <a:ext cx="5047488" cy="566928"/>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45352" y="3721608"/>
            <a:ext cx="41148" cy="566928"/>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46520" y="3721608"/>
            <a:ext cx="4681727" cy="566928"/>
          </a:xfrm>
          <a:prstGeom prst="rect">
            <a:avLst/>
          </a:prstGeom>
          <a:noFill/>
        </p:spPr>
        <p:txBody>
          <a:bodyPr wrap="square" anchor="ctr" lIns="0" rIns="0" tIns="0" bIns="0">
            <a:spAutoFit/>
          </a:bodyPr>
          <a:lstStyle/>
          <a:p>
            <a:pPr algn="l">
              <a:lnSpc>
                <a:spcPct val="110000"/>
              </a:lnSpc>
            </a:pPr>
            <a:r>
              <a:rPr sz="1400" b="1" i="0">
                <a:solidFill>
                  <a:srgbClr val="10233F"/>
                </a:solidFill>
                <a:latin typeface="Times New Roman"/>
              </a:rPr>
              <a:t>Organizational transformation</a:t>
            </a:r>
          </a:p>
        </p:txBody>
      </p:sp>
      <p:sp>
        <p:nvSpPr>
          <p:cNvPr id="31" name="Rectangle 30"/>
          <p:cNvSpPr/>
          <p:nvPr/>
        </p:nvSpPr>
        <p:spPr>
          <a:xfrm>
            <a:off x="868680" y="4443984"/>
            <a:ext cx="5047488" cy="566928"/>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68680" y="4443984"/>
            <a:ext cx="41148" cy="566928"/>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69848" y="4443984"/>
            <a:ext cx="4681727" cy="566928"/>
          </a:xfrm>
          <a:prstGeom prst="rect">
            <a:avLst/>
          </a:prstGeom>
          <a:noFill/>
        </p:spPr>
        <p:txBody>
          <a:bodyPr wrap="square" anchor="ctr" lIns="0" rIns="0" tIns="0" bIns="0">
            <a:spAutoFit/>
          </a:bodyPr>
          <a:lstStyle/>
          <a:p>
            <a:pPr algn="l">
              <a:lnSpc>
                <a:spcPct val="110000"/>
              </a:lnSpc>
            </a:pPr>
            <a:r>
              <a:rPr sz="1400" b="1" i="0">
                <a:solidFill>
                  <a:srgbClr val="10233F"/>
                </a:solidFill>
                <a:latin typeface="Times New Roman"/>
              </a:rPr>
              <a:t>Systems thinking</a:t>
            </a:r>
          </a:p>
        </p:txBody>
      </p:sp>
      <p:sp>
        <p:nvSpPr>
          <p:cNvPr id="34" name="Rectangle 33"/>
          <p:cNvSpPr/>
          <p:nvPr/>
        </p:nvSpPr>
        <p:spPr>
          <a:xfrm>
            <a:off x="6245352" y="4443984"/>
            <a:ext cx="5047488" cy="566928"/>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245352" y="4443984"/>
            <a:ext cx="41148" cy="566928"/>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46520" y="4443984"/>
            <a:ext cx="4681727" cy="566928"/>
          </a:xfrm>
          <a:prstGeom prst="rect">
            <a:avLst/>
          </a:prstGeom>
          <a:noFill/>
        </p:spPr>
        <p:txBody>
          <a:bodyPr wrap="square" anchor="ctr" lIns="0" rIns="0" tIns="0" bIns="0">
            <a:spAutoFit/>
          </a:bodyPr>
          <a:lstStyle/>
          <a:p>
            <a:pPr algn="l">
              <a:lnSpc>
                <a:spcPct val="110000"/>
              </a:lnSpc>
            </a:pPr>
            <a:r>
              <a:rPr sz="1400" b="1" i="0">
                <a:solidFill>
                  <a:srgbClr val="10233F"/>
                </a:solidFill>
                <a:latin typeface="Times New Roman"/>
              </a:rPr>
              <a:t>Executive leadership</a:t>
            </a:r>
          </a:p>
        </p:txBody>
      </p:sp>
      <p:sp>
        <p:nvSpPr>
          <p:cNvPr id="37" name="Rectangle 36"/>
          <p:cNvSpPr/>
          <p:nvPr/>
        </p:nvSpPr>
        <p:spPr>
          <a:xfrm>
            <a:off x="868680" y="5230368"/>
            <a:ext cx="10424160" cy="676656"/>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68680" y="5230368"/>
            <a:ext cx="10424160" cy="45720"/>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188720" y="5230368"/>
            <a:ext cx="9875520" cy="676656"/>
          </a:xfrm>
          <a:prstGeom prst="rect">
            <a:avLst/>
          </a:prstGeom>
          <a:noFill/>
        </p:spPr>
        <p:txBody>
          <a:bodyPr wrap="square" anchor="ctr" lIns="0" rIns="0" tIns="0" bIns="0">
            <a:spAutoFit/>
          </a:bodyPr>
          <a:lstStyle/>
          <a:p>
            <a:pPr algn="l"/>
            <a:r>
              <a:rPr sz="1400" b="1" i="0">
                <a:solidFill>
                  <a:srgbClr val="FFFFFF"/>
                </a:solidFill>
                <a:latin typeface="Times New Roman"/>
              </a:rPr>
              <a:t>Graduates should be prepared to contribute as consultants, analysts, managers, executives, entrepreneurs, and researchers.</a:t>
            </a:r>
          </a:p>
        </p:txBody>
      </p:sp>
      <p:sp>
        <p:nvSpPr>
          <p:cNvPr id="40" name="Rectangle 39"/>
          <p:cNvSpPr/>
          <p:nvPr/>
        </p:nvSpPr>
        <p:spPr>
          <a:xfrm>
            <a:off x="868680" y="6016752"/>
            <a:ext cx="36576" cy="31089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69848" y="6016752"/>
            <a:ext cx="10424160" cy="365760"/>
          </a:xfrm>
          <a:prstGeom prst="rect">
            <a:avLst/>
          </a:prstGeom>
          <a:noFill/>
        </p:spPr>
        <p:txBody>
          <a:bodyPr wrap="square" anchor="ctr" lIns="0" rIns="0" tIns="0" bIns="0">
            <a:spAutoFit/>
          </a:bodyPr>
          <a:lstStyle/>
          <a:p>
            <a:pPr algn="l"/>
            <a:r>
              <a:rPr sz="1350" b="1" i="1">
                <a:solidFill>
                  <a:srgbClr val="10233F"/>
                </a:solidFill>
                <a:latin typeface="Times New Roman"/>
              </a:rPr>
              <a:t>The purpose is to prepare leaders who can guide organizations through technological disruption responsibly.</a:t>
            </a:r>
          </a:p>
        </p:txBody>
      </p:sp>
      <p:sp>
        <p:nvSpPr>
          <p:cNvPr id="42" name="TextBox 41"/>
          <p:cNvSpPr txBox="1"/>
          <p:nvPr/>
        </p:nvSpPr>
        <p:spPr>
          <a:xfrm>
            <a:off x="11475720" y="6473952"/>
            <a:ext cx="457200" cy="182880"/>
          </a:xfrm>
          <a:prstGeom prst="rect">
            <a:avLst/>
          </a:prstGeom>
          <a:noFill/>
        </p:spPr>
        <p:txBody>
          <a:bodyPr wrap="square" anchor="t" lIns="0" rIns="0" tIns="0" bIns="0">
            <a:spAutoFit/>
          </a:bodyPr>
          <a:lstStyle/>
          <a:p>
            <a:pPr algn="r"/>
            <a:r>
              <a:rPr sz="800" b="0" i="0">
                <a:solidFill>
                  <a:srgbClr val="9CA3AF"/>
                </a:solidFill>
                <a:latin typeface="Times New Roman"/>
              </a:rPr>
              <a:t>34</a:t>
            </a:r>
          </a:p>
        </p:txBody>
      </p:sp>
      <p:sp>
        <p:nvSpPr>
          <p:cNvPr id="43" name="TextBox 42"/>
          <p:cNvSpPr txBox="1"/>
          <p:nvPr/>
        </p:nvSpPr>
        <p:spPr>
          <a:xfrm>
            <a:off x="502920" y="6473952"/>
            <a:ext cx="6400800" cy="182880"/>
          </a:xfrm>
          <a:prstGeom prst="rect">
            <a:avLst/>
          </a:prstGeom>
          <a:noFill/>
        </p:spPr>
        <p:txBody>
          <a:bodyPr wrap="square" anchor="t" lIns="0" rIns="0" tIns="0" bIns="0">
            <a:spAutoFit/>
          </a:bodyPr>
          <a:lstStyle/>
          <a:p>
            <a:pPr algn="l"/>
            <a:r>
              <a:rPr sz="720" b="0" i="0">
                <a:solidFill>
                  <a:srgbClr val="6B7280"/>
                </a:solidFill>
                <a:latin typeface="Times New Roman"/>
              </a:rPr>
              <a:t>Strategic Management in the Age of AI · MGMT 465/665 · Course Introduction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6858000"/>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51560" y="1828800"/>
            <a:ext cx="5486400" cy="274320"/>
          </a:xfrm>
          <a:prstGeom prst="rect">
            <a:avLst/>
          </a:prstGeom>
          <a:noFill/>
        </p:spPr>
        <p:txBody>
          <a:bodyPr wrap="square" anchor="t" lIns="0" rIns="0" tIns="0" bIns="0">
            <a:spAutoFit/>
          </a:bodyPr>
          <a:lstStyle/>
          <a:p>
            <a:pPr algn="l"/>
            <a:r>
              <a:rPr sz="1200" b="1" i="0">
                <a:solidFill>
                  <a:srgbClr val="D4A017"/>
                </a:solidFill>
                <a:latin typeface="Times New Roman"/>
              </a:rPr>
              <a:t>PART III</a:t>
            </a:r>
          </a:p>
        </p:txBody>
      </p:sp>
      <p:sp>
        <p:nvSpPr>
          <p:cNvPr id="5" name="TextBox 4"/>
          <p:cNvSpPr txBox="1"/>
          <p:nvPr/>
        </p:nvSpPr>
        <p:spPr>
          <a:xfrm>
            <a:off x="1051560" y="2194560"/>
            <a:ext cx="8412480" cy="1005840"/>
          </a:xfrm>
          <a:prstGeom prst="rect">
            <a:avLst/>
          </a:prstGeom>
          <a:noFill/>
        </p:spPr>
        <p:txBody>
          <a:bodyPr wrap="square" anchor="t" lIns="0" rIns="0" tIns="0" bIns="0">
            <a:spAutoFit/>
          </a:bodyPr>
          <a:lstStyle/>
          <a:p>
            <a:pPr algn="l">
              <a:lnSpc>
                <a:spcPct val="95000"/>
              </a:lnSpc>
            </a:pPr>
            <a:r>
              <a:rPr sz="3800" b="1" i="0">
                <a:solidFill>
                  <a:srgbClr val="FFFFFF"/>
                </a:solidFill>
                <a:latin typeface="Times New Roman"/>
              </a:rPr>
              <a:t>Intellectual Foundations</a:t>
            </a:r>
          </a:p>
        </p:txBody>
      </p:sp>
      <p:sp>
        <p:nvSpPr>
          <p:cNvPr id="6" name="Rectangle 5"/>
          <p:cNvSpPr/>
          <p:nvPr/>
        </p:nvSpPr>
        <p:spPr>
          <a:xfrm>
            <a:off x="1078992" y="3438144"/>
            <a:ext cx="1371600" cy="32004"/>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3712463"/>
            <a:ext cx="7863840" cy="731520"/>
          </a:xfrm>
          <a:prstGeom prst="rect">
            <a:avLst/>
          </a:prstGeom>
          <a:noFill/>
        </p:spPr>
        <p:txBody>
          <a:bodyPr wrap="square" anchor="t" lIns="0" rIns="0" tIns="0" bIns="0">
            <a:spAutoFit/>
          </a:bodyPr>
          <a:lstStyle/>
          <a:p>
            <a:pPr algn="l">
              <a:lnSpc>
                <a:spcPct val="125000"/>
              </a:lnSpc>
            </a:pPr>
            <a:r>
              <a:rPr sz="1500" b="0" i="1">
                <a:solidFill>
                  <a:srgbClr val="C9D2DE"/>
                </a:solidFill>
                <a:latin typeface="Times New Roman"/>
              </a:rPr>
              <a:t>“The purpose of reading the classics is not to preserve old ideas, but to understand the intellectual foundations upon which new ideas are built.”</a:t>
            </a:r>
          </a:p>
        </p:txBody>
      </p:sp>
      <p:sp>
        <p:nvSpPr>
          <p:cNvPr id="8" name="Rectangle 7"/>
          <p:cNvSpPr/>
          <p:nvPr/>
        </p:nvSpPr>
        <p:spPr>
          <a:xfrm>
            <a:off x="1051560" y="4956048"/>
            <a:ext cx="82296" cy="237744"/>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52728" y="4946904"/>
            <a:ext cx="2926080" cy="274320"/>
          </a:xfrm>
          <a:prstGeom prst="rect">
            <a:avLst/>
          </a:prstGeom>
          <a:noFill/>
        </p:spPr>
        <p:txBody>
          <a:bodyPr wrap="square" anchor="t" lIns="0" rIns="0" tIns="0" bIns="0">
            <a:spAutoFit/>
          </a:bodyPr>
          <a:lstStyle/>
          <a:p>
            <a:pPr algn="l"/>
            <a:r>
              <a:rPr sz="1150" b="1" i="0">
                <a:solidFill>
                  <a:srgbClr val="FFFFFF"/>
                </a:solidFill>
                <a:latin typeface="Times New Roman"/>
              </a:rPr>
              <a:t>The classical canon</a:t>
            </a:r>
          </a:p>
        </p:txBody>
      </p:sp>
      <p:sp>
        <p:nvSpPr>
          <p:cNvPr id="10" name="Rectangle 9"/>
          <p:cNvSpPr/>
          <p:nvPr/>
        </p:nvSpPr>
        <p:spPr>
          <a:xfrm>
            <a:off x="4297679" y="4956048"/>
            <a:ext cx="82296" cy="237744"/>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98847" y="4946904"/>
            <a:ext cx="2926080" cy="274320"/>
          </a:xfrm>
          <a:prstGeom prst="rect">
            <a:avLst/>
          </a:prstGeom>
          <a:noFill/>
        </p:spPr>
        <p:txBody>
          <a:bodyPr wrap="square" anchor="t" lIns="0" rIns="0" tIns="0" bIns="0">
            <a:spAutoFit/>
          </a:bodyPr>
          <a:lstStyle/>
          <a:p>
            <a:pPr algn="l"/>
            <a:r>
              <a:rPr sz="1150" b="1" i="0">
                <a:solidFill>
                  <a:srgbClr val="FFFFFF"/>
                </a:solidFill>
                <a:latin typeface="Times New Roman"/>
              </a:rPr>
              <a:t>The AI canon</a:t>
            </a:r>
          </a:p>
        </p:txBody>
      </p:sp>
      <p:sp>
        <p:nvSpPr>
          <p:cNvPr id="12" name="Rectangle 11"/>
          <p:cNvSpPr/>
          <p:nvPr/>
        </p:nvSpPr>
        <p:spPr>
          <a:xfrm>
            <a:off x="7543800" y="4956048"/>
            <a:ext cx="82296" cy="237744"/>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44968" y="4946904"/>
            <a:ext cx="2926080" cy="274320"/>
          </a:xfrm>
          <a:prstGeom prst="rect">
            <a:avLst/>
          </a:prstGeom>
          <a:noFill/>
        </p:spPr>
        <p:txBody>
          <a:bodyPr wrap="square" anchor="t" lIns="0" rIns="0" tIns="0" bIns="0">
            <a:spAutoFit/>
          </a:bodyPr>
          <a:lstStyle/>
          <a:p>
            <a:pPr algn="l"/>
            <a:r>
              <a:rPr sz="1150" b="1" i="0">
                <a:solidFill>
                  <a:srgbClr val="FFFFFF"/>
                </a:solidFill>
                <a:latin typeface="Times New Roman"/>
              </a:rPr>
              <a:t>Weekly dialogue</a:t>
            </a:r>
          </a:p>
        </p:txBody>
      </p:sp>
      <p:sp>
        <p:nvSpPr>
          <p:cNvPr id="14" name="TextBox 13"/>
          <p:cNvSpPr txBox="1"/>
          <p:nvPr/>
        </p:nvSpPr>
        <p:spPr>
          <a:xfrm>
            <a:off x="11475720" y="6473952"/>
            <a:ext cx="457200" cy="182880"/>
          </a:xfrm>
          <a:prstGeom prst="rect">
            <a:avLst/>
          </a:prstGeom>
          <a:noFill/>
        </p:spPr>
        <p:txBody>
          <a:bodyPr wrap="square" anchor="t" lIns="0" rIns="0" tIns="0" bIns="0">
            <a:spAutoFit/>
          </a:bodyPr>
          <a:lstStyle/>
          <a:p>
            <a:pPr algn="r"/>
            <a:r>
              <a:rPr sz="800" b="0" i="0">
                <a:solidFill>
                  <a:srgbClr val="D4A017"/>
                </a:solidFill>
                <a:latin typeface="Times New Roman"/>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969" cy="164592"/>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969" cy="3657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411480"/>
            <a:ext cx="5943600" cy="228600"/>
          </a:xfrm>
          <a:prstGeom prst="rect">
            <a:avLst/>
          </a:prstGeom>
          <a:noFill/>
        </p:spPr>
        <p:txBody>
          <a:bodyPr wrap="square" anchor="t" lIns="0" rIns="0" tIns="0" bIns="0">
            <a:spAutoFit/>
          </a:bodyPr>
          <a:lstStyle/>
          <a:p>
            <a:pPr algn="l"/>
            <a:r>
              <a:rPr sz="850" b="1" i="0">
                <a:solidFill>
                  <a:srgbClr val="2A6F97"/>
                </a:solidFill>
                <a:latin typeface="Times New Roman"/>
              </a:rPr>
              <a:t>PART III · OVERVIEW</a:t>
            </a:r>
          </a:p>
        </p:txBody>
      </p:sp>
      <p:sp>
        <p:nvSpPr>
          <p:cNvPr id="6" name="TextBox 5"/>
          <p:cNvSpPr txBox="1"/>
          <p:nvPr/>
        </p:nvSpPr>
        <p:spPr>
          <a:xfrm>
            <a:off x="502920" y="640080"/>
            <a:ext cx="9509760" cy="457200"/>
          </a:xfrm>
          <a:prstGeom prst="rect">
            <a:avLst/>
          </a:prstGeom>
          <a:noFill/>
        </p:spPr>
        <p:txBody>
          <a:bodyPr wrap="square" anchor="t" lIns="0" rIns="0" tIns="0" bIns="0">
            <a:spAutoFit/>
          </a:bodyPr>
          <a:lstStyle/>
          <a:p>
            <a:pPr algn="l"/>
            <a:r>
              <a:rPr sz="2400" b="1" i="0">
                <a:solidFill>
                  <a:srgbClr val="111827"/>
                </a:solidFill>
                <a:latin typeface="Times New Roman"/>
              </a:rPr>
              <a:t>Two canons, placed in direct dialogue</a:t>
            </a:r>
          </a:p>
        </p:txBody>
      </p:sp>
      <p:sp>
        <p:nvSpPr>
          <p:cNvPr id="7" name="Rectangle 6"/>
          <p:cNvSpPr/>
          <p:nvPr/>
        </p:nvSpPr>
        <p:spPr>
          <a:xfrm>
            <a:off x="868680" y="1481328"/>
            <a:ext cx="10424160" cy="841248"/>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68680" y="1481328"/>
            <a:ext cx="45720" cy="841248"/>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88720" y="1481328"/>
            <a:ext cx="9875520" cy="841248"/>
          </a:xfrm>
          <a:prstGeom prst="rect">
            <a:avLst/>
          </a:prstGeom>
          <a:noFill/>
        </p:spPr>
        <p:txBody>
          <a:bodyPr wrap="square" anchor="ctr" lIns="0" rIns="0" tIns="0" bIns="0">
            <a:spAutoFit/>
          </a:bodyPr>
          <a:lstStyle/>
          <a:p>
            <a:pPr algn="l">
              <a:lnSpc>
                <a:spcPct val="120000"/>
              </a:lnSpc>
            </a:pPr>
            <a:r>
              <a:rPr sz="1700" b="1" i="1">
                <a:solidFill>
                  <a:srgbClr val="FFFFFF"/>
                </a:solidFill>
                <a:latin typeface="Times New Roman"/>
              </a:rPr>
              <a:t>Artificial intelligence does not replace strategic management — it transforms the context in which strategic management operates.</a:t>
            </a:r>
          </a:p>
        </p:txBody>
      </p:sp>
      <p:sp>
        <p:nvSpPr>
          <p:cNvPr id="10" name="Rectangle 9"/>
          <p:cNvSpPr/>
          <p:nvPr/>
        </p:nvSpPr>
        <p:spPr>
          <a:xfrm>
            <a:off x="868680" y="2560320"/>
            <a:ext cx="5047488" cy="1444752"/>
          </a:xfrm>
          <a:prstGeom prst="rect">
            <a:avLst/>
          </a:prstGeom>
          <a:solidFill>
            <a:srgbClr val="F6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68680" y="2560320"/>
            <a:ext cx="5047488" cy="41148"/>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7" y="2752344"/>
            <a:ext cx="4736592" cy="1133856"/>
          </a:xfrm>
          <a:prstGeom prst="rect">
            <a:avLst/>
          </a:prstGeom>
          <a:noFill/>
        </p:spPr>
        <p:txBody>
          <a:bodyPr wrap="square" anchor="t" lIns="0" rIns="0" tIns="0" bIns="0">
            <a:spAutoFit/>
          </a:bodyPr>
          <a:lstStyle/>
          <a:p>
            <a:pPr algn="l">
              <a:lnSpc>
                <a:spcPct val="105000"/>
              </a:lnSpc>
              <a:spcAft>
                <a:spcPts val="500"/>
              </a:spcAft>
            </a:pPr>
            <a:r>
              <a:rPr sz="1400" b="1" i="0">
                <a:solidFill>
                  <a:srgbClr val="10233F"/>
                </a:solidFill>
                <a:latin typeface="Times New Roman"/>
              </a:rPr>
              <a:t>The first body of scholarship</a:t>
            </a:r>
          </a:p>
          <a:p>
            <a:pPr algn="l">
              <a:lnSpc>
                <a:spcPct val="130000"/>
              </a:lnSpc>
              <a:spcAft>
                <a:spcPts val="300"/>
              </a:spcAft>
            </a:pPr>
            <a:r>
              <a:rPr sz="1250" b="0" i="0">
                <a:solidFill>
                  <a:srgbClr val="111827"/>
                </a:solidFill>
                <a:latin typeface="Times New Roman"/>
              </a:rPr>
              <a:t>Foundational theories that have shaped strategic management over the past five decades.</a:t>
            </a:r>
          </a:p>
        </p:txBody>
      </p:sp>
      <p:sp>
        <p:nvSpPr>
          <p:cNvPr id="13" name="Rectangle 12"/>
          <p:cNvSpPr/>
          <p:nvPr/>
        </p:nvSpPr>
        <p:spPr>
          <a:xfrm>
            <a:off x="6245352" y="2560320"/>
            <a:ext cx="5047488" cy="1444752"/>
          </a:xfrm>
          <a:prstGeom prst="rect">
            <a:avLst/>
          </a:prstGeom>
          <a:solidFill>
            <a:srgbClr val="EA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45352" y="2560320"/>
            <a:ext cx="5047488" cy="41148"/>
          </a:xfrm>
          <a:prstGeom prst="rect">
            <a:avLst/>
          </a:prstGeom>
          <a:solidFill>
            <a:srgbClr val="2A6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2752344"/>
            <a:ext cx="4736592" cy="1133856"/>
          </a:xfrm>
          <a:prstGeom prst="rect">
            <a:avLst/>
          </a:prstGeom>
          <a:noFill/>
        </p:spPr>
        <p:txBody>
          <a:bodyPr wrap="square" anchor="t" lIns="0" rIns="0" tIns="0" bIns="0">
            <a:spAutoFit/>
          </a:bodyPr>
          <a:lstStyle/>
          <a:p>
            <a:pPr algn="l">
              <a:lnSpc>
                <a:spcPct val="105000"/>
              </a:lnSpc>
              <a:spcAft>
                <a:spcPts val="500"/>
              </a:spcAft>
            </a:pPr>
            <a:r>
              <a:rPr sz="1400" b="1" i="0">
                <a:solidFill>
                  <a:srgbClr val="10233F"/>
                </a:solidFill>
                <a:latin typeface="Times New Roman"/>
              </a:rPr>
              <a:t>The second body of scholarship</a:t>
            </a:r>
          </a:p>
          <a:p>
            <a:pPr algn="l">
              <a:lnSpc>
                <a:spcPct val="130000"/>
              </a:lnSpc>
              <a:spcAft>
                <a:spcPts val="300"/>
              </a:spcAft>
            </a:pPr>
            <a:r>
              <a:rPr sz="1250" b="0" i="0">
                <a:solidFill>
                  <a:srgbClr val="111827"/>
                </a:solidFill>
                <a:latin typeface="Times New Roman"/>
              </a:rPr>
              <a:t>Contemporary research on how AI changes organizations, advantage, leadership, decision making, knowledge creation, and performance.</a:t>
            </a:r>
          </a:p>
        </p:txBody>
      </p:sp>
      <p:sp>
        <p:nvSpPr>
          <p:cNvPr id="16" name="TextBox 15"/>
          <p:cNvSpPr txBox="1"/>
          <p:nvPr/>
        </p:nvSpPr>
        <p:spPr>
          <a:xfrm>
            <a:off x="868680" y="4224528"/>
            <a:ext cx="10424160" cy="274320"/>
          </a:xfrm>
          <a:prstGeom prst="rect">
            <a:avLst/>
          </a:prstGeom>
          <a:noFill/>
        </p:spPr>
        <p:txBody>
          <a:bodyPr wrap="square" anchor="t" lIns="0" rIns="0" tIns="0" bIns="0">
            <a:spAutoFit/>
          </a:bodyPr>
          <a:lstStyle/>
          <a:p>
            <a:pPr algn="l"/>
            <a:r>
              <a:rPr sz="950" b="1" i="0">
                <a:solidFill>
                  <a:srgbClr val="2A6F97"/>
                </a:solidFill>
                <a:latin typeface="Times New Roman"/>
              </a:rPr>
              <a:t>HOW STUDENTS WORK THROUGH EVERY PAIRING</a:t>
            </a:r>
          </a:p>
        </p:txBody>
      </p:sp>
      <p:sp>
        <p:nvSpPr>
          <p:cNvPr id="17" name="Rectangle 16"/>
          <p:cNvSpPr/>
          <p:nvPr/>
        </p:nvSpPr>
        <p:spPr>
          <a:xfrm>
            <a:off x="868680" y="4553712"/>
            <a:ext cx="1901952" cy="713232"/>
          </a:xfrm>
          <a:prstGeom prst="rect">
            <a:avLst/>
          </a:prstGeom>
          <a:solidFill>
            <a:srgbClr val="2A6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2688" y="4553712"/>
            <a:ext cx="1773936" cy="713232"/>
          </a:xfrm>
          <a:prstGeom prst="rect">
            <a:avLst/>
          </a:prstGeom>
          <a:noFill/>
        </p:spPr>
        <p:txBody>
          <a:bodyPr wrap="square" anchor="ctr" lIns="0" rIns="0" tIns="0" bIns="0">
            <a:spAutoFit/>
          </a:bodyPr>
          <a:lstStyle/>
          <a:p>
            <a:pPr algn="ctr">
              <a:lnSpc>
                <a:spcPct val="108000"/>
              </a:lnSpc>
            </a:pPr>
            <a:r>
              <a:rPr sz="1100" b="1" i="0">
                <a:solidFill>
                  <a:srgbClr val="FFFFFF"/>
                </a:solidFill>
                <a:latin typeface="Times New Roman"/>
              </a:rPr>
              <a:t>Understand the
original theory</a:t>
            </a:r>
          </a:p>
        </p:txBody>
      </p:sp>
      <p:sp>
        <p:nvSpPr>
          <p:cNvPr id="19" name="TextBox 18"/>
          <p:cNvSpPr txBox="1"/>
          <p:nvPr/>
        </p:nvSpPr>
        <p:spPr>
          <a:xfrm>
            <a:off x="2770632" y="4553712"/>
            <a:ext cx="237744" cy="713232"/>
          </a:xfrm>
          <a:prstGeom prst="rect">
            <a:avLst/>
          </a:prstGeom>
          <a:noFill/>
        </p:spPr>
        <p:txBody>
          <a:bodyPr wrap="square" anchor="ctr" lIns="0" rIns="0" tIns="0" bIns="0">
            <a:spAutoFit/>
          </a:bodyPr>
          <a:lstStyle/>
          <a:p>
            <a:pPr algn="ctr"/>
            <a:r>
              <a:rPr sz="1300" b="1" i="0">
                <a:solidFill>
                  <a:srgbClr val="D4A017"/>
                </a:solidFill>
                <a:latin typeface="Times New Roman"/>
              </a:rPr>
              <a:t>❯</a:t>
            </a:r>
          </a:p>
        </p:txBody>
      </p:sp>
      <p:sp>
        <p:nvSpPr>
          <p:cNvPr id="20" name="Rectangle 19"/>
          <p:cNvSpPr/>
          <p:nvPr/>
        </p:nvSpPr>
        <p:spPr>
          <a:xfrm>
            <a:off x="3008376" y="4553712"/>
            <a:ext cx="1901952" cy="713232"/>
          </a:xfrm>
          <a:prstGeom prst="rect">
            <a:avLst/>
          </a:prstGeom>
          <a:solidFill>
            <a:srgbClr val="2A6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072384" y="4553712"/>
            <a:ext cx="1773936" cy="713232"/>
          </a:xfrm>
          <a:prstGeom prst="rect">
            <a:avLst/>
          </a:prstGeom>
          <a:noFill/>
        </p:spPr>
        <p:txBody>
          <a:bodyPr wrap="square" anchor="ctr" lIns="0" rIns="0" tIns="0" bIns="0">
            <a:spAutoFit/>
          </a:bodyPr>
          <a:lstStyle/>
          <a:p>
            <a:pPr algn="ctr">
              <a:lnSpc>
                <a:spcPct val="108000"/>
              </a:lnSpc>
            </a:pPr>
            <a:r>
              <a:rPr sz="1100" b="1" i="0">
                <a:solidFill>
                  <a:srgbClr val="FFFFFF"/>
                </a:solidFill>
                <a:latin typeface="Times New Roman"/>
              </a:rPr>
              <a:t>Evaluate its
assumptions</a:t>
            </a:r>
          </a:p>
        </p:txBody>
      </p:sp>
      <p:sp>
        <p:nvSpPr>
          <p:cNvPr id="22" name="TextBox 21"/>
          <p:cNvSpPr txBox="1"/>
          <p:nvPr/>
        </p:nvSpPr>
        <p:spPr>
          <a:xfrm>
            <a:off x="4910328" y="4553712"/>
            <a:ext cx="237744" cy="713232"/>
          </a:xfrm>
          <a:prstGeom prst="rect">
            <a:avLst/>
          </a:prstGeom>
          <a:noFill/>
        </p:spPr>
        <p:txBody>
          <a:bodyPr wrap="square" anchor="ctr" lIns="0" rIns="0" tIns="0" bIns="0">
            <a:spAutoFit/>
          </a:bodyPr>
          <a:lstStyle/>
          <a:p>
            <a:pPr algn="ctr"/>
            <a:r>
              <a:rPr sz="1300" b="1" i="0">
                <a:solidFill>
                  <a:srgbClr val="D4A017"/>
                </a:solidFill>
                <a:latin typeface="Times New Roman"/>
              </a:rPr>
              <a:t>❯</a:t>
            </a:r>
          </a:p>
        </p:txBody>
      </p:sp>
      <p:sp>
        <p:nvSpPr>
          <p:cNvPr id="23" name="Rectangle 22"/>
          <p:cNvSpPr/>
          <p:nvPr/>
        </p:nvSpPr>
        <p:spPr>
          <a:xfrm>
            <a:off x="5148072" y="4553712"/>
            <a:ext cx="1901952" cy="713232"/>
          </a:xfrm>
          <a:prstGeom prst="rect">
            <a:avLst/>
          </a:prstGeom>
          <a:solidFill>
            <a:srgbClr val="2A6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212080" y="4553712"/>
            <a:ext cx="1773936" cy="713232"/>
          </a:xfrm>
          <a:prstGeom prst="rect">
            <a:avLst/>
          </a:prstGeom>
          <a:noFill/>
        </p:spPr>
        <p:txBody>
          <a:bodyPr wrap="square" anchor="ctr" lIns="0" rIns="0" tIns="0" bIns="0">
            <a:spAutoFit/>
          </a:bodyPr>
          <a:lstStyle/>
          <a:p>
            <a:pPr algn="ctr">
              <a:lnSpc>
                <a:spcPct val="108000"/>
              </a:lnSpc>
            </a:pPr>
            <a:r>
              <a:rPr sz="1100" b="1" i="0">
                <a:solidFill>
                  <a:srgbClr val="FFFFFF"/>
                </a:solidFill>
                <a:latin typeface="Times New Roman"/>
              </a:rPr>
              <a:t>Analyze the
AI research</a:t>
            </a:r>
          </a:p>
        </p:txBody>
      </p:sp>
      <p:sp>
        <p:nvSpPr>
          <p:cNvPr id="25" name="TextBox 24"/>
          <p:cNvSpPr txBox="1"/>
          <p:nvPr/>
        </p:nvSpPr>
        <p:spPr>
          <a:xfrm>
            <a:off x="7050024" y="4553712"/>
            <a:ext cx="237744" cy="713232"/>
          </a:xfrm>
          <a:prstGeom prst="rect">
            <a:avLst/>
          </a:prstGeom>
          <a:noFill/>
        </p:spPr>
        <p:txBody>
          <a:bodyPr wrap="square" anchor="ctr" lIns="0" rIns="0" tIns="0" bIns="0">
            <a:spAutoFit/>
          </a:bodyPr>
          <a:lstStyle/>
          <a:p>
            <a:pPr algn="ctr"/>
            <a:r>
              <a:rPr sz="1300" b="1" i="0">
                <a:solidFill>
                  <a:srgbClr val="D4A017"/>
                </a:solidFill>
                <a:latin typeface="Times New Roman"/>
              </a:rPr>
              <a:t>❯</a:t>
            </a:r>
          </a:p>
        </p:txBody>
      </p:sp>
      <p:sp>
        <p:nvSpPr>
          <p:cNvPr id="26" name="Rectangle 25"/>
          <p:cNvSpPr/>
          <p:nvPr/>
        </p:nvSpPr>
        <p:spPr>
          <a:xfrm>
            <a:off x="7287768" y="4553712"/>
            <a:ext cx="1901952" cy="713232"/>
          </a:xfrm>
          <a:prstGeom prst="rect">
            <a:avLst/>
          </a:prstGeom>
          <a:solidFill>
            <a:srgbClr val="2A6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51775" y="4553712"/>
            <a:ext cx="1773936" cy="713232"/>
          </a:xfrm>
          <a:prstGeom prst="rect">
            <a:avLst/>
          </a:prstGeom>
          <a:noFill/>
        </p:spPr>
        <p:txBody>
          <a:bodyPr wrap="square" anchor="ctr" lIns="0" rIns="0" tIns="0" bIns="0">
            <a:spAutoFit/>
          </a:bodyPr>
          <a:lstStyle/>
          <a:p>
            <a:pPr algn="ctr">
              <a:lnSpc>
                <a:spcPct val="108000"/>
              </a:lnSpc>
            </a:pPr>
            <a:r>
              <a:rPr sz="1100" b="1" i="0">
                <a:solidFill>
                  <a:srgbClr val="FFFFFF"/>
                </a:solidFill>
                <a:latin typeface="Times New Roman"/>
              </a:rPr>
              <a:t>Compare the
perspectives</a:t>
            </a:r>
          </a:p>
        </p:txBody>
      </p:sp>
      <p:sp>
        <p:nvSpPr>
          <p:cNvPr id="28" name="TextBox 27"/>
          <p:cNvSpPr txBox="1"/>
          <p:nvPr/>
        </p:nvSpPr>
        <p:spPr>
          <a:xfrm>
            <a:off x="9189720" y="4553712"/>
            <a:ext cx="237744" cy="713232"/>
          </a:xfrm>
          <a:prstGeom prst="rect">
            <a:avLst/>
          </a:prstGeom>
          <a:noFill/>
        </p:spPr>
        <p:txBody>
          <a:bodyPr wrap="square" anchor="ctr" lIns="0" rIns="0" tIns="0" bIns="0">
            <a:spAutoFit/>
          </a:bodyPr>
          <a:lstStyle/>
          <a:p>
            <a:pPr algn="ctr"/>
            <a:r>
              <a:rPr sz="1300" b="1" i="0">
                <a:solidFill>
                  <a:srgbClr val="D4A017"/>
                </a:solidFill>
                <a:latin typeface="Times New Roman"/>
              </a:rPr>
              <a:t>❯</a:t>
            </a:r>
          </a:p>
        </p:txBody>
      </p:sp>
      <p:sp>
        <p:nvSpPr>
          <p:cNvPr id="29" name="Rectangle 28"/>
          <p:cNvSpPr/>
          <p:nvPr/>
        </p:nvSpPr>
        <p:spPr>
          <a:xfrm>
            <a:off x="9427463" y="4553712"/>
            <a:ext cx="1901952" cy="713232"/>
          </a:xfrm>
          <a:prstGeom prst="rect">
            <a:avLst/>
          </a:prstGeom>
          <a:solidFill>
            <a:srgbClr val="2A6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491472" y="4553712"/>
            <a:ext cx="1773936" cy="713232"/>
          </a:xfrm>
          <a:prstGeom prst="rect">
            <a:avLst/>
          </a:prstGeom>
          <a:noFill/>
        </p:spPr>
        <p:txBody>
          <a:bodyPr wrap="square" anchor="ctr" lIns="0" rIns="0" tIns="0" bIns="0">
            <a:spAutoFit/>
          </a:bodyPr>
          <a:lstStyle/>
          <a:p>
            <a:pPr algn="ctr">
              <a:lnSpc>
                <a:spcPct val="108000"/>
              </a:lnSpc>
            </a:pPr>
            <a:r>
              <a:rPr sz="1100" b="1" i="0">
                <a:solidFill>
                  <a:srgbClr val="FFFFFF"/>
                </a:solidFill>
                <a:latin typeface="Times New Roman"/>
              </a:rPr>
              <a:t>Propose how it
should evolve</a:t>
            </a:r>
          </a:p>
        </p:txBody>
      </p:sp>
      <p:sp>
        <p:nvSpPr>
          <p:cNvPr id="31" name="Rectangle 30"/>
          <p:cNvSpPr/>
          <p:nvPr/>
        </p:nvSpPr>
        <p:spPr>
          <a:xfrm>
            <a:off x="868680" y="5687568"/>
            <a:ext cx="36576" cy="31089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69848" y="5687568"/>
            <a:ext cx="10424160" cy="365760"/>
          </a:xfrm>
          <a:prstGeom prst="rect">
            <a:avLst/>
          </a:prstGeom>
          <a:noFill/>
        </p:spPr>
        <p:txBody>
          <a:bodyPr wrap="square" anchor="ctr" lIns="0" rIns="0" tIns="0" bIns="0">
            <a:spAutoFit/>
          </a:bodyPr>
          <a:lstStyle/>
          <a:p>
            <a:pPr algn="l"/>
            <a:r>
              <a:rPr sz="1350" b="1" i="1">
                <a:solidFill>
                  <a:srgbClr val="10233F"/>
                </a:solidFill>
                <a:latin typeface="Times New Roman"/>
              </a:rPr>
              <a:t>The objective is to develop scholars and executives who extend knowledge rather than merely apply frameworks.</a:t>
            </a:r>
          </a:p>
        </p:txBody>
      </p:sp>
      <p:sp>
        <p:nvSpPr>
          <p:cNvPr id="33" name="TextBox 32"/>
          <p:cNvSpPr txBox="1"/>
          <p:nvPr/>
        </p:nvSpPr>
        <p:spPr>
          <a:xfrm>
            <a:off x="11475720" y="6473952"/>
            <a:ext cx="457200" cy="182880"/>
          </a:xfrm>
          <a:prstGeom prst="rect">
            <a:avLst/>
          </a:prstGeom>
          <a:noFill/>
        </p:spPr>
        <p:txBody>
          <a:bodyPr wrap="square" anchor="t" lIns="0" rIns="0" tIns="0" bIns="0">
            <a:spAutoFit/>
          </a:bodyPr>
          <a:lstStyle/>
          <a:p>
            <a:pPr algn="r"/>
            <a:r>
              <a:rPr sz="800" b="0" i="0">
                <a:solidFill>
                  <a:srgbClr val="9CA3AF"/>
                </a:solidFill>
                <a:latin typeface="Times New Roman"/>
              </a:rPr>
              <a:t>36</a:t>
            </a:r>
          </a:p>
        </p:txBody>
      </p:sp>
      <p:sp>
        <p:nvSpPr>
          <p:cNvPr id="34" name="TextBox 33"/>
          <p:cNvSpPr txBox="1"/>
          <p:nvPr/>
        </p:nvSpPr>
        <p:spPr>
          <a:xfrm>
            <a:off x="502920" y="6473952"/>
            <a:ext cx="6400800" cy="182880"/>
          </a:xfrm>
          <a:prstGeom prst="rect">
            <a:avLst/>
          </a:prstGeom>
          <a:noFill/>
        </p:spPr>
        <p:txBody>
          <a:bodyPr wrap="square" anchor="t" lIns="0" rIns="0" tIns="0" bIns="0">
            <a:spAutoFit/>
          </a:bodyPr>
          <a:lstStyle/>
          <a:p>
            <a:pPr algn="l"/>
            <a:r>
              <a:rPr sz="720" b="0" i="0">
                <a:solidFill>
                  <a:srgbClr val="6B7280"/>
                </a:solidFill>
                <a:latin typeface="Times New Roman"/>
              </a:rPr>
              <a:t>Strategic Management in the Age of AI · MGMT 465/665 · Course Introduction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969" cy="164592"/>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969" cy="3657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411480"/>
            <a:ext cx="5943600" cy="228600"/>
          </a:xfrm>
          <a:prstGeom prst="rect">
            <a:avLst/>
          </a:prstGeom>
          <a:noFill/>
        </p:spPr>
        <p:txBody>
          <a:bodyPr wrap="square" anchor="t" lIns="0" rIns="0" tIns="0" bIns="0">
            <a:spAutoFit/>
          </a:bodyPr>
          <a:lstStyle/>
          <a:p>
            <a:pPr algn="l"/>
            <a:r>
              <a:rPr sz="850" b="1" i="0">
                <a:solidFill>
                  <a:srgbClr val="2A6F97"/>
                </a:solidFill>
                <a:latin typeface="Times New Roman"/>
              </a:rPr>
              <a:t>PART III · THE CLASSICAL STRATEGY CANON</a:t>
            </a:r>
          </a:p>
        </p:txBody>
      </p:sp>
      <p:sp>
        <p:nvSpPr>
          <p:cNvPr id="6" name="TextBox 5"/>
          <p:cNvSpPr txBox="1"/>
          <p:nvPr/>
        </p:nvSpPr>
        <p:spPr>
          <a:xfrm>
            <a:off x="502920" y="640080"/>
            <a:ext cx="9509760" cy="457200"/>
          </a:xfrm>
          <a:prstGeom prst="rect">
            <a:avLst/>
          </a:prstGeom>
          <a:noFill/>
        </p:spPr>
        <p:txBody>
          <a:bodyPr wrap="square" anchor="t" lIns="0" rIns="0" tIns="0" bIns="0">
            <a:spAutoFit/>
          </a:bodyPr>
          <a:lstStyle/>
          <a:p>
            <a:pPr algn="l"/>
            <a:r>
              <a:rPr sz="2400" b="1" i="0">
                <a:solidFill>
                  <a:srgbClr val="111827"/>
                </a:solidFill>
                <a:latin typeface="Times New Roman"/>
              </a:rPr>
              <a:t>Ten papers every strategy student should know</a:t>
            </a:r>
          </a:p>
        </p:txBody>
      </p:sp>
      <p:sp>
        <p:nvSpPr>
          <p:cNvPr id="7" name="TextBox 6"/>
          <p:cNvSpPr txBox="1"/>
          <p:nvPr/>
        </p:nvSpPr>
        <p:spPr>
          <a:xfrm>
            <a:off x="502920" y="1106424"/>
            <a:ext cx="10698480" cy="274320"/>
          </a:xfrm>
          <a:prstGeom prst="rect">
            <a:avLst/>
          </a:prstGeom>
          <a:noFill/>
        </p:spPr>
        <p:txBody>
          <a:bodyPr wrap="square" anchor="t" lIns="0" rIns="0" tIns="0" bIns="0">
            <a:spAutoFit/>
          </a:bodyPr>
          <a:lstStyle/>
          <a:p>
            <a:pPr algn="l"/>
            <a:r>
              <a:rPr sz="1250" b="0" i="1">
                <a:solidFill>
                  <a:srgbClr val="4B5563"/>
                </a:solidFill>
                <a:latin typeface="Times New Roman"/>
              </a:rPr>
              <a:t>These works form the intellectual foundation of modern strategic management.</a:t>
            </a:r>
          </a:p>
        </p:txBody>
      </p:sp>
      <p:sp>
        <p:nvSpPr>
          <p:cNvPr id="8" name="Rectangle 7"/>
          <p:cNvSpPr/>
          <p:nvPr/>
        </p:nvSpPr>
        <p:spPr>
          <a:xfrm>
            <a:off x="868680" y="1810512"/>
            <a:ext cx="10424160" cy="329184"/>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7" y="1810512"/>
            <a:ext cx="2249424" cy="329184"/>
          </a:xfrm>
          <a:prstGeom prst="rect">
            <a:avLst/>
          </a:prstGeom>
          <a:noFill/>
        </p:spPr>
        <p:txBody>
          <a:bodyPr wrap="square" anchor="ctr" lIns="0" rIns="0" tIns="0" bIns="0">
            <a:spAutoFit/>
          </a:bodyPr>
          <a:lstStyle/>
          <a:p>
            <a:pPr algn="l"/>
            <a:r>
              <a:rPr sz="950" b="1" i="0">
                <a:solidFill>
                  <a:srgbClr val="FFFFFF"/>
                </a:solidFill>
                <a:latin typeface="Times New Roman"/>
              </a:rPr>
              <a:t>THEME</a:t>
            </a:r>
          </a:p>
        </p:txBody>
      </p:sp>
      <p:sp>
        <p:nvSpPr>
          <p:cNvPr id="10" name="TextBox 9"/>
          <p:cNvSpPr txBox="1"/>
          <p:nvPr/>
        </p:nvSpPr>
        <p:spPr>
          <a:xfrm>
            <a:off x="3447288" y="1810512"/>
            <a:ext cx="3803904" cy="329184"/>
          </a:xfrm>
          <a:prstGeom prst="rect">
            <a:avLst/>
          </a:prstGeom>
          <a:noFill/>
        </p:spPr>
        <p:txBody>
          <a:bodyPr wrap="square" anchor="ctr" lIns="0" rIns="0" tIns="0" bIns="0">
            <a:spAutoFit/>
          </a:bodyPr>
          <a:lstStyle/>
          <a:p>
            <a:pPr algn="l"/>
            <a:r>
              <a:rPr sz="950" b="1" i="0">
                <a:solidFill>
                  <a:srgbClr val="FFFFFF"/>
                </a:solidFill>
                <a:latin typeface="Times New Roman"/>
              </a:rPr>
              <a:t>READING</a:t>
            </a:r>
          </a:p>
        </p:txBody>
      </p:sp>
      <p:sp>
        <p:nvSpPr>
          <p:cNvPr id="11" name="TextBox 10"/>
          <p:cNvSpPr txBox="1"/>
          <p:nvPr/>
        </p:nvSpPr>
        <p:spPr>
          <a:xfrm>
            <a:off x="7470648" y="1810512"/>
            <a:ext cx="3712463" cy="329184"/>
          </a:xfrm>
          <a:prstGeom prst="rect">
            <a:avLst/>
          </a:prstGeom>
          <a:noFill/>
        </p:spPr>
        <p:txBody>
          <a:bodyPr wrap="square" anchor="ctr" lIns="0" rIns="0" tIns="0" bIns="0">
            <a:spAutoFit/>
          </a:bodyPr>
          <a:lstStyle/>
          <a:p>
            <a:pPr algn="l"/>
            <a:r>
              <a:rPr sz="950" b="1" i="0">
                <a:solidFill>
                  <a:srgbClr val="FFFFFF"/>
                </a:solidFill>
                <a:latin typeface="Times New Roman"/>
              </a:rPr>
              <a:t>WHY IT MATTERS</a:t>
            </a:r>
          </a:p>
        </p:txBody>
      </p:sp>
      <p:sp>
        <p:nvSpPr>
          <p:cNvPr id="12" name="Rectangle 11"/>
          <p:cNvSpPr/>
          <p:nvPr/>
        </p:nvSpPr>
        <p:spPr>
          <a:xfrm>
            <a:off x="868680" y="2139696"/>
            <a:ext cx="10424160" cy="36576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68680" y="2494483"/>
            <a:ext cx="10424160" cy="10972"/>
          </a:xfrm>
          <a:prstGeom prst="rect">
            <a:avLst/>
          </a:prstGeom>
          <a:solidFill>
            <a:srgbClr val="E2E5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2139696"/>
            <a:ext cx="2249424" cy="365760"/>
          </a:xfrm>
          <a:prstGeom prst="rect">
            <a:avLst/>
          </a:prstGeom>
          <a:noFill/>
        </p:spPr>
        <p:txBody>
          <a:bodyPr wrap="square" anchor="ctr" lIns="0" rIns="0" tIns="0" bIns="0">
            <a:spAutoFit/>
          </a:bodyPr>
          <a:lstStyle/>
          <a:p>
            <a:pPr algn="l">
              <a:lnSpc>
                <a:spcPct val="106000"/>
              </a:lnSpc>
            </a:pPr>
            <a:r>
              <a:rPr sz="1050" b="1" i="0">
                <a:solidFill>
                  <a:srgbClr val="10233F"/>
                </a:solidFill>
                <a:latin typeface="Times New Roman"/>
              </a:rPr>
              <a:t>Strategic Positioning</a:t>
            </a:r>
          </a:p>
        </p:txBody>
      </p:sp>
      <p:sp>
        <p:nvSpPr>
          <p:cNvPr id="15" name="TextBox 14"/>
          <p:cNvSpPr txBox="1"/>
          <p:nvPr/>
        </p:nvSpPr>
        <p:spPr>
          <a:xfrm>
            <a:off x="3447288" y="2139696"/>
            <a:ext cx="3803904" cy="365760"/>
          </a:xfrm>
          <a:prstGeom prst="rect">
            <a:avLst/>
          </a:prstGeom>
          <a:noFill/>
        </p:spPr>
        <p:txBody>
          <a:bodyPr wrap="square" anchor="ctr" lIns="0" rIns="0" tIns="0" bIns="0">
            <a:spAutoFit/>
          </a:bodyPr>
          <a:lstStyle/>
          <a:p>
            <a:pPr algn="l">
              <a:lnSpc>
                <a:spcPct val="106000"/>
              </a:lnSpc>
            </a:pPr>
            <a:r>
              <a:rPr sz="1050" b="0" i="0">
                <a:solidFill>
                  <a:srgbClr val="111827"/>
                </a:solidFill>
                <a:latin typeface="Times New Roman"/>
              </a:rPr>
              <a:t>Porter (1996), What Is Strategy? HBR 74(6)</a:t>
            </a:r>
          </a:p>
        </p:txBody>
      </p:sp>
      <p:sp>
        <p:nvSpPr>
          <p:cNvPr id="16" name="TextBox 15"/>
          <p:cNvSpPr txBox="1"/>
          <p:nvPr/>
        </p:nvSpPr>
        <p:spPr>
          <a:xfrm>
            <a:off x="7470648" y="2139696"/>
            <a:ext cx="3712463" cy="365760"/>
          </a:xfrm>
          <a:prstGeom prst="rect">
            <a:avLst/>
          </a:prstGeom>
          <a:noFill/>
        </p:spPr>
        <p:txBody>
          <a:bodyPr wrap="square" anchor="ctr" lIns="0" rIns="0" tIns="0" bIns="0">
            <a:spAutoFit/>
          </a:bodyPr>
          <a:lstStyle/>
          <a:p>
            <a:pPr algn="l">
              <a:lnSpc>
                <a:spcPct val="106000"/>
              </a:lnSpc>
            </a:pPr>
            <a:r>
              <a:rPr sz="1050" b="0" i="0">
                <a:solidFill>
                  <a:srgbClr val="111827"/>
                </a:solidFill>
                <a:latin typeface="Times New Roman"/>
              </a:rPr>
              <a:t>Defines competitive positioning and strategic trade-offs</a:t>
            </a:r>
          </a:p>
        </p:txBody>
      </p:sp>
      <p:sp>
        <p:nvSpPr>
          <p:cNvPr id="17" name="Rectangle 16"/>
          <p:cNvSpPr/>
          <p:nvPr/>
        </p:nvSpPr>
        <p:spPr>
          <a:xfrm>
            <a:off x="868680" y="2860243"/>
            <a:ext cx="10424160" cy="10972"/>
          </a:xfrm>
          <a:prstGeom prst="rect">
            <a:avLst/>
          </a:prstGeom>
          <a:solidFill>
            <a:srgbClr val="E2E5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78407" y="2505456"/>
            <a:ext cx="2249424" cy="365760"/>
          </a:xfrm>
          <a:prstGeom prst="rect">
            <a:avLst/>
          </a:prstGeom>
          <a:noFill/>
        </p:spPr>
        <p:txBody>
          <a:bodyPr wrap="square" anchor="ctr" lIns="0" rIns="0" tIns="0" bIns="0">
            <a:spAutoFit/>
          </a:bodyPr>
          <a:lstStyle/>
          <a:p>
            <a:pPr algn="l">
              <a:lnSpc>
                <a:spcPct val="106000"/>
              </a:lnSpc>
            </a:pPr>
            <a:r>
              <a:rPr sz="1050" b="1" i="0">
                <a:solidFill>
                  <a:srgbClr val="10233F"/>
                </a:solidFill>
                <a:latin typeface="Times New Roman"/>
              </a:rPr>
              <a:t>Resource-Based View</a:t>
            </a:r>
          </a:p>
        </p:txBody>
      </p:sp>
      <p:sp>
        <p:nvSpPr>
          <p:cNvPr id="19" name="TextBox 18"/>
          <p:cNvSpPr txBox="1"/>
          <p:nvPr/>
        </p:nvSpPr>
        <p:spPr>
          <a:xfrm>
            <a:off x="3447288" y="2505456"/>
            <a:ext cx="3803904" cy="365760"/>
          </a:xfrm>
          <a:prstGeom prst="rect">
            <a:avLst/>
          </a:prstGeom>
          <a:noFill/>
        </p:spPr>
        <p:txBody>
          <a:bodyPr wrap="square" anchor="ctr" lIns="0" rIns="0" tIns="0" bIns="0">
            <a:spAutoFit/>
          </a:bodyPr>
          <a:lstStyle/>
          <a:p>
            <a:pPr algn="l">
              <a:lnSpc>
                <a:spcPct val="106000"/>
              </a:lnSpc>
            </a:pPr>
            <a:r>
              <a:rPr sz="1050" b="0" i="0">
                <a:solidFill>
                  <a:srgbClr val="111827"/>
                </a:solidFill>
                <a:latin typeface="Times New Roman"/>
              </a:rPr>
              <a:t>Barney (1991), J. of Management 17(1)</a:t>
            </a:r>
          </a:p>
        </p:txBody>
      </p:sp>
      <p:sp>
        <p:nvSpPr>
          <p:cNvPr id="20" name="TextBox 19"/>
          <p:cNvSpPr txBox="1"/>
          <p:nvPr/>
        </p:nvSpPr>
        <p:spPr>
          <a:xfrm>
            <a:off x="7470648" y="2505456"/>
            <a:ext cx="3712463" cy="365760"/>
          </a:xfrm>
          <a:prstGeom prst="rect">
            <a:avLst/>
          </a:prstGeom>
          <a:noFill/>
        </p:spPr>
        <p:txBody>
          <a:bodyPr wrap="square" anchor="ctr" lIns="0" rIns="0" tIns="0" bIns="0">
            <a:spAutoFit/>
          </a:bodyPr>
          <a:lstStyle/>
          <a:p>
            <a:pPr algn="l">
              <a:lnSpc>
                <a:spcPct val="106000"/>
              </a:lnSpc>
            </a:pPr>
            <a:r>
              <a:rPr sz="1050" b="0" i="0">
                <a:solidFill>
                  <a:srgbClr val="111827"/>
                </a:solidFill>
                <a:latin typeface="Times New Roman"/>
              </a:rPr>
              <a:t>Explains advantage through strategic resources</a:t>
            </a:r>
          </a:p>
        </p:txBody>
      </p:sp>
      <p:sp>
        <p:nvSpPr>
          <p:cNvPr id="21" name="Rectangle 20"/>
          <p:cNvSpPr/>
          <p:nvPr/>
        </p:nvSpPr>
        <p:spPr>
          <a:xfrm>
            <a:off x="868680" y="2871215"/>
            <a:ext cx="10424160" cy="36576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68680" y="3226003"/>
            <a:ext cx="10424160" cy="10972"/>
          </a:xfrm>
          <a:prstGeom prst="rect">
            <a:avLst/>
          </a:prstGeom>
          <a:solidFill>
            <a:srgbClr val="E2E5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78407" y="2871215"/>
            <a:ext cx="2249424" cy="365760"/>
          </a:xfrm>
          <a:prstGeom prst="rect">
            <a:avLst/>
          </a:prstGeom>
          <a:noFill/>
        </p:spPr>
        <p:txBody>
          <a:bodyPr wrap="square" anchor="ctr" lIns="0" rIns="0" tIns="0" bIns="0">
            <a:spAutoFit/>
          </a:bodyPr>
          <a:lstStyle/>
          <a:p>
            <a:pPr algn="l">
              <a:lnSpc>
                <a:spcPct val="106000"/>
              </a:lnSpc>
            </a:pPr>
            <a:r>
              <a:rPr sz="1050" b="1" i="0">
                <a:solidFill>
                  <a:srgbClr val="10233F"/>
                </a:solidFill>
                <a:latin typeface="Times New Roman"/>
              </a:rPr>
              <a:t>RBV Origins</a:t>
            </a:r>
          </a:p>
        </p:txBody>
      </p:sp>
      <p:sp>
        <p:nvSpPr>
          <p:cNvPr id="24" name="TextBox 23"/>
          <p:cNvSpPr txBox="1"/>
          <p:nvPr/>
        </p:nvSpPr>
        <p:spPr>
          <a:xfrm>
            <a:off x="3447288" y="2871215"/>
            <a:ext cx="3803904" cy="365760"/>
          </a:xfrm>
          <a:prstGeom prst="rect">
            <a:avLst/>
          </a:prstGeom>
          <a:noFill/>
        </p:spPr>
        <p:txBody>
          <a:bodyPr wrap="square" anchor="ctr" lIns="0" rIns="0" tIns="0" bIns="0">
            <a:spAutoFit/>
          </a:bodyPr>
          <a:lstStyle/>
          <a:p>
            <a:pPr algn="l">
              <a:lnSpc>
                <a:spcPct val="106000"/>
              </a:lnSpc>
            </a:pPr>
            <a:r>
              <a:rPr sz="1050" b="0" i="0">
                <a:solidFill>
                  <a:srgbClr val="111827"/>
                </a:solidFill>
                <a:latin typeface="Times New Roman"/>
              </a:rPr>
              <a:t>Wernerfelt (1984), SMJ 5(2)</a:t>
            </a:r>
          </a:p>
        </p:txBody>
      </p:sp>
      <p:sp>
        <p:nvSpPr>
          <p:cNvPr id="25" name="TextBox 24"/>
          <p:cNvSpPr txBox="1"/>
          <p:nvPr/>
        </p:nvSpPr>
        <p:spPr>
          <a:xfrm>
            <a:off x="7470648" y="2871215"/>
            <a:ext cx="3712463" cy="365760"/>
          </a:xfrm>
          <a:prstGeom prst="rect">
            <a:avLst/>
          </a:prstGeom>
          <a:noFill/>
        </p:spPr>
        <p:txBody>
          <a:bodyPr wrap="square" anchor="ctr" lIns="0" rIns="0" tIns="0" bIns="0">
            <a:spAutoFit/>
          </a:bodyPr>
          <a:lstStyle/>
          <a:p>
            <a:pPr algn="l">
              <a:lnSpc>
                <a:spcPct val="106000"/>
              </a:lnSpc>
            </a:pPr>
            <a:r>
              <a:rPr sz="1050" b="0" i="0">
                <a:solidFill>
                  <a:srgbClr val="111827"/>
                </a:solidFill>
                <a:latin typeface="Times New Roman"/>
              </a:rPr>
              <a:t>Introduces the resource-based perspective</a:t>
            </a:r>
          </a:p>
        </p:txBody>
      </p:sp>
      <p:sp>
        <p:nvSpPr>
          <p:cNvPr id="26" name="Rectangle 25"/>
          <p:cNvSpPr/>
          <p:nvPr/>
        </p:nvSpPr>
        <p:spPr>
          <a:xfrm>
            <a:off x="868680" y="3591763"/>
            <a:ext cx="10424160" cy="10972"/>
          </a:xfrm>
          <a:prstGeom prst="rect">
            <a:avLst/>
          </a:prstGeom>
          <a:solidFill>
            <a:srgbClr val="E2E5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8407" y="3236975"/>
            <a:ext cx="2249424" cy="365760"/>
          </a:xfrm>
          <a:prstGeom prst="rect">
            <a:avLst/>
          </a:prstGeom>
          <a:noFill/>
        </p:spPr>
        <p:txBody>
          <a:bodyPr wrap="square" anchor="ctr" lIns="0" rIns="0" tIns="0" bIns="0">
            <a:spAutoFit/>
          </a:bodyPr>
          <a:lstStyle/>
          <a:p>
            <a:pPr algn="l">
              <a:lnSpc>
                <a:spcPct val="106000"/>
              </a:lnSpc>
            </a:pPr>
            <a:r>
              <a:rPr sz="1050" b="1" i="0">
                <a:solidFill>
                  <a:srgbClr val="10233F"/>
                </a:solidFill>
                <a:latin typeface="Times New Roman"/>
              </a:rPr>
              <a:t>Dynamic Capabilities</a:t>
            </a:r>
          </a:p>
        </p:txBody>
      </p:sp>
      <p:sp>
        <p:nvSpPr>
          <p:cNvPr id="28" name="TextBox 27"/>
          <p:cNvSpPr txBox="1"/>
          <p:nvPr/>
        </p:nvSpPr>
        <p:spPr>
          <a:xfrm>
            <a:off x="3447288" y="3236975"/>
            <a:ext cx="3803904" cy="365760"/>
          </a:xfrm>
          <a:prstGeom prst="rect">
            <a:avLst/>
          </a:prstGeom>
          <a:noFill/>
        </p:spPr>
        <p:txBody>
          <a:bodyPr wrap="square" anchor="ctr" lIns="0" rIns="0" tIns="0" bIns="0">
            <a:spAutoFit/>
          </a:bodyPr>
          <a:lstStyle/>
          <a:p>
            <a:pPr algn="l">
              <a:lnSpc>
                <a:spcPct val="106000"/>
              </a:lnSpc>
            </a:pPr>
            <a:r>
              <a:rPr sz="1050" b="0" i="0">
                <a:solidFill>
                  <a:srgbClr val="111827"/>
                </a:solidFill>
                <a:latin typeface="Times New Roman"/>
              </a:rPr>
              <a:t>Teece, Pisano &amp; Shuen (1997), SMJ 18(7)</a:t>
            </a:r>
          </a:p>
        </p:txBody>
      </p:sp>
      <p:sp>
        <p:nvSpPr>
          <p:cNvPr id="29" name="TextBox 28"/>
          <p:cNvSpPr txBox="1"/>
          <p:nvPr/>
        </p:nvSpPr>
        <p:spPr>
          <a:xfrm>
            <a:off x="7470648" y="3236975"/>
            <a:ext cx="3712463" cy="365760"/>
          </a:xfrm>
          <a:prstGeom prst="rect">
            <a:avLst/>
          </a:prstGeom>
          <a:noFill/>
        </p:spPr>
        <p:txBody>
          <a:bodyPr wrap="square" anchor="ctr" lIns="0" rIns="0" tIns="0" bIns="0">
            <a:spAutoFit/>
          </a:bodyPr>
          <a:lstStyle/>
          <a:p>
            <a:pPr algn="l">
              <a:lnSpc>
                <a:spcPct val="106000"/>
              </a:lnSpc>
            </a:pPr>
            <a:r>
              <a:rPr sz="1050" b="0" i="0">
                <a:solidFill>
                  <a:srgbClr val="111827"/>
                </a:solidFill>
                <a:latin typeface="Times New Roman"/>
              </a:rPr>
              <a:t>Explains adaptation in fast-changing environments</a:t>
            </a:r>
          </a:p>
        </p:txBody>
      </p:sp>
      <p:sp>
        <p:nvSpPr>
          <p:cNvPr id="30" name="Rectangle 29"/>
          <p:cNvSpPr/>
          <p:nvPr/>
        </p:nvSpPr>
        <p:spPr>
          <a:xfrm>
            <a:off x="868680" y="3602735"/>
            <a:ext cx="10424160" cy="36576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68680" y="3957523"/>
            <a:ext cx="10424160" cy="10972"/>
          </a:xfrm>
          <a:prstGeom prst="rect">
            <a:avLst/>
          </a:prstGeom>
          <a:solidFill>
            <a:srgbClr val="E2E5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78407" y="3602735"/>
            <a:ext cx="2249424" cy="365760"/>
          </a:xfrm>
          <a:prstGeom prst="rect">
            <a:avLst/>
          </a:prstGeom>
          <a:noFill/>
        </p:spPr>
        <p:txBody>
          <a:bodyPr wrap="square" anchor="ctr" lIns="0" rIns="0" tIns="0" bIns="0">
            <a:spAutoFit/>
          </a:bodyPr>
          <a:lstStyle/>
          <a:p>
            <a:pPr algn="l">
              <a:lnSpc>
                <a:spcPct val="106000"/>
              </a:lnSpc>
            </a:pPr>
            <a:r>
              <a:rPr sz="1050" b="1" i="0">
                <a:solidFill>
                  <a:srgbClr val="10233F"/>
                </a:solidFill>
                <a:latin typeface="Times New Roman"/>
              </a:rPr>
              <a:t>Dynamic Capabilities II</a:t>
            </a:r>
          </a:p>
        </p:txBody>
      </p:sp>
      <p:sp>
        <p:nvSpPr>
          <p:cNvPr id="33" name="TextBox 32"/>
          <p:cNvSpPr txBox="1"/>
          <p:nvPr/>
        </p:nvSpPr>
        <p:spPr>
          <a:xfrm>
            <a:off x="3447288" y="3602735"/>
            <a:ext cx="3803904" cy="365760"/>
          </a:xfrm>
          <a:prstGeom prst="rect">
            <a:avLst/>
          </a:prstGeom>
          <a:noFill/>
        </p:spPr>
        <p:txBody>
          <a:bodyPr wrap="square" anchor="ctr" lIns="0" rIns="0" tIns="0" bIns="0">
            <a:spAutoFit/>
          </a:bodyPr>
          <a:lstStyle/>
          <a:p>
            <a:pPr algn="l">
              <a:lnSpc>
                <a:spcPct val="106000"/>
              </a:lnSpc>
            </a:pPr>
            <a:r>
              <a:rPr sz="1050" b="0" i="0">
                <a:solidFill>
                  <a:srgbClr val="111827"/>
                </a:solidFill>
                <a:latin typeface="Times New Roman"/>
              </a:rPr>
              <a:t>Teece (2007), SMJ 28(13)</a:t>
            </a:r>
          </a:p>
        </p:txBody>
      </p:sp>
      <p:sp>
        <p:nvSpPr>
          <p:cNvPr id="34" name="TextBox 33"/>
          <p:cNvSpPr txBox="1"/>
          <p:nvPr/>
        </p:nvSpPr>
        <p:spPr>
          <a:xfrm>
            <a:off x="7470648" y="3602735"/>
            <a:ext cx="3712463" cy="365760"/>
          </a:xfrm>
          <a:prstGeom prst="rect">
            <a:avLst/>
          </a:prstGeom>
          <a:noFill/>
        </p:spPr>
        <p:txBody>
          <a:bodyPr wrap="square" anchor="ctr" lIns="0" rIns="0" tIns="0" bIns="0">
            <a:spAutoFit/>
          </a:bodyPr>
          <a:lstStyle/>
          <a:p>
            <a:pPr algn="l">
              <a:lnSpc>
                <a:spcPct val="106000"/>
              </a:lnSpc>
            </a:pPr>
            <a:r>
              <a:rPr sz="1050" b="0" i="0">
                <a:solidFill>
                  <a:srgbClr val="111827"/>
                </a:solidFill>
                <a:latin typeface="Times New Roman"/>
              </a:rPr>
              <a:t>Provides the microfoundations of strategic renewal</a:t>
            </a:r>
          </a:p>
        </p:txBody>
      </p:sp>
      <p:sp>
        <p:nvSpPr>
          <p:cNvPr id="35" name="Rectangle 34"/>
          <p:cNvSpPr/>
          <p:nvPr/>
        </p:nvSpPr>
        <p:spPr>
          <a:xfrm>
            <a:off x="868680" y="4323283"/>
            <a:ext cx="10424160" cy="10972"/>
          </a:xfrm>
          <a:prstGeom prst="rect">
            <a:avLst/>
          </a:prstGeom>
          <a:solidFill>
            <a:srgbClr val="E2E5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78407" y="3968496"/>
            <a:ext cx="2249424" cy="365760"/>
          </a:xfrm>
          <a:prstGeom prst="rect">
            <a:avLst/>
          </a:prstGeom>
          <a:noFill/>
        </p:spPr>
        <p:txBody>
          <a:bodyPr wrap="square" anchor="ctr" lIns="0" rIns="0" tIns="0" bIns="0">
            <a:spAutoFit/>
          </a:bodyPr>
          <a:lstStyle/>
          <a:p>
            <a:pPr algn="l">
              <a:lnSpc>
                <a:spcPct val="106000"/>
              </a:lnSpc>
            </a:pPr>
            <a:r>
              <a:rPr sz="1050" b="1" i="0">
                <a:solidFill>
                  <a:srgbClr val="10233F"/>
                </a:solidFill>
                <a:latin typeface="Times New Roman"/>
              </a:rPr>
              <a:t>Organizational Learning</a:t>
            </a:r>
          </a:p>
        </p:txBody>
      </p:sp>
      <p:sp>
        <p:nvSpPr>
          <p:cNvPr id="37" name="TextBox 36"/>
          <p:cNvSpPr txBox="1"/>
          <p:nvPr/>
        </p:nvSpPr>
        <p:spPr>
          <a:xfrm>
            <a:off x="3447288" y="3968496"/>
            <a:ext cx="3803904" cy="365760"/>
          </a:xfrm>
          <a:prstGeom prst="rect">
            <a:avLst/>
          </a:prstGeom>
          <a:noFill/>
        </p:spPr>
        <p:txBody>
          <a:bodyPr wrap="square" anchor="ctr" lIns="0" rIns="0" tIns="0" bIns="0">
            <a:spAutoFit/>
          </a:bodyPr>
          <a:lstStyle/>
          <a:p>
            <a:pPr algn="l">
              <a:lnSpc>
                <a:spcPct val="106000"/>
              </a:lnSpc>
            </a:pPr>
            <a:r>
              <a:rPr sz="1050" b="0" i="0">
                <a:solidFill>
                  <a:srgbClr val="111827"/>
                </a:solidFill>
                <a:latin typeface="Times New Roman"/>
              </a:rPr>
              <a:t>March (1991), Organization Science 2(1)</a:t>
            </a:r>
          </a:p>
        </p:txBody>
      </p:sp>
      <p:sp>
        <p:nvSpPr>
          <p:cNvPr id="38" name="TextBox 37"/>
          <p:cNvSpPr txBox="1"/>
          <p:nvPr/>
        </p:nvSpPr>
        <p:spPr>
          <a:xfrm>
            <a:off x="7470648" y="3968496"/>
            <a:ext cx="3712463" cy="365760"/>
          </a:xfrm>
          <a:prstGeom prst="rect">
            <a:avLst/>
          </a:prstGeom>
          <a:noFill/>
        </p:spPr>
        <p:txBody>
          <a:bodyPr wrap="square" anchor="ctr" lIns="0" rIns="0" tIns="0" bIns="0">
            <a:spAutoFit/>
          </a:bodyPr>
          <a:lstStyle/>
          <a:p>
            <a:pPr algn="l">
              <a:lnSpc>
                <a:spcPct val="106000"/>
              </a:lnSpc>
            </a:pPr>
            <a:r>
              <a:rPr sz="1050" b="0" i="0">
                <a:solidFill>
                  <a:srgbClr val="111827"/>
                </a:solidFill>
                <a:latin typeface="Times New Roman"/>
              </a:rPr>
              <a:t>Exploration, exploitation, and innovation</a:t>
            </a:r>
          </a:p>
        </p:txBody>
      </p:sp>
      <p:sp>
        <p:nvSpPr>
          <p:cNvPr id="39" name="Rectangle 38"/>
          <p:cNvSpPr/>
          <p:nvPr/>
        </p:nvSpPr>
        <p:spPr>
          <a:xfrm>
            <a:off x="868680" y="4334256"/>
            <a:ext cx="10424160" cy="36576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68680" y="4689043"/>
            <a:ext cx="10424160" cy="10972"/>
          </a:xfrm>
          <a:prstGeom prst="rect">
            <a:avLst/>
          </a:prstGeom>
          <a:solidFill>
            <a:srgbClr val="E2E5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78407" y="4334256"/>
            <a:ext cx="2249424" cy="365760"/>
          </a:xfrm>
          <a:prstGeom prst="rect">
            <a:avLst/>
          </a:prstGeom>
          <a:noFill/>
        </p:spPr>
        <p:txBody>
          <a:bodyPr wrap="square" anchor="ctr" lIns="0" rIns="0" tIns="0" bIns="0">
            <a:spAutoFit/>
          </a:bodyPr>
          <a:lstStyle/>
          <a:p>
            <a:pPr algn="l">
              <a:lnSpc>
                <a:spcPct val="106000"/>
              </a:lnSpc>
            </a:pPr>
            <a:r>
              <a:rPr sz="1050" b="1" i="0">
                <a:solidFill>
                  <a:srgbClr val="10233F"/>
                </a:solidFill>
                <a:latin typeface="Times New Roman"/>
              </a:rPr>
              <a:t>Knowledge-Based View</a:t>
            </a:r>
          </a:p>
        </p:txBody>
      </p:sp>
      <p:sp>
        <p:nvSpPr>
          <p:cNvPr id="42" name="TextBox 41"/>
          <p:cNvSpPr txBox="1"/>
          <p:nvPr/>
        </p:nvSpPr>
        <p:spPr>
          <a:xfrm>
            <a:off x="3447288" y="4334256"/>
            <a:ext cx="3803904" cy="365760"/>
          </a:xfrm>
          <a:prstGeom prst="rect">
            <a:avLst/>
          </a:prstGeom>
          <a:noFill/>
        </p:spPr>
        <p:txBody>
          <a:bodyPr wrap="square" anchor="ctr" lIns="0" rIns="0" tIns="0" bIns="0">
            <a:spAutoFit/>
          </a:bodyPr>
          <a:lstStyle/>
          <a:p>
            <a:pPr algn="l">
              <a:lnSpc>
                <a:spcPct val="106000"/>
              </a:lnSpc>
            </a:pPr>
            <a:r>
              <a:rPr sz="1050" b="0" i="0">
                <a:solidFill>
                  <a:srgbClr val="111827"/>
                </a:solidFill>
                <a:latin typeface="Times New Roman"/>
              </a:rPr>
              <a:t>Grant (1996), SMJ 17(Winter SI)</a:t>
            </a:r>
          </a:p>
        </p:txBody>
      </p:sp>
      <p:sp>
        <p:nvSpPr>
          <p:cNvPr id="43" name="TextBox 42"/>
          <p:cNvSpPr txBox="1"/>
          <p:nvPr/>
        </p:nvSpPr>
        <p:spPr>
          <a:xfrm>
            <a:off x="7470648" y="4334256"/>
            <a:ext cx="3712463" cy="365760"/>
          </a:xfrm>
          <a:prstGeom prst="rect">
            <a:avLst/>
          </a:prstGeom>
          <a:noFill/>
        </p:spPr>
        <p:txBody>
          <a:bodyPr wrap="square" anchor="ctr" lIns="0" rIns="0" tIns="0" bIns="0">
            <a:spAutoFit/>
          </a:bodyPr>
          <a:lstStyle/>
          <a:p>
            <a:pPr algn="l">
              <a:lnSpc>
                <a:spcPct val="106000"/>
              </a:lnSpc>
            </a:pPr>
            <a:r>
              <a:rPr sz="1050" b="0" i="0">
                <a:solidFill>
                  <a:srgbClr val="111827"/>
                </a:solidFill>
                <a:latin typeface="Times New Roman"/>
              </a:rPr>
              <a:t>Positions knowledge as the firm's key strategic asset</a:t>
            </a:r>
          </a:p>
        </p:txBody>
      </p:sp>
      <p:sp>
        <p:nvSpPr>
          <p:cNvPr id="44" name="Rectangle 43"/>
          <p:cNvSpPr/>
          <p:nvPr/>
        </p:nvSpPr>
        <p:spPr>
          <a:xfrm>
            <a:off x="868680" y="5054803"/>
            <a:ext cx="10424160" cy="10972"/>
          </a:xfrm>
          <a:prstGeom prst="rect">
            <a:avLst/>
          </a:prstGeom>
          <a:solidFill>
            <a:srgbClr val="E2E5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78407" y="4700016"/>
            <a:ext cx="2249424" cy="365760"/>
          </a:xfrm>
          <a:prstGeom prst="rect">
            <a:avLst/>
          </a:prstGeom>
          <a:noFill/>
        </p:spPr>
        <p:txBody>
          <a:bodyPr wrap="square" anchor="ctr" lIns="0" rIns="0" tIns="0" bIns="0">
            <a:spAutoFit/>
          </a:bodyPr>
          <a:lstStyle/>
          <a:p>
            <a:pPr algn="l">
              <a:lnSpc>
                <a:spcPct val="106000"/>
              </a:lnSpc>
            </a:pPr>
            <a:r>
              <a:rPr sz="1050" b="1" i="0">
                <a:solidFill>
                  <a:srgbClr val="10233F"/>
                </a:solidFill>
                <a:latin typeface="Times New Roman"/>
              </a:rPr>
              <a:t>Core Competence</a:t>
            </a:r>
          </a:p>
        </p:txBody>
      </p:sp>
      <p:sp>
        <p:nvSpPr>
          <p:cNvPr id="46" name="TextBox 45"/>
          <p:cNvSpPr txBox="1"/>
          <p:nvPr/>
        </p:nvSpPr>
        <p:spPr>
          <a:xfrm>
            <a:off x="3447288" y="4700016"/>
            <a:ext cx="3803904" cy="365760"/>
          </a:xfrm>
          <a:prstGeom prst="rect">
            <a:avLst/>
          </a:prstGeom>
          <a:noFill/>
        </p:spPr>
        <p:txBody>
          <a:bodyPr wrap="square" anchor="ctr" lIns="0" rIns="0" tIns="0" bIns="0">
            <a:spAutoFit/>
          </a:bodyPr>
          <a:lstStyle/>
          <a:p>
            <a:pPr algn="l">
              <a:lnSpc>
                <a:spcPct val="106000"/>
              </a:lnSpc>
            </a:pPr>
            <a:r>
              <a:rPr sz="1050" b="0" i="0">
                <a:solidFill>
                  <a:srgbClr val="111827"/>
                </a:solidFill>
                <a:latin typeface="Times New Roman"/>
              </a:rPr>
              <a:t>Prahalad &amp; Hamel (1990), HBR 68(3)</a:t>
            </a:r>
          </a:p>
        </p:txBody>
      </p:sp>
      <p:sp>
        <p:nvSpPr>
          <p:cNvPr id="47" name="TextBox 46"/>
          <p:cNvSpPr txBox="1"/>
          <p:nvPr/>
        </p:nvSpPr>
        <p:spPr>
          <a:xfrm>
            <a:off x="7470648" y="4700016"/>
            <a:ext cx="3712463" cy="365760"/>
          </a:xfrm>
          <a:prstGeom prst="rect">
            <a:avLst/>
          </a:prstGeom>
          <a:noFill/>
        </p:spPr>
        <p:txBody>
          <a:bodyPr wrap="square" anchor="ctr" lIns="0" rIns="0" tIns="0" bIns="0">
            <a:spAutoFit/>
          </a:bodyPr>
          <a:lstStyle/>
          <a:p>
            <a:pPr algn="l">
              <a:lnSpc>
                <a:spcPct val="106000"/>
              </a:lnSpc>
            </a:pPr>
            <a:r>
              <a:rPr sz="1050" b="0" i="0">
                <a:solidFill>
                  <a:srgbClr val="111827"/>
                </a:solidFill>
                <a:latin typeface="Times New Roman"/>
              </a:rPr>
              <a:t>Capabilities as sources of competitive advantage</a:t>
            </a:r>
          </a:p>
        </p:txBody>
      </p:sp>
      <p:sp>
        <p:nvSpPr>
          <p:cNvPr id="48" name="Rectangle 47"/>
          <p:cNvSpPr/>
          <p:nvPr/>
        </p:nvSpPr>
        <p:spPr>
          <a:xfrm>
            <a:off x="868680" y="5065776"/>
            <a:ext cx="10424160" cy="36576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68680" y="5420563"/>
            <a:ext cx="10424160" cy="10972"/>
          </a:xfrm>
          <a:prstGeom prst="rect">
            <a:avLst/>
          </a:prstGeom>
          <a:solidFill>
            <a:srgbClr val="E2E5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78407" y="5065776"/>
            <a:ext cx="2249424" cy="365760"/>
          </a:xfrm>
          <a:prstGeom prst="rect">
            <a:avLst/>
          </a:prstGeom>
          <a:noFill/>
        </p:spPr>
        <p:txBody>
          <a:bodyPr wrap="square" anchor="ctr" lIns="0" rIns="0" tIns="0" bIns="0">
            <a:spAutoFit/>
          </a:bodyPr>
          <a:lstStyle/>
          <a:p>
            <a:pPr algn="l">
              <a:lnSpc>
                <a:spcPct val="106000"/>
              </a:lnSpc>
            </a:pPr>
            <a:r>
              <a:rPr sz="1050" b="1" i="0">
                <a:solidFill>
                  <a:srgbClr val="10233F"/>
                </a:solidFill>
                <a:latin typeface="Times New Roman"/>
              </a:rPr>
              <a:t>Transaction Cost Economics</a:t>
            </a:r>
          </a:p>
        </p:txBody>
      </p:sp>
      <p:sp>
        <p:nvSpPr>
          <p:cNvPr id="51" name="TextBox 50"/>
          <p:cNvSpPr txBox="1"/>
          <p:nvPr/>
        </p:nvSpPr>
        <p:spPr>
          <a:xfrm>
            <a:off x="3447288" y="5065776"/>
            <a:ext cx="3803904" cy="365760"/>
          </a:xfrm>
          <a:prstGeom prst="rect">
            <a:avLst/>
          </a:prstGeom>
          <a:noFill/>
        </p:spPr>
        <p:txBody>
          <a:bodyPr wrap="square" anchor="ctr" lIns="0" rIns="0" tIns="0" bIns="0">
            <a:spAutoFit/>
          </a:bodyPr>
          <a:lstStyle/>
          <a:p>
            <a:pPr algn="l">
              <a:lnSpc>
                <a:spcPct val="106000"/>
              </a:lnSpc>
            </a:pPr>
            <a:r>
              <a:rPr sz="1050" b="0" i="0">
                <a:solidFill>
                  <a:srgbClr val="111827"/>
                </a:solidFill>
                <a:latin typeface="Times New Roman"/>
              </a:rPr>
              <a:t>Williamson (1979), J. Law &amp; Economics 22(2)</a:t>
            </a:r>
          </a:p>
        </p:txBody>
      </p:sp>
      <p:sp>
        <p:nvSpPr>
          <p:cNvPr id="52" name="TextBox 51"/>
          <p:cNvSpPr txBox="1"/>
          <p:nvPr/>
        </p:nvSpPr>
        <p:spPr>
          <a:xfrm>
            <a:off x="7470648" y="5065776"/>
            <a:ext cx="3712463" cy="365760"/>
          </a:xfrm>
          <a:prstGeom prst="rect">
            <a:avLst/>
          </a:prstGeom>
          <a:noFill/>
        </p:spPr>
        <p:txBody>
          <a:bodyPr wrap="square" anchor="ctr" lIns="0" rIns="0" tIns="0" bIns="0">
            <a:spAutoFit/>
          </a:bodyPr>
          <a:lstStyle/>
          <a:p>
            <a:pPr algn="l">
              <a:lnSpc>
                <a:spcPct val="106000"/>
              </a:lnSpc>
            </a:pPr>
            <a:r>
              <a:rPr sz="1050" b="0" i="0">
                <a:solidFill>
                  <a:srgbClr val="111827"/>
                </a:solidFill>
                <a:latin typeface="Times New Roman"/>
              </a:rPr>
              <a:t>Explains organizational boundaries and governance</a:t>
            </a:r>
          </a:p>
        </p:txBody>
      </p:sp>
      <p:sp>
        <p:nvSpPr>
          <p:cNvPr id="53" name="Rectangle 52"/>
          <p:cNvSpPr/>
          <p:nvPr/>
        </p:nvSpPr>
        <p:spPr>
          <a:xfrm>
            <a:off x="868680" y="5786323"/>
            <a:ext cx="10424160" cy="10972"/>
          </a:xfrm>
          <a:prstGeom prst="rect">
            <a:avLst/>
          </a:prstGeom>
          <a:solidFill>
            <a:srgbClr val="E2E5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978407" y="5431536"/>
            <a:ext cx="2249424" cy="365760"/>
          </a:xfrm>
          <a:prstGeom prst="rect">
            <a:avLst/>
          </a:prstGeom>
          <a:noFill/>
        </p:spPr>
        <p:txBody>
          <a:bodyPr wrap="square" anchor="ctr" lIns="0" rIns="0" tIns="0" bIns="0">
            <a:spAutoFit/>
          </a:bodyPr>
          <a:lstStyle/>
          <a:p>
            <a:pPr algn="l">
              <a:lnSpc>
                <a:spcPct val="106000"/>
              </a:lnSpc>
            </a:pPr>
            <a:r>
              <a:rPr sz="1050" b="1" i="0">
                <a:solidFill>
                  <a:srgbClr val="10233F"/>
                </a:solidFill>
                <a:latin typeface="Times New Roman"/>
              </a:rPr>
              <a:t>Competing Perspectives</a:t>
            </a:r>
          </a:p>
        </p:txBody>
      </p:sp>
      <p:sp>
        <p:nvSpPr>
          <p:cNvPr id="55" name="TextBox 54"/>
          <p:cNvSpPr txBox="1"/>
          <p:nvPr/>
        </p:nvSpPr>
        <p:spPr>
          <a:xfrm>
            <a:off x="3447288" y="5431536"/>
            <a:ext cx="3803904" cy="365760"/>
          </a:xfrm>
          <a:prstGeom prst="rect">
            <a:avLst/>
          </a:prstGeom>
          <a:noFill/>
        </p:spPr>
        <p:txBody>
          <a:bodyPr wrap="square" anchor="ctr" lIns="0" rIns="0" tIns="0" bIns="0">
            <a:spAutoFit/>
          </a:bodyPr>
          <a:lstStyle/>
          <a:p>
            <a:pPr algn="l">
              <a:lnSpc>
                <a:spcPct val="106000"/>
              </a:lnSpc>
            </a:pPr>
            <a:r>
              <a:rPr sz="1050" b="0" i="0">
                <a:solidFill>
                  <a:srgbClr val="111827"/>
                </a:solidFill>
                <a:latin typeface="Times New Roman"/>
              </a:rPr>
              <a:t>Eisenhardt &amp; Martin (2000), SMJ 21(10–11)</a:t>
            </a:r>
          </a:p>
        </p:txBody>
      </p:sp>
      <p:sp>
        <p:nvSpPr>
          <p:cNvPr id="56" name="TextBox 55"/>
          <p:cNvSpPr txBox="1"/>
          <p:nvPr/>
        </p:nvSpPr>
        <p:spPr>
          <a:xfrm>
            <a:off x="7470648" y="5431536"/>
            <a:ext cx="3712463" cy="365760"/>
          </a:xfrm>
          <a:prstGeom prst="rect">
            <a:avLst/>
          </a:prstGeom>
          <a:noFill/>
        </p:spPr>
        <p:txBody>
          <a:bodyPr wrap="square" anchor="ctr" lIns="0" rIns="0" tIns="0" bIns="0">
            <a:spAutoFit/>
          </a:bodyPr>
          <a:lstStyle/>
          <a:p>
            <a:pPr algn="l">
              <a:lnSpc>
                <a:spcPct val="106000"/>
              </a:lnSpc>
            </a:pPr>
            <a:r>
              <a:rPr sz="1050" b="0" i="0">
                <a:solidFill>
                  <a:srgbClr val="111827"/>
                </a:solidFill>
                <a:latin typeface="Times New Roman"/>
              </a:rPr>
              <a:t>Challenges and extends dynamic capabilities</a:t>
            </a:r>
          </a:p>
        </p:txBody>
      </p:sp>
      <p:sp>
        <p:nvSpPr>
          <p:cNvPr id="57" name="Rectangle 56"/>
          <p:cNvSpPr/>
          <p:nvPr/>
        </p:nvSpPr>
        <p:spPr>
          <a:xfrm>
            <a:off x="868680" y="5907024"/>
            <a:ext cx="36576" cy="31089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069848" y="5907024"/>
            <a:ext cx="10424160" cy="365760"/>
          </a:xfrm>
          <a:prstGeom prst="rect">
            <a:avLst/>
          </a:prstGeom>
          <a:noFill/>
        </p:spPr>
        <p:txBody>
          <a:bodyPr wrap="square" anchor="ctr" lIns="0" rIns="0" tIns="0" bIns="0">
            <a:spAutoFit/>
          </a:bodyPr>
          <a:lstStyle/>
          <a:p>
            <a:pPr algn="l"/>
            <a:r>
              <a:rPr sz="1350" b="1" i="1">
                <a:solidFill>
                  <a:srgbClr val="10233F"/>
                </a:solidFill>
                <a:latin typeface="Times New Roman"/>
              </a:rPr>
              <a:t>You will read the originals — not textbook summaries of them.</a:t>
            </a:r>
          </a:p>
        </p:txBody>
      </p:sp>
      <p:sp>
        <p:nvSpPr>
          <p:cNvPr id="59" name="TextBox 58"/>
          <p:cNvSpPr txBox="1"/>
          <p:nvPr/>
        </p:nvSpPr>
        <p:spPr>
          <a:xfrm>
            <a:off x="11475720" y="6473952"/>
            <a:ext cx="457200" cy="182880"/>
          </a:xfrm>
          <a:prstGeom prst="rect">
            <a:avLst/>
          </a:prstGeom>
          <a:noFill/>
        </p:spPr>
        <p:txBody>
          <a:bodyPr wrap="square" anchor="t" lIns="0" rIns="0" tIns="0" bIns="0">
            <a:spAutoFit/>
          </a:bodyPr>
          <a:lstStyle/>
          <a:p>
            <a:pPr algn="r"/>
            <a:r>
              <a:rPr sz="800" b="0" i="0">
                <a:solidFill>
                  <a:srgbClr val="9CA3AF"/>
                </a:solidFill>
                <a:latin typeface="Times New Roman"/>
              </a:rPr>
              <a:t>37</a:t>
            </a:r>
          </a:p>
        </p:txBody>
      </p:sp>
      <p:sp>
        <p:nvSpPr>
          <p:cNvPr id="60" name="TextBox 59"/>
          <p:cNvSpPr txBox="1"/>
          <p:nvPr/>
        </p:nvSpPr>
        <p:spPr>
          <a:xfrm>
            <a:off x="502920" y="6473952"/>
            <a:ext cx="6400800" cy="182880"/>
          </a:xfrm>
          <a:prstGeom prst="rect">
            <a:avLst/>
          </a:prstGeom>
          <a:noFill/>
        </p:spPr>
        <p:txBody>
          <a:bodyPr wrap="square" anchor="t" lIns="0" rIns="0" tIns="0" bIns="0">
            <a:spAutoFit/>
          </a:bodyPr>
          <a:lstStyle/>
          <a:p>
            <a:pPr algn="l"/>
            <a:r>
              <a:rPr sz="720" b="0" i="0">
                <a:solidFill>
                  <a:srgbClr val="6B7280"/>
                </a:solidFill>
                <a:latin typeface="Times New Roman"/>
              </a:rPr>
              <a:t>Strategic Management in the Age of AI · MGMT 465/665 · Course Introduction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969" cy="164592"/>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969" cy="3657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411480"/>
            <a:ext cx="5943600" cy="228600"/>
          </a:xfrm>
          <a:prstGeom prst="rect">
            <a:avLst/>
          </a:prstGeom>
          <a:noFill/>
        </p:spPr>
        <p:txBody>
          <a:bodyPr wrap="square" anchor="t" lIns="0" rIns="0" tIns="0" bIns="0">
            <a:spAutoFit/>
          </a:bodyPr>
          <a:lstStyle/>
          <a:p>
            <a:pPr algn="l"/>
            <a:r>
              <a:rPr sz="850" b="1" i="0">
                <a:solidFill>
                  <a:srgbClr val="2A6F97"/>
                </a:solidFill>
                <a:latin typeface="Times New Roman"/>
              </a:rPr>
              <a:t>PART III · THE CONTEMPORARY AI CANON</a:t>
            </a:r>
          </a:p>
        </p:txBody>
      </p:sp>
      <p:sp>
        <p:nvSpPr>
          <p:cNvPr id="6" name="TextBox 5"/>
          <p:cNvSpPr txBox="1"/>
          <p:nvPr/>
        </p:nvSpPr>
        <p:spPr>
          <a:xfrm>
            <a:off x="502920" y="640080"/>
            <a:ext cx="9509760" cy="457200"/>
          </a:xfrm>
          <a:prstGeom prst="rect">
            <a:avLst/>
          </a:prstGeom>
          <a:noFill/>
        </p:spPr>
        <p:txBody>
          <a:bodyPr wrap="square" anchor="t" lIns="0" rIns="0" tIns="0" bIns="0">
            <a:spAutoFit/>
          </a:bodyPr>
          <a:lstStyle/>
          <a:p>
            <a:pPr algn="l"/>
            <a:r>
              <a:rPr sz="2400" b="1" i="0">
                <a:solidFill>
                  <a:srgbClr val="111827"/>
                </a:solidFill>
                <a:latin typeface="Times New Roman"/>
              </a:rPr>
              <a:t>Ten readings from the emerging literature</a:t>
            </a:r>
          </a:p>
        </p:txBody>
      </p:sp>
      <p:sp>
        <p:nvSpPr>
          <p:cNvPr id="7" name="TextBox 6"/>
          <p:cNvSpPr txBox="1"/>
          <p:nvPr/>
        </p:nvSpPr>
        <p:spPr>
          <a:xfrm>
            <a:off x="502920" y="1106424"/>
            <a:ext cx="10698480" cy="274320"/>
          </a:xfrm>
          <a:prstGeom prst="rect">
            <a:avLst/>
          </a:prstGeom>
          <a:noFill/>
        </p:spPr>
        <p:txBody>
          <a:bodyPr wrap="square" anchor="t" lIns="0" rIns="0" tIns="0" bIns="0">
            <a:spAutoFit/>
          </a:bodyPr>
          <a:lstStyle/>
          <a:p>
            <a:pPr algn="l"/>
            <a:r>
              <a:rPr sz="1250" b="0" i="1">
                <a:solidFill>
                  <a:srgbClr val="4B5563"/>
                </a:solidFill>
                <a:latin typeface="Times New Roman"/>
              </a:rPr>
              <a:t>The contemporary counterpart to the classical canon.</a:t>
            </a:r>
          </a:p>
        </p:txBody>
      </p:sp>
      <p:sp>
        <p:nvSpPr>
          <p:cNvPr id="8" name="Rectangle 7"/>
          <p:cNvSpPr/>
          <p:nvPr/>
        </p:nvSpPr>
        <p:spPr>
          <a:xfrm>
            <a:off x="868680" y="1810512"/>
            <a:ext cx="10424160" cy="329184"/>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7" y="1810512"/>
            <a:ext cx="2249424" cy="329184"/>
          </a:xfrm>
          <a:prstGeom prst="rect">
            <a:avLst/>
          </a:prstGeom>
          <a:noFill/>
        </p:spPr>
        <p:txBody>
          <a:bodyPr wrap="square" anchor="ctr" lIns="0" rIns="0" tIns="0" bIns="0">
            <a:spAutoFit/>
          </a:bodyPr>
          <a:lstStyle/>
          <a:p>
            <a:pPr algn="l"/>
            <a:r>
              <a:rPr sz="950" b="1" i="0">
                <a:solidFill>
                  <a:srgbClr val="FFFFFF"/>
                </a:solidFill>
                <a:latin typeface="Times New Roman"/>
              </a:rPr>
              <a:t>THEME</a:t>
            </a:r>
          </a:p>
        </p:txBody>
      </p:sp>
      <p:sp>
        <p:nvSpPr>
          <p:cNvPr id="10" name="TextBox 9"/>
          <p:cNvSpPr txBox="1"/>
          <p:nvPr/>
        </p:nvSpPr>
        <p:spPr>
          <a:xfrm>
            <a:off x="3447288" y="1810512"/>
            <a:ext cx="3803904" cy="329184"/>
          </a:xfrm>
          <a:prstGeom prst="rect">
            <a:avLst/>
          </a:prstGeom>
          <a:noFill/>
        </p:spPr>
        <p:txBody>
          <a:bodyPr wrap="square" anchor="ctr" lIns="0" rIns="0" tIns="0" bIns="0">
            <a:spAutoFit/>
          </a:bodyPr>
          <a:lstStyle/>
          <a:p>
            <a:pPr algn="l"/>
            <a:r>
              <a:rPr sz="950" b="1" i="0">
                <a:solidFill>
                  <a:srgbClr val="FFFFFF"/>
                </a:solidFill>
                <a:latin typeface="Times New Roman"/>
              </a:rPr>
              <a:t>READING</a:t>
            </a:r>
          </a:p>
        </p:txBody>
      </p:sp>
      <p:sp>
        <p:nvSpPr>
          <p:cNvPr id="11" name="TextBox 10"/>
          <p:cNvSpPr txBox="1"/>
          <p:nvPr/>
        </p:nvSpPr>
        <p:spPr>
          <a:xfrm>
            <a:off x="7470648" y="1810512"/>
            <a:ext cx="3712463" cy="329184"/>
          </a:xfrm>
          <a:prstGeom prst="rect">
            <a:avLst/>
          </a:prstGeom>
          <a:noFill/>
        </p:spPr>
        <p:txBody>
          <a:bodyPr wrap="square" anchor="ctr" lIns="0" rIns="0" tIns="0" bIns="0">
            <a:spAutoFit/>
          </a:bodyPr>
          <a:lstStyle/>
          <a:p>
            <a:pPr algn="l"/>
            <a:r>
              <a:rPr sz="950" b="1" i="0">
                <a:solidFill>
                  <a:srgbClr val="FFFFFF"/>
                </a:solidFill>
                <a:latin typeface="Times New Roman"/>
              </a:rPr>
              <a:t>WHY IT MATTERS</a:t>
            </a:r>
          </a:p>
        </p:txBody>
      </p:sp>
      <p:sp>
        <p:nvSpPr>
          <p:cNvPr id="12" name="Rectangle 11"/>
          <p:cNvSpPr/>
          <p:nvPr/>
        </p:nvSpPr>
        <p:spPr>
          <a:xfrm>
            <a:off x="868680" y="2139696"/>
            <a:ext cx="10424160" cy="36576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68680" y="2494483"/>
            <a:ext cx="10424160" cy="10972"/>
          </a:xfrm>
          <a:prstGeom prst="rect">
            <a:avLst/>
          </a:prstGeom>
          <a:solidFill>
            <a:srgbClr val="E2E5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2139696"/>
            <a:ext cx="2249424" cy="365760"/>
          </a:xfrm>
          <a:prstGeom prst="rect">
            <a:avLst/>
          </a:prstGeom>
          <a:noFill/>
        </p:spPr>
        <p:txBody>
          <a:bodyPr wrap="square" anchor="ctr" lIns="0" rIns="0" tIns="0" bIns="0">
            <a:spAutoFit/>
          </a:bodyPr>
          <a:lstStyle/>
          <a:p>
            <a:pPr algn="l">
              <a:lnSpc>
                <a:spcPct val="106000"/>
              </a:lnSpc>
            </a:pPr>
            <a:r>
              <a:rPr sz="1050" b="1" i="0">
                <a:solidFill>
                  <a:srgbClr val="10233F"/>
                </a:solidFill>
                <a:latin typeface="Times New Roman"/>
              </a:rPr>
              <a:t>AI Strategy</a:t>
            </a:r>
          </a:p>
        </p:txBody>
      </p:sp>
      <p:sp>
        <p:nvSpPr>
          <p:cNvPr id="15" name="TextBox 14"/>
          <p:cNvSpPr txBox="1"/>
          <p:nvPr/>
        </p:nvSpPr>
        <p:spPr>
          <a:xfrm>
            <a:off x="3447288" y="2139696"/>
            <a:ext cx="3803904" cy="365760"/>
          </a:xfrm>
          <a:prstGeom prst="rect">
            <a:avLst/>
          </a:prstGeom>
          <a:noFill/>
        </p:spPr>
        <p:txBody>
          <a:bodyPr wrap="square" anchor="ctr" lIns="0" rIns="0" tIns="0" bIns="0">
            <a:spAutoFit/>
          </a:bodyPr>
          <a:lstStyle/>
          <a:p>
            <a:pPr algn="l">
              <a:lnSpc>
                <a:spcPct val="106000"/>
              </a:lnSpc>
            </a:pPr>
            <a:r>
              <a:rPr sz="1050" b="0" i="0">
                <a:solidFill>
                  <a:srgbClr val="111827"/>
                </a:solidFill>
                <a:latin typeface="Times New Roman"/>
              </a:rPr>
              <a:t>Hutzschenreuter &amp; Lämmermann (2025), AMP 39(4)</a:t>
            </a:r>
          </a:p>
        </p:txBody>
      </p:sp>
      <p:sp>
        <p:nvSpPr>
          <p:cNvPr id="16" name="TextBox 15"/>
          <p:cNvSpPr txBox="1"/>
          <p:nvPr/>
        </p:nvSpPr>
        <p:spPr>
          <a:xfrm>
            <a:off x="7470648" y="2139696"/>
            <a:ext cx="3712463" cy="365760"/>
          </a:xfrm>
          <a:prstGeom prst="rect">
            <a:avLst/>
          </a:prstGeom>
          <a:noFill/>
        </p:spPr>
        <p:txBody>
          <a:bodyPr wrap="square" anchor="ctr" lIns="0" rIns="0" tIns="0" bIns="0">
            <a:spAutoFit/>
          </a:bodyPr>
          <a:lstStyle/>
          <a:p>
            <a:pPr algn="l">
              <a:lnSpc>
                <a:spcPct val="106000"/>
              </a:lnSpc>
            </a:pPr>
            <a:r>
              <a:rPr sz="1050" b="0" i="0">
                <a:solidFill>
                  <a:srgbClr val="111827"/>
                </a:solidFill>
                <a:latin typeface="Times New Roman"/>
              </a:rPr>
              <a:t>A structured framework for organizational AI strategy</a:t>
            </a:r>
          </a:p>
        </p:txBody>
      </p:sp>
      <p:sp>
        <p:nvSpPr>
          <p:cNvPr id="17" name="Rectangle 16"/>
          <p:cNvSpPr/>
          <p:nvPr/>
        </p:nvSpPr>
        <p:spPr>
          <a:xfrm>
            <a:off x="868680" y="2860243"/>
            <a:ext cx="10424160" cy="10972"/>
          </a:xfrm>
          <a:prstGeom prst="rect">
            <a:avLst/>
          </a:prstGeom>
          <a:solidFill>
            <a:srgbClr val="E2E5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78407" y="2505456"/>
            <a:ext cx="2249424" cy="365760"/>
          </a:xfrm>
          <a:prstGeom prst="rect">
            <a:avLst/>
          </a:prstGeom>
          <a:noFill/>
        </p:spPr>
        <p:txBody>
          <a:bodyPr wrap="square" anchor="ctr" lIns="0" rIns="0" tIns="0" bIns="0">
            <a:spAutoFit/>
          </a:bodyPr>
          <a:lstStyle/>
          <a:p>
            <a:pPr algn="l">
              <a:lnSpc>
                <a:spcPct val="106000"/>
              </a:lnSpc>
            </a:pPr>
            <a:r>
              <a:rPr sz="1050" b="1" i="0">
                <a:solidFill>
                  <a:srgbClr val="10233F"/>
                </a:solidFill>
                <a:latin typeface="Times New Roman"/>
              </a:rPr>
              <a:t>Strategic Planning</a:t>
            </a:r>
          </a:p>
        </p:txBody>
      </p:sp>
      <p:sp>
        <p:nvSpPr>
          <p:cNvPr id="19" name="TextBox 18"/>
          <p:cNvSpPr txBox="1"/>
          <p:nvPr/>
        </p:nvSpPr>
        <p:spPr>
          <a:xfrm>
            <a:off x="3447288" y="2505456"/>
            <a:ext cx="3803904" cy="365760"/>
          </a:xfrm>
          <a:prstGeom prst="rect">
            <a:avLst/>
          </a:prstGeom>
          <a:noFill/>
        </p:spPr>
        <p:txBody>
          <a:bodyPr wrap="square" anchor="ctr" lIns="0" rIns="0" tIns="0" bIns="0">
            <a:spAutoFit/>
          </a:bodyPr>
          <a:lstStyle/>
          <a:p>
            <a:pPr algn="l">
              <a:lnSpc>
                <a:spcPct val="106000"/>
              </a:lnSpc>
            </a:pPr>
            <a:r>
              <a:rPr sz="1050" b="0" i="0">
                <a:solidFill>
                  <a:srgbClr val="111827"/>
                </a:solidFill>
                <a:latin typeface="Times New Roman"/>
              </a:rPr>
              <a:t>Biloslavo et al. (2024), Management Decision 63(10)</a:t>
            </a:r>
          </a:p>
        </p:txBody>
      </p:sp>
      <p:sp>
        <p:nvSpPr>
          <p:cNvPr id="20" name="TextBox 19"/>
          <p:cNvSpPr txBox="1"/>
          <p:nvPr/>
        </p:nvSpPr>
        <p:spPr>
          <a:xfrm>
            <a:off x="7470648" y="2505456"/>
            <a:ext cx="3712463" cy="365760"/>
          </a:xfrm>
          <a:prstGeom prst="rect">
            <a:avLst/>
          </a:prstGeom>
          <a:noFill/>
        </p:spPr>
        <p:txBody>
          <a:bodyPr wrap="square" anchor="ctr" lIns="0" rIns="0" tIns="0" bIns="0">
            <a:spAutoFit/>
          </a:bodyPr>
          <a:lstStyle/>
          <a:p>
            <a:pPr algn="l">
              <a:lnSpc>
                <a:spcPct val="106000"/>
              </a:lnSpc>
            </a:pPr>
            <a:r>
              <a:rPr sz="1050" b="0" i="0">
                <a:solidFill>
                  <a:srgbClr val="111827"/>
                </a:solidFill>
                <a:latin typeface="Times New Roman"/>
              </a:rPr>
              <a:t>How AI transforms planning in VUCA environments</a:t>
            </a:r>
          </a:p>
        </p:txBody>
      </p:sp>
      <p:sp>
        <p:nvSpPr>
          <p:cNvPr id="21" name="Rectangle 20"/>
          <p:cNvSpPr/>
          <p:nvPr/>
        </p:nvSpPr>
        <p:spPr>
          <a:xfrm>
            <a:off x="868680" y="2871215"/>
            <a:ext cx="10424160" cy="36576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68680" y="3226003"/>
            <a:ext cx="10424160" cy="10972"/>
          </a:xfrm>
          <a:prstGeom prst="rect">
            <a:avLst/>
          </a:prstGeom>
          <a:solidFill>
            <a:srgbClr val="E2E5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78407" y="2871215"/>
            <a:ext cx="2249424" cy="365760"/>
          </a:xfrm>
          <a:prstGeom prst="rect">
            <a:avLst/>
          </a:prstGeom>
          <a:noFill/>
        </p:spPr>
        <p:txBody>
          <a:bodyPr wrap="square" anchor="ctr" lIns="0" rIns="0" tIns="0" bIns="0">
            <a:spAutoFit/>
          </a:bodyPr>
          <a:lstStyle/>
          <a:p>
            <a:pPr algn="l">
              <a:lnSpc>
                <a:spcPct val="106000"/>
              </a:lnSpc>
            </a:pPr>
            <a:r>
              <a:rPr sz="1050" b="1" i="0">
                <a:solidFill>
                  <a:srgbClr val="10233F"/>
                </a:solidFill>
                <a:latin typeface="Times New Roman"/>
              </a:rPr>
              <a:t>Human–AI Collaboration</a:t>
            </a:r>
          </a:p>
        </p:txBody>
      </p:sp>
      <p:sp>
        <p:nvSpPr>
          <p:cNvPr id="24" name="TextBox 23"/>
          <p:cNvSpPr txBox="1"/>
          <p:nvPr/>
        </p:nvSpPr>
        <p:spPr>
          <a:xfrm>
            <a:off x="3447288" y="2871215"/>
            <a:ext cx="3803904" cy="365760"/>
          </a:xfrm>
          <a:prstGeom prst="rect">
            <a:avLst/>
          </a:prstGeom>
          <a:noFill/>
        </p:spPr>
        <p:txBody>
          <a:bodyPr wrap="square" anchor="ctr" lIns="0" rIns="0" tIns="0" bIns="0">
            <a:spAutoFit/>
          </a:bodyPr>
          <a:lstStyle/>
          <a:p>
            <a:pPr algn="l">
              <a:lnSpc>
                <a:spcPct val="106000"/>
              </a:lnSpc>
            </a:pPr>
            <a:r>
              <a:rPr sz="1050" b="0" i="0">
                <a:solidFill>
                  <a:srgbClr val="111827"/>
                </a:solidFill>
                <a:latin typeface="Times New Roman"/>
              </a:rPr>
              <a:t>Jarrahi (2018), Business Horizons 61(4)</a:t>
            </a:r>
          </a:p>
        </p:txBody>
      </p:sp>
      <p:sp>
        <p:nvSpPr>
          <p:cNvPr id="25" name="TextBox 24"/>
          <p:cNvSpPr txBox="1"/>
          <p:nvPr/>
        </p:nvSpPr>
        <p:spPr>
          <a:xfrm>
            <a:off x="7470648" y="2871215"/>
            <a:ext cx="3712463" cy="365760"/>
          </a:xfrm>
          <a:prstGeom prst="rect">
            <a:avLst/>
          </a:prstGeom>
          <a:noFill/>
        </p:spPr>
        <p:txBody>
          <a:bodyPr wrap="square" anchor="ctr" lIns="0" rIns="0" tIns="0" bIns="0">
            <a:spAutoFit/>
          </a:bodyPr>
          <a:lstStyle/>
          <a:p>
            <a:pPr algn="l">
              <a:lnSpc>
                <a:spcPct val="106000"/>
              </a:lnSpc>
            </a:pPr>
            <a:r>
              <a:rPr sz="1050" b="0" i="0">
                <a:solidFill>
                  <a:srgbClr val="111827"/>
                </a:solidFill>
                <a:latin typeface="Times New Roman"/>
              </a:rPr>
              <a:t>Human–AI symbiosis in decision making</a:t>
            </a:r>
          </a:p>
        </p:txBody>
      </p:sp>
      <p:sp>
        <p:nvSpPr>
          <p:cNvPr id="26" name="Rectangle 25"/>
          <p:cNvSpPr/>
          <p:nvPr/>
        </p:nvSpPr>
        <p:spPr>
          <a:xfrm>
            <a:off x="868680" y="3591763"/>
            <a:ext cx="10424160" cy="10972"/>
          </a:xfrm>
          <a:prstGeom prst="rect">
            <a:avLst/>
          </a:prstGeom>
          <a:solidFill>
            <a:srgbClr val="E2E5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8407" y="3236975"/>
            <a:ext cx="2249424" cy="365760"/>
          </a:xfrm>
          <a:prstGeom prst="rect">
            <a:avLst/>
          </a:prstGeom>
          <a:noFill/>
        </p:spPr>
        <p:txBody>
          <a:bodyPr wrap="square" anchor="ctr" lIns="0" rIns="0" tIns="0" bIns="0">
            <a:spAutoFit/>
          </a:bodyPr>
          <a:lstStyle/>
          <a:p>
            <a:pPr algn="l">
              <a:lnSpc>
                <a:spcPct val="106000"/>
              </a:lnSpc>
            </a:pPr>
            <a:r>
              <a:rPr sz="1050" b="1" i="0">
                <a:solidFill>
                  <a:srgbClr val="10233F"/>
                </a:solidFill>
                <a:latin typeface="Times New Roman"/>
              </a:rPr>
              <a:t>AI Decision Structures</a:t>
            </a:r>
          </a:p>
        </p:txBody>
      </p:sp>
      <p:sp>
        <p:nvSpPr>
          <p:cNvPr id="28" name="TextBox 27"/>
          <p:cNvSpPr txBox="1"/>
          <p:nvPr/>
        </p:nvSpPr>
        <p:spPr>
          <a:xfrm>
            <a:off x="3447288" y="3236975"/>
            <a:ext cx="3803904" cy="365760"/>
          </a:xfrm>
          <a:prstGeom prst="rect">
            <a:avLst/>
          </a:prstGeom>
          <a:noFill/>
        </p:spPr>
        <p:txBody>
          <a:bodyPr wrap="square" anchor="ctr" lIns="0" rIns="0" tIns="0" bIns="0">
            <a:spAutoFit/>
          </a:bodyPr>
          <a:lstStyle/>
          <a:p>
            <a:pPr algn="l">
              <a:lnSpc>
                <a:spcPct val="106000"/>
              </a:lnSpc>
            </a:pPr>
            <a:r>
              <a:rPr sz="1050" b="0" i="0">
                <a:solidFill>
                  <a:srgbClr val="111827"/>
                </a:solidFill>
                <a:latin typeface="Times New Roman"/>
              </a:rPr>
              <a:t>Shrestha et al. (2019), CMR 61(4)</a:t>
            </a:r>
          </a:p>
        </p:txBody>
      </p:sp>
      <p:sp>
        <p:nvSpPr>
          <p:cNvPr id="29" name="TextBox 28"/>
          <p:cNvSpPr txBox="1"/>
          <p:nvPr/>
        </p:nvSpPr>
        <p:spPr>
          <a:xfrm>
            <a:off x="7470648" y="3236975"/>
            <a:ext cx="3712463" cy="365760"/>
          </a:xfrm>
          <a:prstGeom prst="rect">
            <a:avLst/>
          </a:prstGeom>
          <a:noFill/>
        </p:spPr>
        <p:txBody>
          <a:bodyPr wrap="square" anchor="ctr" lIns="0" rIns="0" tIns="0" bIns="0">
            <a:spAutoFit/>
          </a:bodyPr>
          <a:lstStyle/>
          <a:p>
            <a:pPr algn="l">
              <a:lnSpc>
                <a:spcPct val="106000"/>
              </a:lnSpc>
            </a:pPr>
            <a:r>
              <a:rPr sz="1050" b="0" i="0">
                <a:solidFill>
                  <a:srgbClr val="111827"/>
                </a:solidFill>
                <a:latin typeface="Times New Roman"/>
              </a:rPr>
              <a:t>Organizational redesign for AI-enabled decisions</a:t>
            </a:r>
          </a:p>
        </p:txBody>
      </p:sp>
      <p:sp>
        <p:nvSpPr>
          <p:cNvPr id="30" name="Rectangle 29"/>
          <p:cNvSpPr/>
          <p:nvPr/>
        </p:nvSpPr>
        <p:spPr>
          <a:xfrm>
            <a:off x="868680" y="3602735"/>
            <a:ext cx="10424160" cy="36576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68680" y="3957523"/>
            <a:ext cx="10424160" cy="10972"/>
          </a:xfrm>
          <a:prstGeom prst="rect">
            <a:avLst/>
          </a:prstGeom>
          <a:solidFill>
            <a:srgbClr val="E2E5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78407" y="3602735"/>
            <a:ext cx="2249424" cy="365760"/>
          </a:xfrm>
          <a:prstGeom prst="rect">
            <a:avLst/>
          </a:prstGeom>
          <a:noFill/>
        </p:spPr>
        <p:txBody>
          <a:bodyPr wrap="square" anchor="ctr" lIns="0" rIns="0" tIns="0" bIns="0">
            <a:spAutoFit/>
          </a:bodyPr>
          <a:lstStyle/>
          <a:p>
            <a:pPr algn="l">
              <a:lnSpc>
                <a:spcPct val="106000"/>
              </a:lnSpc>
            </a:pPr>
            <a:r>
              <a:rPr sz="1050" b="1" i="0">
                <a:solidFill>
                  <a:srgbClr val="10233F"/>
                </a:solidFill>
                <a:latin typeface="Times New Roman"/>
              </a:rPr>
              <a:t>Hybrid Intelligence</a:t>
            </a:r>
          </a:p>
        </p:txBody>
      </p:sp>
      <p:sp>
        <p:nvSpPr>
          <p:cNvPr id="33" name="TextBox 32"/>
          <p:cNvSpPr txBox="1"/>
          <p:nvPr/>
        </p:nvSpPr>
        <p:spPr>
          <a:xfrm>
            <a:off x="3447288" y="3602735"/>
            <a:ext cx="3803904" cy="365760"/>
          </a:xfrm>
          <a:prstGeom prst="rect">
            <a:avLst/>
          </a:prstGeom>
          <a:noFill/>
        </p:spPr>
        <p:txBody>
          <a:bodyPr wrap="square" anchor="ctr" lIns="0" rIns="0" tIns="0" bIns="0">
            <a:spAutoFit/>
          </a:bodyPr>
          <a:lstStyle/>
          <a:p>
            <a:pPr algn="l">
              <a:lnSpc>
                <a:spcPct val="106000"/>
              </a:lnSpc>
            </a:pPr>
            <a:r>
              <a:rPr sz="1050" b="0" i="0">
                <a:solidFill>
                  <a:srgbClr val="111827"/>
                </a:solidFill>
                <a:latin typeface="Times New Roman"/>
              </a:rPr>
              <a:t>Dellermann et al. (2019), BISE 61(5)</a:t>
            </a:r>
          </a:p>
        </p:txBody>
      </p:sp>
      <p:sp>
        <p:nvSpPr>
          <p:cNvPr id="34" name="TextBox 33"/>
          <p:cNvSpPr txBox="1"/>
          <p:nvPr/>
        </p:nvSpPr>
        <p:spPr>
          <a:xfrm>
            <a:off x="7470648" y="3602735"/>
            <a:ext cx="3712463" cy="365760"/>
          </a:xfrm>
          <a:prstGeom prst="rect">
            <a:avLst/>
          </a:prstGeom>
          <a:noFill/>
        </p:spPr>
        <p:txBody>
          <a:bodyPr wrap="square" anchor="ctr" lIns="0" rIns="0" tIns="0" bIns="0">
            <a:spAutoFit/>
          </a:bodyPr>
          <a:lstStyle/>
          <a:p>
            <a:pPr algn="l">
              <a:lnSpc>
                <a:spcPct val="106000"/>
              </a:lnSpc>
            </a:pPr>
            <a:r>
              <a:rPr sz="1050" b="0" i="0">
                <a:solidFill>
                  <a:srgbClr val="111827"/>
                </a:solidFill>
                <a:latin typeface="Times New Roman"/>
              </a:rPr>
              <a:t>Principles for integrating human and machine intelligence</a:t>
            </a:r>
          </a:p>
        </p:txBody>
      </p:sp>
      <p:sp>
        <p:nvSpPr>
          <p:cNvPr id="35" name="Rectangle 34"/>
          <p:cNvSpPr/>
          <p:nvPr/>
        </p:nvSpPr>
        <p:spPr>
          <a:xfrm>
            <a:off x="868680" y="4323283"/>
            <a:ext cx="10424160" cy="10972"/>
          </a:xfrm>
          <a:prstGeom prst="rect">
            <a:avLst/>
          </a:prstGeom>
          <a:solidFill>
            <a:srgbClr val="E2E5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78407" y="3968496"/>
            <a:ext cx="2249424" cy="365760"/>
          </a:xfrm>
          <a:prstGeom prst="rect">
            <a:avLst/>
          </a:prstGeom>
          <a:noFill/>
        </p:spPr>
        <p:txBody>
          <a:bodyPr wrap="square" anchor="ctr" lIns="0" rIns="0" tIns="0" bIns="0">
            <a:spAutoFit/>
          </a:bodyPr>
          <a:lstStyle/>
          <a:p>
            <a:pPr algn="l">
              <a:lnSpc>
                <a:spcPct val="106000"/>
              </a:lnSpc>
            </a:pPr>
            <a:r>
              <a:rPr sz="1050" b="1" i="0">
                <a:solidFill>
                  <a:srgbClr val="10233F"/>
                </a:solidFill>
                <a:latin typeface="Times New Roman"/>
              </a:rPr>
              <a:t>AI and Leadership</a:t>
            </a:r>
          </a:p>
        </p:txBody>
      </p:sp>
      <p:sp>
        <p:nvSpPr>
          <p:cNvPr id="37" name="TextBox 36"/>
          <p:cNvSpPr txBox="1"/>
          <p:nvPr/>
        </p:nvSpPr>
        <p:spPr>
          <a:xfrm>
            <a:off x="3447288" y="3968496"/>
            <a:ext cx="3803904" cy="365760"/>
          </a:xfrm>
          <a:prstGeom prst="rect">
            <a:avLst/>
          </a:prstGeom>
          <a:noFill/>
        </p:spPr>
        <p:txBody>
          <a:bodyPr wrap="square" anchor="ctr" lIns="0" rIns="0" tIns="0" bIns="0">
            <a:spAutoFit/>
          </a:bodyPr>
          <a:lstStyle/>
          <a:p>
            <a:pPr algn="l">
              <a:lnSpc>
                <a:spcPct val="106000"/>
              </a:lnSpc>
            </a:pPr>
            <a:r>
              <a:rPr sz="1050" b="0" i="0">
                <a:solidFill>
                  <a:srgbClr val="111827"/>
                </a:solidFill>
                <a:latin typeface="Times New Roman"/>
              </a:rPr>
              <a:t>von Krogh (2018), AMD 4(4)</a:t>
            </a:r>
          </a:p>
        </p:txBody>
      </p:sp>
      <p:sp>
        <p:nvSpPr>
          <p:cNvPr id="38" name="TextBox 37"/>
          <p:cNvSpPr txBox="1"/>
          <p:nvPr/>
        </p:nvSpPr>
        <p:spPr>
          <a:xfrm>
            <a:off x="7470648" y="3968496"/>
            <a:ext cx="3712463" cy="365760"/>
          </a:xfrm>
          <a:prstGeom prst="rect">
            <a:avLst/>
          </a:prstGeom>
          <a:noFill/>
        </p:spPr>
        <p:txBody>
          <a:bodyPr wrap="square" anchor="ctr" lIns="0" rIns="0" tIns="0" bIns="0">
            <a:spAutoFit/>
          </a:bodyPr>
          <a:lstStyle/>
          <a:p>
            <a:pPr algn="l">
              <a:lnSpc>
                <a:spcPct val="106000"/>
              </a:lnSpc>
            </a:pPr>
            <a:r>
              <a:rPr sz="1050" b="0" i="0">
                <a:solidFill>
                  <a:srgbClr val="111827"/>
                </a:solidFill>
                <a:latin typeface="Times New Roman"/>
              </a:rPr>
              <a:t>AI's implications for management theory</a:t>
            </a:r>
          </a:p>
        </p:txBody>
      </p:sp>
      <p:sp>
        <p:nvSpPr>
          <p:cNvPr id="39" name="Rectangle 38"/>
          <p:cNvSpPr/>
          <p:nvPr/>
        </p:nvSpPr>
        <p:spPr>
          <a:xfrm>
            <a:off x="868680" y="4334256"/>
            <a:ext cx="10424160" cy="36576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68680" y="4689043"/>
            <a:ext cx="10424160" cy="10972"/>
          </a:xfrm>
          <a:prstGeom prst="rect">
            <a:avLst/>
          </a:prstGeom>
          <a:solidFill>
            <a:srgbClr val="E2E5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78407" y="4334256"/>
            <a:ext cx="2249424" cy="365760"/>
          </a:xfrm>
          <a:prstGeom prst="rect">
            <a:avLst/>
          </a:prstGeom>
          <a:noFill/>
        </p:spPr>
        <p:txBody>
          <a:bodyPr wrap="square" anchor="ctr" lIns="0" rIns="0" tIns="0" bIns="0">
            <a:spAutoFit/>
          </a:bodyPr>
          <a:lstStyle/>
          <a:p>
            <a:pPr algn="l">
              <a:lnSpc>
                <a:spcPct val="106000"/>
              </a:lnSpc>
            </a:pPr>
            <a:r>
              <a:rPr sz="1050" b="1" i="0">
                <a:solidFill>
                  <a:srgbClr val="10233F"/>
                </a:solidFill>
                <a:latin typeface="Times New Roman"/>
              </a:rPr>
              <a:t>Algorithmic Management</a:t>
            </a:r>
          </a:p>
        </p:txBody>
      </p:sp>
      <p:sp>
        <p:nvSpPr>
          <p:cNvPr id="42" name="TextBox 41"/>
          <p:cNvSpPr txBox="1"/>
          <p:nvPr/>
        </p:nvSpPr>
        <p:spPr>
          <a:xfrm>
            <a:off x="3447288" y="4334256"/>
            <a:ext cx="3803904" cy="365760"/>
          </a:xfrm>
          <a:prstGeom prst="rect">
            <a:avLst/>
          </a:prstGeom>
          <a:noFill/>
        </p:spPr>
        <p:txBody>
          <a:bodyPr wrap="square" anchor="ctr" lIns="0" rIns="0" tIns="0" bIns="0">
            <a:spAutoFit/>
          </a:bodyPr>
          <a:lstStyle/>
          <a:p>
            <a:pPr algn="l">
              <a:lnSpc>
                <a:spcPct val="106000"/>
              </a:lnSpc>
            </a:pPr>
            <a:r>
              <a:rPr sz="1050" b="0" i="0">
                <a:solidFill>
                  <a:srgbClr val="111827"/>
                </a:solidFill>
                <a:latin typeface="Times New Roman"/>
              </a:rPr>
              <a:t>Kellogg, Valentine &amp; Christin (2020), AMA 14(1)</a:t>
            </a:r>
          </a:p>
        </p:txBody>
      </p:sp>
      <p:sp>
        <p:nvSpPr>
          <p:cNvPr id="43" name="TextBox 42"/>
          <p:cNvSpPr txBox="1"/>
          <p:nvPr/>
        </p:nvSpPr>
        <p:spPr>
          <a:xfrm>
            <a:off x="7470648" y="4334256"/>
            <a:ext cx="3712463" cy="365760"/>
          </a:xfrm>
          <a:prstGeom prst="rect">
            <a:avLst/>
          </a:prstGeom>
          <a:noFill/>
        </p:spPr>
        <p:txBody>
          <a:bodyPr wrap="square" anchor="ctr" lIns="0" rIns="0" tIns="0" bIns="0">
            <a:spAutoFit/>
          </a:bodyPr>
          <a:lstStyle/>
          <a:p>
            <a:pPr algn="l">
              <a:lnSpc>
                <a:spcPct val="106000"/>
              </a:lnSpc>
            </a:pPr>
            <a:r>
              <a:rPr sz="1050" b="0" i="0">
                <a:solidFill>
                  <a:srgbClr val="111827"/>
                </a:solidFill>
                <a:latin typeface="Times New Roman"/>
              </a:rPr>
              <a:t>Algorithms as a new contested terrain of control</a:t>
            </a:r>
          </a:p>
        </p:txBody>
      </p:sp>
      <p:sp>
        <p:nvSpPr>
          <p:cNvPr id="44" name="Rectangle 43"/>
          <p:cNvSpPr/>
          <p:nvPr/>
        </p:nvSpPr>
        <p:spPr>
          <a:xfrm>
            <a:off x="868680" y="5054803"/>
            <a:ext cx="10424160" cy="10972"/>
          </a:xfrm>
          <a:prstGeom prst="rect">
            <a:avLst/>
          </a:prstGeom>
          <a:solidFill>
            <a:srgbClr val="E2E5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78407" y="4700016"/>
            <a:ext cx="2249424" cy="365760"/>
          </a:xfrm>
          <a:prstGeom prst="rect">
            <a:avLst/>
          </a:prstGeom>
          <a:noFill/>
        </p:spPr>
        <p:txBody>
          <a:bodyPr wrap="square" anchor="ctr" lIns="0" rIns="0" tIns="0" bIns="0">
            <a:spAutoFit/>
          </a:bodyPr>
          <a:lstStyle/>
          <a:p>
            <a:pPr algn="l">
              <a:lnSpc>
                <a:spcPct val="106000"/>
              </a:lnSpc>
            </a:pPr>
            <a:r>
              <a:rPr sz="1050" b="1" i="0">
                <a:solidFill>
                  <a:srgbClr val="10233F"/>
                </a:solidFill>
                <a:latin typeface="Times New Roman"/>
              </a:rPr>
              <a:t>Human–AI Teams</a:t>
            </a:r>
          </a:p>
        </p:txBody>
      </p:sp>
      <p:sp>
        <p:nvSpPr>
          <p:cNvPr id="46" name="TextBox 45"/>
          <p:cNvSpPr txBox="1"/>
          <p:nvPr/>
        </p:nvSpPr>
        <p:spPr>
          <a:xfrm>
            <a:off x="3447288" y="4700016"/>
            <a:ext cx="3803904" cy="365760"/>
          </a:xfrm>
          <a:prstGeom prst="rect">
            <a:avLst/>
          </a:prstGeom>
          <a:noFill/>
        </p:spPr>
        <p:txBody>
          <a:bodyPr wrap="square" anchor="ctr" lIns="0" rIns="0" tIns="0" bIns="0">
            <a:spAutoFit/>
          </a:bodyPr>
          <a:lstStyle/>
          <a:p>
            <a:pPr algn="l">
              <a:lnSpc>
                <a:spcPct val="106000"/>
              </a:lnSpc>
            </a:pPr>
            <a:r>
              <a:rPr sz="1050" b="0" i="0">
                <a:solidFill>
                  <a:srgbClr val="111827"/>
                </a:solidFill>
                <a:latin typeface="Times New Roman"/>
              </a:rPr>
              <a:t>Makarius et al. (2020), JBR 120</a:t>
            </a:r>
          </a:p>
        </p:txBody>
      </p:sp>
      <p:sp>
        <p:nvSpPr>
          <p:cNvPr id="47" name="TextBox 46"/>
          <p:cNvSpPr txBox="1"/>
          <p:nvPr/>
        </p:nvSpPr>
        <p:spPr>
          <a:xfrm>
            <a:off x="7470648" y="4700016"/>
            <a:ext cx="3712463" cy="365760"/>
          </a:xfrm>
          <a:prstGeom prst="rect">
            <a:avLst/>
          </a:prstGeom>
          <a:noFill/>
        </p:spPr>
        <p:txBody>
          <a:bodyPr wrap="square" anchor="ctr" lIns="0" rIns="0" tIns="0" bIns="0">
            <a:spAutoFit/>
          </a:bodyPr>
          <a:lstStyle/>
          <a:p>
            <a:pPr algn="l">
              <a:lnSpc>
                <a:spcPct val="106000"/>
              </a:lnSpc>
            </a:pPr>
            <a:r>
              <a:rPr sz="1050" b="0" i="0">
                <a:solidFill>
                  <a:srgbClr val="111827"/>
                </a:solidFill>
                <a:latin typeface="Times New Roman"/>
              </a:rPr>
              <a:t>A sociotechnical framework for bringing AI into the firm</a:t>
            </a:r>
          </a:p>
        </p:txBody>
      </p:sp>
      <p:sp>
        <p:nvSpPr>
          <p:cNvPr id="48" name="Rectangle 47"/>
          <p:cNvSpPr/>
          <p:nvPr/>
        </p:nvSpPr>
        <p:spPr>
          <a:xfrm>
            <a:off x="868680" y="5065776"/>
            <a:ext cx="10424160" cy="36576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68680" y="5420563"/>
            <a:ext cx="10424160" cy="10972"/>
          </a:xfrm>
          <a:prstGeom prst="rect">
            <a:avLst/>
          </a:prstGeom>
          <a:solidFill>
            <a:srgbClr val="E2E5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78407" y="5065776"/>
            <a:ext cx="2249424" cy="365760"/>
          </a:xfrm>
          <a:prstGeom prst="rect">
            <a:avLst/>
          </a:prstGeom>
          <a:noFill/>
        </p:spPr>
        <p:txBody>
          <a:bodyPr wrap="square" anchor="ctr" lIns="0" rIns="0" tIns="0" bIns="0">
            <a:spAutoFit/>
          </a:bodyPr>
          <a:lstStyle/>
          <a:p>
            <a:pPr algn="l">
              <a:lnSpc>
                <a:spcPct val="106000"/>
              </a:lnSpc>
            </a:pPr>
            <a:r>
              <a:rPr sz="1050" b="1" i="0">
                <a:solidFill>
                  <a:srgbClr val="10233F"/>
                </a:solidFill>
                <a:latin typeface="Times New Roman"/>
              </a:rPr>
              <a:t>Digital Platforms</a:t>
            </a:r>
          </a:p>
        </p:txBody>
      </p:sp>
      <p:sp>
        <p:nvSpPr>
          <p:cNvPr id="51" name="TextBox 50"/>
          <p:cNvSpPr txBox="1"/>
          <p:nvPr/>
        </p:nvSpPr>
        <p:spPr>
          <a:xfrm>
            <a:off x="3447288" y="5065776"/>
            <a:ext cx="3803904" cy="365760"/>
          </a:xfrm>
          <a:prstGeom prst="rect">
            <a:avLst/>
          </a:prstGeom>
          <a:noFill/>
        </p:spPr>
        <p:txBody>
          <a:bodyPr wrap="square" anchor="ctr" lIns="0" rIns="0" tIns="0" bIns="0">
            <a:spAutoFit/>
          </a:bodyPr>
          <a:lstStyle/>
          <a:p>
            <a:pPr algn="l">
              <a:lnSpc>
                <a:spcPct val="106000"/>
              </a:lnSpc>
            </a:pPr>
            <a:r>
              <a:rPr sz="1050" b="0" i="0">
                <a:solidFill>
                  <a:srgbClr val="111827"/>
                </a:solidFill>
                <a:latin typeface="Times New Roman"/>
              </a:rPr>
              <a:t>Rai, Constantinides &amp; Sarker (2019), MISQ 43(1)</a:t>
            </a:r>
          </a:p>
        </p:txBody>
      </p:sp>
      <p:sp>
        <p:nvSpPr>
          <p:cNvPr id="52" name="TextBox 51"/>
          <p:cNvSpPr txBox="1"/>
          <p:nvPr/>
        </p:nvSpPr>
        <p:spPr>
          <a:xfrm>
            <a:off x="7470648" y="5065776"/>
            <a:ext cx="3712463" cy="365760"/>
          </a:xfrm>
          <a:prstGeom prst="rect">
            <a:avLst/>
          </a:prstGeom>
          <a:noFill/>
        </p:spPr>
        <p:txBody>
          <a:bodyPr wrap="square" anchor="ctr" lIns="0" rIns="0" tIns="0" bIns="0">
            <a:spAutoFit/>
          </a:bodyPr>
          <a:lstStyle/>
          <a:p>
            <a:pPr algn="l">
              <a:lnSpc>
                <a:spcPct val="106000"/>
              </a:lnSpc>
            </a:pPr>
            <a:r>
              <a:rPr sz="1050" b="0" i="0">
                <a:solidFill>
                  <a:srgbClr val="111827"/>
                </a:solidFill>
                <a:latin typeface="Times New Roman"/>
              </a:rPr>
              <a:t>Next-generation platforms as human–AI hybrids</a:t>
            </a:r>
          </a:p>
        </p:txBody>
      </p:sp>
      <p:sp>
        <p:nvSpPr>
          <p:cNvPr id="53" name="Rectangle 52"/>
          <p:cNvSpPr/>
          <p:nvPr/>
        </p:nvSpPr>
        <p:spPr>
          <a:xfrm>
            <a:off x="868680" y="5786323"/>
            <a:ext cx="10424160" cy="10972"/>
          </a:xfrm>
          <a:prstGeom prst="rect">
            <a:avLst/>
          </a:prstGeom>
          <a:solidFill>
            <a:srgbClr val="E2E5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978407" y="5431536"/>
            <a:ext cx="2249424" cy="365760"/>
          </a:xfrm>
          <a:prstGeom prst="rect">
            <a:avLst/>
          </a:prstGeom>
          <a:noFill/>
        </p:spPr>
        <p:txBody>
          <a:bodyPr wrap="square" anchor="ctr" lIns="0" rIns="0" tIns="0" bIns="0">
            <a:spAutoFit/>
          </a:bodyPr>
          <a:lstStyle/>
          <a:p>
            <a:pPr algn="l">
              <a:lnSpc>
                <a:spcPct val="106000"/>
              </a:lnSpc>
            </a:pPr>
            <a:r>
              <a:rPr sz="1050" b="1" i="0">
                <a:solidFill>
                  <a:srgbClr val="10233F"/>
                </a:solidFill>
                <a:latin typeface="Times New Roman"/>
              </a:rPr>
              <a:t>AI &amp; Dynamic Capabilities</a:t>
            </a:r>
          </a:p>
        </p:txBody>
      </p:sp>
      <p:sp>
        <p:nvSpPr>
          <p:cNvPr id="55" name="TextBox 54"/>
          <p:cNvSpPr txBox="1"/>
          <p:nvPr/>
        </p:nvSpPr>
        <p:spPr>
          <a:xfrm>
            <a:off x="3447288" y="5431536"/>
            <a:ext cx="3803904" cy="365760"/>
          </a:xfrm>
          <a:prstGeom prst="rect">
            <a:avLst/>
          </a:prstGeom>
          <a:noFill/>
        </p:spPr>
        <p:txBody>
          <a:bodyPr wrap="square" anchor="ctr" lIns="0" rIns="0" tIns="0" bIns="0">
            <a:spAutoFit/>
          </a:bodyPr>
          <a:lstStyle/>
          <a:p>
            <a:pPr algn="l">
              <a:lnSpc>
                <a:spcPct val="106000"/>
              </a:lnSpc>
            </a:pPr>
            <a:r>
              <a:rPr sz="1050" b="0" i="0">
                <a:solidFill>
                  <a:srgbClr val="111827"/>
                </a:solidFill>
                <a:latin typeface="Times New Roman"/>
              </a:rPr>
              <a:t>Recent Teece article (updated each offering)</a:t>
            </a:r>
          </a:p>
        </p:txBody>
      </p:sp>
      <p:sp>
        <p:nvSpPr>
          <p:cNvPr id="56" name="TextBox 55"/>
          <p:cNvSpPr txBox="1"/>
          <p:nvPr/>
        </p:nvSpPr>
        <p:spPr>
          <a:xfrm>
            <a:off x="7470648" y="5431536"/>
            <a:ext cx="3712463" cy="365760"/>
          </a:xfrm>
          <a:prstGeom prst="rect">
            <a:avLst/>
          </a:prstGeom>
          <a:noFill/>
        </p:spPr>
        <p:txBody>
          <a:bodyPr wrap="square" anchor="ctr" lIns="0" rIns="0" tIns="0" bIns="0">
            <a:spAutoFit/>
          </a:bodyPr>
          <a:lstStyle/>
          <a:p>
            <a:pPr algn="l">
              <a:lnSpc>
                <a:spcPct val="106000"/>
              </a:lnSpc>
            </a:pPr>
            <a:r>
              <a:rPr sz="1050" b="0" i="0">
                <a:solidFill>
                  <a:srgbClr val="111827"/>
                </a:solidFill>
                <a:latin typeface="Times New Roman"/>
              </a:rPr>
              <a:t>Extends dynamic capabilities into the AI era</a:t>
            </a:r>
          </a:p>
        </p:txBody>
      </p:sp>
      <p:sp>
        <p:nvSpPr>
          <p:cNvPr id="57" name="TextBox 56"/>
          <p:cNvSpPr txBox="1"/>
          <p:nvPr/>
        </p:nvSpPr>
        <p:spPr>
          <a:xfrm>
            <a:off x="868680" y="5907024"/>
            <a:ext cx="10424160" cy="274320"/>
          </a:xfrm>
          <a:prstGeom prst="rect">
            <a:avLst/>
          </a:prstGeom>
          <a:noFill/>
        </p:spPr>
        <p:txBody>
          <a:bodyPr wrap="square" anchor="t" lIns="0" rIns="0" tIns="0" bIns="0">
            <a:spAutoFit/>
          </a:bodyPr>
          <a:lstStyle/>
          <a:p>
            <a:pPr algn="l"/>
            <a:r>
              <a:rPr sz="1050" b="0" i="1">
                <a:solidFill>
                  <a:srgbClr val="6B7280"/>
                </a:solidFill>
                <a:latin typeface="Times New Roman"/>
              </a:rPr>
              <a:t>Instructor note: the final readings are refreshed before each offering to keep the course at the research frontier while preserving a stable theoretical core.</a:t>
            </a:r>
          </a:p>
        </p:txBody>
      </p:sp>
      <p:sp>
        <p:nvSpPr>
          <p:cNvPr id="58" name="TextBox 57"/>
          <p:cNvSpPr txBox="1"/>
          <p:nvPr/>
        </p:nvSpPr>
        <p:spPr>
          <a:xfrm>
            <a:off x="11475720" y="6473952"/>
            <a:ext cx="457200" cy="182880"/>
          </a:xfrm>
          <a:prstGeom prst="rect">
            <a:avLst/>
          </a:prstGeom>
          <a:noFill/>
        </p:spPr>
        <p:txBody>
          <a:bodyPr wrap="square" anchor="t" lIns="0" rIns="0" tIns="0" bIns="0">
            <a:spAutoFit/>
          </a:bodyPr>
          <a:lstStyle/>
          <a:p>
            <a:pPr algn="r"/>
            <a:r>
              <a:rPr sz="800" b="0" i="0">
                <a:solidFill>
                  <a:srgbClr val="9CA3AF"/>
                </a:solidFill>
                <a:latin typeface="Times New Roman"/>
              </a:rPr>
              <a:t>38</a:t>
            </a:r>
          </a:p>
        </p:txBody>
      </p:sp>
      <p:sp>
        <p:nvSpPr>
          <p:cNvPr id="59" name="TextBox 58"/>
          <p:cNvSpPr txBox="1"/>
          <p:nvPr/>
        </p:nvSpPr>
        <p:spPr>
          <a:xfrm>
            <a:off x="502920" y="6473952"/>
            <a:ext cx="6400800" cy="182880"/>
          </a:xfrm>
          <a:prstGeom prst="rect">
            <a:avLst/>
          </a:prstGeom>
          <a:noFill/>
        </p:spPr>
        <p:txBody>
          <a:bodyPr wrap="square" anchor="t" lIns="0" rIns="0" tIns="0" bIns="0">
            <a:spAutoFit/>
          </a:bodyPr>
          <a:lstStyle/>
          <a:p>
            <a:pPr algn="l"/>
            <a:r>
              <a:rPr sz="720" b="0" i="0">
                <a:solidFill>
                  <a:srgbClr val="6B7280"/>
                </a:solidFill>
                <a:latin typeface="Times New Roman"/>
              </a:rPr>
              <a:t>Strategic Management in the Age of AI · MGMT 465/665 · Course Introduction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969" cy="164592"/>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969" cy="3657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411480"/>
            <a:ext cx="5943600" cy="228600"/>
          </a:xfrm>
          <a:prstGeom prst="rect">
            <a:avLst/>
          </a:prstGeom>
          <a:noFill/>
        </p:spPr>
        <p:txBody>
          <a:bodyPr wrap="square" anchor="t" lIns="0" rIns="0" tIns="0" bIns="0">
            <a:spAutoFit/>
          </a:bodyPr>
          <a:lstStyle/>
          <a:p>
            <a:pPr algn="l"/>
            <a:r>
              <a:rPr sz="850" b="1" i="0">
                <a:solidFill>
                  <a:srgbClr val="2A6F97"/>
                </a:solidFill>
                <a:latin typeface="Times New Roman"/>
              </a:rPr>
              <a:t>PART III · WEEKLY SCHOLARLY DIALOGUE</a:t>
            </a:r>
          </a:p>
        </p:txBody>
      </p:sp>
      <p:sp>
        <p:nvSpPr>
          <p:cNvPr id="6" name="TextBox 5"/>
          <p:cNvSpPr txBox="1"/>
          <p:nvPr/>
        </p:nvSpPr>
        <p:spPr>
          <a:xfrm>
            <a:off x="502920" y="640080"/>
            <a:ext cx="9509760" cy="457200"/>
          </a:xfrm>
          <a:prstGeom prst="rect">
            <a:avLst/>
          </a:prstGeom>
          <a:noFill/>
        </p:spPr>
        <p:txBody>
          <a:bodyPr wrap="square" anchor="t" lIns="0" rIns="0" tIns="0" bIns="0">
            <a:spAutoFit/>
          </a:bodyPr>
          <a:lstStyle/>
          <a:p>
            <a:pPr algn="l"/>
            <a:r>
              <a:rPr sz="2400" b="1" i="0">
                <a:solidFill>
                  <a:srgbClr val="111827"/>
                </a:solidFill>
                <a:latin typeface="Times New Roman"/>
              </a:rPr>
              <a:t>The pairings, week by week</a:t>
            </a:r>
          </a:p>
        </p:txBody>
      </p:sp>
      <p:sp>
        <p:nvSpPr>
          <p:cNvPr id="7" name="TextBox 6"/>
          <p:cNvSpPr txBox="1"/>
          <p:nvPr/>
        </p:nvSpPr>
        <p:spPr>
          <a:xfrm>
            <a:off x="502920" y="1106424"/>
            <a:ext cx="10698480" cy="274320"/>
          </a:xfrm>
          <a:prstGeom prst="rect">
            <a:avLst/>
          </a:prstGeom>
          <a:noFill/>
        </p:spPr>
        <p:txBody>
          <a:bodyPr wrap="square" anchor="t" lIns="0" rIns="0" tIns="0" bIns="0">
            <a:spAutoFit/>
          </a:bodyPr>
          <a:lstStyle/>
          <a:p>
            <a:pPr algn="l"/>
            <a:r>
              <a:rPr sz="1250" b="0" i="1">
                <a:solidFill>
                  <a:srgbClr val="4B5563"/>
                </a:solidFill>
                <a:latin typeface="Times New Roman"/>
              </a:rPr>
              <a:t>The defining feature of this course: deliberate pairing of classical and contemporary scholarship.</a:t>
            </a:r>
          </a:p>
        </p:txBody>
      </p:sp>
      <p:sp>
        <p:nvSpPr>
          <p:cNvPr id="8" name="Rectangle 7"/>
          <p:cNvSpPr/>
          <p:nvPr/>
        </p:nvSpPr>
        <p:spPr>
          <a:xfrm>
            <a:off x="868680" y="1810512"/>
            <a:ext cx="10424159" cy="329184"/>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7" y="1810512"/>
            <a:ext cx="877824" cy="329184"/>
          </a:xfrm>
          <a:prstGeom prst="rect">
            <a:avLst/>
          </a:prstGeom>
          <a:noFill/>
        </p:spPr>
        <p:txBody>
          <a:bodyPr wrap="square" anchor="ctr" lIns="0" rIns="0" tIns="0" bIns="0">
            <a:spAutoFit/>
          </a:bodyPr>
          <a:lstStyle/>
          <a:p>
            <a:pPr algn="l"/>
            <a:r>
              <a:rPr sz="950" b="1" i="0">
                <a:solidFill>
                  <a:srgbClr val="FFFFFF"/>
                </a:solidFill>
                <a:latin typeface="Times New Roman"/>
              </a:rPr>
              <a:t>WEEK</a:t>
            </a:r>
          </a:p>
        </p:txBody>
      </p:sp>
      <p:sp>
        <p:nvSpPr>
          <p:cNvPr id="10" name="TextBox 9"/>
          <p:cNvSpPr txBox="1"/>
          <p:nvPr/>
        </p:nvSpPr>
        <p:spPr>
          <a:xfrm>
            <a:off x="2075688" y="1810512"/>
            <a:ext cx="4443983" cy="329184"/>
          </a:xfrm>
          <a:prstGeom prst="rect">
            <a:avLst/>
          </a:prstGeom>
          <a:noFill/>
        </p:spPr>
        <p:txBody>
          <a:bodyPr wrap="square" anchor="ctr" lIns="0" rIns="0" tIns="0" bIns="0">
            <a:spAutoFit/>
          </a:bodyPr>
          <a:lstStyle/>
          <a:p>
            <a:pPr algn="l"/>
            <a:r>
              <a:rPr sz="950" b="1" i="0">
                <a:solidFill>
                  <a:srgbClr val="FFFFFF"/>
                </a:solidFill>
                <a:latin typeface="Times New Roman"/>
              </a:rPr>
              <a:t>CLASSICAL STRATEGY</a:t>
            </a:r>
          </a:p>
        </p:txBody>
      </p:sp>
      <p:sp>
        <p:nvSpPr>
          <p:cNvPr id="11" name="TextBox 10"/>
          <p:cNvSpPr txBox="1"/>
          <p:nvPr/>
        </p:nvSpPr>
        <p:spPr>
          <a:xfrm>
            <a:off x="6739128" y="1810512"/>
            <a:ext cx="4443983" cy="329184"/>
          </a:xfrm>
          <a:prstGeom prst="rect">
            <a:avLst/>
          </a:prstGeom>
          <a:noFill/>
        </p:spPr>
        <p:txBody>
          <a:bodyPr wrap="square" anchor="ctr" lIns="0" rIns="0" tIns="0" bIns="0">
            <a:spAutoFit/>
          </a:bodyPr>
          <a:lstStyle/>
          <a:p>
            <a:pPr algn="l"/>
            <a:r>
              <a:rPr sz="950" b="1" i="0">
                <a:solidFill>
                  <a:srgbClr val="FFFFFF"/>
                </a:solidFill>
                <a:latin typeface="Times New Roman"/>
              </a:rPr>
              <a:t>CONTEMPORARY AI</a:t>
            </a:r>
          </a:p>
        </p:txBody>
      </p:sp>
      <p:sp>
        <p:nvSpPr>
          <p:cNvPr id="12" name="Rectangle 11"/>
          <p:cNvSpPr/>
          <p:nvPr/>
        </p:nvSpPr>
        <p:spPr>
          <a:xfrm>
            <a:off x="868680" y="2139696"/>
            <a:ext cx="10424159" cy="36576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68680" y="2494483"/>
            <a:ext cx="10424159" cy="10972"/>
          </a:xfrm>
          <a:prstGeom prst="rect">
            <a:avLst/>
          </a:prstGeom>
          <a:solidFill>
            <a:srgbClr val="E2E5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7" y="2139696"/>
            <a:ext cx="877824" cy="365760"/>
          </a:xfrm>
          <a:prstGeom prst="rect">
            <a:avLst/>
          </a:prstGeom>
          <a:noFill/>
        </p:spPr>
        <p:txBody>
          <a:bodyPr wrap="square" anchor="ctr" lIns="0" rIns="0" tIns="0" bIns="0">
            <a:spAutoFit/>
          </a:bodyPr>
          <a:lstStyle/>
          <a:p>
            <a:pPr algn="l">
              <a:lnSpc>
                <a:spcPct val="106000"/>
              </a:lnSpc>
            </a:pPr>
            <a:r>
              <a:rPr sz="1150" b="1" i="0">
                <a:solidFill>
                  <a:srgbClr val="10233F"/>
                </a:solidFill>
                <a:latin typeface="Times New Roman"/>
              </a:rPr>
              <a:t>1</a:t>
            </a:r>
          </a:p>
        </p:txBody>
      </p:sp>
      <p:sp>
        <p:nvSpPr>
          <p:cNvPr id="15" name="TextBox 14"/>
          <p:cNvSpPr txBox="1"/>
          <p:nvPr/>
        </p:nvSpPr>
        <p:spPr>
          <a:xfrm>
            <a:off x="2075688" y="2139696"/>
            <a:ext cx="4443983" cy="365760"/>
          </a:xfrm>
          <a:prstGeom prst="rect">
            <a:avLst/>
          </a:prstGeom>
          <a:noFill/>
        </p:spPr>
        <p:txBody>
          <a:bodyPr wrap="square" anchor="ctr" lIns="0" rIns="0" tIns="0" bIns="0">
            <a:spAutoFit/>
          </a:bodyPr>
          <a:lstStyle/>
          <a:p>
            <a:pPr algn="l">
              <a:lnSpc>
                <a:spcPct val="106000"/>
              </a:lnSpc>
            </a:pPr>
            <a:r>
              <a:rPr sz="1150" b="0" i="0">
                <a:solidFill>
                  <a:srgbClr val="111827"/>
                </a:solidFill>
                <a:latin typeface="Times New Roman"/>
              </a:rPr>
              <a:t>Porter (1996)</a:t>
            </a:r>
          </a:p>
        </p:txBody>
      </p:sp>
      <p:sp>
        <p:nvSpPr>
          <p:cNvPr id="16" name="TextBox 15"/>
          <p:cNvSpPr txBox="1"/>
          <p:nvPr/>
        </p:nvSpPr>
        <p:spPr>
          <a:xfrm>
            <a:off x="6739128" y="2139696"/>
            <a:ext cx="4443983" cy="365760"/>
          </a:xfrm>
          <a:prstGeom prst="rect">
            <a:avLst/>
          </a:prstGeom>
          <a:noFill/>
        </p:spPr>
        <p:txBody>
          <a:bodyPr wrap="square" anchor="ctr" lIns="0" rIns="0" tIns="0" bIns="0">
            <a:spAutoFit/>
          </a:bodyPr>
          <a:lstStyle/>
          <a:p>
            <a:pPr algn="l">
              <a:lnSpc>
                <a:spcPct val="106000"/>
              </a:lnSpc>
            </a:pPr>
            <a:r>
              <a:rPr sz="1150" b="0" i="0">
                <a:solidFill>
                  <a:srgbClr val="111827"/>
                </a:solidFill>
                <a:latin typeface="Times New Roman"/>
              </a:rPr>
              <a:t>Hutzschenreuter &amp; Lämmermann (2025)</a:t>
            </a:r>
          </a:p>
        </p:txBody>
      </p:sp>
      <p:sp>
        <p:nvSpPr>
          <p:cNvPr id="17" name="Rectangle 16"/>
          <p:cNvSpPr/>
          <p:nvPr/>
        </p:nvSpPr>
        <p:spPr>
          <a:xfrm>
            <a:off x="868680" y="2860243"/>
            <a:ext cx="10424159" cy="10972"/>
          </a:xfrm>
          <a:prstGeom prst="rect">
            <a:avLst/>
          </a:prstGeom>
          <a:solidFill>
            <a:srgbClr val="E2E5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78407" y="2505456"/>
            <a:ext cx="877824" cy="365760"/>
          </a:xfrm>
          <a:prstGeom prst="rect">
            <a:avLst/>
          </a:prstGeom>
          <a:noFill/>
        </p:spPr>
        <p:txBody>
          <a:bodyPr wrap="square" anchor="ctr" lIns="0" rIns="0" tIns="0" bIns="0">
            <a:spAutoFit/>
          </a:bodyPr>
          <a:lstStyle/>
          <a:p>
            <a:pPr algn="l">
              <a:lnSpc>
                <a:spcPct val="106000"/>
              </a:lnSpc>
            </a:pPr>
            <a:r>
              <a:rPr sz="1150" b="1" i="0">
                <a:solidFill>
                  <a:srgbClr val="10233F"/>
                </a:solidFill>
                <a:latin typeface="Times New Roman"/>
              </a:rPr>
              <a:t>2</a:t>
            </a:r>
          </a:p>
        </p:txBody>
      </p:sp>
      <p:sp>
        <p:nvSpPr>
          <p:cNvPr id="19" name="TextBox 18"/>
          <p:cNvSpPr txBox="1"/>
          <p:nvPr/>
        </p:nvSpPr>
        <p:spPr>
          <a:xfrm>
            <a:off x="2075688" y="2505456"/>
            <a:ext cx="4443983" cy="365760"/>
          </a:xfrm>
          <a:prstGeom prst="rect">
            <a:avLst/>
          </a:prstGeom>
          <a:noFill/>
        </p:spPr>
        <p:txBody>
          <a:bodyPr wrap="square" anchor="ctr" lIns="0" rIns="0" tIns="0" bIns="0">
            <a:spAutoFit/>
          </a:bodyPr>
          <a:lstStyle/>
          <a:p>
            <a:pPr algn="l">
              <a:lnSpc>
                <a:spcPct val="106000"/>
              </a:lnSpc>
            </a:pPr>
            <a:r>
              <a:rPr sz="1150" b="0" i="0">
                <a:solidFill>
                  <a:srgbClr val="111827"/>
                </a:solidFill>
                <a:latin typeface="Times New Roman"/>
              </a:rPr>
              <a:t>Barney (1991)</a:t>
            </a:r>
          </a:p>
        </p:txBody>
      </p:sp>
      <p:sp>
        <p:nvSpPr>
          <p:cNvPr id="20" name="TextBox 19"/>
          <p:cNvSpPr txBox="1"/>
          <p:nvPr/>
        </p:nvSpPr>
        <p:spPr>
          <a:xfrm>
            <a:off x="6739128" y="2505456"/>
            <a:ext cx="4443983" cy="365760"/>
          </a:xfrm>
          <a:prstGeom prst="rect">
            <a:avLst/>
          </a:prstGeom>
          <a:noFill/>
        </p:spPr>
        <p:txBody>
          <a:bodyPr wrap="square" anchor="ctr" lIns="0" rIns="0" tIns="0" bIns="0">
            <a:spAutoFit/>
          </a:bodyPr>
          <a:lstStyle/>
          <a:p>
            <a:pPr algn="l">
              <a:lnSpc>
                <a:spcPct val="106000"/>
              </a:lnSpc>
            </a:pPr>
            <a:r>
              <a:rPr sz="1150" b="0" i="0">
                <a:solidFill>
                  <a:srgbClr val="111827"/>
                </a:solidFill>
                <a:latin typeface="Times New Roman"/>
              </a:rPr>
              <a:t>Biloslavo et al. (2024)</a:t>
            </a:r>
          </a:p>
        </p:txBody>
      </p:sp>
      <p:sp>
        <p:nvSpPr>
          <p:cNvPr id="21" name="Rectangle 20"/>
          <p:cNvSpPr/>
          <p:nvPr/>
        </p:nvSpPr>
        <p:spPr>
          <a:xfrm>
            <a:off x="868680" y="2871215"/>
            <a:ext cx="10424159" cy="36576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68680" y="3226003"/>
            <a:ext cx="10424159" cy="10972"/>
          </a:xfrm>
          <a:prstGeom prst="rect">
            <a:avLst/>
          </a:prstGeom>
          <a:solidFill>
            <a:srgbClr val="E2E5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78407" y="2871215"/>
            <a:ext cx="877824" cy="365760"/>
          </a:xfrm>
          <a:prstGeom prst="rect">
            <a:avLst/>
          </a:prstGeom>
          <a:noFill/>
        </p:spPr>
        <p:txBody>
          <a:bodyPr wrap="square" anchor="ctr" lIns="0" rIns="0" tIns="0" bIns="0">
            <a:spAutoFit/>
          </a:bodyPr>
          <a:lstStyle/>
          <a:p>
            <a:pPr algn="l">
              <a:lnSpc>
                <a:spcPct val="106000"/>
              </a:lnSpc>
            </a:pPr>
            <a:r>
              <a:rPr sz="1150" b="1" i="0">
                <a:solidFill>
                  <a:srgbClr val="10233F"/>
                </a:solidFill>
                <a:latin typeface="Times New Roman"/>
              </a:rPr>
              <a:t>3</a:t>
            </a:r>
          </a:p>
        </p:txBody>
      </p:sp>
      <p:sp>
        <p:nvSpPr>
          <p:cNvPr id="24" name="TextBox 23"/>
          <p:cNvSpPr txBox="1"/>
          <p:nvPr/>
        </p:nvSpPr>
        <p:spPr>
          <a:xfrm>
            <a:off x="2075688" y="2871215"/>
            <a:ext cx="4443983" cy="365760"/>
          </a:xfrm>
          <a:prstGeom prst="rect">
            <a:avLst/>
          </a:prstGeom>
          <a:noFill/>
        </p:spPr>
        <p:txBody>
          <a:bodyPr wrap="square" anchor="ctr" lIns="0" rIns="0" tIns="0" bIns="0">
            <a:spAutoFit/>
          </a:bodyPr>
          <a:lstStyle/>
          <a:p>
            <a:pPr algn="l">
              <a:lnSpc>
                <a:spcPct val="106000"/>
              </a:lnSpc>
            </a:pPr>
            <a:r>
              <a:rPr sz="1150" b="0" i="0">
                <a:solidFill>
                  <a:srgbClr val="111827"/>
                </a:solidFill>
                <a:latin typeface="Times New Roman"/>
              </a:rPr>
              <a:t>Teece, Pisano &amp; Shuen (1997)</a:t>
            </a:r>
          </a:p>
        </p:txBody>
      </p:sp>
      <p:sp>
        <p:nvSpPr>
          <p:cNvPr id="25" name="TextBox 24"/>
          <p:cNvSpPr txBox="1"/>
          <p:nvPr/>
        </p:nvSpPr>
        <p:spPr>
          <a:xfrm>
            <a:off x="6739128" y="2871215"/>
            <a:ext cx="4443983" cy="365760"/>
          </a:xfrm>
          <a:prstGeom prst="rect">
            <a:avLst/>
          </a:prstGeom>
          <a:noFill/>
        </p:spPr>
        <p:txBody>
          <a:bodyPr wrap="square" anchor="ctr" lIns="0" rIns="0" tIns="0" bIns="0">
            <a:spAutoFit/>
          </a:bodyPr>
          <a:lstStyle/>
          <a:p>
            <a:pPr algn="l">
              <a:lnSpc>
                <a:spcPct val="106000"/>
              </a:lnSpc>
            </a:pPr>
            <a:r>
              <a:rPr sz="1150" b="0" i="0">
                <a:solidFill>
                  <a:srgbClr val="111827"/>
                </a:solidFill>
                <a:latin typeface="Times New Roman"/>
              </a:rPr>
              <a:t>Recent AI &amp; dynamic capabilities article</a:t>
            </a:r>
          </a:p>
        </p:txBody>
      </p:sp>
      <p:sp>
        <p:nvSpPr>
          <p:cNvPr id="26" name="Rectangle 25"/>
          <p:cNvSpPr/>
          <p:nvPr/>
        </p:nvSpPr>
        <p:spPr>
          <a:xfrm>
            <a:off x="868680" y="3591763"/>
            <a:ext cx="10424159" cy="10972"/>
          </a:xfrm>
          <a:prstGeom prst="rect">
            <a:avLst/>
          </a:prstGeom>
          <a:solidFill>
            <a:srgbClr val="E2E5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8407" y="3236975"/>
            <a:ext cx="877824" cy="365760"/>
          </a:xfrm>
          <a:prstGeom prst="rect">
            <a:avLst/>
          </a:prstGeom>
          <a:noFill/>
        </p:spPr>
        <p:txBody>
          <a:bodyPr wrap="square" anchor="ctr" lIns="0" rIns="0" tIns="0" bIns="0">
            <a:spAutoFit/>
          </a:bodyPr>
          <a:lstStyle/>
          <a:p>
            <a:pPr algn="l">
              <a:lnSpc>
                <a:spcPct val="106000"/>
              </a:lnSpc>
            </a:pPr>
            <a:r>
              <a:rPr sz="1150" b="1" i="0">
                <a:solidFill>
                  <a:srgbClr val="10233F"/>
                </a:solidFill>
                <a:latin typeface="Times New Roman"/>
              </a:rPr>
              <a:t>4</a:t>
            </a:r>
          </a:p>
        </p:txBody>
      </p:sp>
      <p:sp>
        <p:nvSpPr>
          <p:cNvPr id="28" name="TextBox 27"/>
          <p:cNvSpPr txBox="1"/>
          <p:nvPr/>
        </p:nvSpPr>
        <p:spPr>
          <a:xfrm>
            <a:off x="2075688" y="3236975"/>
            <a:ext cx="4443983" cy="365760"/>
          </a:xfrm>
          <a:prstGeom prst="rect">
            <a:avLst/>
          </a:prstGeom>
          <a:noFill/>
        </p:spPr>
        <p:txBody>
          <a:bodyPr wrap="square" anchor="ctr" lIns="0" rIns="0" tIns="0" bIns="0">
            <a:spAutoFit/>
          </a:bodyPr>
          <a:lstStyle/>
          <a:p>
            <a:pPr algn="l">
              <a:lnSpc>
                <a:spcPct val="106000"/>
              </a:lnSpc>
            </a:pPr>
            <a:r>
              <a:rPr sz="1150" b="0" i="0">
                <a:solidFill>
                  <a:srgbClr val="111827"/>
                </a:solidFill>
                <a:latin typeface="Times New Roman"/>
              </a:rPr>
              <a:t>March (1991)</a:t>
            </a:r>
          </a:p>
        </p:txBody>
      </p:sp>
      <p:sp>
        <p:nvSpPr>
          <p:cNvPr id="29" name="TextBox 28"/>
          <p:cNvSpPr txBox="1"/>
          <p:nvPr/>
        </p:nvSpPr>
        <p:spPr>
          <a:xfrm>
            <a:off x="6739128" y="3236975"/>
            <a:ext cx="4443983" cy="365760"/>
          </a:xfrm>
          <a:prstGeom prst="rect">
            <a:avLst/>
          </a:prstGeom>
          <a:noFill/>
        </p:spPr>
        <p:txBody>
          <a:bodyPr wrap="square" anchor="ctr" lIns="0" rIns="0" tIns="0" bIns="0">
            <a:spAutoFit/>
          </a:bodyPr>
          <a:lstStyle/>
          <a:p>
            <a:pPr algn="l">
              <a:lnSpc>
                <a:spcPct val="106000"/>
              </a:lnSpc>
            </a:pPr>
            <a:r>
              <a:rPr sz="1150" b="0" i="0">
                <a:solidFill>
                  <a:srgbClr val="111827"/>
                </a:solidFill>
                <a:latin typeface="Times New Roman"/>
              </a:rPr>
              <a:t>Jarrahi (2018)</a:t>
            </a:r>
          </a:p>
        </p:txBody>
      </p:sp>
      <p:sp>
        <p:nvSpPr>
          <p:cNvPr id="30" name="Rectangle 29"/>
          <p:cNvSpPr/>
          <p:nvPr/>
        </p:nvSpPr>
        <p:spPr>
          <a:xfrm>
            <a:off x="868680" y="3602735"/>
            <a:ext cx="10424159" cy="36576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68680" y="3957523"/>
            <a:ext cx="10424159" cy="10972"/>
          </a:xfrm>
          <a:prstGeom prst="rect">
            <a:avLst/>
          </a:prstGeom>
          <a:solidFill>
            <a:srgbClr val="E2E5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78407" y="3602735"/>
            <a:ext cx="877824" cy="365760"/>
          </a:xfrm>
          <a:prstGeom prst="rect">
            <a:avLst/>
          </a:prstGeom>
          <a:noFill/>
        </p:spPr>
        <p:txBody>
          <a:bodyPr wrap="square" anchor="ctr" lIns="0" rIns="0" tIns="0" bIns="0">
            <a:spAutoFit/>
          </a:bodyPr>
          <a:lstStyle/>
          <a:p>
            <a:pPr algn="l">
              <a:lnSpc>
                <a:spcPct val="106000"/>
              </a:lnSpc>
            </a:pPr>
            <a:r>
              <a:rPr sz="1150" b="1" i="0">
                <a:solidFill>
                  <a:srgbClr val="10233F"/>
                </a:solidFill>
                <a:latin typeface="Times New Roman"/>
              </a:rPr>
              <a:t>5</a:t>
            </a:r>
          </a:p>
        </p:txBody>
      </p:sp>
      <p:sp>
        <p:nvSpPr>
          <p:cNvPr id="33" name="TextBox 32"/>
          <p:cNvSpPr txBox="1"/>
          <p:nvPr/>
        </p:nvSpPr>
        <p:spPr>
          <a:xfrm>
            <a:off x="2075688" y="3602735"/>
            <a:ext cx="4443983" cy="365760"/>
          </a:xfrm>
          <a:prstGeom prst="rect">
            <a:avLst/>
          </a:prstGeom>
          <a:noFill/>
        </p:spPr>
        <p:txBody>
          <a:bodyPr wrap="square" anchor="ctr" lIns="0" rIns="0" tIns="0" bIns="0">
            <a:spAutoFit/>
          </a:bodyPr>
          <a:lstStyle/>
          <a:p>
            <a:pPr algn="l">
              <a:lnSpc>
                <a:spcPct val="106000"/>
              </a:lnSpc>
            </a:pPr>
            <a:r>
              <a:rPr sz="1150" b="0" i="0">
                <a:solidFill>
                  <a:srgbClr val="111827"/>
                </a:solidFill>
                <a:latin typeface="Times New Roman"/>
              </a:rPr>
              <a:t>Grant (1996)</a:t>
            </a:r>
          </a:p>
        </p:txBody>
      </p:sp>
      <p:sp>
        <p:nvSpPr>
          <p:cNvPr id="34" name="TextBox 33"/>
          <p:cNvSpPr txBox="1"/>
          <p:nvPr/>
        </p:nvSpPr>
        <p:spPr>
          <a:xfrm>
            <a:off x="6739128" y="3602735"/>
            <a:ext cx="4443983" cy="365760"/>
          </a:xfrm>
          <a:prstGeom prst="rect">
            <a:avLst/>
          </a:prstGeom>
          <a:noFill/>
        </p:spPr>
        <p:txBody>
          <a:bodyPr wrap="square" anchor="ctr" lIns="0" rIns="0" tIns="0" bIns="0">
            <a:spAutoFit/>
          </a:bodyPr>
          <a:lstStyle/>
          <a:p>
            <a:pPr algn="l">
              <a:lnSpc>
                <a:spcPct val="106000"/>
              </a:lnSpc>
            </a:pPr>
            <a:r>
              <a:rPr sz="1150" b="0" i="0">
                <a:solidFill>
                  <a:srgbClr val="111827"/>
                </a:solidFill>
                <a:latin typeface="Times New Roman"/>
              </a:rPr>
              <a:t>Shrestha et al. (2019)</a:t>
            </a:r>
          </a:p>
        </p:txBody>
      </p:sp>
      <p:sp>
        <p:nvSpPr>
          <p:cNvPr id="35" name="Rectangle 34"/>
          <p:cNvSpPr/>
          <p:nvPr/>
        </p:nvSpPr>
        <p:spPr>
          <a:xfrm>
            <a:off x="868680" y="4323283"/>
            <a:ext cx="10424159" cy="10972"/>
          </a:xfrm>
          <a:prstGeom prst="rect">
            <a:avLst/>
          </a:prstGeom>
          <a:solidFill>
            <a:srgbClr val="E2E5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78407" y="3968496"/>
            <a:ext cx="877824" cy="365760"/>
          </a:xfrm>
          <a:prstGeom prst="rect">
            <a:avLst/>
          </a:prstGeom>
          <a:noFill/>
        </p:spPr>
        <p:txBody>
          <a:bodyPr wrap="square" anchor="ctr" lIns="0" rIns="0" tIns="0" bIns="0">
            <a:spAutoFit/>
          </a:bodyPr>
          <a:lstStyle/>
          <a:p>
            <a:pPr algn="l">
              <a:lnSpc>
                <a:spcPct val="106000"/>
              </a:lnSpc>
            </a:pPr>
            <a:r>
              <a:rPr sz="1150" b="1" i="0">
                <a:solidFill>
                  <a:srgbClr val="10233F"/>
                </a:solidFill>
                <a:latin typeface="Times New Roman"/>
              </a:rPr>
              <a:t>6</a:t>
            </a:r>
          </a:p>
        </p:txBody>
      </p:sp>
      <p:sp>
        <p:nvSpPr>
          <p:cNvPr id="37" name="TextBox 36"/>
          <p:cNvSpPr txBox="1"/>
          <p:nvPr/>
        </p:nvSpPr>
        <p:spPr>
          <a:xfrm>
            <a:off x="2075688" y="3968496"/>
            <a:ext cx="4443983" cy="365760"/>
          </a:xfrm>
          <a:prstGeom prst="rect">
            <a:avLst/>
          </a:prstGeom>
          <a:noFill/>
        </p:spPr>
        <p:txBody>
          <a:bodyPr wrap="square" anchor="ctr" lIns="0" rIns="0" tIns="0" bIns="0">
            <a:spAutoFit/>
          </a:bodyPr>
          <a:lstStyle/>
          <a:p>
            <a:pPr algn="l">
              <a:lnSpc>
                <a:spcPct val="106000"/>
              </a:lnSpc>
            </a:pPr>
            <a:r>
              <a:rPr sz="1150" b="0" i="0">
                <a:solidFill>
                  <a:srgbClr val="111827"/>
                </a:solidFill>
                <a:latin typeface="Times New Roman"/>
              </a:rPr>
              <a:t>Prahalad &amp; Hamel (1990)</a:t>
            </a:r>
          </a:p>
        </p:txBody>
      </p:sp>
      <p:sp>
        <p:nvSpPr>
          <p:cNvPr id="38" name="TextBox 37"/>
          <p:cNvSpPr txBox="1"/>
          <p:nvPr/>
        </p:nvSpPr>
        <p:spPr>
          <a:xfrm>
            <a:off x="6739128" y="3968496"/>
            <a:ext cx="4443983" cy="365760"/>
          </a:xfrm>
          <a:prstGeom prst="rect">
            <a:avLst/>
          </a:prstGeom>
          <a:noFill/>
        </p:spPr>
        <p:txBody>
          <a:bodyPr wrap="square" anchor="ctr" lIns="0" rIns="0" tIns="0" bIns="0">
            <a:spAutoFit/>
          </a:bodyPr>
          <a:lstStyle/>
          <a:p>
            <a:pPr algn="l">
              <a:lnSpc>
                <a:spcPct val="106000"/>
              </a:lnSpc>
            </a:pPr>
            <a:r>
              <a:rPr sz="1150" b="0" i="0">
                <a:solidFill>
                  <a:srgbClr val="111827"/>
                </a:solidFill>
                <a:latin typeface="Times New Roman"/>
              </a:rPr>
              <a:t>Dellermann et al. (2019)</a:t>
            </a:r>
          </a:p>
        </p:txBody>
      </p:sp>
      <p:sp>
        <p:nvSpPr>
          <p:cNvPr id="39" name="Rectangle 38"/>
          <p:cNvSpPr/>
          <p:nvPr/>
        </p:nvSpPr>
        <p:spPr>
          <a:xfrm>
            <a:off x="868680" y="4334256"/>
            <a:ext cx="10424159" cy="36576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68680" y="4689043"/>
            <a:ext cx="10424159" cy="10972"/>
          </a:xfrm>
          <a:prstGeom prst="rect">
            <a:avLst/>
          </a:prstGeom>
          <a:solidFill>
            <a:srgbClr val="E2E5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78407" y="4334256"/>
            <a:ext cx="877824" cy="365760"/>
          </a:xfrm>
          <a:prstGeom prst="rect">
            <a:avLst/>
          </a:prstGeom>
          <a:noFill/>
        </p:spPr>
        <p:txBody>
          <a:bodyPr wrap="square" anchor="ctr" lIns="0" rIns="0" tIns="0" bIns="0">
            <a:spAutoFit/>
          </a:bodyPr>
          <a:lstStyle/>
          <a:p>
            <a:pPr algn="l">
              <a:lnSpc>
                <a:spcPct val="106000"/>
              </a:lnSpc>
            </a:pPr>
            <a:r>
              <a:rPr sz="1150" b="1" i="0">
                <a:solidFill>
                  <a:srgbClr val="10233F"/>
                </a:solidFill>
                <a:latin typeface="Times New Roman"/>
              </a:rPr>
              <a:t>7</a:t>
            </a:r>
          </a:p>
        </p:txBody>
      </p:sp>
      <p:sp>
        <p:nvSpPr>
          <p:cNvPr id="42" name="TextBox 41"/>
          <p:cNvSpPr txBox="1"/>
          <p:nvPr/>
        </p:nvSpPr>
        <p:spPr>
          <a:xfrm>
            <a:off x="2075688" y="4334256"/>
            <a:ext cx="4443983" cy="365760"/>
          </a:xfrm>
          <a:prstGeom prst="rect">
            <a:avLst/>
          </a:prstGeom>
          <a:noFill/>
        </p:spPr>
        <p:txBody>
          <a:bodyPr wrap="square" anchor="ctr" lIns="0" rIns="0" tIns="0" bIns="0">
            <a:spAutoFit/>
          </a:bodyPr>
          <a:lstStyle/>
          <a:p>
            <a:pPr algn="l">
              <a:lnSpc>
                <a:spcPct val="106000"/>
              </a:lnSpc>
            </a:pPr>
            <a:r>
              <a:rPr sz="1150" b="0" i="0">
                <a:solidFill>
                  <a:srgbClr val="111827"/>
                </a:solidFill>
                <a:latin typeface="Times New Roman"/>
              </a:rPr>
              <a:t>Williamson (1979)</a:t>
            </a:r>
          </a:p>
        </p:txBody>
      </p:sp>
      <p:sp>
        <p:nvSpPr>
          <p:cNvPr id="43" name="TextBox 42"/>
          <p:cNvSpPr txBox="1"/>
          <p:nvPr/>
        </p:nvSpPr>
        <p:spPr>
          <a:xfrm>
            <a:off x="6739128" y="4334256"/>
            <a:ext cx="4443983" cy="365760"/>
          </a:xfrm>
          <a:prstGeom prst="rect">
            <a:avLst/>
          </a:prstGeom>
          <a:noFill/>
        </p:spPr>
        <p:txBody>
          <a:bodyPr wrap="square" anchor="ctr" lIns="0" rIns="0" tIns="0" bIns="0">
            <a:spAutoFit/>
          </a:bodyPr>
          <a:lstStyle/>
          <a:p>
            <a:pPr algn="l">
              <a:lnSpc>
                <a:spcPct val="106000"/>
              </a:lnSpc>
            </a:pPr>
            <a:r>
              <a:rPr sz="1150" b="0" i="0">
                <a:solidFill>
                  <a:srgbClr val="111827"/>
                </a:solidFill>
                <a:latin typeface="Times New Roman"/>
              </a:rPr>
              <a:t>Kellogg et al. (2020)</a:t>
            </a:r>
          </a:p>
        </p:txBody>
      </p:sp>
      <p:sp>
        <p:nvSpPr>
          <p:cNvPr id="44" name="Rectangle 43"/>
          <p:cNvSpPr/>
          <p:nvPr/>
        </p:nvSpPr>
        <p:spPr>
          <a:xfrm>
            <a:off x="868680" y="5054803"/>
            <a:ext cx="10424159" cy="10972"/>
          </a:xfrm>
          <a:prstGeom prst="rect">
            <a:avLst/>
          </a:prstGeom>
          <a:solidFill>
            <a:srgbClr val="E2E5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78407" y="4700016"/>
            <a:ext cx="877824" cy="365760"/>
          </a:xfrm>
          <a:prstGeom prst="rect">
            <a:avLst/>
          </a:prstGeom>
          <a:noFill/>
        </p:spPr>
        <p:txBody>
          <a:bodyPr wrap="square" anchor="ctr" lIns="0" rIns="0" tIns="0" bIns="0">
            <a:spAutoFit/>
          </a:bodyPr>
          <a:lstStyle/>
          <a:p>
            <a:pPr algn="l">
              <a:lnSpc>
                <a:spcPct val="106000"/>
              </a:lnSpc>
            </a:pPr>
            <a:r>
              <a:rPr sz="1150" b="1" i="0">
                <a:solidFill>
                  <a:srgbClr val="10233F"/>
                </a:solidFill>
                <a:latin typeface="Times New Roman"/>
              </a:rPr>
              <a:t>8</a:t>
            </a:r>
          </a:p>
        </p:txBody>
      </p:sp>
      <p:sp>
        <p:nvSpPr>
          <p:cNvPr id="46" name="TextBox 45"/>
          <p:cNvSpPr txBox="1"/>
          <p:nvPr/>
        </p:nvSpPr>
        <p:spPr>
          <a:xfrm>
            <a:off x="2075688" y="4700016"/>
            <a:ext cx="4443983" cy="365760"/>
          </a:xfrm>
          <a:prstGeom prst="rect">
            <a:avLst/>
          </a:prstGeom>
          <a:noFill/>
        </p:spPr>
        <p:txBody>
          <a:bodyPr wrap="square" anchor="ctr" lIns="0" rIns="0" tIns="0" bIns="0">
            <a:spAutoFit/>
          </a:bodyPr>
          <a:lstStyle/>
          <a:p>
            <a:pPr algn="l">
              <a:lnSpc>
                <a:spcPct val="106000"/>
              </a:lnSpc>
            </a:pPr>
            <a:r>
              <a:rPr sz="1150" b="0" i="0">
                <a:solidFill>
                  <a:srgbClr val="111827"/>
                </a:solidFill>
                <a:latin typeface="Times New Roman"/>
              </a:rPr>
              <a:t>Wernerfelt (1984)</a:t>
            </a:r>
          </a:p>
        </p:txBody>
      </p:sp>
      <p:sp>
        <p:nvSpPr>
          <p:cNvPr id="47" name="TextBox 46"/>
          <p:cNvSpPr txBox="1"/>
          <p:nvPr/>
        </p:nvSpPr>
        <p:spPr>
          <a:xfrm>
            <a:off x="6739128" y="4700016"/>
            <a:ext cx="4443983" cy="365760"/>
          </a:xfrm>
          <a:prstGeom prst="rect">
            <a:avLst/>
          </a:prstGeom>
          <a:noFill/>
        </p:spPr>
        <p:txBody>
          <a:bodyPr wrap="square" anchor="ctr" lIns="0" rIns="0" tIns="0" bIns="0">
            <a:spAutoFit/>
          </a:bodyPr>
          <a:lstStyle/>
          <a:p>
            <a:pPr algn="l">
              <a:lnSpc>
                <a:spcPct val="106000"/>
              </a:lnSpc>
            </a:pPr>
            <a:r>
              <a:rPr sz="1150" b="0" i="0">
                <a:solidFill>
                  <a:srgbClr val="111827"/>
                </a:solidFill>
                <a:latin typeface="Times New Roman"/>
              </a:rPr>
              <a:t>Rai et al. (2019)</a:t>
            </a:r>
          </a:p>
        </p:txBody>
      </p:sp>
      <p:sp>
        <p:nvSpPr>
          <p:cNvPr id="48" name="Rectangle 47"/>
          <p:cNvSpPr/>
          <p:nvPr/>
        </p:nvSpPr>
        <p:spPr>
          <a:xfrm>
            <a:off x="868680" y="5065776"/>
            <a:ext cx="10424159" cy="36576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68680" y="5420563"/>
            <a:ext cx="10424159" cy="10972"/>
          </a:xfrm>
          <a:prstGeom prst="rect">
            <a:avLst/>
          </a:prstGeom>
          <a:solidFill>
            <a:srgbClr val="E2E5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78407" y="5065776"/>
            <a:ext cx="877824" cy="365760"/>
          </a:xfrm>
          <a:prstGeom prst="rect">
            <a:avLst/>
          </a:prstGeom>
          <a:noFill/>
        </p:spPr>
        <p:txBody>
          <a:bodyPr wrap="square" anchor="ctr" lIns="0" rIns="0" tIns="0" bIns="0">
            <a:spAutoFit/>
          </a:bodyPr>
          <a:lstStyle/>
          <a:p>
            <a:pPr algn="l">
              <a:lnSpc>
                <a:spcPct val="106000"/>
              </a:lnSpc>
            </a:pPr>
            <a:r>
              <a:rPr sz="1150" b="1" i="0">
                <a:solidFill>
                  <a:srgbClr val="10233F"/>
                </a:solidFill>
                <a:latin typeface="Times New Roman"/>
              </a:rPr>
              <a:t>9</a:t>
            </a:r>
          </a:p>
        </p:txBody>
      </p:sp>
      <p:sp>
        <p:nvSpPr>
          <p:cNvPr id="51" name="TextBox 50"/>
          <p:cNvSpPr txBox="1"/>
          <p:nvPr/>
        </p:nvSpPr>
        <p:spPr>
          <a:xfrm>
            <a:off x="2075688" y="5065776"/>
            <a:ext cx="4443983" cy="365760"/>
          </a:xfrm>
          <a:prstGeom prst="rect">
            <a:avLst/>
          </a:prstGeom>
          <a:noFill/>
        </p:spPr>
        <p:txBody>
          <a:bodyPr wrap="square" anchor="ctr" lIns="0" rIns="0" tIns="0" bIns="0">
            <a:spAutoFit/>
          </a:bodyPr>
          <a:lstStyle/>
          <a:p>
            <a:pPr algn="l">
              <a:lnSpc>
                <a:spcPct val="106000"/>
              </a:lnSpc>
            </a:pPr>
            <a:r>
              <a:rPr sz="1150" b="0" i="0">
                <a:solidFill>
                  <a:srgbClr val="111827"/>
                </a:solidFill>
                <a:latin typeface="Times New Roman"/>
              </a:rPr>
              <a:t>Teece (2007)</a:t>
            </a:r>
          </a:p>
        </p:txBody>
      </p:sp>
      <p:sp>
        <p:nvSpPr>
          <p:cNvPr id="52" name="TextBox 51"/>
          <p:cNvSpPr txBox="1"/>
          <p:nvPr/>
        </p:nvSpPr>
        <p:spPr>
          <a:xfrm>
            <a:off x="6739128" y="5065776"/>
            <a:ext cx="4443983" cy="365760"/>
          </a:xfrm>
          <a:prstGeom prst="rect">
            <a:avLst/>
          </a:prstGeom>
          <a:noFill/>
        </p:spPr>
        <p:txBody>
          <a:bodyPr wrap="square" anchor="ctr" lIns="0" rIns="0" tIns="0" bIns="0">
            <a:spAutoFit/>
          </a:bodyPr>
          <a:lstStyle/>
          <a:p>
            <a:pPr algn="l">
              <a:lnSpc>
                <a:spcPct val="106000"/>
              </a:lnSpc>
            </a:pPr>
            <a:r>
              <a:rPr sz="1150" b="0" i="0">
                <a:solidFill>
                  <a:srgbClr val="111827"/>
                </a:solidFill>
                <a:latin typeface="Times New Roman"/>
              </a:rPr>
              <a:t>von Krogh (2018)</a:t>
            </a:r>
          </a:p>
        </p:txBody>
      </p:sp>
      <p:sp>
        <p:nvSpPr>
          <p:cNvPr id="53" name="Rectangle 52"/>
          <p:cNvSpPr/>
          <p:nvPr/>
        </p:nvSpPr>
        <p:spPr>
          <a:xfrm>
            <a:off x="868680" y="5786323"/>
            <a:ext cx="10424159" cy="10972"/>
          </a:xfrm>
          <a:prstGeom prst="rect">
            <a:avLst/>
          </a:prstGeom>
          <a:solidFill>
            <a:srgbClr val="E2E5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978407" y="5431536"/>
            <a:ext cx="877824" cy="365760"/>
          </a:xfrm>
          <a:prstGeom prst="rect">
            <a:avLst/>
          </a:prstGeom>
          <a:noFill/>
        </p:spPr>
        <p:txBody>
          <a:bodyPr wrap="square" anchor="ctr" lIns="0" rIns="0" tIns="0" bIns="0">
            <a:spAutoFit/>
          </a:bodyPr>
          <a:lstStyle/>
          <a:p>
            <a:pPr algn="l">
              <a:lnSpc>
                <a:spcPct val="106000"/>
              </a:lnSpc>
            </a:pPr>
            <a:r>
              <a:rPr sz="1150" b="1" i="0">
                <a:solidFill>
                  <a:srgbClr val="10233F"/>
                </a:solidFill>
                <a:latin typeface="Times New Roman"/>
              </a:rPr>
              <a:t>10</a:t>
            </a:r>
          </a:p>
        </p:txBody>
      </p:sp>
      <p:sp>
        <p:nvSpPr>
          <p:cNvPr id="55" name="TextBox 54"/>
          <p:cNvSpPr txBox="1"/>
          <p:nvPr/>
        </p:nvSpPr>
        <p:spPr>
          <a:xfrm>
            <a:off x="2075688" y="5431536"/>
            <a:ext cx="4443983" cy="365760"/>
          </a:xfrm>
          <a:prstGeom prst="rect">
            <a:avLst/>
          </a:prstGeom>
          <a:noFill/>
        </p:spPr>
        <p:txBody>
          <a:bodyPr wrap="square" anchor="ctr" lIns="0" rIns="0" tIns="0" bIns="0">
            <a:spAutoFit/>
          </a:bodyPr>
          <a:lstStyle/>
          <a:p>
            <a:pPr algn="l">
              <a:lnSpc>
                <a:spcPct val="106000"/>
              </a:lnSpc>
            </a:pPr>
            <a:r>
              <a:rPr sz="1150" b="0" i="0">
                <a:solidFill>
                  <a:srgbClr val="111827"/>
                </a:solidFill>
                <a:latin typeface="Times New Roman"/>
              </a:rPr>
              <a:t>Course synthesis</a:t>
            </a:r>
          </a:p>
        </p:txBody>
      </p:sp>
      <p:sp>
        <p:nvSpPr>
          <p:cNvPr id="56" name="TextBox 55"/>
          <p:cNvSpPr txBox="1"/>
          <p:nvPr/>
        </p:nvSpPr>
        <p:spPr>
          <a:xfrm>
            <a:off x="6739128" y="5431536"/>
            <a:ext cx="4443983" cy="365760"/>
          </a:xfrm>
          <a:prstGeom prst="rect">
            <a:avLst/>
          </a:prstGeom>
          <a:noFill/>
        </p:spPr>
        <p:txBody>
          <a:bodyPr wrap="square" anchor="ctr" lIns="0" rIns="0" tIns="0" bIns="0">
            <a:spAutoFit/>
          </a:bodyPr>
          <a:lstStyle/>
          <a:p>
            <a:pPr algn="l">
              <a:lnSpc>
                <a:spcPct val="106000"/>
              </a:lnSpc>
            </a:pPr>
            <a:r>
              <a:rPr sz="1150" b="0" i="0">
                <a:solidFill>
                  <a:srgbClr val="111827"/>
                </a:solidFill>
                <a:latin typeface="Times New Roman"/>
              </a:rPr>
              <a:t>Makarius et al. (2020)</a:t>
            </a:r>
          </a:p>
        </p:txBody>
      </p:sp>
      <p:sp>
        <p:nvSpPr>
          <p:cNvPr id="57" name="Rectangle 56"/>
          <p:cNvSpPr/>
          <p:nvPr/>
        </p:nvSpPr>
        <p:spPr>
          <a:xfrm>
            <a:off x="868680" y="5907024"/>
            <a:ext cx="36576" cy="31089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069848" y="5907024"/>
            <a:ext cx="10424160" cy="365760"/>
          </a:xfrm>
          <a:prstGeom prst="rect">
            <a:avLst/>
          </a:prstGeom>
          <a:noFill/>
        </p:spPr>
        <p:txBody>
          <a:bodyPr wrap="square" anchor="ctr" lIns="0" rIns="0" tIns="0" bIns="0">
            <a:spAutoFit/>
          </a:bodyPr>
          <a:lstStyle/>
          <a:p>
            <a:pPr algn="l"/>
            <a:r>
              <a:rPr sz="1350" b="1" i="1">
                <a:solidFill>
                  <a:srgbClr val="10233F"/>
                </a:solidFill>
                <a:latin typeface="Times New Roman"/>
              </a:rPr>
              <a:t>Every week asks the same question of a different theory.</a:t>
            </a:r>
          </a:p>
        </p:txBody>
      </p:sp>
      <p:sp>
        <p:nvSpPr>
          <p:cNvPr id="59" name="TextBox 58"/>
          <p:cNvSpPr txBox="1"/>
          <p:nvPr/>
        </p:nvSpPr>
        <p:spPr>
          <a:xfrm>
            <a:off x="11475720" y="6473952"/>
            <a:ext cx="457200" cy="182880"/>
          </a:xfrm>
          <a:prstGeom prst="rect">
            <a:avLst/>
          </a:prstGeom>
          <a:noFill/>
        </p:spPr>
        <p:txBody>
          <a:bodyPr wrap="square" anchor="t" lIns="0" rIns="0" tIns="0" bIns="0">
            <a:spAutoFit/>
          </a:bodyPr>
          <a:lstStyle/>
          <a:p>
            <a:pPr algn="r"/>
            <a:r>
              <a:rPr sz="800" b="0" i="0">
                <a:solidFill>
                  <a:srgbClr val="9CA3AF"/>
                </a:solidFill>
                <a:latin typeface="Times New Roman"/>
              </a:rPr>
              <a:t>39</a:t>
            </a:r>
          </a:p>
        </p:txBody>
      </p:sp>
      <p:sp>
        <p:nvSpPr>
          <p:cNvPr id="60" name="TextBox 59"/>
          <p:cNvSpPr txBox="1"/>
          <p:nvPr/>
        </p:nvSpPr>
        <p:spPr>
          <a:xfrm>
            <a:off x="502920" y="6473952"/>
            <a:ext cx="6400800" cy="182880"/>
          </a:xfrm>
          <a:prstGeom prst="rect">
            <a:avLst/>
          </a:prstGeom>
          <a:noFill/>
        </p:spPr>
        <p:txBody>
          <a:bodyPr wrap="square" anchor="t" lIns="0" rIns="0" tIns="0" bIns="0">
            <a:spAutoFit/>
          </a:bodyPr>
          <a:lstStyle/>
          <a:p>
            <a:pPr algn="l"/>
            <a:r>
              <a:rPr sz="720" b="0" i="0">
                <a:solidFill>
                  <a:srgbClr val="6B7280"/>
                </a:solidFill>
                <a:latin typeface="Times New Roman"/>
              </a:rPr>
              <a:t>Strategic Management in the Age of AI · MGMT 465/665 · Course Introduction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969" cy="164592"/>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969" cy="3657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411480"/>
            <a:ext cx="5943600" cy="228600"/>
          </a:xfrm>
          <a:prstGeom prst="rect">
            <a:avLst/>
          </a:prstGeom>
          <a:noFill/>
        </p:spPr>
        <p:txBody>
          <a:bodyPr wrap="square" anchor="t" lIns="0" rIns="0" tIns="0" bIns="0">
            <a:spAutoFit/>
          </a:bodyPr>
          <a:lstStyle/>
          <a:p>
            <a:pPr algn="l"/>
            <a:r>
              <a:rPr sz="850" b="1" i="0">
                <a:solidFill>
                  <a:srgbClr val="2A6F97"/>
                </a:solidFill>
                <a:latin typeface="Times New Roman"/>
              </a:rPr>
              <a:t>PART III · READING STRATEGY</a:t>
            </a:r>
          </a:p>
        </p:txBody>
      </p:sp>
      <p:sp>
        <p:nvSpPr>
          <p:cNvPr id="6" name="TextBox 5"/>
          <p:cNvSpPr txBox="1"/>
          <p:nvPr/>
        </p:nvSpPr>
        <p:spPr>
          <a:xfrm>
            <a:off x="502920" y="640080"/>
            <a:ext cx="9509760" cy="457200"/>
          </a:xfrm>
          <a:prstGeom prst="rect">
            <a:avLst/>
          </a:prstGeom>
          <a:noFill/>
        </p:spPr>
        <p:txBody>
          <a:bodyPr wrap="square" anchor="t" lIns="0" rIns="0" tIns="0" bIns="0">
            <a:spAutoFit/>
          </a:bodyPr>
          <a:lstStyle/>
          <a:p>
            <a:pPr algn="l"/>
            <a:r>
              <a:rPr sz="2400" b="1" i="0">
                <a:solidFill>
                  <a:srgbClr val="111827"/>
                </a:solidFill>
                <a:latin typeface="Times New Roman"/>
              </a:rPr>
              <a:t>Four questions to bring to every reading</a:t>
            </a:r>
          </a:p>
        </p:txBody>
      </p:sp>
      <p:sp>
        <p:nvSpPr>
          <p:cNvPr id="7" name="Rectangle 6"/>
          <p:cNvSpPr/>
          <p:nvPr/>
        </p:nvSpPr>
        <p:spPr>
          <a:xfrm>
            <a:off x="868680" y="1536192"/>
            <a:ext cx="5047488" cy="1755648"/>
          </a:xfrm>
          <a:prstGeom prst="rect">
            <a:avLst/>
          </a:prstGeom>
          <a:solidFill>
            <a:srgbClr val="F6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68680" y="1536192"/>
            <a:ext cx="5047488" cy="45720"/>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88136" y="1792224"/>
            <a:ext cx="4608576" cy="1371600"/>
          </a:xfrm>
          <a:prstGeom prst="rect">
            <a:avLst/>
          </a:prstGeom>
          <a:noFill/>
        </p:spPr>
        <p:txBody>
          <a:bodyPr wrap="square" anchor="t" lIns="0" rIns="0" tIns="0" bIns="0">
            <a:spAutoFit/>
          </a:bodyPr>
          <a:lstStyle/>
          <a:p>
            <a:pPr algn="l">
              <a:spcAft>
                <a:spcPts val="900"/>
              </a:spcAft>
            </a:pPr>
            <a:r>
              <a:rPr sz="950" b="1" i="0">
                <a:solidFill>
                  <a:srgbClr val="2A6F97"/>
                </a:solidFill>
                <a:latin typeface="Times New Roman"/>
              </a:rPr>
              <a:t>QUESTION 1</a:t>
            </a:r>
          </a:p>
          <a:p>
            <a:pPr algn="l">
              <a:lnSpc>
                <a:spcPct val="110000"/>
              </a:lnSpc>
              <a:spcAft>
                <a:spcPts val="1000"/>
              </a:spcAft>
            </a:pPr>
            <a:r>
              <a:rPr sz="1600" b="1" i="0">
                <a:solidFill>
                  <a:srgbClr val="10233F"/>
                </a:solidFill>
                <a:latin typeface="Times New Roman"/>
              </a:rPr>
              <a:t>What is the central theoretical contribution?</a:t>
            </a:r>
          </a:p>
          <a:p>
            <a:pPr algn="l">
              <a:lnSpc>
                <a:spcPct val="120000"/>
              </a:lnSpc>
            </a:pPr>
            <a:r>
              <a:rPr sz="1200" b="0" i="1">
                <a:solidFill>
                  <a:srgbClr val="4B5563"/>
                </a:solidFill>
                <a:latin typeface="Times New Roman"/>
              </a:rPr>
              <a:t>State the argument in your own words before you evaluate it.</a:t>
            </a:r>
          </a:p>
        </p:txBody>
      </p:sp>
      <p:sp>
        <p:nvSpPr>
          <p:cNvPr id="10" name="Rectangle 9"/>
          <p:cNvSpPr/>
          <p:nvPr/>
        </p:nvSpPr>
        <p:spPr>
          <a:xfrm>
            <a:off x="6245352" y="1536192"/>
            <a:ext cx="5047488" cy="1755648"/>
          </a:xfrm>
          <a:prstGeom prst="rect">
            <a:avLst/>
          </a:prstGeom>
          <a:solidFill>
            <a:srgbClr val="EA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45352" y="1536192"/>
            <a:ext cx="5047488" cy="45720"/>
          </a:xfrm>
          <a:prstGeom prst="rect">
            <a:avLst/>
          </a:prstGeom>
          <a:solidFill>
            <a:srgbClr val="2A6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64808" y="1792224"/>
            <a:ext cx="4608576" cy="1371600"/>
          </a:xfrm>
          <a:prstGeom prst="rect">
            <a:avLst/>
          </a:prstGeom>
          <a:noFill/>
        </p:spPr>
        <p:txBody>
          <a:bodyPr wrap="square" anchor="t" lIns="0" rIns="0" tIns="0" bIns="0">
            <a:spAutoFit/>
          </a:bodyPr>
          <a:lstStyle/>
          <a:p>
            <a:pPr algn="l">
              <a:spcAft>
                <a:spcPts val="900"/>
              </a:spcAft>
            </a:pPr>
            <a:r>
              <a:rPr sz="950" b="1" i="0">
                <a:solidFill>
                  <a:srgbClr val="2A6F97"/>
                </a:solidFill>
                <a:latin typeface="Times New Roman"/>
              </a:rPr>
              <a:t>QUESTION 2</a:t>
            </a:r>
          </a:p>
          <a:p>
            <a:pPr algn="l">
              <a:lnSpc>
                <a:spcPct val="110000"/>
              </a:lnSpc>
              <a:spcAft>
                <a:spcPts val="1000"/>
              </a:spcAft>
            </a:pPr>
            <a:r>
              <a:rPr sz="1600" b="1" i="0">
                <a:solidFill>
                  <a:srgbClr val="10233F"/>
                </a:solidFill>
                <a:latin typeface="Times New Roman"/>
              </a:rPr>
              <a:t>What assumptions does the author make?</a:t>
            </a:r>
          </a:p>
          <a:p>
            <a:pPr algn="l">
              <a:lnSpc>
                <a:spcPct val="120000"/>
              </a:lnSpc>
            </a:pPr>
            <a:r>
              <a:rPr sz="1200" b="0" i="1">
                <a:solidFill>
                  <a:srgbClr val="4B5563"/>
                </a:solidFill>
                <a:latin typeface="Times New Roman"/>
              </a:rPr>
              <a:t>About organizations, managers, technology, and competition.</a:t>
            </a:r>
          </a:p>
        </p:txBody>
      </p:sp>
      <p:sp>
        <p:nvSpPr>
          <p:cNvPr id="13" name="Rectangle 12"/>
          <p:cNvSpPr/>
          <p:nvPr/>
        </p:nvSpPr>
        <p:spPr>
          <a:xfrm>
            <a:off x="868680" y="3493008"/>
            <a:ext cx="5047488" cy="1755648"/>
          </a:xfrm>
          <a:prstGeom prst="rect">
            <a:avLst/>
          </a:prstGeom>
          <a:solidFill>
            <a:srgbClr val="F6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68680" y="3493008"/>
            <a:ext cx="5047488" cy="45720"/>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88136" y="3749040"/>
            <a:ext cx="4608576" cy="1371600"/>
          </a:xfrm>
          <a:prstGeom prst="rect">
            <a:avLst/>
          </a:prstGeom>
          <a:noFill/>
        </p:spPr>
        <p:txBody>
          <a:bodyPr wrap="square" anchor="t" lIns="0" rIns="0" tIns="0" bIns="0">
            <a:spAutoFit/>
          </a:bodyPr>
          <a:lstStyle/>
          <a:p>
            <a:pPr algn="l">
              <a:spcAft>
                <a:spcPts val="900"/>
              </a:spcAft>
            </a:pPr>
            <a:r>
              <a:rPr sz="950" b="1" i="0">
                <a:solidFill>
                  <a:srgbClr val="2A6F97"/>
                </a:solidFill>
                <a:latin typeface="Times New Roman"/>
              </a:rPr>
              <a:t>QUESTION 3</a:t>
            </a:r>
          </a:p>
          <a:p>
            <a:pPr algn="l">
              <a:lnSpc>
                <a:spcPct val="110000"/>
              </a:lnSpc>
              <a:spcAft>
                <a:spcPts val="1000"/>
              </a:spcAft>
            </a:pPr>
            <a:r>
              <a:rPr sz="1600" b="1" i="0">
                <a:solidFill>
                  <a:srgbClr val="10233F"/>
                </a:solidFill>
                <a:latin typeface="Times New Roman"/>
              </a:rPr>
              <a:t>How does the AI reading reinforce, extend, or challenge those assumptions?</a:t>
            </a:r>
          </a:p>
          <a:p>
            <a:pPr algn="l">
              <a:lnSpc>
                <a:spcPct val="120000"/>
              </a:lnSpc>
            </a:pPr>
            <a:r>
              <a:rPr sz="1200" b="0" i="1">
                <a:solidFill>
                  <a:srgbClr val="4B5563"/>
                </a:solidFill>
                <a:latin typeface="Times New Roman"/>
              </a:rPr>
              <a:t>Be specific about which assumption is at stake.</a:t>
            </a:r>
          </a:p>
        </p:txBody>
      </p:sp>
      <p:sp>
        <p:nvSpPr>
          <p:cNvPr id="16" name="Rectangle 15"/>
          <p:cNvSpPr/>
          <p:nvPr/>
        </p:nvSpPr>
        <p:spPr>
          <a:xfrm>
            <a:off x="6245352" y="3493008"/>
            <a:ext cx="5047488" cy="1755648"/>
          </a:xfrm>
          <a:prstGeom prst="rect">
            <a:avLst/>
          </a:prstGeom>
          <a:solidFill>
            <a:srgbClr val="EA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45352" y="3493008"/>
            <a:ext cx="5047488" cy="45720"/>
          </a:xfrm>
          <a:prstGeom prst="rect">
            <a:avLst/>
          </a:prstGeom>
          <a:solidFill>
            <a:srgbClr val="2A6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64808" y="3749040"/>
            <a:ext cx="4608576" cy="1371600"/>
          </a:xfrm>
          <a:prstGeom prst="rect">
            <a:avLst/>
          </a:prstGeom>
          <a:noFill/>
        </p:spPr>
        <p:txBody>
          <a:bodyPr wrap="square" anchor="t" lIns="0" rIns="0" tIns="0" bIns="0">
            <a:spAutoFit/>
          </a:bodyPr>
          <a:lstStyle/>
          <a:p>
            <a:pPr algn="l">
              <a:spcAft>
                <a:spcPts val="900"/>
              </a:spcAft>
            </a:pPr>
            <a:r>
              <a:rPr sz="950" b="1" i="0">
                <a:solidFill>
                  <a:srgbClr val="2A6F97"/>
                </a:solidFill>
                <a:latin typeface="Times New Roman"/>
              </a:rPr>
              <a:t>QUESTION 4</a:t>
            </a:r>
          </a:p>
          <a:p>
            <a:pPr algn="l">
              <a:lnSpc>
                <a:spcPct val="110000"/>
              </a:lnSpc>
              <a:spcAft>
                <a:spcPts val="1000"/>
              </a:spcAft>
            </a:pPr>
            <a:r>
              <a:rPr sz="1600" b="1" i="0">
                <a:solidFill>
                  <a:srgbClr val="10233F"/>
                </a:solidFill>
                <a:latin typeface="Times New Roman"/>
              </a:rPr>
              <a:t>If the classical author were writing today, how might the theory change?</a:t>
            </a:r>
          </a:p>
          <a:p>
            <a:pPr algn="l">
              <a:lnSpc>
                <a:spcPct val="120000"/>
              </a:lnSpc>
            </a:pPr>
            <a:r>
              <a:rPr sz="1200" b="0" i="1">
                <a:solidFill>
                  <a:srgbClr val="4B5563"/>
                </a:solidFill>
                <a:latin typeface="Times New Roman"/>
              </a:rPr>
              <a:t>This is where your own contribution begins.</a:t>
            </a:r>
          </a:p>
        </p:txBody>
      </p:sp>
      <p:sp>
        <p:nvSpPr>
          <p:cNvPr id="19" name="Rectangle 18"/>
          <p:cNvSpPr/>
          <p:nvPr/>
        </p:nvSpPr>
        <p:spPr>
          <a:xfrm>
            <a:off x="868680" y="5614416"/>
            <a:ext cx="36576" cy="31089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69848" y="5614416"/>
            <a:ext cx="10424160" cy="365760"/>
          </a:xfrm>
          <a:prstGeom prst="rect">
            <a:avLst/>
          </a:prstGeom>
          <a:noFill/>
        </p:spPr>
        <p:txBody>
          <a:bodyPr wrap="square" anchor="ctr" lIns="0" rIns="0" tIns="0" bIns="0">
            <a:spAutoFit/>
          </a:bodyPr>
          <a:lstStyle/>
          <a:p>
            <a:pPr algn="l"/>
            <a:r>
              <a:rPr sz="1350" b="1" i="1">
                <a:solidFill>
                  <a:srgbClr val="10233F"/>
                </a:solidFill>
                <a:latin typeface="Times New Roman"/>
              </a:rPr>
              <a:t>These four questions drive discussions, reflections, laboratories, and the consulting project alike.</a:t>
            </a:r>
          </a:p>
        </p:txBody>
      </p:sp>
      <p:sp>
        <p:nvSpPr>
          <p:cNvPr id="21" name="TextBox 20"/>
          <p:cNvSpPr txBox="1"/>
          <p:nvPr/>
        </p:nvSpPr>
        <p:spPr>
          <a:xfrm>
            <a:off x="11475720" y="6473952"/>
            <a:ext cx="457200" cy="182880"/>
          </a:xfrm>
          <a:prstGeom prst="rect">
            <a:avLst/>
          </a:prstGeom>
          <a:noFill/>
        </p:spPr>
        <p:txBody>
          <a:bodyPr wrap="square" anchor="t" lIns="0" rIns="0" tIns="0" bIns="0">
            <a:spAutoFit/>
          </a:bodyPr>
          <a:lstStyle/>
          <a:p>
            <a:pPr algn="r"/>
            <a:r>
              <a:rPr sz="800" b="0" i="0">
                <a:solidFill>
                  <a:srgbClr val="9CA3AF"/>
                </a:solidFill>
                <a:latin typeface="Times New Roman"/>
              </a:rPr>
              <a:t>40</a:t>
            </a:r>
          </a:p>
        </p:txBody>
      </p:sp>
      <p:sp>
        <p:nvSpPr>
          <p:cNvPr id="22" name="TextBox 21"/>
          <p:cNvSpPr txBox="1"/>
          <p:nvPr/>
        </p:nvSpPr>
        <p:spPr>
          <a:xfrm>
            <a:off x="502920" y="6473952"/>
            <a:ext cx="6400800" cy="182880"/>
          </a:xfrm>
          <a:prstGeom prst="rect">
            <a:avLst/>
          </a:prstGeom>
          <a:noFill/>
        </p:spPr>
        <p:txBody>
          <a:bodyPr wrap="square" anchor="t" lIns="0" rIns="0" tIns="0" bIns="0">
            <a:spAutoFit/>
          </a:bodyPr>
          <a:lstStyle/>
          <a:p>
            <a:pPr algn="l"/>
            <a:r>
              <a:rPr sz="720" b="0" i="0">
                <a:solidFill>
                  <a:srgbClr val="6B7280"/>
                </a:solidFill>
                <a:latin typeface="Times New Roman"/>
              </a:rPr>
              <a:t>Strategic Management in the Age of AI · MGMT 465/665 · Course Introduction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969" cy="164592"/>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969" cy="3657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411480"/>
            <a:ext cx="5943600" cy="228600"/>
          </a:xfrm>
          <a:prstGeom prst="rect">
            <a:avLst/>
          </a:prstGeom>
          <a:noFill/>
        </p:spPr>
        <p:txBody>
          <a:bodyPr wrap="square" anchor="t" lIns="0" rIns="0" tIns="0" bIns="0">
            <a:spAutoFit/>
          </a:bodyPr>
          <a:lstStyle/>
          <a:p>
            <a:pPr algn="l"/>
            <a:r>
              <a:rPr sz="850" b="1" i="0">
                <a:solidFill>
                  <a:srgbClr val="2A6F97"/>
                </a:solidFill>
                <a:latin typeface="Times New Roman"/>
              </a:rPr>
              <a:t>PART III · INTEGRATIVE READING FRAMEWORK</a:t>
            </a:r>
          </a:p>
        </p:txBody>
      </p:sp>
      <p:sp>
        <p:nvSpPr>
          <p:cNvPr id="6" name="TextBox 5"/>
          <p:cNvSpPr txBox="1"/>
          <p:nvPr/>
        </p:nvSpPr>
        <p:spPr>
          <a:xfrm>
            <a:off x="502920" y="640080"/>
            <a:ext cx="9509760" cy="457200"/>
          </a:xfrm>
          <a:prstGeom prst="rect">
            <a:avLst/>
          </a:prstGeom>
          <a:noFill/>
        </p:spPr>
        <p:txBody>
          <a:bodyPr wrap="square" anchor="t" lIns="0" rIns="0" tIns="0" bIns="0">
            <a:spAutoFit/>
          </a:bodyPr>
          <a:lstStyle/>
          <a:p>
            <a:pPr algn="l"/>
            <a:r>
              <a:rPr sz="2400" b="1" i="0">
                <a:solidFill>
                  <a:srgbClr val="111827"/>
                </a:solidFill>
                <a:latin typeface="Times New Roman"/>
              </a:rPr>
              <a:t>How each week's readings are organized</a:t>
            </a:r>
          </a:p>
        </p:txBody>
      </p:sp>
      <p:sp>
        <p:nvSpPr>
          <p:cNvPr id="7" name="Rectangle 6"/>
          <p:cNvSpPr/>
          <p:nvPr/>
        </p:nvSpPr>
        <p:spPr>
          <a:xfrm>
            <a:off x="868680" y="1463040"/>
            <a:ext cx="4023360" cy="512064"/>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1463040"/>
            <a:ext cx="3657600" cy="512064"/>
          </a:xfrm>
          <a:prstGeom prst="rect">
            <a:avLst/>
          </a:prstGeom>
          <a:noFill/>
        </p:spPr>
        <p:txBody>
          <a:bodyPr wrap="square" anchor="ctr" lIns="0" rIns="0" tIns="0" bIns="0">
            <a:spAutoFit/>
          </a:bodyPr>
          <a:lstStyle/>
          <a:p>
            <a:pPr algn="l"/>
            <a:r>
              <a:rPr sz="1400" b="1" i="0">
                <a:solidFill>
                  <a:srgbClr val="FFFFFF"/>
                </a:solidFill>
                <a:latin typeface="Times New Roman"/>
              </a:rPr>
              <a:t>Classical Theory</a:t>
            </a:r>
          </a:p>
        </p:txBody>
      </p:sp>
      <p:sp>
        <p:nvSpPr>
          <p:cNvPr id="9" name="TextBox 8"/>
          <p:cNvSpPr txBox="1"/>
          <p:nvPr/>
        </p:nvSpPr>
        <p:spPr>
          <a:xfrm>
            <a:off x="5212080" y="1463040"/>
            <a:ext cx="6080760" cy="512064"/>
          </a:xfrm>
          <a:prstGeom prst="rect">
            <a:avLst/>
          </a:prstGeom>
          <a:noFill/>
        </p:spPr>
        <p:txBody>
          <a:bodyPr wrap="square" anchor="ctr" lIns="0" rIns="0" tIns="0" bIns="0">
            <a:spAutoFit/>
          </a:bodyPr>
          <a:lstStyle/>
          <a:p>
            <a:pPr algn="l"/>
            <a:r>
              <a:rPr sz="1250" b="0" i="0">
                <a:solidFill>
                  <a:srgbClr val="4B5563"/>
                </a:solidFill>
                <a:latin typeface="Times New Roman"/>
              </a:rPr>
              <a:t>Read the original argument on its own terms</a:t>
            </a:r>
          </a:p>
        </p:txBody>
      </p:sp>
      <p:sp>
        <p:nvSpPr>
          <p:cNvPr id="10" name="Rectangle 9"/>
          <p:cNvSpPr/>
          <p:nvPr/>
        </p:nvSpPr>
        <p:spPr>
          <a:xfrm>
            <a:off x="2862072" y="1975104"/>
            <a:ext cx="45720" cy="12801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68680" y="2103120"/>
            <a:ext cx="4023360" cy="512064"/>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2103120"/>
            <a:ext cx="3657600" cy="512064"/>
          </a:xfrm>
          <a:prstGeom prst="rect">
            <a:avLst/>
          </a:prstGeom>
          <a:noFill/>
        </p:spPr>
        <p:txBody>
          <a:bodyPr wrap="square" anchor="ctr" lIns="0" rIns="0" tIns="0" bIns="0">
            <a:spAutoFit/>
          </a:bodyPr>
          <a:lstStyle/>
          <a:p>
            <a:pPr algn="l"/>
            <a:r>
              <a:rPr sz="1400" b="1" i="0">
                <a:solidFill>
                  <a:srgbClr val="FFFFFF"/>
                </a:solidFill>
                <a:latin typeface="Times New Roman"/>
              </a:rPr>
              <a:t>Underlying Assumptions</a:t>
            </a:r>
          </a:p>
        </p:txBody>
      </p:sp>
      <p:sp>
        <p:nvSpPr>
          <p:cNvPr id="13" name="TextBox 12"/>
          <p:cNvSpPr txBox="1"/>
          <p:nvPr/>
        </p:nvSpPr>
        <p:spPr>
          <a:xfrm>
            <a:off x="5212080" y="2103120"/>
            <a:ext cx="6080760" cy="512064"/>
          </a:xfrm>
          <a:prstGeom prst="rect">
            <a:avLst/>
          </a:prstGeom>
          <a:noFill/>
        </p:spPr>
        <p:txBody>
          <a:bodyPr wrap="square" anchor="ctr" lIns="0" rIns="0" tIns="0" bIns="0">
            <a:spAutoFit/>
          </a:bodyPr>
          <a:lstStyle/>
          <a:p>
            <a:pPr algn="l"/>
            <a:r>
              <a:rPr sz="1250" b="0" i="0">
                <a:solidFill>
                  <a:srgbClr val="4B5563"/>
                </a:solidFill>
                <a:latin typeface="Times New Roman"/>
              </a:rPr>
              <a:t>Surface what the theory takes for granted</a:t>
            </a:r>
          </a:p>
        </p:txBody>
      </p:sp>
      <p:sp>
        <p:nvSpPr>
          <p:cNvPr id="14" name="Rectangle 13"/>
          <p:cNvSpPr/>
          <p:nvPr/>
        </p:nvSpPr>
        <p:spPr>
          <a:xfrm>
            <a:off x="2862072" y="2615184"/>
            <a:ext cx="45720" cy="12801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68680" y="2743200"/>
            <a:ext cx="4023360" cy="512064"/>
          </a:xfrm>
          <a:prstGeom prst="rect">
            <a:avLst/>
          </a:prstGeom>
          <a:solidFill>
            <a:srgbClr val="2A6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2743200"/>
            <a:ext cx="3657600" cy="512064"/>
          </a:xfrm>
          <a:prstGeom prst="rect">
            <a:avLst/>
          </a:prstGeom>
          <a:noFill/>
        </p:spPr>
        <p:txBody>
          <a:bodyPr wrap="square" anchor="ctr" lIns="0" rIns="0" tIns="0" bIns="0">
            <a:spAutoFit/>
          </a:bodyPr>
          <a:lstStyle/>
          <a:p>
            <a:pPr algn="l"/>
            <a:r>
              <a:rPr sz="1400" b="1" i="0">
                <a:solidFill>
                  <a:srgbClr val="FFFFFF"/>
                </a:solidFill>
                <a:latin typeface="Times New Roman"/>
              </a:rPr>
              <a:t>Contemporary AI Research</a:t>
            </a:r>
          </a:p>
        </p:txBody>
      </p:sp>
      <p:sp>
        <p:nvSpPr>
          <p:cNvPr id="17" name="TextBox 16"/>
          <p:cNvSpPr txBox="1"/>
          <p:nvPr/>
        </p:nvSpPr>
        <p:spPr>
          <a:xfrm>
            <a:off x="5212080" y="2743200"/>
            <a:ext cx="6080760" cy="512064"/>
          </a:xfrm>
          <a:prstGeom prst="rect">
            <a:avLst/>
          </a:prstGeom>
          <a:noFill/>
        </p:spPr>
        <p:txBody>
          <a:bodyPr wrap="square" anchor="ctr" lIns="0" rIns="0" tIns="0" bIns="0">
            <a:spAutoFit/>
          </a:bodyPr>
          <a:lstStyle/>
          <a:p>
            <a:pPr algn="l"/>
            <a:r>
              <a:rPr sz="1250" b="0" i="0">
                <a:solidFill>
                  <a:srgbClr val="4B5563"/>
                </a:solidFill>
                <a:latin typeface="Times New Roman"/>
              </a:rPr>
              <a:t>Read the paired AI scholarship</a:t>
            </a:r>
          </a:p>
        </p:txBody>
      </p:sp>
      <p:sp>
        <p:nvSpPr>
          <p:cNvPr id="18" name="Rectangle 17"/>
          <p:cNvSpPr/>
          <p:nvPr/>
        </p:nvSpPr>
        <p:spPr>
          <a:xfrm>
            <a:off x="2862072" y="3255264"/>
            <a:ext cx="45720" cy="12801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68680" y="3383280"/>
            <a:ext cx="4023360" cy="512064"/>
          </a:xfrm>
          <a:prstGeom prst="rect">
            <a:avLst/>
          </a:prstGeom>
          <a:solidFill>
            <a:srgbClr val="2A6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3383280"/>
            <a:ext cx="3657600" cy="512064"/>
          </a:xfrm>
          <a:prstGeom prst="rect">
            <a:avLst/>
          </a:prstGeom>
          <a:noFill/>
        </p:spPr>
        <p:txBody>
          <a:bodyPr wrap="square" anchor="ctr" lIns="0" rIns="0" tIns="0" bIns="0">
            <a:spAutoFit/>
          </a:bodyPr>
          <a:lstStyle/>
          <a:p>
            <a:pPr algn="l"/>
            <a:r>
              <a:rPr sz="1400" b="1" i="0">
                <a:solidFill>
                  <a:srgbClr val="FFFFFF"/>
                </a:solidFill>
                <a:latin typeface="Times New Roman"/>
              </a:rPr>
              <a:t>Critical Comparison</a:t>
            </a:r>
          </a:p>
        </p:txBody>
      </p:sp>
      <p:sp>
        <p:nvSpPr>
          <p:cNvPr id="21" name="TextBox 20"/>
          <p:cNvSpPr txBox="1"/>
          <p:nvPr/>
        </p:nvSpPr>
        <p:spPr>
          <a:xfrm>
            <a:off x="5212080" y="3383280"/>
            <a:ext cx="6080760" cy="512064"/>
          </a:xfrm>
          <a:prstGeom prst="rect">
            <a:avLst/>
          </a:prstGeom>
          <a:noFill/>
        </p:spPr>
        <p:txBody>
          <a:bodyPr wrap="square" anchor="ctr" lIns="0" rIns="0" tIns="0" bIns="0">
            <a:spAutoFit/>
          </a:bodyPr>
          <a:lstStyle/>
          <a:p>
            <a:pPr algn="l"/>
            <a:r>
              <a:rPr sz="1250" b="0" i="0">
                <a:solidFill>
                  <a:srgbClr val="4B5563"/>
                </a:solidFill>
                <a:latin typeface="Times New Roman"/>
              </a:rPr>
              <a:t>Determine whether AI reinforces or challenges</a:t>
            </a:r>
          </a:p>
        </p:txBody>
      </p:sp>
      <p:sp>
        <p:nvSpPr>
          <p:cNvPr id="22" name="Rectangle 21"/>
          <p:cNvSpPr/>
          <p:nvPr/>
        </p:nvSpPr>
        <p:spPr>
          <a:xfrm>
            <a:off x="2862072" y="3895344"/>
            <a:ext cx="45720" cy="12801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 y="4023360"/>
            <a:ext cx="4023360" cy="512064"/>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51560" y="4023360"/>
            <a:ext cx="3657600" cy="512064"/>
          </a:xfrm>
          <a:prstGeom prst="rect">
            <a:avLst/>
          </a:prstGeom>
          <a:noFill/>
        </p:spPr>
        <p:txBody>
          <a:bodyPr wrap="square" anchor="ctr" lIns="0" rIns="0" tIns="0" bIns="0">
            <a:spAutoFit/>
          </a:bodyPr>
          <a:lstStyle/>
          <a:p>
            <a:pPr algn="l"/>
            <a:r>
              <a:rPr sz="1400" b="1" i="0">
                <a:solidFill>
                  <a:srgbClr val="FFFFFF"/>
                </a:solidFill>
                <a:latin typeface="Times New Roman"/>
              </a:rPr>
              <a:t>Managerial Implications</a:t>
            </a:r>
          </a:p>
        </p:txBody>
      </p:sp>
      <p:sp>
        <p:nvSpPr>
          <p:cNvPr id="25" name="TextBox 24"/>
          <p:cNvSpPr txBox="1"/>
          <p:nvPr/>
        </p:nvSpPr>
        <p:spPr>
          <a:xfrm>
            <a:off x="5212080" y="4023360"/>
            <a:ext cx="6080760" cy="512064"/>
          </a:xfrm>
          <a:prstGeom prst="rect">
            <a:avLst/>
          </a:prstGeom>
          <a:noFill/>
        </p:spPr>
        <p:txBody>
          <a:bodyPr wrap="square" anchor="ctr" lIns="0" rIns="0" tIns="0" bIns="0">
            <a:spAutoFit/>
          </a:bodyPr>
          <a:lstStyle/>
          <a:p>
            <a:pPr algn="l"/>
            <a:r>
              <a:rPr sz="1250" b="0" i="0">
                <a:solidFill>
                  <a:srgbClr val="4B5563"/>
                </a:solidFill>
                <a:latin typeface="Times New Roman"/>
              </a:rPr>
              <a:t>Translate the comparison into decisions</a:t>
            </a:r>
          </a:p>
        </p:txBody>
      </p:sp>
      <p:sp>
        <p:nvSpPr>
          <p:cNvPr id="26" name="Rectangle 25"/>
          <p:cNvSpPr/>
          <p:nvPr/>
        </p:nvSpPr>
        <p:spPr>
          <a:xfrm>
            <a:off x="2862072" y="4535424"/>
            <a:ext cx="45720" cy="12801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68680" y="4663440"/>
            <a:ext cx="4023360" cy="512064"/>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51560" y="4663440"/>
            <a:ext cx="3657600" cy="512064"/>
          </a:xfrm>
          <a:prstGeom prst="rect">
            <a:avLst/>
          </a:prstGeom>
          <a:noFill/>
        </p:spPr>
        <p:txBody>
          <a:bodyPr wrap="square" anchor="ctr" lIns="0" rIns="0" tIns="0" bIns="0">
            <a:spAutoFit/>
          </a:bodyPr>
          <a:lstStyle/>
          <a:p>
            <a:pPr algn="l"/>
            <a:r>
              <a:rPr sz="1400" b="1" i="0">
                <a:solidFill>
                  <a:srgbClr val="FFFFFF"/>
                </a:solidFill>
                <a:latin typeface="Times New Roman"/>
              </a:rPr>
              <a:t>Organizational Application</a:t>
            </a:r>
          </a:p>
        </p:txBody>
      </p:sp>
      <p:sp>
        <p:nvSpPr>
          <p:cNvPr id="29" name="TextBox 28"/>
          <p:cNvSpPr txBox="1"/>
          <p:nvPr/>
        </p:nvSpPr>
        <p:spPr>
          <a:xfrm>
            <a:off x="5212080" y="4663440"/>
            <a:ext cx="6080760" cy="512064"/>
          </a:xfrm>
          <a:prstGeom prst="rect">
            <a:avLst/>
          </a:prstGeom>
          <a:noFill/>
        </p:spPr>
        <p:txBody>
          <a:bodyPr wrap="square" anchor="ctr" lIns="0" rIns="0" tIns="0" bIns="0">
            <a:spAutoFit/>
          </a:bodyPr>
          <a:lstStyle/>
          <a:p>
            <a:pPr algn="l"/>
            <a:r>
              <a:rPr sz="1250" b="0" i="0">
                <a:solidFill>
                  <a:srgbClr val="4B5563"/>
                </a:solidFill>
                <a:latin typeface="Times New Roman"/>
              </a:rPr>
              <a:t>Apply it to your client organization</a:t>
            </a:r>
          </a:p>
        </p:txBody>
      </p:sp>
      <p:sp>
        <p:nvSpPr>
          <p:cNvPr id="30" name="Rectangle 29"/>
          <p:cNvSpPr/>
          <p:nvPr/>
        </p:nvSpPr>
        <p:spPr>
          <a:xfrm>
            <a:off x="2862072" y="5175504"/>
            <a:ext cx="45720" cy="12801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68680" y="5303520"/>
            <a:ext cx="4023360" cy="512064"/>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51560" y="5303520"/>
            <a:ext cx="3657600" cy="512064"/>
          </a:xfrm>
          <a:prstGeom prst="rect">
            <a:avLst/>
          </a:prstGeom>
          <a:noFill/>
        </p:spPr>
        <p:txBody>
          <a:bodyPr wrap="square" anchor="ctr" lIns="0" rIns="0" tIns="0" bIns="0">
            <a:spAutoFit/>
          </a:bodyPr>
          <a:lstStyle/>
          <a:p>
            <a:pPr algn="l"/>
            <a:r>
              <a:rPr sz="1400" b="1" i="0">
                <a:solidFill>
                  <a:srgbClr val="10233F"/>
                </a:solidFill>
                <a:latin typeface="Times New Roman"/>
              </a:rPr>
              <a:t>Future Theory Development</a:t>
            </a:r>
          </a:p>
        </p:txBody>
      </p:sp>
      <p:sp>
        <p:nvSpPr>
          <p:cNvPr id="33" name="TextBox 32"/>
          <p:cNvSpPr txBox="1"/>
          <p:nvPr/>
        </p:nvSpPr>
        <p:spPr>
          <a:xfrm>
            <a:off x="5212080" y="5303520"/>
            <a:ext cx="6080760" cy="512064"/>
          </a:xfrm>
          <a:prstGeom prst="rect">
            <a:avLst/>
          </a:prstGeom>
          <a:noFill/>
        </p:spPr>
        <p:txBody>
          <a:bodyPr wrap="square" anchor="ctr" lIns="0" rIns="0" tIns="0" bIns="0">
            <a:spAutoFit/>
          </a:bodyPr>
          <a:lstStyle/>
          <a:p>
            <a:pPr algn="l"/>
            <a:r>
              <a:rPr sz="1250" b="0" i="0">
                <a:solidFill>
                  <a:srgbClr val="4B5563"/>
                </a:solidFill>
                <a:latin typeface="Times New Roman"/>
              </a:rPr>
              <a:t>Propose how the theory should evolve</a:t>
            </a:r>
          </a:p>
        </p:txBody>
      </p:sp>
      <p:sp>
        <p:nvSpPr>
          <p:cNvPr id="34" name="Rectangle 33"/>
          <p:cNvSpPr/>
          <p:nvPr/>
        </p:nvSpPr>
        <p:spPr>
          <a:xfrm>
            <a:off x="868680" y="5943600"/>
            <a:ext cx="36576" cy="31089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69848" y="5943600"/>
            <a:ext cx="10424160" cy="365760"/>
          </a:xfrm>
          <a:prstGeom prst="rect">
            <a:avLst/>
          </a:prstGeom>
          <a:noFill/>
        </p:spPr>
        <p:txBody>
          <a:bodyPr wrap="square" anchor="ctr" lIns="0" rIns="0" tIns="0" bIns="0">
            <a:spAutoFit/>
          </a:bodyPr>
          <a:lstStyle/>
          <a:p>
            <a:pPr algn="l"/>
            <a:r>
              <a:rPr sz="1350" b="1" i="1">
                <a:solidFill>
                  <a:srgbClr val="10233F"/>
                </a:solidFill>
                <a:latin typeface="Times New Roman"/>
              </a:rPr>
              <a:t>Students move beyond understanding theories to evaluating how those theories should change.</a:t>
            </a:r>
          </a:p>
        </p:txBody>
      </p:sp>
      <p:sp>
        <p:nvSpPr>
          <p:cNvPr id="36" name="TextBox 35"/>
          <p:cNvSpPr txBox="1"/>
          <p:nvPr/>
        </p:nvSpPr>
        <p:spPr>
          <a:xfrm>
            <a:off x="11475720" y="6473952"/>
            <a:ext cx="457200" cy="182880"/>
          </a:xfrm>
          <a:prstGeom prst="rect">
            <a:avLst/>
          </a:prstGeom>
          <a:noFill/>
        </p:spPr>
        <p:txBody>
          <a:bodyPr wrap="square" anchor="t" lIns="0" rIns="0" tIns="0" bIns="0">
            <a:spAutoFit/>
          </a:bodyPr>
          <a:lstStyle/>
          <a:p>
            <a:pPr algn="r"/>
            <a:r>
              <a:rPr sz="800" b="0" i="0">
                <a:solidFill>
                  <a:srgbClr val="9CA3AF"/>
                </a:solidFill>
                <a:latin typeface="Times New Roman"/>
              </a:rPr>
              <a:t>41</a:t>
            </a:r>
          </a:p>
        </p:txBody>
      </p:sp>
      <p:sp>
        <p:nvSpPr>
          <p:cNvPr id="37" name="TextBox 36"/>
          <p:cNvSpPr txBox="1"/>
          <p:nvPr/>
        </p:nvSpPr>
        <p:spPr>
          <a:xfrm>
            <a:off x="502920" y="6473952"/>
            <a:ext cx="6400800" cy="182880"/>
          </a:xfrm>
          <a:prstGeom prst="rect">
            <a:avLst/>
          </a:prstGeom>
          <a:noFill/>
        </p:spPr>
        <p:txBody>
          <a:bodyPr wrap="square" anchor="t" lIns="0" rIns="0" tIns="0" bIns="0">
            <a:spAutoFit/>
          </a:bodyPr>
          <a:lstStyle/>
          <a:p>
            <a:pPr algn="l"/>
            <a:r>
              <a:rPr sz="720" b="0" i="0">
                <a:solidFill>
                  <a:srgbClr val="6B7280"/>
                </a:solidFill>
                <a:latin typeface="Times New Roman"/>
              </a:rPr>
              <a:t>Strategic Management in the Age of AI · MGMT 465/665 · Course Introduction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37744" cy="6858000"/>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51560" y="1828800"/>
            <a:ext cx="5486400" cy="274320"/>
          </a:xfrm>
          <a:prstGeom prst="rect">
            <a:avLst/>
          </a:prstGeom>
          <a:noFill/>
        </p:spPr>
        <p:txBody>
          <a:bodyPr wrap="square" anchor="t" lIns="0" rIns="0" tIns="0" bIns="0">
            <a:spAutoFit/>
          </a:bodyPr>
          <a:lstStyle/>
          <a:p>
            <a:pPr algn="l"/>
            <a:r>
              <a:rPr sz="1200" b="1" i="0">
                <a:solidFill>
                  <a:srgbClr val="D4A017"/>
                </a:solidFill>
                <a:latin typeface="Times New Roman"/>
              </a:rPr>
              <a:t>PART IV</a:t>
            </a:r>
          </a:p>
        </p:txBody>
      </p:sp>
      <p:sp>
        <p:nvSpPr>
          <p:cNvPr id="5" name="TextBox 4"/>
          <p:cNvSpPr txBox="1"/>
          <p:nvPr/>
        </p:nvSpPr>
        <p:spPr>
          <a:xfrm>
            <a:off x="1051560" y="2194560"/>
            <a:ext cx="8412480" cy="1005840"/>
          </a:xfrm>
          <a:prstGeom prst="rect">
            <a:avLst/>
          </a:prstGeom>
          <a:noFill/>
        </p:spPr>
        <p:txBody>
          <a:bodyPr wrap="square" anchor="t" lIns="0" rIns="0" tIns="0" bIns="0">
            <a:spAutoFit/>
          </a:bodyPr>
          <a:lstStyle/>
          <a:p>
            <a:pPr algn="l">
              <a:lnSpc>
                <a:spcPct val="95000"/>
              </a:lnSpc>
            </a:pPr>
            <a:r>
              <a:rPr sz="3800" b="1" i="0">
                <a:solidFill>
                  <a:srgbClr val="FFFFFF"/>
                </a:solidFill>
                <a:latin typeface="Times New Roman"/>
              </a:rPr>
              <a:t>The AISE Framework</a:t>
            </a:r>
          </a:p>
        </p:txBody>
      </p:sp>
      <p:sp>
        <p:nvSpPr>
          <p:cNvPr id="6" name="Rectangle 5"/>
          <p:cNvSpPr/>
          <p:nvPr/>
        </p:nvSpPr>
        <p:spPr>
          <a:xfrm>
            <a:off x="1078992" y="3438144"/>
            <a:ext cx="1371600" cy="32004"/>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3712463"/>
            <a:ext cx="7863840" cy="731520"/>
          </a:xfrm>
          <a:prstGeom prst="rect">
            <a:avLst/>
          </a:prstGeom>
          <a:noFill/>
        </p:spPr>
        <p:txBody>
          <a:bodyPr wrap="square" anchor="t" lIns="0" rIns="0" tIns="0" bIns="0">
            <a:spAutoFit/>
          </a:bodyPr>
          <a:lstStyle/>
          <a:p>
            <a:pPr algn="l">
              <a:lnSpc>
                <a:spcPct val="125000"/>
              </a:lnSpc>
            </a:pPr>
            <a:r>
              <a:rPr sz="1500" b="0" i="1">
                <a:solidFill>
                  <a:srgbClr val="C9D2DE"/>
                </a:solidFill>
                <a:latin typeface="Times New Roman"/>
              </a:rPr>
              <a:t>“Frameworks do not replace strategic thinking. They discipline strategic thinking.”  The AI Strategy Evolution Framework organizes every lecture, case, laboratory, and milestone in the course.</a:t>
            </a:r>
          </a:p>
        </p:txBody>
      </p:sp>
      <p:sp>
        <p:nvSpPr>
          <p:cNvPr id="8" name="Rectangle 7"/>
          <p:cNvSpPr/>
          <p:nvPr/>
        </p:nvSpPr>
        <p:spPr>
          <a:xfrm>
            <a:off x="1051560" y="4956048"/>
            <a:ext cx="82296" cy="237744"/>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52728" y="4946904"/>
            <a:ext cx="2926080" cy="274320"/>
          </a:xfrm>
          <a:prstGeom prst="rect">
            <a:avLst/>
          </a:prstGeom>
          <a:noFill/>
        </p:spPr>
        <p:txBody>
          <a:bodyPr wrap="square" anchor="t" lIns="0" rIns="0" tIns="0" bIns="0">
            <a:spAutoFit/>
          </a:bodyPr>
          <a:lstStyle/>
          <a:p>
            <a:pPr algn="l"/>
            <a:r>
              <a:rPr sz="1150" b="1" i="0">
                <a:solidFill>
                  <a:srgbClr val="FFFFFF"/>
                </a:solidFill>
                <a:latin typeface="Times New Roman"/>
              </a:rPr>
              <a:t>Seven stages</a:t>
            </a:r>
          </a:p>
        </p:txBody>
      </p:sp>
      <p:sp>
        <p:nvSpPr>
          <p:cNvPr id="10" name="Rectangle 9"/>
          <p:cNvSpPr/>
          <p:nvPr/>
        </p:nvSpPr>
        <p:spPr>
          <a:xfrm>
            <a:off x="4297679" y="4956048"/>
            <a:ext cx="82296" cy="237744"/>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98847" y="4946904"/>
            <a:ext cx="2926080" cy="274320"/>
          </a:xfrm>
          <a:prstGeom prst="rect">
            <a:avLst/>
          </a:prstGeom>
          <a:noFill/>
        </p:spPr>
        <p:txBody>
          <a:bodyPr wrap="square" anchor="t" lIns="0" rIns="0" tIns="0" bIns="0">
            <a:spAutoFit/>
          </a:bodyPr>
          <a:lstStyle/>
          <a:p>
            <a:pPr algn="l"/>
            <a:r>
              <a:rPr sz="1150" b="1" i="0">
                <a:solidFill>
                  <a:srgbClr val="FFFFFF"/>
                </a:solidFill>
                <a:latin typeface="Times New Roman"/>
              </a:rPr>
              <a:t>One executive process</a:t>
            </a:r>
          </a:p>
        </p:txBody>
      </p:sp>
      <p:sp>
        <p:nvSpPr>
          <p:cNvPr id="12" name="Rectangle 11"/>
          <p:cNvSpPr/>
          <p:nvPr/>
        </p:nvSpPr>
        <p:spPr>
          <a:xfrm>
            <a:off x="7543800" y="4956048"/>
            <a:ext cx="82296" cy="237744"/>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44968" y="4946904"/>
            <a:ext cx="2926080" cy="274320"/>
          </a:xfrm>
          <a:prstGeom prst="rect">
            <a:avLst/>
          </a:prstGeom>
          <a:noFill/>
        </p:spPr>
        <p:txBody>
          <a:bodyPr wrap="square" anchor="t" lIns="0" rIns="0" tIns="0" bIns="0">
            <a:spAutoFit/>
          </a:bodyPr>
          <a:lstStyle/>
          <a:p>
            <a:pPr algn="l"/>
            <a:r>
              <a:rPr sz="1150" b="1" i="0">
                <a:solidFill>
                  <a:srgbClr val="FFFFFF"/>
                </a:solidFill>
                <a:latin typeface="Times New Roman"/>
              </a:rPr>
              <a:t>Applied all semester</a:t>
            </a:r>
          </a:p>
        </p:txBody>
      </p:sp>
      <p:sp>
        <p:nvSpPr>
          <p:cNvPr id="14" name="TextBox 13"/>
          <p:cNvSpPr txBox="1"/>
          <p:nvPr/>
        </p:nvSpPr>
        <p:spPr>
          <a:xfrm>
            <a:off x="11475720" y="6473952"/>
            <a:ext cx="457200" cy="182880"/>
          </a:xfrm>
          <a:prstGeom prst="rect">
            <a:avLst/>
          </a:prstGeom>
          <a:noFill/>
        </p:spPr>
        <p:txBody>
          <a:bodyPr wrap="square" anchor="t" lIns="0" rIns="0" tIns="0" bIns="0">
            <a:spAutoFit/>
          </a:bodyPr>
          <a:lstStyle/>
          <a:p>
            <a:pPr algn="r"/>
            <a:r>
              <a:rPr sz="800" b="0" i="0">
                <a:solidFill>
                  <a:srgbClr val="D4A017"/>
                </a:solidFill>
                <a:latin typeface="Times New Roman"/>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969" cy="164592"/>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969" cy="3657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411480"/>
            <a:ext cx="5943600" cy="228600"/>
          </a:xfrm>
          <a:prstGeom prst="rect">
            <a:avLst/>
          </a:prstGeom>
          <a:noFill/>
        </p:spPr>
        <p:txBody>
          <a:bodyPr wrap="square" anchor="t" lIns="0" rIns="0" tIns="0" bIns="0">
            <a:spAutoFit/>
          </a:bodyPr>
          <a:lstStyle/>
          <a:p>
            <a:pPr algn="l"/>
            <a:r>
              <a:rPr sz="850" b="1" i="0">
                <a:solidFill>
                  <a:srgbClr val="2A6F97"/>
                </a:solidFill>
                <a:latin typeface="Times New Roman"/>
              </a:rPr>
              <a:t>PART IV · THE AISE FRAMEWORK</a:t>
            </a:r>
          </a:p>
        </p:txBody>
      </p:sp>
      <p:sp>
        <p:nvSpPr>
          <p:cNvPr id="6" name="TextBox 5"/>
          <p:cNvSpPr txBox="1"/>
          <p:nvPr/>
        </p:nvSpPr>
        <p:spPr>
          <a:xfrm>
            <a:off x="502920" y="640080"/>
            <a:ext cx="9509760" cy="457200"/>
          </a:xfrm>
          <a:prstGeom prst="rect">
            <a:avLst/>
          </a:prstGeom>
          <a:noFill/>
        </p:spPr>
        <p:txBody>
          <a:bodyPr wrap="square" anchor="t" lIns="0" rIns="0" tIns="0" bIns="0">
            <a:spAutoFit/>
          </a:bodyPr>
          <a:lstStyle/>
          <a:p>
            <a:pPr algn="l"/>
            <a:r>
              <a:rPr sz="2400" b="1" i="0">
                <a:solidFill>
                  <a:srgbClr val="111827"/>
                </a:solidFill>
                <a:latin typeface="Times New Roman"/>
              </a:rPr>
              <a:t>Seven stages, seven questions</a:t>
            </a:r>
          </a:p>
        </p:txBody>
      </p:sp>
      <p:sp>
        <p:nvSpPr>
          <p:cNvPr id="7" name="TextBox 6"/>
          <p:cNvSpPr txBox="1"/>
          <p:nvPr/>
        </p:nvSpPr>
        <p:spPr>
          <a:xfrm>
            <a:off x="868680" y="1188720"/>
            <a:ext cx="10424160" cy="274320"/>
          </a:xfrm>
          <a:prstGeom prst="rect">
            <a:avLst/>
          </a:prstGeom>
          <a:noFill/>
        </p:spPr>
        <p:txBody>
          <a:bodyPr wrap="square" anchor="t" lIns="0" rIns="0" tIns="0" bIns="0">
            <a:spAutoFit/>
          </a:bodyPr>
          <a:lstStyle/>
          <a:p>
            <a:pPr algn="l"/>
            <a:r>
              <a:rPr sz="950" b="1" i="0">
                <a:solidFill>
                  <a:srgbClr val="2A6F97"/>
                </a:solidFill>
                <a:latin typeface="Times New Roman"/>
              </a:rPr>
              <a:t>ENVIRONMENTAL CHANGE  →  STRATEGIC RESPONSE</a:t>
            </a:r>
          </a:p>
        </p:txBody>
      </p:sp>
      <p:sp>
        <p:nvSpPr>
          <p:cNvPr id="8" name="Rectangle 7"/>
          <p:cNvSpPr/>
          <p:nvPr/>
        </p:nvSpPr>
        <p:spPr>
          <a:xfrm>
            <a:off x="868680" y="1463040"/>
            <a:ext cx="10424160" cy="585216"/>
          </a:xfrm>
          <a:prstGeom prst="rect">
            <a:avLst/>
          </a:prstGeom>
          <a:solidFill>
            <a:srgbClr val="F7F8FA"/>
          </a:solidFill>
          <a:ln w="9525">
            <a:solidFill>
              <a:srgbClr val="E2E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68680" y="1463040"/>
            <a:ext cx="548640" cy="585216"/>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1463040"/>
            <a:ext cx="548640" cy="585216"/>
          </a:xfrm>
          <a:prstGeom prst="rect">
            <a:avLst/>
          </a:prstGeom>
          <a:noFill/>
        </p:spPr>
        <p:txBody>
          <a:bodyPr wrap="square" anchor="ctr" lIns="0" rIns="0" tIns="0" bIns="0">
            <a:spAutoFit/>
          </a:bodyPr>
          <a:lstStyle/>
          <a:p>
            <a:pPr algn="ctr"/>
            <a:r>
              <a:rPr sz="1800" b="1" i="0">
                <a:solidFill>
                  <a:srgbClr val="FFFFFF"/>
                </a:solidFill>
                <a:latin typeface="Times New Roman"/>
              </a:rPr>
              <a:t>1</a:t>
            </a:r>
          </a:p>
        </p:txBody>
      </p:sp>
      <p:sp>
        <p:nvSpPr>
          <p:cNvPr id="11" name="TextBox 10"/>
          <p:cNvSpPr txBox="1"/>
          <p:nvPr/>
        </p:nvSpPr>
        <p:spPr>
          <a:xfrm>
            <a:off x="1645920" y="1463040"/>
            <a:ext cx="4023360" cy="585216"/>
          </a:xfrm>
          <a:prstGeom prst="rect">
            <a:avLst/>
          </a:prstGeom>
          <a:noFill/>
        </p:spPr>
        <p:txBody>
          <a:bodyPr wrap="square" anchor="ctr" lIns="0" rIns="0" tIns="0" bIns="0">
            <a:spAutoFit/>
          </a:bodyPr>
          <a:lstStyle/>
          <a:p>
            <a:pPr algn="l"/>
            <a:r>
              <a:rPr sz="1500" b="1" i="0">
                <a:solidFill>
                  <a:srgbClr val="10233F"/>
                </a:solidFill>
                <a:latin typeface="Times New Roman"/>
              </a:rPr>
              <a:t>Strategic Diagnosis</a:t>
            </a:r>
          </a:p>
        </p:txBody>
      </p:sp>
      <p:sp>
        <p:nvSpPr>
          <p:cNvPr id="12" name="TextBox 11"/>
          <p:cNvSpPr txBox="1"/>
          <p:nvPr/>
        </p:nvSpPr>
        <p:spPr>
          <a:xfrm>
            <a:off x="5852160" y="1463040"/>
            <a:ext cx="5257800" cy="585216"/>
          </a:xfrm>
          <a:prstGeom prst="rect">
            <a:avLst/>
          </a:prstGeom>
          <a:noFill/>
        </p:spPr>
        <p:txBody>
          <a:bodyPr wrap="square" anchor="ctr" lIns="0" rIns="0" tIns="0" bIns="0">
            <a:spAutoFit/>
          </a:bodyPr>
          <a:lstStyle/>
          <a:p>
            <a:pPr algn="l"/>
            <a:r>
              <a:rPr sz="1250" b="0" i="1">
                <a:solidFill>
                  <a:srgbClr val="4B5563"/>
                </a:solidFill>
                <a:latin typeface="Times New Roman"/>
              </a:rPr>
              <a:t>What strategic problem should the organization solve?</a:t>
            </a:r>
          </a:p>
        </p:txBody>
      </p:sp>
      <p:sp>
        <p:nvSpPr>
          <p:cNvPr id="13" name="Rectangle 12"/>
          <p:cNvSpPr/>
          <p:nvPr/>
        </p:nvSpPr>
        <p:spPr>
          <a:xfrm>
            <a:off x="868680" y="2103120"/>
            <a:ext cx="10424160" cy="585216"/>
          </a:xfrm>
          <a:prstGeom prst="rect">
            <a:avLst/>
          </a:prstGeom>
          <a:solidFill>
            <a:srgbClr val="FFFFFF"/>
          </a:solidFill>
          <a:ln w="9525">
            <a:solidFill>
              <a:srgbClr val="E2E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68680" y="2103120"/>
            <a:ext cx="548640" cy="585216"/>
          </a:xfrm>
          <a:prstGeom prst="rect">
            <a:avLst/>
          </a:prstGeom>
          <a:solidFill>
            <a:srgbClr val="2A6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2103120"/>
            <a:ext cx="548640" cy="585216"/>
          </a:xfrm>
          <a:prstGeom prst="rect">
            <a:avLst/>
          </a:prstGeom>
          <a:noFill/>
        </p:spPr>
        <p:txBody>
          <a:bodyPr wrap="square" anchor="ctr" lIns="0" rIns="0" tIns="0" bIns="0">
            <a:spAutoFit/>
          </a:bodyPr>
          <a:lstStyle/>
          <a:p>
            <a:pPr algn="ctr"/>
            <a:r>
              <a:rPr sz="1800" b="1" i="0">
                <a:solidFill>
                  <a:srgbClr val="FFFFFF"/>
                </a:solidFill>
                <a:latin typeface="Times New Roman"/>
              </a:rPr>
              <a:t>2</a:t>
            </a:r>
          </a:p>
        </p:txBody>
      </p:sp>
      <p:sp>
        <p:nvSpPr>
          <p:cNvPr id="16" name="TextBox 15"/>
          <p:cNvSpPr txBox="1"/>
          <p:nvPr/>
        </p:nvSpPr>
        <p:spPr>
          <a:xfrm>
            <a:off x="1645920" y="2103120"/>
            <a:ext cx="4023360" cy="585216"/>
          </a:xfrm>
          <a:prstGeom prst="rect">
            <a:avLst/>
          </a:prstGeom>
          <a:noFill/>
        </p:spPr>
        <p:txBody>
          <a:bodyPr wrap="square" anchor="ctr" lIns="0" rIns="0" tIns="0" bIns="0">
            <a:spAutoFit/>
          </a:bodyPr>
          <a:lstStyle/>
          <a:p>
            <a:pPr algn="l"/>
            <a:r>
              <a:rPr sz="1500" b="1" i="0">
                <a:solidFill>
                  <a:srgbClr val="10233F"/>
                </a:solidFill>
                <a:latin typeface="Times New Roman"/>
              </a:rPr>
              <a:t>Capability Assessment</a:t>
            </a:r>
          </a:p>
        </p:txBody>
      </p:sp>
      <p:sp>
        <p:nvSpPr>
          <p:cNvPr id="17" name="TextBox 16"/>
          <p:cNvSpPr txBox="1"/>
          <p:nvPr/>
        </p:nvSpPr>
        <p:spPr>
          <a:xfrm>
            <a:off x="5852160" y="2103120"/>
            <a:ext cx="5257800" cy="585216"/>
          </a:xfrm>
          <a:prstGeom prst="rect">
            <a:avLst/>
          </a:prstGeom>
          <a:noFill/>
        </p:spPr>
        <p:txBody>
          <a:bodyPr wrap="square" anchor="ctr" lIns="0" rIns="0" tIns="0" bIns="0">
            <a:spAutoFit/>
          </a:bodyPr>
          <a:lstStyle/>
          <a:p>
            <a:pPr algn="l"/>
            <a:r>
              <a:rPr sz="1250" b="0" i="1">
                <a:solidFill>
                  <a:srgbClr val="4B5563"/>
                </a:solidFill>
                <a:latin typeface="Times New Roman"/>
              </a:rPr>
              <a:t>What strategic capabilities does the organization possess?</a:t>
            </a:r>
          </a:p>
        </p:txBody>
      </p:sp>
      <p:sp>
        <p:nvSpPr>
          <p:cNvPr id="18" name="Rectangle 17"/>
          <p:cNvSpPr/>
          <p:nvPr/>
        </p:nvSpPr>
        <p:spPr>
          <a:xfrm>
            <a:off x="868680" y="2743200"/>
            <a:ext cx="10424160" cy="585216"/>
          </a:xfrm>
          <a:prstGeom prst="rect">
            <a:avLst/>
          </a:prstGeom>
          <a:solidFill>
            <a:srgbClr val="F7F8FA"/>
          </a:solidFill>
          <a:ln w="9525">
            <a:solidFill>
              <a:srgbClr val="E2E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68680" y="2743200"/>
            <a:ext cx="548640" cy="585216"/>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2743200"/>
            <a:ext cx="548640" cy="585216"/>
          </a:xfrm>
          <a:prstGeom prst="rect">
            <a:avLst/>
          </a:prstGeom>
          <a:noFill/>
        </p:spPr>
        <p:txBody>
          <a:bodyPr wrap="square" anchor="ctr" lIns="0" rIns="0" tIns="0" bIns="0">
            <a:spAutoFit/>
          </a:bodyPr>
          <a:lstStyle/>
          <a:p>
            <a:pPr algn="ctr"/>
            <a:r>
              <a:rPr sz="1800" b="1" i="0">
                <a:solidFill>
                  <a:srgbClr val="FFFFFF"/>
                </a:solidFill>
                <a:latin typeface="Times New Roman"/>
              </a:rPr>
              <a:t>3</a:t>
            </a:r>
          </a:p>
        </p:txBody>
      </p:sp>
      <p:sp>
        <p:nvSpPr>
          <p:cNvPr id="21" name="TextBox 20"/>
          <p:cNvSpPr txBox="1"/>
          <p:nvPr/>
        </p:nvSpPr>
        <p:spPr>
          <a:xfrm>
            <a:off x="1645920" y="2743200"/>
            <a:ext cx="4023360" cy="585216"/>
          </a:xfrm>
          <a:prstGeom prst="rect">
            <a:avLst/>
          </a:prstGeom>
          <a:noFill/>
        </p:spPr>
        <p:txBody>
          <a:bodyPr wrap="square" anchor="ctr" lIns="0" rIns="0" tIns="0" bIns="0">
            <a:spAutoFit/>
          </a:bodyPr>
          <a:lstStyle/>
          <a:p>
            <a:pPr algn="l"/>
            <a:r>
              <a:rPr sz="1500" b="1" i="0">
                <a:solidFill>
                  <a:srgbClr val="10233F"/>
                </a:solidFill>
                <a:latin typeface="Times New Roman"/>
              </a:rPr>
              <a:t>AI Opportunity Identification</a:t>
            </a:r>
          </a:p>
        </p:txBody>
      </p:sp>
      <p:sp>
        <p:nvSpPr>
          <p:cNvPr id="22" name="TextBox 21"/>
          <p:cNvSpPr txBox="1"/>
          <p:nvPr/>
        </p:nvSpPr>
        <p:spPr>
          <a:xfrm>
            <a:off x="5852160" y="2743200"/>
            <a:ext cx="5257800" cy="585216"/>
          </a:xfrm>
          <a:prstGeom prst="rect">
            <a:avLst/>
          </a:prstGeom>
          <a:noFill/>
        </p:spPr>
        <p:txBody>
          <a:bodyPr wrap="square" anchor="ctr" lIns="0" rIns="0" tIns="0" bIns="0">
            <a:spAutoFit/>
          </a:bodyPr>
          <a:lstStyle/>
          <a:p>
            <a:pPr algn="l"/>
            <a:r>
              <a:rPr sz="1250" b="0" i="1">
                <a:solidFill>
                  <a:srgbClr val="4B5563"/>
                </a:solidFill>
                <a:latin typeface="Times New Roman"/>
              </a:rPr>
              <a:t>Where can AI create strategic value?</a:t>
            </a:r>
          </a:p>
        </p:txBody>
      </p:sp>
      <p:sp>
        <p:nvSpPr>
          <p:cNvPr id="23" name="Rectangle 22"/>
          <p:cNvSpPr/>
          <p:nvPr/>
        </p:nvSpPr>
        <p:spPr>
          <a:xfrm>
            <a:off x="868680" y="3383280"/>
            <a:ext cx="10424160" cy="585216"/>
          </a:xfrm>
          <a:prstGeom prst="rect">
            <a:avLst/>
          </a:prstGeom>
          <a:solidFill>
            <a:srgbClr val="FFFFFF"/>
          </a:solidFill>
          <a:ln w="9525">
            <a:solidFill>
              <a:srgbClr val="E2E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68680" y="3383280"/>
            <a:ext cx="548640" cy="585216"/>
          </a:xfrm>
          <a:prstGeom prst="rect">
            <a:avLst/>
          </a:prstGeom>
          <a:solidFill>
            <a:srgbClr val="2A6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8680" y="3383280"/>
            <a:ext cx="548640" cy="585216"/>
          </a:xfrm>
          <a:prstGeom prst="rect">
            <a:avLst/>
          </a:prstGeom>
          <a:noFill/>
        </p:spPr>
        <p:txBody>
          <a:bodyPr wrap="square" anchor="ctr" lIns="0" rIns="0" tIns="0" bIns="0">
            <a:spAutoFit/>
          </a:bodyPr>
          <a:lstStyle/>
          <a:p>
            <a:pPr algn="ctr"/>
            <a:r>
              <a:rPr sz="1800" b="1" i="0">
                <a:solidFill>
                  <a:srgbClr val="FFFFFF"/>
                </a:solidFill>
                <a:latin typeface="Times New Roman"/>
              </a:rPr>
              <a:t>4</a:t>
            </a:r>
          </a:p>
        </p:txBody>
      </p:sp>
      <p:sp>
        <p:nvSpPr>
          <p:cNvPr id="26" name="TextBox 25"/>
          <p:cNvSpPr txBox="1"/>
          <p:nvPr/>
        </p:nvSpPr>
        <p:spPr>
          <a:xfrm>
            <a:off x="1645920" y="3383280"/>
            <a:ext cx="4023360" cy="585216"/>
          </a:xfrm>
          <a:prstGeom prst="rect">
            <a:avLst/>
          </a:prstGeom>
          <a:noFill/>
        </p:spPr>
        <p:txBody>
          <a:bodyPr wrap="square" anchor="ctr" lIns="0" rIns="0" tIns="0" bIns="0">
            <a:spAutoFit/>
          </a:bodyPr>
          <a:lstStyle/>
          <a:p>
            <a:pPr algn="l"/>
            <a:r>
              <a:rPr sz="1500" b="1" i="0">
                <a:solidFill>
                  <a:srgbClr val="10233F"/>
                </a:solidFill>
                <a:latin typeface="Times New Roman"/>
              </a:rPr>
              <a:t>Strategic Choice</a:t>
            </a:r>
          </a:p>
        </p:txBody>
      </p:sp>
      <p:sp>
        <p:nvSpPr>
          <p:cNvPr id="27" name="TextBox 26"/>
          <p:cNvSpPr txBox="1"/>
          <p:nvPr/>
        </p:nvSpPr>
        <p:spPr>
          <a:xfrm>
            <a:off x="5852160" y="3383280"/>
            <a:ext cx="5257800" cy="585216"/>
          </a:xfrm>
          <a:prstGeom prst="rect">
            <a:avLst/>
          </a:prstGeom>
          <a:noFill/>
        </p:spPr>
        <p:txBody>
          <a:bodyPr wrap="square" anchor="ctr" lIns="0" rIns="0" tIns="0" bIns="0">
            <a:spAutoFit/>
          </a:bodyPr>
          <a:lstStyle/>
          <a:p>
            <a:pPr algn="l"/>
            <a:r>
              <a:rPr sz="1250" b="0" i="1">
                <a:solidFill>
                  <a:srgbClr val="4B5563"/>
                </a:solidFill>
                <a:latin typeface="Times New Roman"/>
              </a:rPr>
              <a:t>What alternative creates the greatest long-term value?</a:t>
            </a:r>
          </a:p>
        </p:txBody>
      </p:sp>
      <p:sp>
        <p:nvSpPr>
          <p:cNvPr id="28" name="Rectangle 27"/>
          <p:cNvSpPr/>
          <p:nvPr/>
        </p:nvSpPr>
        <p:spPr>
          <a:xfrm>
            <a:off x="868680" y="4023360"/>
            <a:ext cx="10424160" cy="585216"/>
          </a:xfrm>
          <a:prstGeom prst="rect">
            <a:avLst/>
          </a:prstGeom>
          <a:solidFill>
            <a:srgbClr val="F7F8FA"/>
          </a:solidFill>
          <a:ln w="9525">
            <a:solidFill>
              <a:srgbClr val="E2E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68680" y="4023360"/>
            <a:ext cx="548640" cy="585216"/>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4023360"/>
            <a:ext cx="548640" cy="585216"/>
          </a:xfrm>
          <a:prstGeom prst="rect">
            <a:avLst/>
          </a:prstGeom>
          <a:noFill/>
        </p:spPr>
        <p:txBody>
          <a:bodyPr wrap="square" anchor="ctr" lIns="0" rIns="0" tIns="0" bIns="0">
            <a:spAutoFit/>
          </a:bodyPr>
          <a:lstStyle/>
          <a:p>
            <a:pPr algn="ctr"/>
            <a:r>
              <a:rPr sz="1800" b="1" i="0">
                <a:solidFill>
                  <a:srgbClr val="FFFFFF"/>
                </a:solidFill>
                <a:latin typeface="Times New Roman"/>
              </a:rPr>
              <a:t>5</a:t>
            </a:r>
          </a:p>
        </p:txBody>
      </p:sp>
      <p:sp>
        <p:nvSpPr>
          <p:cNvPr id="31" name="TextBox 30"/>
          <p:cNvSpPr txBox="1"/>
          <p:nvPr/>
        </p:nvSpPr>
        <p:spPr>
          <a:xfrm>
            <a:off x="1645920" y="4023360"/>
            <a:ext cx="4023360" cy="585216"/>
          </a:xfrm>
          <a:prstGeom prst="rect">
            <a:avLst/>
          </a:prstGeom>
          <a:noFill/>
        </p:spPr>
        <p:txBody>
          <a:bodyPr wrap="square" anchor="ctr" lIns="0" rIns="0" tIns="0" bIns="0">
            <a:spAutoFit/>
          </a:bodyPr>
          <a:lstStyle/>
          <a:p>
            <a:pPr algn="l"/>
            <a:r>
              <a:rPr sz="1500" b="1" i="0">
                <a:solidFill>
                  <a:srgbClr val="10233F"/>
                </a:solidFill>
                <a:latin typeface="Times New Roman"/>
              </a:rPr>
              <a:t>Governance &amp; Risk</a:t>
            </a:r>
          </a:p>
        </p:txBody>
      </p:sp>
      <p:sp>
        <p:nvSpPr>
          <p:cNvPr id="32" name="TextBox 31"/>
          <p:cNvSpPr txBox="1"/>
          <p:nvPr/>
        </p:nvSpPr>
        <p:spPr>
          <a:xfrm>
            <a:off x="5852160" y="4023360"/>
            <a:ext cx="5257800" cy="585216"/>
          </a:xfrm>
          <a:prstGeom prst="rect">
            <a:avLst/>
          </a:prstGeom>
          <a:noFill/>
        </p:spPr>
        <p:txBody>
          <a:bodyPr wrap="square" anchor="ctr" lIns="0" rIns="0" tIns="0" bIns="0">
            <a:spAutoFit/>
          </a:bodyPr>
          <a:lstStyle/>
          <a:p>
            <a:pPr algn="l"/>
            <a:r>
              <a:rPr sz="1250" b="0" i="1">
                <a:solidFill>
                  <a:srgbClr val="4B5563"/>
                </a:solidFill>
                <a:latin typeface="Times New Roman"/>
              </a:rPr>
              <a:t>How should AI be governed responsibly?</a:t>
            </a:r>
          </a:p>
        </p:txBody>
      </p:sp>
      <p:sp>
        <p:nvSpPr>
          <p:cNvPr id="33" name="Rectangle 32"/>
          <p:cNvSpPr/>
          <p:nvPr/>
        </p:nvSpPr>
        <p:spPr>
          <a:xfrm>
            <a:off x="868680" y="4663440"/>
            <a:ext cx="10424160" cy="585216"/>
          </a:xfrm>
          <a:prstGeom prst="rect">
            <a:avLst/>
          </a:prstGeom>
          <a:solidFill>
            <a:srgbClr val="FFFFFF"/>
          </a:solidFill>
          <a:ln w="9525">
            <a:solidFill>
              <a:srgbClr val="E2E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68680" y="4663440"/>
            <a:ext cx="548640" cy="585216"/>
          </a:xfrm>
          <a:prstGeom prst="rect">
            <a:avLst/>
          </a:prstGeom>
          <a:solidFill>
            <a:srgbClr val="2A6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68680" y="4663440"/>
            <a:ext cx="548640" cy="585216"/>
          </a:xfrm>
          <a:prstGeom prst="rect">
            <a:avLst/>
          </a:prstGeom>
          <a:noFill/>
        </p:spPr>
        <p:txBody>
          <a:bodyPr wrap="square" anchor="ctr" lIns="0" rIns="0" tIns="0" bIns="0">
            <a:spAutoFit/>
          </a:bodyPr>
          <a:lstStyle/>
          <a:p>
            <a:pPr algn="ctr"/>
            <a:r>
              <a:rPr sz="1800" b="1" i="0">
                <a:solidFill>
                  <a:srgbClr val="FFFFFF"/>
                </a:solidFill>
                <a:latin typeface="Times New Roman"/>
              </a:rPr>
              <a:t>6</a:t>
            </a:r>
          </a:p>
        </p:txBody>
      </p:sp>
      <p:sp>
        <p:nvSpPr>
          <p:cNvPr id="36" name="TextBox 35"/>
          <p:cNvSpPr txBox="1"/>
          <p:nvPr/>
        </p:nvSpPr>
        <p:spPr>
          <a:xfrm>
            <a:off x="1645920" y="4663440"/>
            <a:ext cx="4023360" cy="585216"/>
          </a:xfrm>
          <a:prstGeom prst="rect">
            <a:avLst/>
          </a:prstGeom>
          <a:noFill/>
        </p:spPr>
        <p:txBody>
          <a:bodyPr wrap="square" anchor="ctr" lIns="0" rIns="0" tIns="0" bIns="0">
            <a:spAutoFit/>
          </a:bodyPr>
          <a:lstStyle/>
          <a:p>
            <a:pPr algn="l"/>
            <a:r>
              <a:rPr sz="1500" b="1" i="0">
                <a:solidFill>
                  <a:srgbClr val="10233F"/>
                </a:solidFill>
                <a:latin typeface="Times New Roman"/>
              </a:rPr>
              <a:t>Organizational Transformation</a:t>
            </a:r>
          </a:p>
        </p:txBody>
      </p:sp>
      <p:sp>
        <p:nvSpPr>
          <p:cNvPr id="37" name="TextBox 36"/>
          <p:cNvSpPr txBox="1"/>
          <p:nvPr/>
        </p:nvSpPr>
        <p:spPr>
          <a:xfrm>
            <a:off x="5852160" y="4663440"/>
            <a:ext cx="5257800" cy="585216"/>
          </a:xfrm>
          <a:prstGeom prst="rect">
            <a:avLst/>
          </a:prstGeom>
          <a:noFill/>
        </p:spPr>
        <p:txBody>
          <a:bodyPr wrap="square" anchor="ctr" lIns="0" rIns="0" tIns="0" bIns="0">
            <a:spAutoFit/>
          </a:bodyPr>
          <a:lstStyle/>
          <a:p>
            <a:pPr algn="l"/>
            <a:r>
              <a:rPr sz="1250" b="0" i="1">
                <a:solidFill>
                  <a:srgbClr val="4B5563"/>
                </a:solidFill>
                <a:latin typeface="Times New Roman"/>
              </a:rPr>
              <a:t>How should the organization change?</a:t>
            </a:r>
          </a:p>
        </p:txBody>
      </p:sp>
      <p:sp>
        <p:nvSpPr>
          <p:cNvPr id="38" name="Rectangle 37"/>
          <p:cNvSpPr/>
          <p:nvPr/>
        </p:nvSpPr>
        <p:spPr>
          <a:xfrm>
            <a:off x="868680" y="5303520"/>
            <a:ext cx="10424160" cy="585216"/>
          </a:xfrm>
          <a:prstGeom prst="rect">
            <a:avLst/>
          </a:prstGeom>
          <a:solidFill>
            <a:srgbClr val="F7F8FA"/>
          </a:solidFill>
          <a:ln w="9525">
            <a:solidFill>
              <a:srgbClr val="E2E5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68680" y="5303520"/>
            <a:ext cx="548640" cy="58521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68680" y="5303520"/>
            <a:ext cx="548640" cy="585216"/>
          </a:xfrm>
          <a:prstGeom prst="rect">
            <a:avLst/>
          </a:prstGeom>
          <a:noFill/>
        </p:spPr>
        <p:txBody>
          <a:bodyPr wrap="square" anchor="ctr" lIns="0" rIns="0" tIns="0" bIns="0">
            <a:spAutoFit/>
          </a:bodyPr>
          <a:lstStyle/>
          <a:p>
            <a:pPr algn="ctr"/>
            <a:r>
              <a:rPr sz="1800" b="1" i="0">
                <a:solidFill>
                  <a:srgbClr val="10233F"/>
                </a:solidFill>
                <a:latin typeface="Times New Roman"/>
              </a:rPr>
              <a:t>7</a:t>
            </a:r>
          </a:p>
        </p:txBody>
      </p:sp>
      <p:sp>
        <p:nvSpPr>
          <p:cNvPr id="41" name="TextBox 40"/>
          <p:cNvSpPr txBox="1"/>
          <p:nvPr/>
        </p:nvSpPr>
        <p:spPr>
          <a:xfrm>
            <a:off x="1645920" y="5303520"/>
            <a:ext cx="4023360" cy="585216"/>
          </a:xfrm>
          <a:prstGeom prst="rect">
            <a:avLst/>
          </a:prstGeom>
          <a:noFill/>
        </p:spPr>
        <p:txBody>
          <a:bodyPr wrap="square" anchor="ctr" lIns="0" rIns="0" tIns="0" bIns="0">
            <a:spAutoFit/>
          </a:bodyPr>
          <a:lstStyle/>
          <a:p>
            <a:pPr algn="l"/>
            <a:r>
              <a:rPr sz="1500" b="1" i="0">
                <a:solidFill>
                  <a:srgbClr val="10233F"/>
                </a:solidFill>
                <a:latin typeface="Times New Roman"/>
              </a:rPr>
              <a:t>Continuous Learning &amp; Renewal</a:t>
            </a:r>
          </a:p>
        </p:txBody>
      </p:sp>
      <p:sp>
        <p:nvSpPr>
          <p:cNvPr id="42" name="TextBox 41"/>
          <p:cNvSpPr txBox="1"/>
          <p:nvPr/>
        </p:nvSpPr>
        <p:spPr>
          <a:xfrm>
            <a:off x="5852160" y="5303520"/>
            <a:ext cx="5257800" cy="585216"/>
          </a:xfrm>
          <a:prstGeom prst="rect">
            <a:avLst/>
          </a:prstGeom>
          <a:noFill/>
        </p:spPr>
        <p:txBody>
          <a:bodyPr wrap="square" anchor="ctr" lIns="0" rIns="0" tIns="0" bIns="0">
            <a:spAutoFit/>
          </a:bodyPr>
          <a:lstStyle/>
          <a:p>
            <a:pPr algn="l"/>
            <a:r>
              <a:rPr sz="1250" b="0" i="1">
                <a:solidFill>
                  <a:srgbClr val="4B5563"/>
                </a:solidFill>
                <a:latin typeface="Times New Roman"/>
              </a:rPr>
              <a:t>How will the organization sustain advantage?</a:t>
            </a:r>
          </a:p>
        </p:txBody>
      </p:sp>
      <p:sp>
        <p:nvSpPr>
          <p:cNvPr id="43" name="Rectangle 42"/>
          <p:cNvSpPr/>
          <p:nvPr/>
        </p:nvSpPr>
        <p:spPr>
          <a:xfrm>
            <a:off x="868680" y="5961888"/>
            <a:ext cx="36576" cy="31089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69848" y="5961888"/>
            <a:ext cx="10424160" cy="365760"/>
          </a:xfrm>
          <a:prstGeom prst="rect">
            <a:avLst/>
          </a:prstGeom>
          <a:noFill/>
        </p:spPr>
        <p:txBody>
          <a:bodyPr wrap="square" anchor="ctr" lIns="0" rIns="0" tIns="0" bIns="0">
            <a:spAutoFit/>
          </a:bodyPr>
          <a:lstStyle/>
          <a:p>
            <a:pPr algn="l"/>
            <a:r>
              <a:rPr sz="1350" b="1" i="1">
                <a:solidFill>
                  <a:srgbClr val="10233F"/>
                </a:solidFill>
                <a:latin typeface="Times New Roman"/>
              </a:rPr>
              <a:t>Strategy is an ongoing process, not a one-time plan — stage seven returns you to stage one.</a:t>
            </a:r>
          </a:p>
        </p:txBody>
      </p:sp>
      <p:sp>
        <p:nvSpPr>
          <p:cNvPr id="45" name="TextBox 44"/>
          <p:cNvSpPr txBox="1"/>
          <p:nvPr/>
        </p:nvSpPr>
        <p:spPr>
          <a:xfrm>
            <a:off x="11475720" y="6473952"/>
            <a:ext cx="457200" cy="182880"/>
          </a:xfrm>
          <a:prstGeom prst="rect">
            <a:avLst/>
          </a:prstGeom>
          <a:noFill/>
        </p:spPr>
        <p:txBody>
          <a:bodyPr wrap="square" anchor="t" lIns="0" rIns="0" tIns="0" bIns="0">
            <a:spAutoFit/>
          </a:bodyPr>
          <a:lstStyle/>
          <a:p>
            <a:pPr algn="r"/>
            <a:r>
              <a:rPr sz="800" b="0" i="0">
                <a:solidFill>
                  <a:srgbClr val="9CA3AF"/>
                </a:solidFill>
                <a:latin typeface="Times New Roman"/>
              </a:rPr>
              <a:t>43</a:t>
            </a:r>
          </a:p>
        </p:txBody>
      </p:sp>
      <p:sp>
        <p:nvSpPr>
          <p:cNvPr id="46" name="TextBox 45"/>
          <p:cNvSpPr txBox="1"/>
          <p:nvPr/>
        </p:nvSpPr>
        <p:spPr>
          <a:xfrm>
            <a:off x="502920" y="6473952"/>
            <a:ext cx="6400800" cy="182880"/>
          </a:xfrm>
          <a:prstGeom prst="rect">
            <a:avLst/>
          </a:prstGeom>
          <a:noFill/>
        </p:spPr>
        <p:txBody>
          <a:bodyPr wrap="square" anchor="t" lIns="0" rIns="0" tIns="0" bIns="0">
            <a:spAutoFit/>
          </a:bodyPr>
          <a:lstStyle/>
          <a:p>
            <a:pPr algn="l"/>
            <a:r>
              <a:rPr sz="720" b="0" i="0">
                <a:solidFill>
                  <a:srgbClr val="6B7280"/>
                </a:solidFill>
                <a:latin typeface="Times New Roman"/>
              </a:rPr>
              <a:t>Strategic Management in the Age of AI · MGMT 465/665 · Course Introduction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969" cy="164592"/>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969" cy="3657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411480"/>
            <a:ext cx="5943600" cy="228600"/>
          </a:xfrm>
          <a:prstGeom prst="rect">
            <a:avLst/>
          </a:prstGeom>
          <a:noFill/>
        </p:spPr>
        <p:txBody>
          <a:bodyPr wrap="square" anchor="t" lIns="0" rIns="0" tIns="0" bIns="0">
            <a:spAutoFit/>
          </a:bodyPr>
          <a:lstStyle/>
          <a:p>
            <a:pPr algn="l"/>
            <a:r>
              <a:rPr sz="850" b="1" i="0">
                <a:solidFill>
                  <a:srgbClr val="2A6F97"/>
                </a:solidFill>
                <a:latin typeface="Times New Roman"/>
              </a:rPr>
              <a:t>PART IV · STAGES 1 AND 2</a:t>
            </a:r>
          </a:p>
        </p:txBody>
      </p:sp>
      <p:sp>
        <p:nvSpPr>
          <p:cNvPr id="6" name="TextBox 5"/>
          <p:cNvSpPr txBox="1"/>
          <p:nvPr/>
        </p:nvSpPr>
        <p:spPr>
          <a:xfrm>
            <a:off x="502920" y="640080"/>
            <a:ext cx="9509760" cy="457200"/>
          </a:xfrm>
          <a:prstGeom prst="rect">
            <a:avLst/>
          </a:prstGeom>
          <a:noFill/>
        </p:spPr>
        <p:txBody>
          <a:bodyPr wrap="square" anchor="t" lIns="0" rIns="0" tIns="0" bIns="0">
            <a:spAutoFit/>
          </a:bodyPr>
          <a:lstStyle/>
          <a:p>
            <a:pPr algn="l"/>
            <a:r>
              <a:rPr sz="2400" b="1" i="0">
                <a:solidFill>
                  <a:srgbClr val="111827"/>
                </a:solidFill>
                <a:latin typeface="Times New Roman"/>
              </a:rPr>
              <a:t>Diagnosis and capability assessment</a:t>
            </a:r>
          </a:p>
        </p:txBody>
      </p:sp>
      <p:sp>
        <p:nvSpPr>
          <p:cNvPr id="7" name="Rectangle 6"/>
          <p:cNvSpPr/>
          <p:nvPr/>
        </p:nvSpPr>
        <p:spPr>
          <a:xfrm>
            <a:off x="868680" y="1481328"/>
            <a:ext cx="5047488" cy="1152144"/>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6424" y="1481328"/>
            <a:ext cx="4572000" cy="1152144"/>
          </a:xfrm>
          <a:prstGeom prst="rect">
            <a:avLst/>
          </a:prstGeom>
          <a:noFill/>
        </p:spPr>
        <p:txBody>
          <a:bodyPr wrap="square" anchor="ctr" lIns="0" rIns="0" tIns="0" bIns="0">
            <a:spAutoFit/>
          </a:bodyPr>
          <a:lstStyle/>
          <a:p>
            <a:pPr algn="l">
              <a:spcAft>
                <a:spcPts val="600"/>
              </a:spcAft>
            </a:pPr>
            <a:r>
              <a:rPr sz="950" b="1" i="0">
                <a:solidFill>
                  <a:srgbClr val="D4A017"/>
                </a:solidFill>
                <a:latin typeface="Times New Roman"/>
              </a:rPr>
              <a:t>STAGE 01</a:t>
            </a:r>
          </a:p>
          <a:p>
            <a:pPr algn="l">
              <a:spcAft>
                <a:spcPts val="700"/>
              </a:spcAft>
            </a:pPr>
            <a:r>
              <a:rPr sz="1900" b="1" i="0">
                <a:solidFill>
                  <a:srgbClr val="FFFFFF"/>
                </a:solidFill>
                <a:latin typeface="Times New Roman"/>
              </a:rPr>
              <a:t>Strategic Diagnosis</a:t>
            </a:r>
          </a:p>
          <a:p>
            <a:pPr algn="l"/>
            <a:r>
              <a:rPr sz="1200" b="0" i="1">
                <a:solidFill>
                  <a:srgbClr val="C9D2DE"/>
                </a:solidFill>
                <a:latin typeface="Times New Roman"/>
              </a:rPr>
              <a:t>What strategic problem should the organization solve?</a:t>
            </a:r>
          </a:p>
        </p:txBody>
      </p:sp>
      <p:sp>
        <p:nvSpPr>
          <p:cNvPr id="9" name="Rectangle 8"/>
          <p:cNvSpPr/>
          <p:nvPr/>
        </p:nvSpPr>
        <p:spPr>
          <a:xfrm>
            <a:off x="868680" y="2724912"/>
            <a:ext cx="5047488" cy="228600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06424" y="2944368"/>
            <a:ext cx="4572000" cy="1920240"/>
          </a:xfrm>
          <a:prstGeom prst="rect">
            <a:avLst/>
          </a:prstGeom>
          <a:noFill/>
        </p:spPr>
        <p:txBody>
          <a:bodyPr wrap="square" anchor="t" lIns="0" rIns="0" tIns="0" bIns="0">
            <a:spAutoFit/>
          </a:bodyPr>
          <a:lstStyle/>
          <a:p>
            <a:pPr algn="l">
              <a:spcAft>
                <a:spcPts val="900"/>
              </a:spcAft>
            </a:pPr>
            <a:r>
              <a:rPr sz="900" b="1" i="0">
                <a:solidFill>
                  <a:srgbClr val="2A6F97"/>
                </a:solidFill>
                <a:latin typeface="Times New Roman"/>
              </a:rPr>
              <a:t>WHAT STUDENTS EVALUATE</a:t>
            </a:r>
          </a:p>
          <a:p>
            <a:pPr algn="l">
              <a:lnSpc>
                <a:spcPct val="114000"/>
              </a:lnSpc>
              <a:spcAft>
                <a:spcPts val="250"/>
              </a:spcAft>
            </a:pPr>
            <a:r>
              <a:rPr sz="1250" b="0" i="0">
                <a:solidFill>
                  <a:srgbClr val="111827"/>
                </a:solidFill>
                <a:latin typeface="Times New Roman"/>
              </a:rPr>
              <a:t>—  Industry analysis</a:t>
            </a:r>
          </a:p>
          <a:p>
            <a:pPr algn="l">
              <a:lnSpc>
                <a:spcPct val="114000"/>
              </a:lnSpc>
              <a:spcAft>
                <a:spcPts val="250"/>
              </a:spcAft>
            </a:pPr>
            <a:r>
              <a:rPr sz="1250" b="0" i="0">
                <a:solidFill>
                  <a:srgbClr val="111827"/>
                </a:solidFill>
                <a:latin typeface="Times New Roman"/>
              </a:rPr>
              <a:t>—  Competitive positioning</a:t>
            </a:r>
          </a:p>
          <a:p>
            <a:pPr algn="l">
              <a:lnSpc>
                <a:spcPct val="114000"/>
              </a:lnSpc>
              <a:spcAft>
                <a:spcPts val="250"/>
              </a:spcAft>
            </a:pPr>
            <a:r>
              <a:rPr sz="1250" b="0" i="0">
                <a:solidFill>
                  <a:srgbClr val="111827"/>
                </a:solidFill>
                <a:latin typeface="Times New Roman"/>
              </a:rPr>
              <a:t>—  Customer value proposition</a:t>
            </a:r>
          </a:p>
          <a:p>
            <a:pPr algn="l">
              <a:lnSpc>
                <a:spcPct val="114000"/>
              </a:lnSpc>
              <a:spcAft>
                <a:spcPts val="250"/>
              </a:spcAft>
            </a:pPr>
            <a:r>
              <a:rPr sz="1250" b="0" i="0">
                <a:solidFill>
                  <a:srgbClr val="111827"/>
                </a:solidFill>
                <a:latin typeface="Times New Roman"/>
              </a:rPr>
              <a:t>—  Market trends</a:t>
            </a:r>
          </a:p>
          <a:p>
            <a:pPr algn="l">
              <a:lnSpc>
                <a:spcPct val="114000"/>
              </a:lnSpc>
              <a:spcAft>
                <a:spcPts val="250"/>
              </a:spcAft>
            </a:pPr>
            <a:r>
              <a:rPr sz="1250" b="0" i="0">
                <a:solidFill>
                  <a:srgbClr val="111827"/>
                </a:solidFill>
                <a:latin typeface="Times New Roman"/>
              </a:rPr>
              <a:t>—  Technology disruption</a:t>
            </a:r>
          </a:p>
          <a:p>
            <a:pPr algn="l">
              <a:lnSpc>
                <a:spcPct val="114000"/>
              </a:lnSpc>
              <a:spcAft>
                <a:spcPts val="250"/>
              </a:spcAft>
            </a:pPr>
            <a:r>
              <a:rPr sz="1250" b="0" i="0">
                <a:solidFill>
                  <a:srgbClr val="111827"/>
                </a:solidFill>
                <a:latin typeface="Times New Roman"/>
              </a:rPr>
              <a:t>—  Stakeholder analysis</a:t>
            </a:r>
          </a:p>
          <a:p>
            <a:pPr algn="l">
              <a:lnSpc>
                <a:spcPct val="114000"/>
              </a:lnSpc>
              <a:spcAft>
                <a:spcPts val="250"/>
              </a:spcAft>
            </a:pPr>
            <a:r>
              <a:rPr sz="1250" b="0" i="0">
                <a:solidFill>
                  <a:srgbClr val="111827"/>
                </a:solidFill>
                <a:latin typeface="Times New Roman"/>
              </a:rPr>
              <a:t>—  Macroenvironmental scanning</a:t>
            </a:r>
          </a:p>
        </p:txBody>
      </p:sp>
      <p:sp>
        <p:nvSpPr>
          <p:cNvPr id="11" name="Rectangle 10"/>
          <p:cNvSpPr/>
          <p:nvPr/>
        </p:nvSpPr>
        <p:spPr>
          <a:xfrm>
            <a:off x="868680" y="5065776"/>
            <a:ext cx="5047488" cy="804672"/>
          </a:xfrm>
          <a:prstGeom prst="rect">
            <a:avLst/>
          </a:prstGeom>
          <a:solidFill>
            <a:srgbClr val="F6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06424" y="5065776"/>
            <a:ext cx="4572000" cy="804672"/>
          </a:xfrm>
          <a:prstGeom prst="rect">
            <a:avLst/>
          </a:prstGeom>
          <a:noFill/>
        </p:spPr>
        <p:txBody>
          <a:bodyPr wrap="square" anchor="ctr" lIns="0" rIns="0" tIns="0" bIns="0">
            <a:spAutoFit/>
          </a:bodyPr>
          <a:lstStyle/>
          <a:p>
            <a:pPr algn="l">
              <a:lnSpc>
                <a:spcPct val="120000"/>
              </a:lnSpc>
            </a:pPr>
            <a:r>
              <a:rPr sz="1150" b="0" i="1">
                <a:solidFill>
                  <a:srgbClr val="10233F"/>
                </a:solidFill>
                <a:latin typeface="Times New Roman"/>
              </a:rPr>
              <a:t>AI is examined here as an external force reshaping industry structure and competitive dynamics.</a:t>
            </a:r>
          </a:p>
        </p:txBody>
      </p:sp>
      <p:sp>
        <p:nvSpPr>
          <p:cNvPr id="13" name="Rectangle 12"/>
          <p:cNvSpPr/>
          <p:nvPr/>
        </p:nvSpPr>
        <p:spPr>
          <a:xfrm>
            <a:off x="6245352" y="1481328"/>
            <a:ext cx="5047488" cy="1152144"/>
          </a:xfrm>
          <a:prstGeom prst="rect">
            <a:avLst/>
          </a:prstGeom>
          <a:solidFill>
            <a:srgbClr val="2A6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3096" y="1481328"/>
            <a:ext cx="4572000" cy="1152144"/>
          </a:xfrm>
          <a:prstGeom prst="rect">
            <a:avLst/>
          </a:prstGeom>
          <a:noFill/>
        </p:spPr>
        <p:txBody>
          <a:bodyPr wrap="square" anchor="ctr" lIns="0" rIns="0" tIns="0" bIns="0">
            <a:spAutoFit/>
          </a:bodyPr>
          <a:lstStyle/>
          <a:p>
            <a:pPr algn="l">
              <a:spcAft>
                <a:spcPts val="600"/>
              </a:spcAft>
            </a:pPr>
            <a:r>
              <a:rPr sz="950" b="1" i="0">
                <a:solidFill>
                  <a:srgbClr val="D4A017"/>
                </a:solidFill>
                <a:latin typeface="Times New Roman"/>
              </a:rPr>
              <a:t>STAGE 02</a:t>
            </a:r>
          </a:p>
          <a:p>
            <a:pPr algn="l">
              <a:spcAft>
                <a:spcPts val="700"/>
              </a:spcAft>
            </a:pPr>
            <a:r>
              <a:rPr sz="1900" b="1" i="0">
                <a:solidFill>
                  <a:srgbClr val="FFFFFF"/>
                </a:solidFill>
                <a:latin typeface="Times New Roman"/>
              </a:rPr>
              <a:t>Capability Assessment</a:t>
            </a:r>
          </a:p>
          <a:p>
            <a:pPr algn="l"/>
            <a:r>
              <a:rPr sz="1200" b="0" i="1">
                <a:solidFill>
                  <a:srgbClr val="C9D2DE"/>
                </a:solidFill>
                <a:latin typeface="Times New Roman"/>
              </a:rPr>
              <a:t>What strategic capabilities does the organization possess?</a:t>
            </a:r>
          </a:p>
        </p:txBody>
      </p:sp>
      <p:sp>
        <p:nvSpPr>
          <p:cNvPr id="15" name="Rectangle 14"/>
          <p:cNvSpPr/>
          <p:nvPr/>
        </p:nvSpPr>
        <p:spPr>
          <a:xfrm>
            <a:off x="6245352" y="2724912"/>
            <a:ext cx="5047488" cy="228600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83096" y="2944368"/>
            <a:ext cx="4572000" cy="1920240"/>
          </a:xfrm>
          <a:prstGeom prst="rect">
            <a:avLst/>
          </a:prstGeom>
          <a:noFill/>
        </p:spPr>
        <p:txBody>
          <a:bodyPr wrap="square" anchor="t" lIns="0" rIns="0" tIns="0" bIns="0">
            <a:spAutoFit/>
          </a:bodyPr>
          <a:lstStyle/>
          <a:p>
            <a:pPr algn="l">
              <a:spcAft>
                <a:spcPts val="900"/>
              </a:spcAft>
            </a:pPr>
            <a:r>
              <a:rPr sz="900" b="1" i="0">
                <a:solidFill>
                  <a:srgbClr val="2A6F97"/>
                </a:solidFill>
                <a:latin typeface="Times New Roman"/>
              </a:rPr>
              <a:t>WHAT STUDENTS EVALUATE</a:t>
            </a:r>
          </a:p>
          <a:p>
            <a:pPr algn="l">
              <a:lnSpc>
                <a:spcPct val="114000"/>
              </a:lnSpc>
              <a:spcAft>
                <a:spcPts val="250"/>
              </a:spcAft>
            </a:pPr>
            <a:r>
              <a:rPr sz="1250" b="0" i="0">
                <a:solidFill>
                  <a:srgbClr val="111827"/>
                </a:solidFill>
                <a:latin typeface="Times New Roman"/>
              </a:rPr>
              <a:t>—  Resources</a:t>
            </a:r>
          </a:p>
          <a:p>
            <a:pPr algn="l">
              <a:lnSpc>
                <a:spcPct val="114000"/>
              </a:lnSpc>
              <a:spcAft>
                <a:spcPts val="250"/>
              </a:spcAft>
            </a:pPr>
            <a:r>
              <a:rPr sz="1250" b="0" i="0">
                <a:solidFill>
                  <a:srgbClr val="111827"/>
                </a:solidFill>
                <a:latin typeface="Times New Roman"/>
              </a:rPr>
              <a:t>—  Core competencies</a:t>
            </a:r>
          </a:p>
          <a:p>
            <a:pPr algn="l">
              <a:lnSpc>
                <a:spcPct val="114000"/>
              </a:lnSpc>
              <a:spcAft>
                <a:spcPts val="250"/>
              </a:spcAft>
            </a:pPr>
            <a:r>
              <a:rPr sz="1250" b="0" i="0">
                <a:solidFill>
                  <a:srgbClr val="111827"/>
                </a:solidFill>
                <a:latin typeface="Times New Roman"/>
              </a:rPr>
              <a:t>—  Organizational capabilities</a:t>
            </a:r>
          </a:p>
          <a:p>
            <a:pPr algn="l">
              <a:lnSpc>
                <a:spcPct val="114000"/>
              </a:lnSpc>
              <a:spcAft>
                <a:spcPts val="250"/>
              </a:spcAft>
            </a:pPr>
            <a:r>
              <a:rPr sz="1250" b="0" i="0">
                <a:solidFill>
                  <a:srgbClr val="111827"/>
                </a:solidFill>
                <a:latin typeface="Times New Roman"/>
              </a:rPr>
              <a:t>—  Knowledge assets</a:t>
            </a:r>
          </a:p>
          <a:p>
            <a:pPr algn="l">
              <a:lnSpc>
                <a:spcPct val="114000"/>
              </a:lnSpc>
              <a:spcAft>
                <a:spcPts val="250"/>
              </a:spcAft>
            </a:pPr>
            <a:r>
              <a:rPr sz="1250" b="0" i="0">
                <a:solidFill>
                  <a:srgbClr val="111827"/>
                </a:solidFill>
                <a:latin typeface="Times New Roman"/>
              </a:rPr>
              <a:t>—  Data maturity</a:t>
            </a:r>
          </a:p>
          <a:p>
            <a:pPr algn="l">
              <a:lnSpc>
                <a:spcPct val="114000"/>
              </a:lnSpc>
              <a:spcAft>
                <a:spcPts val="250"/>
              </a:spcAft>
            </a:pPr>
            <a:r>
              <a:rPr sz="1250" b="0" i="0">
                <a:solidFill>
                  <a:srgbClr val="111827"/>
                </a:solidFill>
                <a:latin typeface="Times New Roman"/>
              </a:rPr>
              <a:t>—  AI readiness</a:t>
            </a:r>
          </a:p>
          <a:p>
            <a:pPr algn="l">
              <a:lnSpc>
                <a:spcPct val="114000"/>
              </a:lnSpc>
              <a:spcAft>
                <a:spcPts val="250"/>
              </a:spcAft>
            </a:pPr>
            <a:r>
              <a:rPr sz="1250" b="0" i="0">
                <a:solidFill>
                  <a:srgbClr val="111827"/>
                </a:solidFill>
                <a:latin typeface="Times New Roman"/>
              </a:rPr>
              <a:t>—  Leadership capability and culture</a:t>
            </a:r>
          </a:p>
        </p:txBody>
      </p:sp>
      <p:sp>
        <p:nvSpPr>
          <p:cNvPr id="17" name="Rectangle 16"/>
          <p:cNvSpPr/>
          <p:nvPr/>
        </p:nvSpPr>
        <p:spPr>
          <a:xfrm>
            <a:off x="6245352" y="5065776"/>
            <a:ext cx="5047488" cy="804672"/>
          </a:xfrm>
          <a:prstGeom prst="rect">
            <a:avLst/>
          </a:prstGeom>
          <a:solidFill>
            <a:srgbClr val="F6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3096" y="5065776"/>
            <a:ext cx="4572000" cy="804672"/>
          </a:xfrm>
          <a:prstGeom prst="rect">
            <a:avLst/>
          </a:prstGeom>
          <a:noFill/>
        </p:spPr>
        <p:txBody>
          <a:bodyPr wrap="square" anchor="ctr" lIns="0" rIns="0" tIns="0" bIns="0">
            <a:spAutoFit/>
          </a:bodyPr>
          <a:lstStyle/>
          <a:p>
            <a:pPr algn="l">
              <a:lnSpc>
                <a:spcPct val="120000"/>
              </a:lnSpc>
            </a:pPr>
            <a:r>
              <a:rPr sz="1150" b="0" i="1">
                <a:solidFill>
                  <a:srgbClr val="10233F"/>
                </a:solidFill>
                <a:latin typeface="Times New Roman"/>
              </a:rPr>
              <a:t>Integrates the Resource-Based View, Dynamic Capabilities, and the Knowledge-Based Theory of the Firm.</a:t>
            </a:r>
          </a:p>
        </p:txBody>
      </p:sp>
      <p:sp>
        <p:nvSpPr>
          <p:cNvPr id="19" name="Rectangle 18"/>
          <p:cNvSpPr/>
          <p:nvPr/>
        </p:nvSpPr>
        <p:spPr>
          <a:xfrm>
            <a:off x="868680" y="5998464"/>
            <a:ext cx="36576" cy="31089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69848" y="5998464"/>
            <a:ext cx="10424160" cy="365760"/>
          </a:xfrm>
          <a:prstGeom prst="rect">
            <a:avLst/>
          </a:prstGeom>
          <a:noFill/>
        </p:spPr>
        <p:txBody>
          <a:bodyPr wrap="square" anchor="ctr" lIns="0" rIns="0" tIns="0" bIns="0">
            <a:spAutoFit/>
          </a:bodyPr>
          <a:lstStyle/>
          <a:p>
            <a:pPr algn="l"/>
            <a:r>
              <a:rPr sz="1350" b="1" i="1">
                <a:solidFill>
                  <a:srgbClr val="10233F"/>
                </a:solidFill>
                <a:latin typeface="Times New Roman"/>
              </a:rPr>
              <a:t>Diagnose the environment before assessing the firm; assess the firm before proposing AI.</a:t>
            </a:r>
          </a:p>
        </p:txBody>
      </p:sp>
      <p:sp>
        <p:nvSpPr>
          <p:cNvPr id="21" name="TextBox 20"/>
          <p:cNvSpPr txBox="1"/>
          <p:nvPr/>
        </p:nvSpPr>
        <p:spPr>
          <a:xfrm>
            <a:off x="11475720" y="6473952"/>
            <a:ext cx="457200" cy="182880"/>
          </a:xfrm>
          <a:prstGeom prst="rect">
            <a:avLst/>
          </a:prstGeom>
          <a:noFill/>
        </p:spPr>
        <p:txBody>
          <a:bodyPr wrap="square" anchor="t" lIns="0" rIns="0" tIns="0" bIns="0">
            <a:spAutoFit/>
          </a:bodyPr>
          <a:lstStyle/>
          <a:p>
            <a:pPr algn="r"/>
            <a:r>
              <a:rPr sz="800" b="0" i="0">
                <a:solidFill>
                  <a:srgbClr val="9CA3AF"/>
                </a:solidFill>
                <a:latin typeface="Times New Roman"/>
              </a:rPr>
              <a:t>44</a:t>
            </a:r>
          </a:p>
        </p:txBody>
      </p:sp>
      <p:sp>
        <p:nvSpPr>
          <p:cNvPr id="22" name="TextBox 21"/>
          <p:cNvSpPr txBox="1"/>
          <p:nvPr/>
        </p:nvSpPr>
        <p:spPr>
          <a:xfrm>
            <a:off x="502920" y="6473952"/>
            <a:ext cx="6400800" cy="182880"/>
          </a:xfrm>
          <a:prstGeom prst="rect">
            <a:avLst/>
          </a:prstGeom>
          <a:noFill/>
        </p:spPr>
        <p:txBody>
          <a:bodyPr wrap="square" anchor="t" lIns="0" rIns="0" tIns="0" bIns="0">
            <a:spAutoFit/>
          </a:bodyPr>
          <a:lstStyle/>
          <a:p>
            <a:pPr algn="l"/>
            <a:r>
              <a:rPr sz="720" b="0" i="0">
                <a:solidFill>
                  <a:srgbClr val="6B7280"/>
                </a:solidFill>
                <a:latin typeface="Times New Roman"/>
              </a:rPr>
              <a:t>Strategic Management in the Age of AI · MGMT 465/665 · Course Introduction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969" cy="164592"/>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969" cy="3657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411480"/>
            <a:ext cx="5943600" cy="228600"/>
          </a:xfrm>
          <a:prstGeom prst="rect">
            <a:avLst/>
          </a:prstGeom>
          <a:noFill/>
        </p:spPr>
        <p:txBody>
          <a:bodyPr wrap="square" anchor="t" lIns="0" rIns="0" tIns="0" bIns="0">
            <a:spAutoFit/>
          </a:bodyPr>
          <a:lstStyle/>
          <a:p>
            <a:pPr algn="l"/>
            <a:r>
              <a:rPr sz="850" b="1" i="0">
                <a:solidFill>
                  <a:srgbClr val="2A6F97"/>
                </a:solidFill>
                <a:latin typeface="Times New Roman"/>
              </a:rPr>
              <a:t>PART IV · STAGES 3 AND 4</a:t>
            </a:r>
          </a:p>
        </p:txBody>
      </p:sp>
      <p:sp>
        <p:nvSpPr>
          <p:cNvPr id="6" name="TextBox 5"/>
          <p:cNvSpPr txBox="1"/>
          <p:nvPr/>
        </p:nvSpPr>
        <p:spPr>
          <a:xfrm>
            <a:off x="502920" y="640080"/>
            <a:ext cx="9509760" cy="457200"/>
          </a:xfrm>
          <a:prstGeom prst="rect">
            <a:avLst/>
          </a:prstGeom>
          <a:noFill/>
        </p:spPr>
        <p:txBody>
          <a:bodyPr wrap="square" anchor="t" lIns="0" rIns="0" tIns="0" bIns="0">
            <a:spAutoFit/>
          </a:bodyPr>
          <a:lstStyle/>
          <a:p>
            <a:pPr algn="l"/>
            <a:r>
              <a:rPr sz="2400" b="1" i="0">
                <a:solidFill>
                  <a:srgbClr val="111827"/>
                </a:solidFill>
                <a:latin typeface="Times New Roman"/>
              </a:rPr>
              <a:t>Opportunity identification and strategic choice</a:t>
            </a:r>
          </a:p>
        </p:txBody>
      </p:sp>
      <p:sp>
        <p:nvSpPr>
          <p:cNvPr id="7" name="Rectangle 6"/>
          <p:cNvSpPr/>
          <p:nvPr/>
        </p:nvSpPr>
        <p:spPr>
          <a:xfrm>
            <a:off x="868680" y="1481328"/>
            <a:ext cx="5047488" cy="1152144"/>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6424" y="1481328"/>
            <a:ext cx="4572000" cy="1152144"/>
          </a:xfrm>
          <a:prstGeom prst="rect">
            <a:avLst/>
          </a:prstGeom>
          <a:noFill/>
        </p:spPr>
        <p:txBody>
          <a:bodyPr wrap="square" anchor="ctr" lIns="0" rIns="0" tIns="0" bIns="0">
            <a:spAutoFit/>
          </a:bodyPr>
          <a:lstStyle/>
          <a:p>
            <a:pPr algn="l">
              <a:spcAft>
                <a:spcPts val="600"/>
              </a:spcAft>
            </a:pPr>
            <a:r>
              <a:rPr sz="950" b="1" i="0">
                <a:solidFill>
                  <a:srgbClr val="D4A017"/>
                </a:solidFill>
                <a:latin typeface="Times New Roman"/>
              </a:rPr>
              <a:t>STAGE 03</a:t>
            </a:r>
          </a:p>
          <a:p>
            <a:pPr algn="l">
              <a:spcAft>
                <a:spcPts val="700"/>
              </a:spcAft>
            </a:pPr>
            <a:r>
              <a:rPr sz="1900" b="1" i="0">
                <a:solidFill>
                  <a:srgbClr val="FFFFFF"/>
                </a:solidFill>
                <a:latin typeface="Times New Roman"/>
              </a:rPr>
              <a:t>AI Opportunity Identification</a:t>
            </a:r>
          </a:p>
          <a:p>
            <a:pPr algn="l"/>
            <a:r>
              <a:rPr sz="1200" b="0" i="1">
                <a:solidFill>
                  <a:srgbClr val="C9D2DE"/>
                </a:solidFill>
                <a:latin typeface="Times New Roman"/>
              </a:rPr>
              <a:t>Where can AI create strategic value?</a:t>
            </a:r>
          </a:p>
        </p:txBody>
      </p:sp>
      <p:sp>
        <p:nvSpPr>
          <p:cNvPr id="9" name="Rectangle 8"/>
          <p:cNvSpPr/>
          <p:nvPr/>
        </p:nvSpPr>
        <p:spPr>
          <a:xfrm>
            <a:off x="868680" y="2724912"/>
            <a:ext cx="5047488" cy="228600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06424" y="2944368"/>
            <a:ext cx="4572000" cy="1920240"/>
          </a:xfrm>
          <a:prstGeom prst="rect">
            <a:avLst/>
          </a:prstGeom>
          <a:noFill/>
        </p:spPr>
        <p:txBody>
          <a:bodyPr wrap="square" anchor="t" lIns="0" rIns="0" tIns="0" bIns="0">
            <a:spAutoFit/>
          </a:bodyPr>
          <a:lstStyle/>
          <a:p>
            <a:pPr algn="l">
              <a:spcAft>
                <a:spcPts val="900"/>
              </a:spcAft>
            </a:pPr>
            <a:r>
              <a:rPr sz="900" b="1" i="0">
                <a:solidFill>
                  <a:srgbClr val="2A6F97"/>
                </a:solidFill>
                <a:latin typeface="Times New Roman"/>
              </a:rPr>
              <a:t>WHAT STUDENTS EVALUATE</a:t>
            </a:r>
          </a:p>
          <a:p>
            <a:pPr algn="l">
              <a:lnSpc>
                <a:spcPct val="114000"/>
              </a:lnSpc>
              <a:spcAft>
                <a:spcPts val="250"/>
              </a:spcAft>
            </a:pPr>
            <a:r>
              <a:rPr sz="1250" b="0" i="0">
                <a:solidFill>
                  <a:srgbClr val="111827"/>
                </a:solidFill>
                <a:latin typeface="Times New Roman"/>
              </a:rPr>
              <a:t>—  Improve decision making</a:t>
            </a:r>
          </a:p>
          <a:p>
            <a:pPr algn="l">
              <a:lnSpc>
                <a:spcPct val="114000"/>
              </a:lnSpc>
              <a:spcAft>
                <a:spcPts val="250"/>
              </a:spcAft>
            </a:pPr>
            <a:r>
              <a:rPr sz="1250" b="0" i="0">
                <a:solidFill>
                  <a:srgbClr val="111827"/>
                </a:solidFill>
                <a:latin typeface="Times New Roman"/>
              </a:rPr>
              <a:t>—  Enhance customer experience</a:t>
            </a:r>
          </a:p>
          <a:p>
            <a:pPr algn="l">
              <a:lnSpc>
                <a:spcPct val="114000"/>
              </a:lnSpc>
              <a:spcAft>
                <a:spcPts val="250"/>
              </a:spcAft>
            </a:pPr>
            <a:r>
              <a:rPr sz="1250" b="0" i="0">
                <a:solidFill>
                  <a:srgbClr val="111827"/>
                </a:solidFill>
                <a:latin typeface="Times New Roman"/>
              </a:rPr>
              <a:t>—  Increase operational efficiency</a:t>
            </a:r>
          </a:p>
          <a:p>
            <a:pPr algn="l">
              <a:lnSpc>
                <a:spcPct val="114000"/>
              </a:lnSpc>
              <a:spcAft>
                <a:spcPts val="250"/>
              </a:spcAft>
            </a:pPr>
            <a:r>
              <a:rPr sz="1250" b="0" i="0">
                <a:solidFill>
                  <a:srgbClr val="111827"/>
                </a:solidFill>
                <a:latin typeface="Times New Roman"/>
              </a:rPr>
              <a:t>—  Accelerate innovation</a:t>
            </a:r>
          </a:p>
          <a:p>
            <a:pPr algn="l">
              <a:lnSpc>
                <a:spcPct val="114000"/>
              </a:lnSpc>
              <a:spcAft>
                <a:spcPts val="250"/>
              </a:spcAft>
            </a:pPr>
            <a:r>
              <a:rPr sz="1250" b="0" i="0">
                <a:solidFill>
                  <a:srgbClr val="111827"/>
                </a:solidFill>
                <a:latin typeface="Times New Roman"/>
              </a:rPr>
              <a:t>—  Create new products and services</a:t>
            </a:r>
          </a:p>
          <a:p>
            <a:pPr algn="l">
              <a:lnSpc>
                <a:spcPct val="114000"/>
              </a:lnSpc>
              <a:spcAft>
                <a:spcPts val="250"/>
              </a:spcAft>
            </a:pPr>
            <a:r>
              <a:rPr sz="1250" b="0" i="0">
                <a:solidFill>
                  <a:srgbClr val="111827"/>
                </a:solidFill>
                <a:latin typeface="Times New Roman"/>
              </a:rPr>
              <a:t>—  Develop platform ecosystems</a:t>
            </a:r>
          </a:p>
          <a:p>
            <a:pPr algn="l">
              <a:lnSpc>
                <a:spcPct val="114000"/>
              </a:lnSpc>
              <a:spcAft>
                <a:spcPts val="250"/>
              </a:spcAft>
            </a:pPr>
            <a:r>
              <a:rPr sz="1250" b="0" i="0">
                <a:solidFill>
                  <a:srgbClr val="111827"/>
                </a:solidFill>
                <a:latin typeface="Times New Roman"/>
              </a:rPr>
              <a:t>—  Enable new business models</a:t>
            </a:r>
          </a:p>
        </p:txBody>
      </p:sp>
      <p:sp>
        <p:nvSpPr>
          <p:cNvPr id="11" name="Rectangle 10"/>
          <p:cNvSpPr/>
          <p:nvPr/>
        </p:nvSpPr>
        <p:spPr>
          <a:xfrm>
            <a:off x="868680" y="5065776"/>
            <a:ext cx="5047488" cy="804672"/>
          </a:xfrm>
          <a:prstGeom prst="rect">
            <a:avLst/>
          </a:prstGeom>
          <a:solidFill>
            <a:srgbClr val="F6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06424" y="5065776"/>
            <a:ext cx="4572000" cy="804672"/>
          </a:xfrm>
          <a:prstGeom prst="rect">
            <a:avLst/>
          </a:prstGeom>
          <a:noFill/>
        </p:spPr>
        <p:txBody>
          <a:bodyPr wrap="square" anchor="ctr" lIns="0" rIns="0" tIns="0" bIns="0">
            <a:spAutoFit/>
          </a:bodyPr>
          <a:lstStyle/>
          <a:p>
            <a:pPr algn="l">
              <a:lnSpc>
                <a:spcPct val="120000"/>
              </a:lnSpc>
            </a:pPr>
            <a:r>
              <a:rPr sz="1150" b="0" i="1">
                <a:solidFill>
                  <a:srgbClr val="10233F"/>
                </a:solidFill>
                <a:latin typeface="Times New Roman"/>
              </a:rPr>
              <a:t>The emphasis is strategic value creation — not technology adoption.</a:t>
            </a:r>
          </a:p>
        </p:txBody>
      </p:sp>
      <p:sp>
        <p:nvSpPr>
          <p:cNvPr id="13" name="Rectangle 12"/>
          <p:cNvSpPr/>
          <p:nvPr/>
        </p:nvSpPr>
        <p:spPr>
          <a:xfrm>
            <a:off x="6245352" y="1481328"/>
            <a:ext cx="5047488" cy="1152144"/>
          </a:xfrm>
          <a:prstGeom prst="rect">
            <a:avLst/>
          </a:prstGeom>
          <a:solidFill>
            <a:srgbClr val="2A6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83096" y="1481328"/>
            <a:ext cx="4572000" cy="1152144"/>
          </a:xfrm>
          <a:prstGeom prst="rect">
            <a:avLst/>
          </a:prstGeom>
          <a:noFill/>
        </p:spPr>
        <p:txBody>
          <a:bodyPr wrap="square" anchor="ctr" lIns="0" rIns="0" tIns="0" bIns="0">
            <a:spAutoFit/>
          </a:bodyPr>
          <a:lstStyle/>
          <a:p>
            <a:pPr algn="l">
              <a:spcAft>
                <a:spcPts val="600"/>
              </a:spcAft>
            </a:pPr>
            <a:r>
              <a:rPr sz="950" b="1" i="0">
                <a:solidFill>
                  <a:srgbClr val="D4A017"/>
                </a:solidFill>
                <a:latin typeface="Times New Roman"/>
              </a:rPr>
              <a:t>STAGE 04</a:t>
            </a:r>
          </a:p>
          <a:p>
            <a:pPr algn="l">
              <a:spcAft>
                <a:spcPts val="700"/>
              </a:spcAft>
            </a:pPr>
            <a:r>
              <a:rPr sz="1900" b="1" i="0">
                <a:solidFill>
                  <a:srgbClr val="FFFFFF"/>
                </a:solidFill>
                <a:latin typeface="Times New Roman"/>
              </a:rPr>
              <a:t>Strategic Choice</a:t>
            </a:r>
          </a:p>
          <a:p>
            <a:pPr algn="l"/>
            <a:r>
              <a:rPr sz="1200" b="0" i="1">
                <a:solidFill>
                  <a:srgbClr val="C9D2DE"/>
                </a:solidFill>
                <a:latin typeface="Times New Roman"/>
              </a:rPr>
              <a:t>What alternative creates the greatest long-term value?</a:t>
            </a:r>
          </a:p>
        </p:txBody>
      </p:sp>
      <p:sp>
        <p:nvSpPr>
          <p:cNvPr id="15" name="Rectangle 14"/>
          <p:cNvSpPr/>
          <p:nvPr/>
        </p:nvSpPr>
        <p:spPr>
          <a:xfrm>
            <a:off x="6245352" y="2724912"/>
            <a:ext cx="5047488" cy="228600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83096" y="2944368"/>
            <a:ext cx="4572000" cy="1920240"/>
          </a:xfrm>
          <a:prstGeom prst="rect">
            <a:avLst/>
          </a:prstGeom>
          <a:noFill/>
        </p:spPr>
        <p:txBody>
          <a:bodyPr wrap="square" anchor="t" lIns="0" rIns="0" tIns="0" bIns="0">
            <a:spAutoFit/>
          </a:bodyPr>
          <a:lstStyle/>
          <a:p>
            <a:pPr algn="l">
              <a:spcAft>
                <a:spcPts val="900"/>
              </a:spcAft>
            </a:pPr>
            <a:r>
              <a:rPr sz="900" b="1" i="0">
                <a:solidFill>
                  <a:srgbClr val="2A6F97"/>
                </a:solidFill>
                <a:latin typeface="Times New Roman"/>
              </a:rPr>
              <a:t>WHAT STUDENTS EVALUATE</a:t>
            </a:r>
          </a:p>
          <a:p>
            <a:pPr algn="l">
              <a:lnSpc>
                <a:spcPct val="114000"/>
              </a:lnSpc>
              <a:spcAft>
                <a:spcPts val="250"/>
              </a:spcAft>
            </a:pPr>
            <a:r>
              <a:rPr sz="1250" b="0" i="0">
                <a:solidFill>
                  <a:srgbClr val="111827"/>
                </a:solidFill>
                <a:latin typeface="Times New Roman"/>
              </a:rPr>
              <a:t>—  Competitive advantage</a:t>
            </a:r>
          </a:p>
          <a:p>
            <a:pPr algn="l">
              <a:lnSpc>
                <a:spcPct val="114000"/>
              </a:lnSpc>
              <a:spcAft>
                <a:spcPts val="250"/>
              </a:spcAft>
            </a:pPr>
            <a:r>
              <a:rPr sz="1250" b="0" i="0">
                <a:solidFill>
                  <a:srgbClr val="111827"/>
                </a:solidFill>
                <a:latin typeface="Times New Roman"/>
              </a:rPr>
              <a:t>—  Differentiation</a:t>
            </a:r>
          </a:p>
          <a:p>
            <a:pPr algn="l">
              <a:lnSpc>
                <a:spcPct val="114000"/>
              </a:lnSpc>
              <a:spcAft>
                <a:spcPts val="250"/>
              </a:spcAft>
            </a:pPr>
            <a:r>
              <a:rPr sz="1250" b="0" i="0">
                <a:solidFill>
                  <a:srgbClr val="111827"/>
                </a:solidFill>
                <a:latin typeface="Times New Roman"/>
              </a:rPr>
              <a:t>—  Cost leadership</a:t>
            </a:r>
          </a:p>
          <a:p>
            <a:pPr algn="l">
              <a:lnSpc>
                <a:spcPct val="114000"/>
              </a:lnSpc>
              <a:spcAft>
                <a:spcPts val="250"/>
              </a:spcAft>
            </a:pPr>
            <a:r>
              <a:rPr sz="1250" b="0" i="0">
                <a:solidFill>
                  <a:srgbClr val="111827"/>
                </a:solidFill>
                <a:latin typeface="Times New Roman"/>
              </a:rPr>
              <a:t>—  Ecosystem participation</a:t>
            </a:r>
          </a:p>
          <a:p>
            <a:pPr algn="l">
              <a:lnSpc>
                <a:spcPct val="114000"/>
              </a:lnSpc>
              <a:spcAft>
                <a:spcPts val="250"/>
              </a:spcAft>
            </a:pPr>
            <a:r>
              <a:rPr sz="1250" b="0" i="0">
                <a:solidFill>
                  <a:srgbClr val="111827"/>
                </a:solidFill>
                <a:latin typeface="Times New Roman"/>
              </a:rPr>
              <a:t>—  Platform strategy</a:t>
            </a:r>
          </a:p>
          <a:p>
            <a:pPr algn="l">
              <a:lnSpc>
                <a:spcPct val="114000"/>
              </a:lnSpc>
              <a:spcAft>
                <a:spcPts val="250"/>
              </a:spcAft>
            </a:pPr>
            <a:r>
              <a:rPr sz="1250" b="0" i="0">
                <a:solidFill>
                  <a:srgbClr val="111827"/>
                </a:solidFill>
                <a:latin typeface="Times New Roman"/>
              </a:rPr>
              <a:t>—  Investment priorities</a:t>
            </a:r>
          </a:p>
          <a:p>
            <a:pPr algn="l">
              <a:lnSpc>
                <a:spcPct val="114000"/>
              </a:lnSpc>
              <a:spcAft>
                <a:spcPts val="250"/>
              </a:spcAft>
            </a:pPr>
            <a:r>
              <a:rPr sz="1250" b="0" i="0">
                <a:solidFill>
                  <a:srgbClr val="111827"/>
                </a:solidFill>
                <a:latin typeface="Times New Roman"/>
              </a:rPr>
              <a:t>—  Strategic fit and feasibility</a:t>
            </a:r>
          </a:p>
        </p:txBody>
      </p:sp>
      <p:sp>
        <p:nvSpPr>
          <p:cNvPr id="17" name="Rectangle 16"/>
          <p:cNvSpPr/>
          <p:nvPr/>
        </p:nvSpPr>
        <p:spPr>
          <a:xfrm>
            <a:off x="6245352" y="5065776"/>
            <a:ext cx="5047488" cy="804672"/>
          </a:xfrm>
          <a:prstGeom prst="rect">
            <a:avLst/>
          </a:prstGeom>
          <a:solidFill>
            <a:srgbClr val="F6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3096" y="5065776"/>
            <a:ext cx="4572000" cy="804672"/>
          </a:xfrm>
          <a:prstGeom prst="rect">
            <a:avLst/>
          </a:prstGeom>
          <a:noFill/>
        </p:spPr>
        <p:txBody>
          <a:bodyPr wrap="square" anchor="ctr" lIns="0" rIns="0" tIns="0" bIns="0">
            <a:spAutoFit/>
          </a:bodyPr>
          <a:lstStyle/>
          <a:p>
            <a:pPr algn="l">
              <a:lnSpc>
                <a:spcPct val="120000"/>
              </a:lnSpc>
            </a:pPr>
            <a:r>
              <a:rPr sz="1150" b="0" i="1">
                <a:solidFill>
                  <a:srgbClr val="10233F"/>
                </a:solidFill>
                <a:latin typeface="Times New Roman"/>
              </a:rPr>
              <a:t>Choice means trade-offs. Deciding what not to do is part of the answer.</a:t>
            </a:r>
          </a:p>
        </p:txBody>
      </p:sp>
      <p:sp>
        <p:nvSpPr>
          <p:cNvPr id="19" name="Rectangle 18"/>
          <p:cNvSpPr/>
          <p:nvPr/>
        </p:nvSpPr>
        <p:spPr>
          <a:xfrm>
            <a:off x="868680" y="5998464"/>
            <a:ext cx="36576" cy="31089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69848" y="5998464"/>
            <a:ext cx="10424160" cy="365760"/>
          </a:xfrm>
          <a:prstGeom prst="rect">
            <a:avLst/>
          </a:prstGeom>
          <a:noFill/>
        </p:spPr>
        <p:txBody>
          <a:bodyPr wrap="square" anchor="ctr" lIns="0" rIns="0" tIns="0" bIns="0">
            <a:spAutoFit/>
          </a:bodyPr>
          <a:lstStyle/>
          <a:p>
            <a:pPr algn="l"/>
            <a:r>
              <a:rPr sz="1350" b="1" i="1">
                <a:solidFill>
                  <a:srgbClr val="10233F"/>
                </a:solidFill>
                <a:latin typeface="Times New Roman"/>
              </a:rPr>
              <a:t>Opportunity is not strategy until it survives comparison with the alternatives.</a:t>
            </a:r>
          </a:p>
        </p:txBody>
      </p:sp>
      <p:sp>
        <p:nvSpPr>
          <p:cNvPr id="21" name="TextBox 20"/>
          <p:cNvSpPr txBox="1"/>
          <p:nvPr/>
        </p:nvSpPr>
        <p:spPr>
          <a:xfrm>
            <a:off x="11475720" y="6473952"/>
            <a:ext cx="457200" cy="182880"/>
          </a:xfrm>
          <a:prstGeom prst="rect">
            <a:avLst/>
          </a:prstGeom>
          <a:noFill/>
        </p:spPr>
        <p:txBody>
          <a:bodyPr wrap="square" anchor="t" lIns="0" rIns="0" tIns="0" bIns="0">
            <a:spAutoFit/>
          </a:bodyPr>
          <a:lstStyle/>
          <a:p>
            <a:pPr algn="r"/>
            <a:r>
              <a:rPr sz="800" b="0" i="0">
                <a:solidFill>
                  <a:srgbClr val="9CA3AF"/>
                </a:solidFill>
                <a:latin typeface="Times New Roman"/>
              </a:rPr>
              <a:t>45</a:t>
            </a:r>
          </a:p>
        </p:txBody>
      </p:sp>
      <p:sp>
        <p:nvSpPr>
          <p:cNvPr id="22" name="TextBox 21"/>
          <p:cNvSpPr txBox="1"/>
          <p:nvPr/>
        </p:nvSpPr>
        <p:spPr>
          <a:xfrm>
            <a:off x="502920" y="6473952"/>
            <a:ext cx="6400800" cy="182880"/>
          </a:xfrm>
          <a:prstGeom prst="rect">
            <a:avLst/>
          </a:prstGeom>
          <a:noFill/>
        </p:spPr>
        <p:txBody>
          <a:bodyPr wrap="square" anchor="t" lIns="0" rIns="0" tIns="0" bIns="0">
            <a:spAutoFit/>
          </a:bodyPr>
          <a:lstStyle/>
          <a:p>
            <a:pPr algn="l"/>
            <a:r>
              <a:rPr sz="720" b="0" i="0">
                <a:solidFill>
                  <a:srgbClr val="6B7280"/>
                </a:solidFill>
                <a:latin typeface="Times New Roman"/>
              </a:rPr>
              <a:t>Strategic Management in the Age of AI · MGMT 465/665 · Course Introduction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969" cy="164592"/>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969" cy="3657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411480"/>
            <a:ext cx="5943600" cy="228600"/>
          </a:xfrm>
          <a:prstGeom prst="rect">
            <a:avLst/>
          </a:prstGeom>
          <a:noFill/>
        </p:spPr>
        <p:txBody>
          <a:bodyPr wrap="square" anchor="t" lIns="0" rIns="0" tIns="0" bIns="0">
            <a:spAutoFit/>
          </a:bodyPr>
          <a:lstStyle/>
          <a:p>
            <a:pPr algn="l"/>
            <a:r>
              <a:rPr sz="850" b="1" i="0">
                <a:solidFill>
                  <a:srgbClr val="2A6F97"/>
                </a:solidFill>
                <a:latin typeface="Times New Roman"/>
              </a:rPr>
              <a:t>PART IV · STAGES 5, 6 AND 7</a:t>
            </a:r>
          </a:p>
        </p:txBody>
      </p:sp>
      <p:sp>
        <p:nvSpPr>
          <p:cNvPr id="6" name="TextBox 5"/>
          <p:cNvSpPr txBox="1"/>
          <p:nvPr/>
        </p:nvSpPr>
        <p:spPr>
          <a:xfrm>
            <a:off x="502920" y="640080"/>
            <a:ext cx="9509760" cy="457200"/>
          </a:xfrm>
          <a:prstGeom prst="rect">
            <a:avLst/>
          </a:prstGeom>
          <a:noFill/>
        </p:spPr>
        <p:txBody>
          <a:bodyPr wrap="square" anchor="t" lIns="0" rIns="0" tIns="0" bIns="0">
            <a:spAutoFit/>
          </a:bodyPr>
          <a:lstStyle/>
          <a:p>
            <a:pPr algn="l"/>
            <a:r>
              <a:rPr sz="2400" b="1" i="0">
                <a:solidFill>
                  <a:srgbClr val="111827"/>
                </a:solidFill>
                <a:latin typeface="Times New Roman"/>
              </a:rPr>
              <a:t>Governance, transformation, and renewal</a:t>
            </a:r>
          </a:p>
        </p:txBody>
      </p:sp>
      <p:sp>
        <p:nvSpPr>
          <p:cNvPr id="7" name="Rectangle 6"/>
          <p:cNvSpPr/>
          <p:nvPr/>
        </p:nvSpPr>
        <p:spPr>
          <a:xfrm>
            <a:off x="868680" y="1481328"/>
            <a:ext cx="3383280" cy="1152144"/>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69848" y="1481328"/>
            <a:ext cx="2980944" cy="1152144"/>
          </a:xfrm>
          <a:prstGeom prst="rect">
            <a:avLst/>
          </a:prstGeom>
          <a:noFill/>
        </p:spPr>
        <p:txBody>
          <a:bodyPr wrap="square" anchor="ctr" lIns="0" rIns="0" tIns="0" bIns="0">
            <a:spAutoFit/>
          </a:bodyPr>
          <a:lstStyle/>
          <a:p>
            <a:pPr algn="l">
              <a:spcAft>
                <a:spcPts val="500"/>
              </a:spcAft>
            </a:pPr>
            <a:r>
              <a:rPr sz="900" b="1" i="0">
                <a:solidFill>
                  <a:srgbClr val="D4A017"/>
                </a:solidFill>
                <a:latin typeface="Times New Roman"/>
              </a:rPr>
              <a:t>STAGE 05</a:t>
            </a:r>
          </a:p>
          <a:p>
            <a:pPr algn="l">
              <a:lnSpc>
                <a:spcPct val="105000"/>
              </a:lnSpc>
              <a:spcAft>
                <a:spcPts val="600"/>
              </a:spcAft>
            </a:pPr>
            <a:r>
              <a:rPr sz="1600" b="1" i="0">
                <a:solidFill>
                  <a:srgbClr val="FFFFFF"/>
                </a:solidFill>
                <a:latin typeface="Times New Roman"/>
              </a:rPr>
              <a:t>Governance &amp; Risk</a:t>
            </a:r>
          </a:p>
          <a:p>
            <a:pPr algn="l">
              <a:lnSpc>
                <a:spcPct val="112000"/>
              </a:lnSpc>
            </a:pPr>
            <a:r>
              <a:rPr sz="1100" b="0" i="1">
                <a:solidFill>
                  <a:srgbClr val="C9D2DE"/>
                </a:solidFill>
                <a:latin typeface="Times New Roman"/>
              </a:rPr>
              <a:t>How should AI be governed responsibly?</a:t>
            </a:r>
          </a:p>
        </p:txBody>
      </p:sp>
      <p:sp>
        <p:nvSpPr>
          <p:cNvPr id="9" name="Rectangle 8"/>
          <p:cNvSpPr/>
          <p:nvPr/>
        </p:nvSpPr>
        <p:spPr>
          <a:xfrm>
            <a:off x="868680" y="2724912"/>
            <a:ext cx="3383280" cy="228600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9848" y="2926080"/>
            <a:ext cx="2980944" cy="1956816"/>
          </a:xfrm>
          <a:prstGeom prst="rect">
            <a:avLst/>
          </a:prstGeom>
          <a:noFill/>
        </p:spPr>
        <p:txBody>
          <a:bodyPr wrap="square" anchor="t" lIns="0" rIns="0" tIns="0" bIns="0">
            <a:spAutoFit/>
          </a:bodyPr>
          <a:lstStyle/>
          <a:p>
            <a:pPr algn="l">
              <a:spcAft>
                <a:spcPts val="800"/>
              </a:spcAft>
            </a:pPr>
            <a:r>
              <a:rPr sz="850" b="1" i="0">
                <a:solidFill>
                  <a:srgbClr val="2A6F97"/>
                </a:solidFill>
                <a:latin typeface="Times New Roman"/>
              </a:rPr>
              <a:t>WHAT STUDENTS EXAMINE</a:t>
            </a:r>
          </a:p>
          <a:p>
            <a:pPr algn="l">
              <a:lnSpc>
                <a:spcPct val="110000"/>
              </a:lnSpc>
              <a:spcAft>
                <a:spcPts val="150"/>
              </a:spcAft>
            </a:pPr>
            <a:r>
              <a:rPr sz="1150" b="0" i="0">
                <a:solidFill>
                  <a:srgbClr val="111827"/>
                </a:solidFill>
                <a:latin typeface="Times New Roman"/>
              </a:rPr>
              <a:t>—  Responsible AI</a:t>
            </a:r>
          </a:p>
          <a:p>
            <a:pPr algn="l">
              <a:lnSpc>
                <a:spcPct val="110000"/>
              </a:lnSpc>
              <a:spcAft>
                <a:spcPts val="150"/>
              </a:spcAft>
            </a:pPr>
            <a:r>
              <a:rPr sz="1150" b="0" i="0">
                <a:solidFill>
                  <a:srgbClr val="111827"/>
                </a:solidFill>
                <a:latin typeface="Times New Roman"/>
              </a:rPr>
              <a:t>—  Ethics and privacy</a:t>
            </a:r>
          </a:p>
          <a:p>
            <a:pPr algn="l">
              <a:lnSpc>
                <a:spcPct val="110000"/>
              </a:lnSpc>
              <a:spcAft>
                <a:spcPts val="150"/>
              </a:spcAft>
            </a:pPr>
            <a:r>
              <a:rPr sz="1150" b="0" i="0">
                <a:solidFill>
                  <a:srgbClr val="111827"/>
                </a:solidFill>
                <a:latin typeface="Times New Roman"/>
              </a:rPr>
              <a:t>—  Security</a:t>
            </a:r>
          </a:p>
          <a:p>
            <a:pPr algn="l">
              <a:lnSpc>
                <a:spcPct val="110000"/>
              </a:lnSpc>
              <a:spcAft>
                <a:spcPts val="150"/>
              </a:spcAft>
            </a:pPr>
            <a:r>
              <a:rPr sz="1150" b="0" i="0">
                <a:solidFill>
                  <a:srgbClr val="111827"/>
                </a:solidFill>
                <a:latin typeface="Times New Roman"/>
              </a:rPr>
              <a:t>—  Regulation</a:t>
            </a:r>
          </a:p>
          <a:p>
            <a:pPr algn="l">
              <a:lnSpc>
                <a:spcPct val="110000"/>
              </a:lnSpc>
              <a:spcAft>
                <a:spcPts val="150"/>
              </a:spcAft>
            </a:pPr>
            <a:r>
              <a:rPr sz="1150" b="0" i="0">
                <a:solidFill>
                  <a:srgbClr val="111827"/>
                </a:solidFill>
                <a:latin typeface="Times New Roman"/>
              </a:rPr>
              <a:t>—  Intellectual property</a:t>
            </a:r>
          </a:p>
          <a:p>
            <a:pPr algn="l">
              <a:lnSpc>
                <a:spcPct val="110000"/>
              </a:lnSpc>
              <a:spcAft>
                <a:spcPts val="150"/>
              </a:spcAft>
            </a:pPr>
            <a:r>
              <a:rPr sz="1150" b="0" i="0">
                <a:solidFill>
                  <a:srgbClr val="111827"/>
                </a:solidFill>
                <a:latin typeface="Times New Roman"/>
              </a:rPr>
              <a:t>—  Human oversight</a:t>
            </a:r>
          </a:p>
          <a:p>
            <a:pPr algn="l">
              <a:lnSpc>
                <a:spcPct val="110000"/>
              </a:lnSpc>
              <a:spcAft>
                <a:spcPts val="150"/>
              </a:spcAft>
            </a:pPr>
            <a:r>
              <a:rPr sz="1150" b="0" i="0">
                <a:solidFill>
                  <a:srgbClr val="111827"/>
                </a:solidFill>
                <a:latin typeface="Times New Roman"/>
              </a:rPr>
              <a:t>—  Board governance</a:t>
            </a:r>
          </a:p>
          <a:p>
            <a:pPr algn="l">
              <a:lnSpc>
                <a:spcPct val="110000"/>
              </a:lnSpc>
              <a:spcAft>
                <a:spcPts val="150"/>
              </a:spcAft>
            </a:pPr>
            <a:r>
              <a:rPr sz="1150" b="0" i="0">
                <a:solidFill>
                  <a:srgbClr val="111827"/>
                </a:solidFill>
                <a:latin typeface="Times New Roman"/>
              </a:rPr>
              <a:t>—  Enterprise risk management</a:t>
            </a:r>
          </a:p>
        </p:txBody>
      </p:sp>
      <p:sp>
        <p:nvSpPr>
          <p:cNvPr id="11" name="Rectangle 10"/>
          <p:cNvSpPr/>
          <p:nvPr/>
        </p:nvSpPr>
        <p:spPr>
          <a:xfrm>
            <a:off x="868680" y="5065776"/>
            <a:ext cx="3383280" cy="804672"/>
          </a:xfrm>
          <a:prstGeom prst="rect">
            <a:avLst/>
          </a:prstGeom>
          <a:solidFill>
            <a:srgbClr val="F6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9848" y="5065776"/>
            <a:ext cx="2980944" cy="804672"/>
          </a:xfrm>
          <a:prstGeom prst="rect">
            <a:avLst/>
          </a:prstGeom>
          <a:noFill/>
        </p:spPr>
        <p:txBody>
          <a:bodyPr wrap="square" anchor="ctr" lIns="0" rIns="0" tIns="0" bIns="0">
            <a:spAutoFit/>
          </a:bodyPr>
          <a:lstStyle/>
          <a:p>
            <a:pPr algn="l">
              <a:lnSpc>
                <a:spcPct val="120000"/>
              </a:lnSpc>
            </a:pPr>
            <a:r>
              <a:rPr sz="1100" b="0" i="1">
                <a:solidFill>
                  <a:srgbClr val="10233F"/>
                </a:solidFill>
                <a:latin typeface="Times New Roman"/>
              </a:rPr>
              <a:t>Success depends not only on innovation but on responsible implementation.</a:t>
            </a:r>
          </a:p>
        </p:txBody>
      </p:sp>
      <p:sp>
        <p:nvSpPr>
          <p:cNvPr id="13" name="Rectangle 12"/>
          <p:cNvSpPr/>
          <p:nvPr/>
        </p:nvSpPr>
        <p:spPr>
          <a:xfrm>
            <a:off x="4389120" y="1481328"/>
            <a:ext cx="3383280" cy="1152144"/>
          </a:xfrm>
          <a:prstGeom prst="rect">
            <a:avLst/>
          </a:prstGeom>
          <a:solidFill>
            <a:srgbClr val="2A6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0288" y="1481328"/>
            <a:ext cx="2980944" cy="1152144"/>
          </a:xfrm>
          <a:prstGeom prst="rect">
            <a:avLst/>
          </a:prstGeom>
          <a:noFill/>
        </p:spPr>
        <p:txBody>
          <a:bodyPr wrap="square" anchor="ctr" lIns="0" rIns="0" tIns="0" bIns="0">
            <a:spAutoFit/>
          </a:bodyPr>
          <a:lstStyle/>
          <a:p>
            <a:pPr algn="l">
              <a:spcAft>
                <a:spcPts val="500"/>
              </a:spcAft>
            </a:pPr>
            <a:r>
              <a:rPr sz="900" b="1" i="0">
                <a:solidFill>
                  <a:srgbClr val="D4A017"/>
                </a:solidFill>
                <a:latin typeface="Times New Roman"/>
              </a:rPr>
              <a:t>STAGE 06</a:t>
            </a:r>
          </a:p>
          <a:p>
            <a:pPr algn="l">
              <a:lnSpc>
                <a:spcPct val="105000"/>
              </a:lnSpc>
              <a:spcAft>
                <a:spcPts val="600"/>
              </a:spcAft>
            </a:pPr>
            <a:r>
              <a:rPr sz="1600" b="1" i="0">
                <a:solidFill>
                  <a:srgbClr val="FFFFFF"/>
                </a:solidFill>
                <a:latin typeface="Times New Roman"/>
              </a:rPr>
              <a:t>Organizational Transformation</a:t>
            </a:r>
          </a:p>
          <a:p>
            <a:pPr algn="l">
              <a:lnSpc>
                <a:spcPct val="112000"/>
              </a:lnSpc>
            </a:pPr>
            <a:r>
              <a:rPr sz="1100" b="0" i="1">
                <a:solidFill>
                  <a:srgbClr val="C9D2DE"/>
                </a:solidFill>
                <a:latin typeface="Times New Roman"/>
              </a:rPr>
              <a:t>How should the organization change?</a:t>
            </a:r>
          </a:p>
        </p:txBody>
      </p:sp>
      <p:sp>
        <p:nvSpPr>
          <p:cNvPr id="15" name="Rectangle 14"/>
          <p:cNvSpPr/>
          <p:nvPr/>
        </p:nvSpPr>
        <p:spPr>
          <a:xfrm>
            <a:off x="4389120" y="2724912"/>
            <a:ext cx="3383280" cy="228600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90288" y="2926080"/>
            <a:ext cx="2980944" cy="1956816"/>
          </a:xfrm>
          <a:prstGeom prst="rect">
            <a:avLst/>
          </a:prstGeom>
          <a:noFill/>
        </p:spPr>
        <p:txBody>
          <a:bodyPr wrap="square" anchor="t" lIns="0" rIns="0" tIns="0" bIns="0">
            <a:spAutoFit/>
          </a:bodyPr>
          <a:lstStyle/>
          <a:p>
            <a:pPr algn="l">
              <a:spcAft>
                <a:spcPts val="800"/>
              </a:spcAft>
            </a:pPr>
            <a:r>
              <a:rPr sz="850" b="1" i="0">
                <a:solidFill>
                  <a:srgbClr val="2A6F97"/>
                </a:solidFill>
                <a:latin typeface="Times New Roman"/>
              </a:rPr>
              <a:t>WHAT STUDENTS EXAMINE</a:t>
            </a:r>
          </a:p>
          <a:p>
            <a:pPr algn="l">
              <a:lnSpc>
                <a:spcPct val="110000"/>
              </a:lnSpc>
              <a:spcAft>
                <a:spcPts val="150"/>
              </a:spcAft>
            </a:pPr>
            <a:r>
              <a:rPr sz="1150" b="0" i="0">
                <a:solidFill>
                  <a:srgbClr val="111827"/>
                </a:solidFill>
                <a:latin typeface="Times New Roman"/>
              </a:rPr>
              <a:t>—  Leadership</a:t>
            </a:r>
          </a:p>
          <a:p>
            <a:pPr algn="l">
              <a:lnSpc>
                <a:spcPct val="110000"/>
              </a:lnSpc>
              <a:spcAft>
                <a:spcPts val="150"/>
              </a:spcAft>
            </a:pPr>
            <a:r>
              <a:rPr sz="1150" b="0" i="0">
                <a:solidFill>
                  <a:srgbClr val="111827"/>
                </a:solidFill>
                <a:latin typeface="Times New Roman"/>
              </a:rPr>
              <a:t>—  Organizational structure</a:t>
            </a:r>
          </a:p>
          <a:p>
            <a:pPr algn="l">
              <a:lnSpc>
                <a:spcPct val="110000"/>
              </a:lnSpc>
              <a:spcAft>
                <a:spcPts val="150"/>
              </a:spcAft>
            </a:pPr>
            <a:r>
              <a:rPr sz="1150" b="0" i="0">
                <a:solidFill>
                  <a:srgbClr val="111827"/>
                </a:solidFill>
                <a:latin typeface="Times New Roman"/>
              </a:rPr>
              <a:t>—  Talent</a:t>
            </a:r>
          </a:p>
          <a:p>
            <a:pPr algn="l">
              <a:lnSpc>
                <a:spcPct val="110000"/>
              </a:lnSpc>
              <a:spcAft>
                <a:spcPts val="150"/>
              </a:spcAft>
            </a:pPr>
            <a:r>
              <a:rPr sz="1150" b="0" i="0">
                <a:solidFill>
                  <a:srgbClr val="111827"/>
                </a:solidFill>
                <a:latin typeface="Times New Roman"/>
              </a:rPr>
              <a:t>—  Change management</a:t>
            </a:r>
          </a:p>
          <a:p>
            <a:pPr algn="l">
              <a:lnSpc>
                <a:spcPct val="110000"/>
              </a:lnSpc>
              <a:spcAft>
                <a:spcPts val="150"/>
              </a:spcAft>
            </a:pPr>
            <a:r>
              <a:rPr sz="1150" b="0" i="0">
                <a:solidFill>
                  <a:srgbClr val="111827"/>
                </a:solidFill>
                <a:latin typeface="Times New Roman"/>
              </a:rPr>
              <a:t>—  AI operating model</a:t>
            </a:r>
          </a:p>
          <a:p>
            <a:pPr algn="l">
              <a:lnSpc>
                <a:spcPct val="110000"/>
              </a:lnSpc>
              <a:spcAft>
                <a:spcPts val="150"/>
              </a:spcAft>
            </a:pPr>
            <a:r>
              <a:rPr sz="1150" b="0" i="0">
                <a:solidFill>
                  <a:srgbClr val="111827"/>
                </a:solidFill>
                <a:latin typeface="Times New Roman"/>
              </a:rPr>
              <a:t>—  Cross-functional coordination</a:t>
            </a:r>
          </a:p>
          <a:p>
            <a:pPr algn="l">
              <a:lnSpc>
                <a:spcPct val="110000"/>
              </a:lnSpc>
              <a:spcAft>
                <a:spcPts val="150"/>
              </a:spcAft>
            </a:pPr>
            <a:r>
              <a:rPr sz="1150" b="0" i="0">
                <a:solidFill>
                  <a:srgbClr val="111827"/>
                </a:solidFill>
                <a:latin typeface="Times New Roman"/>
              </a:rPr>
              <a:t>—  Performance measurement</a:t>
            </a:r>
          </a:p>
        </p:txBody>
      </p:sp>
      <p:sp>
        <p:nvSpPr>
          <p:cNvPr id="17" name="Rectangle 16"/>
          <p:cNvSpPr/>
          <p:nvPr/>
        </p:nvSpPr>
        <p:spPr>
          <a:xfrm>
            <a:off x="4389120" y="5065776"/>
            <a:ext cx="3383280" cy="804672"/>
          </a:xfrm>
          <a:prstGeom prst="rect">
            <a:avLst/>
          </a:prstGeom>
          <a:solidFill>
            <a:srgbClr val="F6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90288" y="5065776"/>
            <a:ext cx="2980944" cy="804672"/>
          </a:xfrm>
          <a:prstGeom prst="rect">
            <a:avLst/>
          </a:prstGeom>
          <a:noFill/>
        </p:spPr>
        <p:txBody>
          <a:bodyPr wrap="square" anchor="ctr" lIns="0" rIns="0" tIns="0" bIns="0">
            <a:spAutoFit/>
          </a:bodyPr>
          <a:lstStyle/>
          <a:p>
            <a:pPr algn="l">
              <a:lnSpc>
                <a:spcPct val="120000"/>
              </a:lnSpc>
            </a:pPr>
            <a:r>
              <a:rPr sz="1100" b="0" i="1">
                <a:solidFill>
                  <a:srgbClr val="10233F"/>
                </a:solidFill>
                <a:latin typeface="Times New Roman"/>
              </a:rPr>
              <a:t>A strategy nobody can implement is not a strategy.</a:t>
            </a:r>
          </a:p>
        </p:txBody>
      </p:sp>
      <p:sp>
        <p:nvSpPr>
          <p:cNvPr id="19" name="Rectangle 18"/>
          <p:cNvSpPr/>
          <p:nvPr/>
        </p:nvSpPr>
        <p:spPr>
          <a:xfrm>
            <a:off x="7909560" y="1481328"/>
            <a:ext cx="3383280" cy="1152144"/>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10728" y="1481328"/>
            <a:ext cx="2980944" cy="1152144"/>
          </a:xfrm>
          <a:prstGeom prst="rect">
            <a:avLst/>
          </a:prstGeom>
          <a:noFill/>
        </p:spPr>
        <p:txBody>
          <a:bodyPr wrap="square" anchor="ctr" lIns="0" rIns="0" tIns="0" bIns="0">
            <a:spAutoFit/>
          </a:bodyPr>
          <a:lstStyle/>
          <a:p>
            <a:pPr algn="l">
              <a:spcAft>
                <a:spcPts val="500"/>
              </a:spcAft>
            </a:pPr>
            <a:r>
              <a:rPr sz="900" b="1" i="0">
                <a:solidFill>
                  <a:srgbClr val="D4A017"/>
                </a:solidFill>
                <a:latin typeface="Times New Roman"/>
              </a:rPr>
              <a:t>STAGE 07</a:t>
            </a:r>
          </a:p>
          <a:p>
            <a:pPr algn="l">
              <a:lnSpc>
                <a:spcPct val="105000"/>
              </a:lnSpc>
              <a:spcAft>
                <a:spcPts val="600"/>
              </a:spcAft>
            </a:pPr>
            <a:r>
              <a:rPr sz="1600" b="1" i="0">
                <a:solidFill>
                  <a:srgbClr val="FFFFFF"/>
                </a:solidFill>
                <a:latin typeface="Times New Roman"/>
              </a:rPr>
              <a:t>Continuous Learning &amp; Renewal</a:t>
            </a:r>
          </a:p>
          <a:p>
            <a:pPr algn="l">
              <a:lnSpc>
                <a:spcPct val="112000"/>
              </a:lnSpc>
            </a:pPr>
            <a:r>
              <a:rPr sz="1100" b="0" i="1">
                <a:solidFill>
                  <a:srgbClr val="C9D2DE"/>
                </a:solidFill>
                <a:latin typeface="Times New Roman"/>
              </a:rPr>
              <a:t>How will advantage be sustained?</a:t>
            </a:r>
          </a:p>
        </p:txBody>
      </p:sp>
      <p:sp>
        <p:nvSpPr>
          <p:cNvPr id="21" name="Rectangle 20"/>
          <p:cNvSpPr/>
          <p:nvPr/>
        </p:nvSpPr>
        <p:spPr>
          <a:xfrm>
            <a:off x="7909560" y="2724912"/>
            <a:ext cx="3383280" cy="228600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0728" y="2926080"/>
            <a:ext cx="2980944" cy="1956816"/>
          </a:xfrm>
          <a:prstGeom prst="rect">
            <a:avLst/>
          </a:prstGeom>
          <a:noFill/>
        </p:spPr>
        <p:txBody>
          <a:bodyPr wrap="square" anchor="t" lIns="0" rIns="0" tIns="0" bIns="0">
            <a:spAutoFit/>
          </a:bodyPr>
          <a:lstStyle/>
          <a:p>
            <a:pPr algn="l">
              <a:spcAft>
                <a:spcPts val="800"/>
              </a:spcAft>
            </a:pPr>
            <a:r>
              <a:rPr sz="850" b="1" i="0">
                <a:solidFill>
                  <a:srgbClr val="2A6F97"/>
                </a:solidFill>
                <a:latin typeface="Times New Roman"/>
              </a:rPr>
              <a:t>WHAT STUDENTS EXAMINE</a:t>
            </a:r>
          </a:p>
          <a:p>
            <a:pPr algn="l">
              <a:lnSpc>
                <a:spcPct val="110000"/>
              </a:lnSpc>
              <a:spcAft>
                <a:spcPts val="150"/>
              </a:spcAft>
            </a:pPr>
            <a:r>
              <a:rPr sz="1150" b="0" i="0">
                <a:solidFill>
                  <a:srgbClr val="111827"/>
                </a:solidFill>
                <a:latin typeface="Times New Roman"/>
              </a:rPr>
              <a:t>—  Organizational learning</a:t>
            </a:r>
          </a:p>
          <a:p>
            <a:pPr algn="l">
              <a:lnSpc>
                <a:spcPct val="110000"/>
              </a:lnSpc>
              <a:spcAft>
                <a:spcPts val="150"/>
              </a:spcAft>
            </a:pPr>
            <a:r>
              <a:rPr sz="1150" b="0" i="0">
                <a:solidFill>
                  <a:srgbClr val="111827"/>
                </a:solidFill>
                <a:latin typeface="Times New Roman"/>
              </a:rPr>
              <a:t>—  Dynamic capabilities</a:t>
            </a:r>
          </a:p>
          <a:p>
            <a:pPr algn="l">
              <a:lnSpc>
                <a:spcPct val="110000"/>
              </a:lnSpc>
              <a:spcAft>
                <a:spcPts val="150"/>
              </a:spcAft>
            </a:pPr>
            <a:r>
              <a:rPr sz="1150" b="0" i="0">
                <a:solidFill>
                  <a:srgbClr val="111827"/>
                </a:solidFill>
                <a:latin typeface="Times New Roman"/>
              </a:rPr>
              <a:t>—  Continuous experimentation</a:t>
            </a:r>
          </a:p>
          <a:p>
            <a:pPr algn="l">
              <a:lnSpc>
                <a:spcPct val="110000"/>
              </a:lnSpc>
              <a:spcAft>
                <a:spcPts val="150"/>
              </a:spcAft>
            </a:pPr>
            <a:r>
              <a:rPr sz="1150" b="0" i="0">
                <a:solidFill>
                  <a:srgbClr val="111827"/>
                </a:solidFill>
                <a:latin typeface="Times New Roman"/>
              </a:rPr>
              <a:t>—  AI model improvement</a:t>
            </a:r>
          </a:p>
          <a:p>
            <a:pPr algn="l">
              <a:lnSpc>
                <a:spcPct val="110000"/>
              </a:lnSpc>
              <a:spcAft>
                <a:spcPts val="150"/>
              </a:spcAft>
            </a:pPr>
            <a:r>
              <a:rPr sz="1150" b="0" i="0">
                <a:solidFill>
                  <a:srgbClr val="111827"/>
                </a:solidFill>
                <a:latin typeface="Times New Roman"/>
              </a:rPr>
              <a:t>—  Strategic adaptation</a:t>
            </a:r>
          </a:p>
          <a:p>
            <a:pPr algn="l">
              <a:lnSpc>
                <a:spcPct val="110000"/>
              </a:lnSpc>
              <a:spcAft>
                <a:spcPts val="150"/>
              </a:spcAft>
            </a:pPr>
            <a:r>
              <a:rPr sz="1150" b="0" i="0">
                <a:solidFill>
                  <a:srgbClr val="111827"/>
                </a:solidFill>
                <a:latin typeface="Times New Roman"/>
              </a:rPr>
              <a:t>—  Innovation portfolios</a:t>
            </a:r>
          </a:p>
          <a:p>
            <a:pPr algn="l">
              <a:lnSpc>
                <a:spcPct val="110000"/>
              </a:lnSpc>
              <a:spcAft>
                <a:spcPts val="150"/>
              </a:spcAft>
            </a:pPr>
            <a:r>
              <a:rPr sz="1150" b="0" i="0">
                <a:solidFill>
                  <a:srgbClr val="111827"/>
                </a:solidFill>
                <a:latin typeface="Times New Roman"/>
              </a:rPr>
              <a:t>—  Long-term renewal</a:t>
            </a:r>
          </a:p>
        </p:txBody>
      </p:sp>
      <p:sp>
        <p:nvSpPr>
          <p:cNvPr id="23" name="Rectangle 22"/>
          <p:cNvSpPr/>
          <p:nvPr/>
        </p:nvSpPr>
        <p:spPr>
          <a:xfrm>
            <a:off x="7909560" y="5065776"/>
            <a:ext cx="3383280" cy="804672"/>
          </a:xfrm>
          <a:prstGeom prst="rect">
            <a:avLst/>
          </a:prstGeom>
          <a:solidFill>
            <a:srgbClr val="F6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10728" y="5065776"/>
            <a:ext cx="2980944" cy="804672"/>
          </a:xfrm>
          <a:prstGeom prst="rect">
            <a:avLst/>
          </a:prstGeom>
          <a:noFill/>
        </p:spPr>
        <p:txBody>
          <a:bodyPr wrap="square" anchor="ctr" lIns="0" rIns="0" tIns="0" bIns="0">
            <a:spAutoFit/>
          </a:bodyPr>
          <a:lstStyle/>
          <a:p>
            <a:pPr algn="l">
              <a:lnSpc>
                <a:spcPct val="120000"/>
              </a:lnSpc>
            </a:pPr>
            <a:r>
              <a:rPr sz="1100" b="0" i="1">
                <a:solidFill>
                  <a:srgbClr val="10233F"/>
                </a:solidFill>
                <a:latin typeface="Times New Roman"/>
              </a:rPr>
              <a:t>Strategy is an ongoing process rather than a one-time plan.</a:t>
            </a:r>
          </a:p>
        </p:txBody>
      </p:sp>
      <p:sp>
        <p:nvSpPr>
          <p:cNvPr id="25" name="Rectangle 24"/>
          <p:cNvSpPr/>
          <p:nvPr/>
        </p:nvSpPr>
        <p:spPr>
          <a:xfrm>
            <a:off x="868680" y="5998464"/>
            <a:ext cx="36576" cy="31089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69848" y="5998464"/>
            <a:ext cx="10424160" cy="365760"/>
          </a:xfrm>
          <a:prstGeom prst="rect">
            <a:avLst/>
          </a:prstGeom>
          <a:noFill/>
        </p:spPr>
        <p:txBody>
          <a:bodyPr wrap="square" anchor="ctr" lIns="0" rIns="0" tIns="0" bIns="0">
            <a:spAutoFit/>
          </a:bodyPr>
          <a:lstStyle/>
          <a:p>
            <a:pPr algn="l"/>
            <a:r>
              <a:rPr sz="1350" b="1" i="1">
                <a:solidFill>
                  <a:srgbClr val="10233F"/>
                </a:solidFill>
                <a:latin typeface="Times New Roman"/>
              </a:rPr>
              <a:t>Stage seven feeds back into stage one — the framework is a loop, not a line.</a:t>
            </a:r>
          </a:p>
        </p:txBody>
      </p:sp>
      <p:sp>
        <p:nvSpPr>
          <p:cNvPr id="27" name="TextBox 26"/>
          <p:cNvSpPr txBox="1"/>
          <p:nvPr/>
        </p:nvSpPr>
        <p:spPr>
          <a:xfrm>
            <a:off x="11475720" y="6473952"/>
            <a:ext cx="457200" cy="182880"/>
          </a:xfrm>
          <a:prstGeom prst="rect">
            <a:avLst/>
          </a:prstGeom>
          <a:noFill/>
        </p:spPr>
        <p:txBody>
          <a:bodyPr wrap="square" anchor="t" lIns="0" rIns="0" tIns="0" bIns="0">
            <a:spAutoFit/>
          </a:bodyPr>
          <a:lstStyle/>
          <a:p>
            <a:pPr algn="r"/>
            <a:r>
              <a:rPr sz="800" b="0" i="0">
                <a:solidFill>
                  <a:srgbClr val="9CA3AF"/>
                </a:solidFill>
                <a:latin typeface="Times New Roman"/>
              </a:rPr>
              <a:t>46</a:t>
            </a:r>
          </a:p>
        </p:txBody>
      </p:sp>
      <p:sp>
        <p:nvSpPr>
          <p:cNvPr id="28" name="TextBox 27"/>
          <p:cNvSpPr txBox="1"/>
          <p:nvPr/>
        </p:nvSpPr>
        <p:spPr>
          <a:xfrm>
            <a:off x="502920" y="6473952"/>
            <a:ext cx="6400800" cy="182880"/>
          </a:xfrm>
          <a:prstGeom prst="rect">
            <a:avLst/>
          </a:prstGeom>
          <a:noFill/>
        </p:spPr>
        <p:txBody>
          <a:bodyPr wrap="square" anchor="t" lIns="0" rIns="0" tIns="0" bIns="0">
            <a:spAutoFit/>
          </a:bodyPr>
          <a:lstStyle/>
          <a:p>
            <a:pPr algn="l"/>
            <a:r>
              <a:rPr sz="720" b="0" i="0">
                <a:solidFill>
                  <a:srgbClr val="6B7280"/>
                </a:solidFill>
                <a:latin typeface="Times New Roman"/>
              </a:rPr>
              <a:t>Strategic Management in the Age of AI · MGMT 465/665 · Course Introduction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969" cy="164592"/>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969" cy="3657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411480"/>
            <a:ext cx="5943600" cy="228600"/>
          </a:xfrm>
          <a:prstGeom prst="rect">
            <a:avLst/>
          </a:prstGeom>
          <a:noFill/>
        </p:spPr>
        <p:txBody>
          <a:bodyPr wrap="square" anchor="t" lIns="0" rIns="0" tIns="0" bIns="0">
            <a:spAutoFit/>
          </a:bodyPr>
          <a:lstStyle/>
          <a:p>
            <a:pPr algn="l"/>
            <a:r>
              <a:rPr sz="850" b="1" i="0">
                <a:solidFill>
                  <a:srgbClr val="2A6F97"/>
                </a:solidFill>
                <a:latin typeface="Times New Roman"/>
              </a:rPr>
              <a:t>PART IV · APPLYING AISE THROUGHOUT THE COURSE</a:t>
            </a:r>
          </a:p>
        </p:txBody>
      </p:sp>
      <p:sp>
        <p:nvSpPr>
          <p:cNvPr id="6" name="TextBox 5"/>
          <p:cNvSpPr txBox="1"/>
          <p:nvPr/>
        </p:nvSpPr>
        <p:spPr>
          <a:xfrm>
            <a:off x="502920" y="640080"/>
            <a:ext cx="9509760" cy="457200"/>
          </a:xfrm>
          <a:prstGeom prst="rect">
            <a:avLst/>
          </a:prstGeom>
          <a:noFill/>
        </p:spPr>
        <p:txBody>
          <a:bodyPr wrap="square" anchor="t" lIns="0" rIns="0" tIns="0" bIns="0">
            <a:spAutoFit/>
          </a:bodyPr>
          <a:lstStyle/>
          <a:p>
            <a:pPr algn="l"/>
            <a:r>
              <a:rPr sz="2400" b="1" i="0">
                <a:solidFill>
                  <a:srgbClr val="111827"/>
                </a:solidFill>
                <a:latin typeface="Times New Roman"/>
              </a:rPr>
              <a:t>Every major activity runs on the same framework</a:t>
            </a:r>
          </a:p>
        </p:txBody>
      </p:sp>
      <p:sp>
        <p:nvSpPr>
          <p:cNvPr id="7" name="Rectangle 6"/>
          <p:cNvSpPr/>
          <p:nvPr/>
        </p:nvSpPr>
        <p:spPr>
          <a:xfrm>
            <a:off x="868680" y="1554480"/>
            <a:ext cx="10424159" cy="329184"/>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78407" y="1554480"/>
            <a:ext cx="3712463" cy="329184"/>
          </a:xfrm>
          <a:prstGeom prst="rect">
            <a:avLst/>
          </a:prstGeom>
          <a:noFill/>
        </p:spPr>
        <p:txBody>
          <a:bodyPr wrap="square" anchor="ctr" lIns="0" rIns="0" tIns="0" bIns="0">
            <a:spAutoFit/>
          </a:bodyPr>
          <a:lstStyle/>
          <a:p>
            <a:pPr algn="l"/>
            <a:r>
              <a:rPr sz="950" b="1" i="0">
                <a:solidFill>
                  <a:srgbClr val="FFFFFF"/>
                </a:solidFill>
                <a:latin typeface="Times New Roman"/>
              </a:rPr>
              <a:t>COURSE COMPONENT</a:t>
            </a:r>
          </a:p>
        </p:txBody>
      </p:sp>
      <p:sp>
        <p:nvSpPr>
          <p:cNvPr id="9" name="TextBox 8"/>
          <p:cNvSpPr txBox="1"/>
          <p:nvPr/>
        </p:nvSpPr>
        <p:spPr>
          <a:xfrm>
            <a:off x="4910328" y="1554480"/>
            <a:ext cx="6272783" cy="329184"/>
          </a:xfrm>
          <a:prstGeom prst="rect">
            <a:avLst/>
          </a:prstGeom>
          <a:noFill/>
        </p:spPr>
        <p:txBody>
          <a:bodyPr wrap="square" anchor="ctr" lIns="0" rIns="0" tIns="0" bIns="0">
            <a:spAutoFit/>
          </a:bodyPr>
          <a:lstStyle/>
          <a:p>
            <a:pPr algn="l"/>
            <a:r>
              <a:rPr sz="950" b="1" i="0">
                <a:solidFill>
                  <a:srgbClr val="FFFFFF"/>
                </a:solidFill>
                <a:latin typeface="Times New Roman"/>
              </a:rPr>
              <a:t>AISE APPLICATION</a:t>
            </a:r>
          </a:p>
        </p:txBody>
      </p:sp>
      <p:sp>
        <p:nvSpPr>
          <p:cNvPr id="10" name="Rectangle 9"/>
          <p:cNvSpPr/>
          <p:nvPr/>
        </p:nvSpPr>
        <p:spPr>
          <a:xfrm>
            <a:off x="868680" y="1883664"/>
            <a:ext cx="10424159" cy="512064"/>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68680" y="2384755"/>
            <a:ext cx="10424159" cy="10972"/>
          </a:xfrm>
          <a:prstGeom prst="rect">
            <a:avLst/>
          </a:prstGeom>
          <a:solidFill>
            <a:srgbClr val="E2E5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7" y="1883664"/>
            <a:ext cx="3712463" cy="512064"/>
          </a:xfrm>
          <a:prstGeom prst="rect">
            <a:avLst/>
          </a:prstGeom>
          <a:noFill/>
        </p:spPr>
        <p:txBody>
          <a:bodyPr wrap="square" anchor="ctr" lIns="0" rIns="0" tIns="0" bIns="0">
            <a:spAutoFit/>
          </a:bodyPr>
          <a:lstStyle/>
          <a:p>
            <a:pPr algn="l">
              <a:lnSpc>
                <a:spcPct val="106000"/>
              </a:lnSpc>
            </a:pPr>
            <a:r>
              <a:rPr sz="1250" b="1" i="0">
                <a:solidFill>
                  <a:srgbClr val="10233F"/>
                </a:solidFill>
                <a:latin typeface="Times New Roman"/>
              </a:rPr>
              <a:t>Weekly Readings</a:t>
            </a:r>
          </a:p>
        </p:txBody>
      </p:sp>
      <p:sp>
        <p:nvSpPr>
          <p:cNvPr id="13" name="TextBox 12"/>
          <p:cNvSpPr txBox="1"/>
          <p:nvPr/>
        </p:nvSpPr>
        <p:spPr>
          <a:xfrm>
            <a:off x="4910328" y="1883664"/>
            <a:ext cx="6272783" cy="512064"/>
          </a:xfrm>
          <a:prstGeom prst="rect">
            <a:avLst/>
          </a:prstGeom>
          <a:noFill/>
        </p:spPr>
        <p:txBody>
          <a:bodyPr wrap="square" anchor="ctr" lIns="0" rIns="0" tIns="0" bIns="0">
            <a:spAutoFit/>
          </a:bodyPr>
          <a:lstStyle/>
          <a:p>
            <a:pPr algn="l">
              <a:lnSpc>
                <a:spcPct val="106000"/>
              </a:lnSpc>
            </a:pPr>
            <a:r>
              <a:rPr sz="1250" b="0" i="0">
                <a:solidFill>
                  <a:srgbClr val="111827"/>
                </a:solidFill>
                <a:latin typeface="Times New Roman"/>
              </a:rPr>
              <a:t>Evaluate how each theory contributes to one or more AISE stages</a:t>
            </a:r>
          </a:p>
        </p:txBody>
      </p:sp>
      <p:sp>
        <p:nvSpPr>
          <p:cNvPr id="14" name="Rectangle 13"/>
          <p:cNvSpPr/>
          <p:nvPr/>
        </p:nvSpPr>
        <p:spPr>
          <a:xfrm>
            <a:off x="868680" y="2896819"/>
            <a:ext cx="10424159" cy="10972"/>
          </a:xfrm>
          <a:prstGeom prst="rect">
            <a:avLst/>
          </a:prstGeom>
          <a:solidFill>
            <a:srgbClr val="E2E5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78407" y="2395728"/>
            <a:ext cx="3712463" cy="512064"/>
          </a:xfrm>
          <a:prstGeom prst="rect">
            <a:avLst/>
          </a:prstGeom>
          <a:noFill/>
        </p:spPr>
        <p:txBody>
          <a:bodyPr wrap="square" anchor="ctr" lIns="0" rIns="0" tIns="0" bIns="0">
            <a:spAutoFit/>
          </a:bodyPr>
          <a:lstStyle/>
          <a:p>
            <a:pPr algn="l">
              <a:lnSpc>
                <a:spcPct val="106000"/>
              </a:lnSpc>
            </a:pPr>
            <a:r>
              <a:rPr sz="1250" b="1" i="0">
                <a:solidFill>
                  <a:srgbClr val="10233F"/>
                </a:solidFill>
                <a:latin typeface="Times New Roman"/>
              </a:rPr>
              <a:t>Theory Evolution Exercise</a:t>
            </a:r>
          </a:p>
        </p:txBody>
      </p:sp>
      <p:sp>
        <p:nvSpPr>
          <p:cNvPr id="16" name="TextBox 15"/>
          <p:cNvSpPr txBox="1"/>
          <p:nvPr/>
        </p:nvSpPr>
        <p:spPr>
          <a:xfrm>
            <a:off x="4910328" y="2395728"/>
            <a:ext cx="6272783" cy="512064"/>
          </a:xfrm>
          <a:prstGeom prst="rect">
            <a:avLst/>
          </a:prstGeom>
          <a:noFill/>
        </p:spPr>
        <p:txBody>
          <a:bodyPr wrap="square" anchor="ctr" lIns="0" rIns="0" tIns="0" bIns="0">
            <a:spAutoFit/>
          </a:bodyPr>
          <a:lstStyle/>
          <a:p>
            <a:pPr algn="l">
              <a:lnSpc>
                <a:spcPct val="106000"/>
              </a:lnSpc>
            </a:pPr>
            <a:r>
              <a:rPr sz="1250" b="0" i="0">
                <a:solidFill>
                  <a:srgbClr val="111827"/>
                </a:solidFill>
                <a:latin typeface="Times New Roman"/>
              </a:rPr>
              <a:t>Explain how AI modifies the strategic assumptions within the relevant stage</a:t>
            </a:r>
          </a:p>
        </p:txBody>
      </p:sp>
      <p:sp>
        <p:nvSpPr>
          <p:cNvPr id="17" name="Rectangle 16"/>
          <p:cNvSpPr/>
          <p:nvPr/>
        </p:nvSpPr>
        <p:spPr>
          <a:xfrm>
            <a:off x="868680" y="2907792"/>
            <a:ext cx="10424159" cy="512064"/>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68680" y="3408883"/>
            <a:ext cx="10424159" cy="10972"/>
          </a:xfrm>
          <a:prstGeom prst="rect">
            <a:avLst/>
          </a:prstGeom>
          <a:solidFill>
            <a:srgbClr val="E2E5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78407" y="2907792"/>
            <a:ext cx="3712463" cy="512064"/>
          </a:xfrm>
          <a:prstGeom prst="rect">
            <a:avLst/>
          </a:prstGeom>
          <a:noFill/>
        </p:spPr>
        <p:txBody>
          <a:bodyPr wrap="square" anchor="ctr" lIns="0" rIns="0" tIns="0" bIns="0">
            <a:spAutoFit/>
          </a:bodyPr>
          <a:lstStyle/>
          <a:p>
            <a:pPr algn="l">
              <a:lnSpc>
                <a:spcPct val="106000"/>
              </a:lnSpc>
            </a:pPr>
            <a:r>
              <a:rPr sz="1250" b="1" i="0">
                <a:solidFill>
                  <a:srgbClr val="10233F"/>
                </a:solidFill>
                <a:latin typeface="Times New Roman"/>
              </a:rPr>
              <a:t>Harvard Business School Cases</a:t>
            </a:r>
          </a:p>
        </p:txBody>
      </p:sp>
      <p:sp>
        <p:nvSpPr>
          <p:cNvPr id="20" name="TextBox 19"/>
          <p:cNvSpPr txBox="1"/>
          <p:nvPr/>
        </p:nvSpPr>
        <p:spPr>
          <a:xfrm>
            <a:off x="4910328" y="2907792"/>
            <a:ext cx="6272783" cy="512064"/>
          </a:xfrm>
          <a:prstGeom prst="rect">
            <a:avLst/>
          </a:prstGeom>
          <a:noFill/>
        </p:spPr>
        <p:txBody>
          <a:bodyPr wrap="square" anchor="ctr" lIns="0" rIns="0" tIns="0" bIns="0">
            <a:spAutoFit/>
          </a:bodyPr>
          <a:lstStyle/>
          <a:p>
            <a:pPr algn="l">
              <a:lnSpc>
                <a:spcPct val="106000"/>
              </a:lnSpc>
            </a:pPr>
            <a:r>
              <a:rPr sz="1250" b="0" i="0">
                <a:solidFill>
                  <a:srgbClr val="111827"/>
                </a:solidFill>
                <a:latin typeface="Times New Roman"/>
              </a:rPr>
              <a:t>Diagnose the organization's challenges using all seven stages</a:t>
            </a:r>
          </a:p>
        </p:txBody>
      </p:sp>
      <p:sp>
        <p:nvSpPr>
          <p:cNvPr id="21" name="Rectangle 20"/>
          <p:cNvSpPr/>
          <p:nvPr/>
        </p:nvSpPr>
        <p:spPr>
          <a:xfrm>
            <a:off x="868680" y="3920947"/>
            <a:ext cx="10424159" cy="10972"/>
          </a:xfrm>
          <a:prstGeom prst="rect">
            <a:avLst/>
          </a:prstGeom>
          <a:solidFill>
            <a:srgbClr val="E2E5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8407" y="3419856"/>
            <a:ext cx="3712463" cy="512064"/>
          </a:xfrm>
          <a:prstGeom prst="rect">
            <a:avLst/>
          </a:prstGeom>
          <a:noFill/>
        </p:spPr>
        <p:txBody>
          <a:bodyPr wrap="square" anchor="ctr" lIns="0" rIns="0" tIns="0" bIns="0">
            <a:spAutoFit/>
          </a:bodyPr>
          <a:lstStyle/>
          <a:p>
            <a:pPr algn="l">
              <a:lnSpc>
                <a:spcPct val="106000"/>
              </a:lnSpc>
            </a:pPr>
            <a:r>
              <a:rPr sz="1250" b="1" i="0">
                <a:solidFill>
                  <a:srgbClr val="10233F"/>
                </a:solidFill>
                <a:latin typeface="Times New Roman"/>
              </a:rPr>
              <a:t>AI Laboratories</a:t>
            </a:r>
          </a:p>
        </p:txBody>
      </p:sp>
      <p:sp>
        <p:nvSpPr>
          <p:cNvPr id="23" name="TextBox 22"/>
          <p:cNvSpPr txBox="1"/>
          <p:nvPr/>
        </p:nvSpPr>
        <p:spPr>
          <a:xfrm>
            <a:off x="4910328" y="3419856"/>
            <a:ext cx="6272783" cy="512064"/>
          </a:xfrm>
          <a:prstGeom prst="rect">
            <a:avLst/>
          </a:prstGeom>
          <a:noFill/>
        </p:spPr>
        <p:txBody>
          <a:bodyPr wrap="square" anchor="ctr" lIns="0" rIns="0" tIns="0" bIns="0">
            <a:spAutoFit/>
          </a:bodyPr>
          <a:lstStyle/>
          <a:p>
            <a:pPr algn="l">
              <a:lnSpc>
                <a:spcPct val="106000"/>
              </a:lnSpc>
            </a:pPr>
            <a:r>
              <a:rPr sz="1250" b="0" i="0">
                <a:solidFill>
                  <a:srgbClr val="111827"/>
                </a:solidFill>
                <a:latin typeface="Times New Roman"/>
              </a:rPr>
              <a:t>Apply AI tools to support analysis at each stage of the framework</a:t>
            </a:r>
          </a:p>
        </p:txBody>
      </p:sp>
      <p:sp>
        <p:nvSpPr>
          <p:cNvPr id="24" name="Rectangle 23"/>
          <p:cNvSpPr/>
          <p:nvPr/>
        </p:nvSpPr>
        <p:spPr>
          <a:xfrm>
            <a:off x="868680" y="3931920"/>
            <a:ext cx="10424159" cy="512064"/>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68680" y="4433011"/>
            <a:ext cx="10424159" cy="10972"/>
          </a:xfrm>
          <a:prstGeom prst="rect">
            <a:avLst/>
          </a:prstGeom>
          <a:solidFill>
            <a:srgbClr val="E2E5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78407" y="3931920"/>
            <a:ext cx="3712463" cy="512064"/>
          </a:xfrm>
          <a:prstGeom prst="rect">
            <a:avLst/>
          </a:prstGeom>
          <a:noFill/>
        </p:spPr>
        <p:txBody>
          <a:bodyPr wrap="square" anchor="ctr" lIns="0" rIns="0" tIns="0" bIns="0">
            <a:spAutoFit/>
          </a:bodyPr>
          <a:lstStyle/>
          <a:p>
            <a:pPr algn="l">
              <a:lnSpc>
                <a:spcPct val="106000"/>
              </a:lnSpc>
            </a:pPr>
            <a:r>
              <a:rPr sz="1250" b="1" i="0">
                <a:solidFill>
                  <a:srgbClr val="10233F"/>
                </a:solidFill>
                <a:latin typeface="Times New Roman"/>
              </a:rPr>
              <a:t>Consulting Project</a:t>
            </a:r>
          </a:p>
        </p:txBody>
      </p:sp>
      <p:sp>
        <p:nvSpPr>
          <p:cNvPr id="27" name="TextBox 26"/>
          <p:cNvSpPr txBox="1"/>
          <p:nvPr/>
        </p:nvSpPr>
        <p:spPr>
          <a:xfrm>
            <a:off x="4910328" y="3931920"/>
            <a:ext cx="6272783" cy="512064"/>
          </a:xfrm>
          <a:prstGeom prst="rect">
            <a:avLst/>
          </a:prstGeom>
          <a:noFill/>
        </p:spPr>
        <p:txBody>
          <a:bodyPr wrap="square" anchor="ctr" lIns="0" rIns="0" tIns="0" bIns="0">
            <a:spAutoFit/>
          </a:bodyPr>
          <a:lstStyle/>
          <a:p>
            <a:pPr algn="l">
              <a:lnSpc>
                <a:spcPct val="106000"/>
              </a:lnSpc>
            </a:pPr>
            <a:r>
              <a:rPr sz="1250" b="0" i="0">
                <a:solidFill>
                  <a:srgbClr val="111827"/>
                </a:solidFill>
                <a:latin typeface="Times New Roman"/>
              </a:rPr>
              <a:t>Develop a complete AI strategy organized around the seven stages</a:t>
            </a:r>
          </a:p>
        </p:txBody>
      </p:sp>
      <p:sp>
        <p:nvSpPr>
          <p:cNvPr id="28" name="Rectangle 27"/>
          <p:cNvSpPr/>
          <p:nvPr/>
        </p:nvSpPr>
        <p:spPr>
          <a:xfrm>
            <a:off x="868680" y="4945075"/>
            <a:ext cx="10424159" cy="10972"/>
          </a:xfrm>
          <a:prstGeom prst="rect">
            <a:avLst/>
          </a:prstGeom>
          <a:solidFill>
            <a:srgbClr val="E2E5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78407" y="4443984"/>
            <a:ext cx="3712463" cy="512064"/>
          </a:xfrm>
          <a:prstGeom prst="rect">
            <a:avLst/>
          </a:prstGeom>
          <a:noFill/>
        </p:spPr>
        <p:txBody>
          <a:bodyPr wrap="square" anchor="ctr" lIns="0" rIns="0" tIns="0" bIns="0">
            <a:spAutoFit/>
          </a:bodyPr>
          <a:lstStyle/>
          <a:p>
            <a:pPr algn="l">
              <a:lnSpc>
                <a:spcPct val="106000"/>
              </a:lnSpc>
            </a:pPr>
            <a:r>
              <a:rPr sz="1250" b="1" i="0">
                <a:solidFill>
                  <a:srgbClr val="10233F"/>
                </a:solidFill>
                <a:latin typeface="Times New Roman"/>
              </a:rPr>
              <a:t>Executive Board Presentation</a:t>
            </a:r>
          </a:p>
        </p:txBody>
      </p:sp>
      <p:sp>
        <p:nvSpPr>
          <p:cNvPr id="30" name="TextBox 29"/>
          <p:cNvSpPr txBox="1"/>
          <p:nvPr/>
        </p:nvSpPr>
        <p:spPr>
          <a:xfrm>
            <a:off x="4910328" y="4443984"/>
            <a:ext cx="6272783" cy="512064"/>
          </a:xfrm>
          <a:prstGeom prst="rect">
            <a:avLst/>
          </a:prstGeom>
          <a:noFill/>
        </p:spPr>
        <p:txBody>
          <a:bodyPr wrap="square" anchor="ctr" lIns="0" rIns="0" tIns="0" bIns="0">
            <a:spAutoFit/>
          </a:bodyPr>
          <a:lstStyle/>
          <a:p>
            <a:pPr algn="l">
              <a:lnSpc>
                <a:spcPct val="106000"/>
              </a:lnSpc>
            </a:pPr>
            <a:r>
              <a:rPr sz="1250" b="0" i="0">
                <a:solidFill>
                  <a:srgbClr val="111827"/>
                </a:solidFill>
                <a:latin typeface="Times New Roman"/>
              </a:rPr>
              <a:t>Present recommendations using AISE as the organizing structure</a:t>
            </a:r>
          </a:p>
        </p:txBody>
      </p:sp>
      <p:sp>
        <p:nvSpPr>
          <p:cNvPr id="31" name="Rectangle 30"/>
          <p:cNvSpPr/>
          <p:nvPr/>
        </p:nvSpPr>
        <p:spPr>
          <a:xfrm>
            <a:off x="868680" y="5175504"/>
            <a:ext cx="10424160" cy="786384"/>
          </a:xfrm>
          <a:prstGeom prst="rect">
            <a:avLst/>
          </a:prstGeom>
          <a:solidFill>
            <a:srgbClr val="EA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68680" y="5175504"/>
            <a:ext cx="45720" cy="786384"/>
          </a:xfrm>
          <a:prstGeom prst="rect">
            <a:avLst/>
          </a:prstGeom>
          <a:solidFill>
            <a:srgbClr val="2A6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188720" y="5175504"/>
            <a:ext cx="9875520" cy="786384"/>
          </a:xfrm>
          <a:prstGeom prst="rect">
            <a:avLst/>
          </a:prstGeom>
          <a:noFill/>
        </p:spPr>
        <p:txBody>
          <a:bodyPr wrap="square" anchor="ctr" lIns="0" rIns="0" tIns="0" bIns="0">
            <a:spAutoFit/>
          </a:bodyPr>
          <a:lstStyle/>
          <a:p>
            <a:pPr algn="l">
              <a:lnSpc>
                <a:spcPct val="124000"/>
              </a:lnSpc>
            </a:pPr>
            <a:r>
              <a:rPr sz="1350" b="0" i="0">
                <a:solidFill>
                  <a:srgbClr val="111827"/>
                </a:solidFill>
                <a:latin typeface="Times New Roman"/>
              </a:rPr>
              <a:t>AISE does not replace classical frameworks. It is the integrative structure that connects diverse theories, contemporary research, and real organizational challenges.</a:t>
            </a:r>
          </a:p>
        </p:txBody>
      </p:sp>
      <p:sp>
        <p:nvSpPr>
          <p:cNvPr id="34" name="Rectangle 33"/>
          <p:cNvSpPr/>
          <p:nvPr/>
        </p:nvSpPr>
        <p:spPr>
          <a:xfrm>
            <a:off x="868680" y="6071616"/>
            <a:ext cx="36576" cy="31089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69848" y="6071616"/>
            <a:ext cx="10424160" cy="365760"/>
          </a:xfrm>
          <a:prstGeom prst="rect">
            <a:avLst/>
          </a:prstGeom>
          <a:noFill/>
        </p:spPr>
        <p:txBody>
          <a:bodyPr wrap="square" anchor="ctr" lIns="0" rIns="0" tIns="0" bIns="0">
            <a:spAutoFit/>
          </a:bodyPr>
          <a:lstStyle/>
          <a:p>
            <a:pPr algn="l"/>
            <a:r>
              <a:rPr sz="1350" b="1" i="1">
                <a:solidFill>
                  <a:srgbClr val="10233F"/>
                </a:solidFill>
                <a:latin typeface="Times New Roman"/>
              </a:rPr>
              <a:t>One framework, applied repeatedly, until it becomes a habit of mind.</a:t>
            </a:r>
          </a:p>
        </p:txBody>
      </p:sp>
      <p:sp>
        <p:nvSpPr>
          <p:cNvPr id="36" name="TextBox 35"/>
          <p:cNvSpPr txBox="1"/>
          <p:nvPr/>
        </p:nvSpPr>
        <p:spPr>
          <a:xfrm>
            <a:off x="11475720" y="6473952"/>
            <a:ext cx="457200" cy="182880"/>
          </a:xfrm>
          <a:prstGeom prst="rect">
            <a:avLst/>
          </a:prstGeom>
          <a:noFill/>
        </p:spPr>
        <p:txBody>
          <a:bodyPr wrap="square" anchor="t" lIns="0" rIns="0" tIns="0" bIns="0">
            <a:spAutoFit/>
          </a:bodyPr>
          <a:lstStyle/>
          <a:p>
            <a:pPr algn="r"/>
            <a:r>
              <a:rPr sz="800" b="0" i="0">
                <a:solidFill>
                  <a:srgbClr val="9CA3AF"/>
                </a:solidFill>
                <a:latin typeface="Times New Roman"/>
              </a:rPr>
              <a:t>47</a:t>
            </a:r>
          </a:p>
        </p:txBody>
      </p:sp>
      <p:sp>
        <p:nvSpPr>
          <p:cNvPr id="37" name="TextBox 36"/>
          <p:cNvSpPr txBox="1"/>
          <p:nvPr/>
        </p:nvSpPr>
        <p:spPr>
          <a:xfrm>
            <a:off x="502920" y="6473952"/>
            <a:ext cx="6400800" cy="182880"/>
          </a:xfrm>
          <a:prstGeom prst="rect">
            <a:avLst/>
          </a:prstGeom>
          <a:noFill/>
        </p:spPr>
        <p:txBody>
          <a:bodyPr wrap="square" anchor="t" lIns="0" rIns="0" tIns="0" bIns="0">
            <a:spAutoFit/>
          </a:bodyPr>
          <a:lstStyle/>
          <a:p>
            <a:pPr algn="l"/>
            <a:r>
              <a:rPr sz="720" b="0" i="0">
                <a:solidFill>
                  <a:srgbClr val="6B7280"/>
                </a:solidFill>
                <a:latin typeface="Times New Roman"/>
              </a:rPr>
              <a:t>Strategic Management in the Age of AI · MGMT 465/665 · Course Introduction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969" cy="164592"/>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969" cy="3657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411480"/>
            <a:ext cx="5943600" cy="228600"/>
          </a:xfrm>
          <a:prstGeom prst="rect">
            <a:avLst/>
          </a:prstGeom>
          <a:noFill/>
        </p:spPr>
        <p:txBody>
          <a:bodyPr wrap="square" anchor="t" lIns="0" rIns="0" tIns="0" bIns="0">
            <a:spAutoFit/>
          </a:bodyPr>
          <a:lstStyle/>
          <a:p>
            <a:pPr algn="l"/>
            <a:r>
              <a:rPr sz="850" b="1" i="0">
                <a:solidFill>
                  <a:srgbClr val="2A6F97"/>
                </a:solidFill>
                <a:latin typeface="Times New Roman"/>
              </a:rPr>
              <a:t>PART IV · THEORY EVOLUTION EXERCISE</a:t>
            </a:r>
          </a:p>
        </p:txBody>
      </p:sp>
      <p:sp>
        <p:nvSpPr>
          <p:cNvPr id="6" name="TextBox 5"/>
          <p:cNvSpPr txBox="1"/>
          <p:nvPr/>
        </p:nvSpPr>
        <p:spPr>
          <a:xfrm>
            <a:off x="502920" y="640080"/>
            <a:ext cx="9509760" cy="457200"/>
          </a:xfrm>
          <a:prstGeom prst="rect">
            <a:avLst/>
          </a:prstGeom>
          <a:noFill/>
        </p:spPr>
        <p:txBody>
          <a:bodyPr wrap="square" anchor="t" lIns="0" rIns="0" tIns="0" bIns="0">
            <a:spAutoFit/>
          </a:bodyPr>
          <a:lstStyle/>
          <a:p>
            <a:pPr algn="l"/>
            <a:r>
              <a:rPr sz="2400" b="1" i="0">
                <a:solidFill>
                  <a:srgbClr val="111827"/>
                </a:solidFill>
                <a:latin typeface="Times New Roman"/>
              </a:rPr>
              <a:t>“Rewriting Strategy for the AI Era”</a:t>
            </a:r>
          </a:p>
        </p:txBody>
      </p:sp>
      <p:sp>
        <p:nvSpPr>
          <p:cNvPr id="7" name="Rectangle 6"/>
          <p:cNvSpPr/>
          <p:nvPr/>
        </p:nvSpPr>
        <p:spPr>
          <a:xfrm>
            <a:off x="868680" y="1481328"/>
            <a:ext cx="10424160" cy="786384"/>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68680" y="1481328"/>
            <a:ext cx="45720" cy="786384"/>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88720" y="1481328"/>
            <a:ext cx="9875520" cy="786384"/>
          </a:xfrm>
          <a:prstGeom prst="rect">
            <a:avLst/>
          </a:prstGeom>
          <a:noFill/>
        </p:spPr>
        <p:txBody>
          <a:bodyPr wrap="square" anchor="ctr" lIns="0" rIns="0" tIns="0" bIns="0">
            <a:spAutoFit/>
          </a:bodyPr>
          <a:lstStyle/>
          <a:p>
            <a:pPr algn="l"/>
            <a:r>
              <a:rPr sz="2100" b="1" i="1">
                <a:solidFill>
                  <a:srgbClr val="FFFFFF"/>
                </a:solidFill>
                <a:latin typeface="Times New Roman"/>
              </a:rPr>
              <a:t>“If I were rewriting this classical theory in 2026, I would…”</a:t>
            </a:r>
          </a:p>
        </p:txBody>
      </p:sp>
      <p:sp>
        <p:nvSpPr>
          <p:cNvPr id="10" name="TextBox 9"/>
          <p:cNvSpPr txBox="1"/>
          <p:nvPr/>
        </p:nvSpPr>
        <p:spPr>
          <a:xfrm>
            <a:off x="868680" y="2487168"/>
            <a:ext cx="10424160" cy="274320"/>
          </a:xfrm>
          <a:prstGeom prst="rect">
            <a:avLst/>
          </a:prstGeom>
          <a:noFill/>
        </p:spPr>
        <p:txBody>
          <a:bodyPr wrap="square" anchor="t" lIns="0" rIns="0" tIns="0" bIns="0">
            <a:spAutoFit/>
          </a:bodyPr>
          <a:lstStyle/>
          <a:p>
            <a:pPr algn="l"/>
            <a:r>
              <a:rPr sz="950" b="1" i="0">
                <a:solidFill>
                  <a:srgbClr val="2A6F97"/>
                </a:solidFill>
                <a:latin typeface="Times New Roman"/>
              </a:rPr>
              <a:t>EACH REFLECTION MUST DO FIVE THINGS</a:t>
            </a:r>
          </a:p>
        </p:txBody>
      </p:sp>
      <p:sp>
        <p:nvSpPr>
          <p:cNvPr id="11" name="Rectangle 10"/>
          <p:cNvSpPr/>
          <p:nvPr/>
        </p:nvSpPr>
        <p:spPr>
          <a:xfrm>
            <a:off x="868680" y="2798064"/>
            <a:ext cx="411480" cy="402336"/>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2848356"/>
            <a:ext cx="411480" cy="320040"/>
          </a:xfrm>
          <a:prstGeom prst="rect">
            <a:avLst/>
          </a:prstGeom>
          <a:noFill/>
        </p:spPr>
        <p:txBody>
          <a:bodyPr wrap="square" anchor="t" lIns="0" rIns="0" tIns="0" bIns="0">
            <a:spAutoFit/>
          </a:bodyPr>
          <a:lstStyle/>
          <a:p>
            <a:pPr algn="ctr"/>
            <a:r>
              <a:rPr sz="1500" b="1" i="0">
                <a:solidFill>
                  <a:srgbClr val="FFFFFF"/>
                </a:solidFill>
                <a:latin typeface="Times New Roman"/>
              </a:rPr>
              <a:t>1</a:t>
            </a:r>
          </a:p>
        </p:txBody>
      </p:sp>
      <p:sp>
        <p:nvSpPr>
          <p:cNvPr id="13" name="TextBox 12"/>
          <p:cNvSpPr txBox="1"/>
          <p:nvPr/>
        </p:nvSpPr>
        <p:spPr>
          <a:xfrm>
            <a:off x="1463040" y="2788920"/>
            <a:ext cx="4206240" cy="292608"/>
          </a:xfrm>
          <a:prstGeom prst="rect">
            <a:avLst/>
          </a:prstGeom>
          <a:noFill/>
        </p:spPr>
        <p:txBody>
          <a:bodyPr wrap="square" anchor="t" lIns="0" rIns="0" tIns="0" bIns="0">
            <a:spAutoFit/>
          </a:bodyPr>
          <a:lstStyle/>
          <a:p>
            <a:pPr algn="l"/>
            <a:r>
              <a:rPr sz="1400" b="1" i="0">
                <a:solidFill>
                  <a:srgbClr val="111827"/>
                </a:solidFill>
                <a:latin typeface="Times New Roman"/>
              </a:rPr>
              <a:t>Summarize the classical theory</a:t>
            </a:r>
          </a:p>
        </p:txBody>
      </p:sp>
      <p:sp>
        <p:nvSpPr>
          <p:cNvPr id="14" name="TextBox 13"/>
          <p:cNvSpPr txBox="1"/>
          <p:nvPr/>
        </p:nvSpPr>
        <p:spPr>
          <a:xfrm>
            <a:off x="5806440" y="2825496"/>
            <a:ext cx="5120640" cy="457200"/>
          </a:xfrm>
          <a:prstGeom prst="rect">
            <a:avLst/>
          </a:prstGeom>
          <a:noFill/>
        </p:spPr>
        <p:txBody>
          <a:bodyPr wrap="square" anchor="t" lIns="0" rIns="0" tIns="0" bIns="0">
            <a:spAutoFit/>
          </a:bodyPr>
          <a:lstStyle/>
          <a:p>
            <a:pPr algn="l">
              <a:lnSpc>
                <a:spcPct val="115000"/>
              </a:lnSpc>
            </a:pPr>
            <a:r>
              <a:rPr sz="1150" b="0" i="0">
                <a:solidFill>
                  <a:srgbClr val="4B5563"/>
                </a:solidFill>
                <a:latin typeface="Times New Roman"/>
              </a:rPr>
              <a:t>Faithfully, in your own words</a:t>
            </a:r>
          </a:p>
        </p:txBody>
      </p:sp>
      <p:sp>
        <p:nvSpPr>
          <p:cNvPr id="15" name="Rectangle 14"/>
          <p:cNvSpPr/>
          <p:nvPr/>
        </p:nvSpPr>
        <p:spPr>
          <a:xfrm>
            <a:off x="868680" y="3328416"/>
            <a:ext cx="411480" cy="402336"/>
          </a:xfrm>
          <a:prstGeom prst="rect">
            <a:avLst/>
          </a:prstGeom>
          <a:solidFill>
            <a:srgbClr val="2A6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3378708"/>
            <a:ext cx="411480" cy="320040"/>
          </a:xfrm>
          <a:prstGeom prst="rect">
            <a:avLst/>
          </a:prstGeom>
          <a:noFill/>
        </p:spPr>
        <p:txBody>
          <a:bodyPr wrap="square" anchor="t" lIns="0" rIns="0" tIns="0" bIns="0">
            <a:spAutoFit/>
          </a:bodyPr>
          <a:lstStyle/>
          <a:p>
            <a:pPr algn="ctr"/>
            <a:r>
              <a:rPr sz="1500" b="1" i="0">
                <a:solidFill>
                  <a:srgbClr val="FFFFFF"/>
                </a:solidFill>
                <a:latin typeface="Times New Roman"/>
              </a:rPr>
              <a:t>2</a:t>
            </a:r>
          </a:p>
        </p:txBody>
      </p:sp>
      <p:sp>
        <p:nvSpPr>
          <p:cNvPr id="17" name="TextBox 16"/>
          <p:cNvSpPr txBox="1"/>
          <p:nvPr/>
        </p:nvSpPr>
        <p:spPr>
          <a:xfrm>
            <a:off x="1463040" y="3319272"/>
            <a:ext cx="4206240" cy="292608"/>
          </a:xfrm>
          <a:prstGeom prst="rect">
            <a:avLst/>
          </a:prstGeom>
          <a:noFill/>
        </p:spPr>
        <p:txBody>
          <a:bodyPr wrap="square" anchor="t" lIns="0" rIns="0" tIns="0" bIns="0">
            <a:spAutoFit/>
          </a:bodyPr>
          <a:lstStyle/>
          <a:p>
            <a:pPr algn="l"/>
            <a:r>
              <a:rPr sz="1400" b="1" i="0">
                <a:solidFill>
                  <a:srgbClr val="111827"/>
                </a:solidFill>
                <a:latin typeface="Times New Roman"/>
              </a:rPr>
              <a:t>Identify its underlying assumptions</a:t>
            </a:r>
          </a:p>
        </p:txBody>
      </p:sp>
      <p:sp>
        <p:nvSpPr>
          <p:cNvPr id="18" name="TextBox 17"/>
          <p:cNvSpPr txBox="1"/>
          <p:nvPr/>
        </p:nvSpPr>
        <p:spPr>
          <a:xfrm>
            <a:off x="5806440" y="3355848"/>
            <a:ext cx="5120640" cy="457200"/>
          </a:xfrm>
          <a:prstGeom prst="rect">
            <a:avLst/>
          </a:prstGeom>
          <a:noFill/>
        </p:spPr>
        <p:txBody>
          <a:bodyPr wrap="square" anchor="t" lIns="0" rIns="0" tIns="0" bIns="0">
            <a:spAutoFit/>
          </a:bodyPr>
          <a:lstStyle/>
          <a:p>
            <a:pPr algn="l">
              <a:lnSpc>
                <a:spcPct val="115000"/>
              </a:lnSpc>
            </a:pPr>
            <a:r>
              <a:rPr sz="1150" b="0" i="0">
                <a:solidFill>
                  <a:srgbClr val="4B5563"/>
                </a:solidFill>
                <a:latin typeface="Times New Roman"/>
              </a:rPr>
              <a:t>What it takes for granted about firms, managers, and technology</a:t>
            </a:r>
          </a:p>
        </p:txBody>
      </p:sp>
      <p:sp>
        <p:nvSpPr>
          <p:cNvPr id="19" name="Rectangle 18"/>
          <p:cNvSpPr/>
          <p:nvPr/>
        </p:nvSpPr>
        <p:spPr>
          <a:xfrm>
            <a:off x="868680" y="3858768"/>
            <a:ext cx="411480" cy="402336"/>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3909059"/>
            <a:ext cx="411480" cy="320040"/>
          </a:xfrm>
          <a:prstGeom prst="rect">
            <a:avLst/>
          </a:prstGeom>
          <a:noFill/>
        </p:spPr>
        <p:txBody>
          <a:bodyPr wrap="square" anchor="t" lIns="0" rIns="0" tIns="0" bIns="0">
            <a:spAutoFit/>
          </a:bodyPr>
          <a:lstStyle/>
          <a:p>
            <a:pPr algn="ctr"/>
            <a:r>
              <a:rPr sz="1500" b="1" i="0">
                <a:solidFill>
                  <a:srgbClr val="FFFFFF"/>
                </a:solidFill>
                <a:latin typeface="Times New Roman"/>
              </a:rPr>
              <a:t>3</a:t>
            </a:r>
          </a:p>
        </p:txBody>
      </p:sp>
      <p:sp>
        <p:nvSpPr>
          <p:cNvPr id="21" name="TextBox 20"/>
          <p:cNvSpPr txBox="1"/>
          <p:nvPr/>
        </p:nvSpPr>
        <p:spPr>
          <a:xfrm>
            <a:off x="1463040" y="3849624"/>
            <a:ext cx="4206240" cy="292608"/>
          </a:xfrm>
          <a:prstGeom prst="rect">
            <a:avLst/>
          </a:prstGeom>
          <a:noFill/>
        </p:spPr>
        <p:txBody>
          <a:bodyPr wrap="square" anchor="t" lIns="0" rIns="0" tIns="0" bIns="0">
            <a:spAutoFit/>
          </a:bodyPr>
          <a:lstStyle/>
          <a:p>
            <a:pPr algn="l"/>
            <a:r>
              <a:rPr sz="1400" b="1" i="0">
                <a:solidFill>
                  <a:srgbClr val="111827"/>
                </a:solidFill>
                <a:latin typeface="Times New Roman"/>
              </a:rPr>
              <a:t>Explain how AI reinforces or challenges them</a:t>
            </a:r>
          </a:p>
        </p:txBody>
      </p:sp>
      <p:sp>
        <p:nvSpPr>
          <p:cNvPr id="22" name="TextBox 21"/>
          <p:cNvSpPr txBox="1"/>
          <p:nvPr/>
        </p:nvSpPr>
        <p:spPr>
          <a:xfrm>
            <a:off x="5806440" y="3886200"/>
            <a:ext cx="5120640" cy="457200"/>
          </a:xfrm>
          <a:prstGeom prst="rect">
            <a:avLst/>
          </a:prstGeom>
          <a:noFill/>
        </p:spPr>
        <p:txBody>
          <a:bodyPr wrap="square" anchor="t" lIns="0" rIns="0" tIns="0" bIns="0">
            <a:spAutoFit/>
          </a:bodyPr>
          <a:lstStyle/>
          <a:p>
            <a:pPr algn="l">
              <a:lnSpc>
                <a:spcPct val="115000"/>
              </a:lnSpc>
            </a:pPr>
            <a:r>
              <a:rPr sz="1150" b="0" i="0">
                <a:solidFill>
                  <a:srgbClr val="4B5563"/>
                </a:solidFill>
                <a:latin typeface="Times New Roman"/>
              </a:rPr>
              <a:t>With reference to the paired contemporary reading</a:t>
            </a:r>
          </a:p>
        </p:txBody>
      </p:sp>
      <p:sp>
        <p:nvSpPr>
          <p:cNvPr id="23" name="Rectangle 22"/>
          <p:cNvSpPr/>
          <p:nvPr/>
        </p:nvSpPr>
        <p:spPr>
          <a:xfrm>
            <a:off x="868680" y="4389120"/>
            <a:ext cx="411480" cy="402336"/>
          </a:xfrm>
          <a:prstGeom prst="rect">
            <a:avLst/>
          </a:prstGeom>
          <a:solidFill>
            <a:srgbClr val="2A6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8680" y="4439412"/>
            <a:ext cx="411480" cy="320040"/>
          </a:xfrm>
          <a:prstGeom prst="rect">
            <a:avLst/>
          </a:prstGeom>
          <a:noFill/>
        </p:spPr>
        <p:txBody>
          <a:bodyPr wrap="square" anchor="t" lIns="0" rIns="0" tIns="0" bIns="0">
            <a:spAutoFit/>
          </a:bodyPr>
          <a:lstStyle/>
          <a:p>
            <a:pPr algn="ctr"/>
            <a:r>
              <a:rPr sz="1500" b="1" i="0">
                <a:solidFill>
                  <a:srgbClr val="FFFFFF"/>
                </a:solidFill>
                <a:latin typeface="Times New Roman"/>
              </a:rPr>
              <a:t>4</a:t>
            </a:r>
          </a:p>
        </p:txBody>
      </p:sp>
      <p:sp>
        <p:nvSpPr>
          <p:cNvPr id="25" name="TextBox 24"/>
          <p:cNvSpPr txBox="1"/>
          <p:nvPr/>
        </p:nvSpPr>
        <p:spPr>
          <a:xfrm>
            <a:off x="1463040" y="4379976"/>
            <a:ext cx="4206240" cy="292608"/>
          </a:xfrm>
          <a:prstGeom prst="rect">
            <a:avLst/>
          </a:prstGeom>
          <a:noFill/>
        </p:spPr>
        <p:txBody>
          <a:bodyPr wrap="square" anchor="t" lIns="0" rIns="0" tIns="0" bIns="0">
            <a:spAutoFit/>
          </a:bodyPr>
          <a:lstStyle/>
          <a:p>
            <a:pPr algn="l"/>
            <a:r>
              <a:rPr sz="1400" b="1" i="0">
                <a:solidFill>
                  <a:srgbClr val="111827"/>
                </a:solidFill>
                <a:latin typeface="Times New Roman"/>
              </a:rPr>
              <a:t>Propose theoretical revisions</a:t>
            </a:r>
          </a:p>
        </p:txBody>
      </p:sp>
      <p:sp>
        <p:nvSpPr>
          <p:cNvPr id="26" name="TextBox 25"/>
          <p:cNvSpPr txBox="1"/>
          <p:nvPr/>
        </p:nvSpPr>
        <p:spPr>
          <a:xfrm>
            <a:off x="5806440" y="4416552"/>
            <a:ext cx="5120640" cy="457200"/>
          </a:xfrm>
          <a:prstGeom prst="rect">
            <a:avLst/>
          </a:prstGeom>
          <a:noFill/>
        </p:spPr>
        <p:txBody>
          <a:bodyPr wrap="square" anchor="t" lIns="0" rIns="0" tIns="0" bIns="0">
            <a:spAutoFit/>
          </a:bodyPr>
          <a:lstStyle/>
          <a:p>
            <a:pPr algn="l">
              <a:lnSpc>
                <a:spcPct val="115000"/>
              </a:lnSpc>
            </a:pPr>
            <a:r>
              <a:rPr sz="1150" b="0" i="0">
                <a:solidFill>
                  <a:srgbClr val="4B5563"/>
                </a:solidFill>
                <a:latin typeface="Times New Roman"/>
              </a:rPr>
              <a:t>Grounded, specific, and defensible</a:t>
            </a:r>
          </a:p>
        </p:txBody>
      </p:sp>
      <p:sp>
        <p:nvSpPr>
          <p:cNvPr id="27" name="Rectangle 26"/>
          <p:cNvSpPr/>
          <p:nvPr/>
        </p:nvSpPr>
        <p:spPr>
          <a:xfrm>
            <a:off x="868680" y="4919472"/>
            <a:ext cx="411480" cy="402336"/>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68680" y="4969764"/>
            <a:ext cx="411480" cy="320040"/>
          </a:xfrm>
          <a:prstGeom prst="rect">
            <a:avLst/>
          </a:prstGeom>
          <a:noFill/>
        </p:spPr>
        <p:txBody>
          <a:bodyPr wrap="square" anchor="t" lIns="0" rIns="0" tIns="0" bIns="0">
            <a:spAutoFit/>
          </a:bodyPr>
          <a:lstStyle/>
          <a:p>
            <a:pPr algn="ctr"/>
            <a:r>
              <a:rPr sz="1500" b="1" i="0">
                <a:solidFill>
                  <a:srgbClr val="FFFFFF"/>
                </a:solidFill>
                <a:latin typeface="Times New Roman"/>
              </a:rPr>
              <a:t>5</a:t>
            </a:r>
          </a:p>
        </p:txBody>
      </p:sp>
      <p:sp>
        <p:nvSpPr>
          <p:cNvPr id="29" name="TextBox 28"/>
          <p:cNvSpPr txBox="1"/>
          <p:nvPr/>
        </p:nvSpPr>
        <p:spPr>
          <a:xfrm>
            <a:off x="1463040" y="4910328"/>
            <a:ext cx="4206240" cy="292608"/>
          </a:xfrm>
          <a:prstGeom prst="rect">
            <a:avLst/>
          </a:prstGeom>
          <a:noFill/>
        </p:spPr>
        <p:txBody>
          <a:bodyPr wrap="square" anchor="t" lIns="0" rIns="0" tIns="0" bIns="0">
            <a:spAutoFit/>
          </a:bodyPr>
          <a:lstStyle/>
          <a:p>
            <a:pPr algn="l"/>
            <a:r>
              <a:rPr sz="1400" b="1" i="0">
                <a:solidFill>
                  <a:srgbClr val="111827"/>
                </a:solidFill>
                <a:latin typeface="Times New Roman"/>
              </a:rPr>
              <a:t>Discuss managerial implications</a:t>
            </a:r>
          </a:p>
        </p:txBody>
      </p:sp>
      <p:sp>
        <p:nvSpPr>
          <p:cNvPr id="30" name="TextBox 29"/>
          <p:cNvSpPr txBox="1"/>
          <p:nvPr/>
        </p:nvSpPr>
        <p:spPr>
          <a:xfrm>
            <a:off x="5806440" y="4946904"/>
            <a:ext cx="5120640" cy="457200"/>
          </a:xfrm>
          <a:prstGeom prst="rect">
            <a:avLst/>
          </a:prstGeom>
          <a:noFill/>
        </p:spPr>
        <p:txBody>
          <a:bodyPr wrap="square" anchor="t" lIns="0" rIns="0" tIns="0" bIns="0">
            <a:spAutoFit/>
          </a:bodyPr>
          <a:lstStyle/>
          <a:p>
            <a:pPr algn="l">
              <a:lnSpc>
                <a:spcPct val="115000"/>
              </a:lnSpc>
            </a:pPr>
            <a:r>
              <a:rPr sz="1150" b="0" i="0">
                <a:solidFill>
                  <a:srgbClr val="4B5563"/>
                </a:solidFill>
                <a:latin typeface="Times New Roman"/>
              </a:rPr>
              <a:t>What a practicing executive should do differently</a:t>
            </a:r>
          </a:p>
        </p:txBody>
      </p:sp>
      <p:sp>
        <p:nvSpPr>
          <p:cNvPr id="31" name="Rectangle 30"/>
          <p:cNvSpPr/>
          <p:nvPr/>
        </p:nvSpPr>
        <p:spPr>
          <a:xfrm>
            <a:off x="868680" y="5541264"/>
            <a:ext cx="10424160" cy="731520"/>
          </a:xfrm>
          <a:prstGeom prst="rect">
            <a:avLst/>
          </a:prstGeom>
          <a:solidFill>
            <a:srgbClr val="F6F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68680" y="5541264"/>
            <a:ext cx="45720" cy="731520"/>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188720" y="5541264"/>
            <a:ext cx="9875520" cy="731520"/>
          </a:xfrm>
          <a:prstGeom prst="rect">
            <a:avLst/>
          </a:prstGeom>
          <a:noFill/>
        </p:spPr>
        <p:txBody>
          <a:bodyPr wrap="square" anchor="ctr" lIns="0" rIns="0" tIns="0" bIns="0">
            <a:spAutoFit/>
          </a:bodyPr>
          <a:lstStyle/>
          <a:p>
            <a:pPr algn="l">
              <a:lnSpc>
                <a:spcPct val="120000"/>
              </a:lnSpc>
            </a:pPr>
            <a:r>
              <a:rPr sz="1350" b="1" i="0">
                <a:solidFill>
                  <a:srgbClr val="10233F"/>
                </a:solidFill>
                <a:latin typeface="Times New Roman"/>
              </a:rPr>
              <a:t>Across ten weeks these reflections become your final synthesis paper: Toward a Theory of Strategic Management in the Age of Artificial Intelligence.</a:t>
            </a:r>
          </a:p>
        </p:txBody>
      </p:sp>
      <p:sp>
        <p:nvSpPr>
          <p:cNvPr id="34" name="TextBox 33"/>
          <p:cNvSpPr txBox="1"/>
          <p:nvPr/>
        </p:nvSpPr>
        <p:spPr>
          <a:xfrm>
            <a:off x="11475720" y="6473952"/>
            <a:ext cx="457200" cy="182880"/>
          </a:xfrm>
          <a:prstGeom prst="rect">
            <a:avLst/>
          </a:prstGeom>
          <a:noFill/>
        </p:spPr>
        <p:txBody>
          <a:bodyPr wrap="square" anchor="t" lIns="0" rIns="0" tIns="0" bIns="0">
            <a:spAutoFit/>
          </a:bodyPr>
          <a:lstStyle/>
          <a:p>
            <a:pPr algn="r"/>
            <a:r>
              <a:rPr sz="800" b="0" i="0">
                <a:solidFill>
                  <a:srgbClr val="9CA3AF"/>
                </a:solidFill>
                <a:latin typeface="Times New Roman"/>
              </a:rPr>
              <a:t>48</a:t>
            </a:r>
          </a:p>
        </p:txBody>
      </p:sp>
      <p:sp>
        <p:nvSpPr>
          <p:cNvPr id="35" name="TextBox 34"/>
          <p:cNvSpPr txBox="1"/>
          <p:nvPr/>
        </p:nvSpPr>
        <p:spPr>
          <a:xfrm>
            <a:off x="502920" y="6473952"/>
            <a:ext cx="6400800" cy="182880"/>
          </a:xfrm>
          <a:prstGeom prst="rect">
            <a:avLst/>
          </a:prstGeom>
          <a:noFill/>
        </p:spPr>
        <p:txBody>
          <a:bodyPr wrap="square" anchor="t" lIns="0" rIns="0" tIns="0" bIns="0">
            <a:spAutoFit/>
          </a:bodyPr>
          <a:lstStyle/>
          <a:p>
            <a:pPr algn="l"/>
            <a:r>
              <a:rPr sz="720" b="0" i="0">
                <a:solidFill>
                  <a:srgbClr val="6B7280"/>
                </a:solidFill>
                <a:latin typeface="Times New Roman"/>
              </a:rPr>
              <a:t>Strategic Management in the Age of AI · MGMT 465/665 · Course Introduction</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969" cy="164592"/>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64592"/>
            <a:ext cx="12191969" cy="36576"/>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411480"/>
            <a:ext cx="5943600" cy="228600"/>
          </a:xfrm>
          <a:prstGeom prst="rect">
            <a:avLst/>
          </a:prstGeom>
          <a:noFill/>
        </p:spPr>
        <p:txBody>
          <a:bodyPr wrap="square" anchor="t" lIns="0" rIns="0" tIns="0" bIns="0">
            <a:spAutoFit/>
          </a:bodyPr>
          <a:lstStyle/>
          <a:p>
            <a:pPr algn="l"/>
            <a:r>
              <a:rPr sz="850" b="1" i="0">
                <a:solidFill>
                  <a:srgbClr val="2A6F97"/>
                </a:solidFill>
                <a:latin typeface="Times New Roman"/>
              </a:rPr>
              <a:t>COURSE INTRODUCTION · CONCLUDING PERSPECTIVE</a:t>
            </a:r>
          </a:p>
        </p:txBody>
      </p:sp>
      <p:sp>
        <p:nvSpPr>
          <p:cNvPr id="6" name="TextBox 5"/>
          <p:cNvSpPr txBox="1"/>
          <p:nvPr/>
        </p:nvSpPr>
        <p:spPr>
          <a:xfrm>
            <a:off x="502920" y="640080"/>
            <a:ext cx="9509760" cy="457200"/>
          </a:xfrm>
          <a:prstGeom prst="rect">
            <a:avLst/>
          </a:prstGeom>
          <a:noFill/>
        </p:spPr>
        <p:txBody>
          <a:bodyPr wrap="square" anchor="t" lIns="0" rIns="0" tIns="0" bIns="0">
            <a:spAutoFit/>
          </a:bodyPr>
          <a:lstStyle/>
          <a:p>
            <a:pPr algn="l"/>
            <a:r>
              <a:rPr sz="2400" b="1" i="0">
                <a:solidFill>
                  <a:srgbClr val="111827"/>
                </a:solidFill>
                <a:latin typeface="Times New Roman"/>
              </a:rPr>
              <a:t>Where this leaves you</a:t>
            </a:r>
          </a:p>
        </p:txBody>
      </p:sp>
      <p:sp>
        <p:nvSpPr>
          <p:cNvPr id="7" name="Rectangle 6"/>
          <p:cNvSpPr/>
          <p:nvPr/>
        </p:nvSpPr>
        <p:spPr>
          <a:xfrm>
            <a:off x="868680" y="1481328"/>
            <a:ext cx="10424160" cy="1005840"/>
          </a:xfrm>
          <a:prstGeom prst="rect">
            <a:avLst/>
          </a:prstGeom>
          <a:solidFill>
            <a:srgbClr val="102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68680" y="1481328"/>
            <a:ext cx="10424160" cy="45720"/>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88720" y="1481328"/>
            <a:ext cx="9875520" cy="1005840"/>
          </a:xfrm>
          <a:prstGeom prst="rect">
            <a:avLst/>
          </a:prstGeom>
          <a:noFill/>
        </p:spPr>
        <p:txBody>
          <a:bodyPr wrap="square" anchor="ctr" lIns="0" rIns="0" tIns="0" bIns="0">
            <a:spAutoFit/>
          </a:bodyPr>
          <a:lstStyle/>
          <a:p>
            <a:pPr algn="l">
              <a:lnSpc>
                <a:spcPct val="120000"/>
              </a:lnSpc>
            </a:pPr>
            <a:r>
              <a:rPr sz="1700" b="1" i="1">
                <a:solidFill>
                  <a:srgbClr val="FFFFFF"/>
                </a:solidFill>
                <a:latin typeface="Times New Roman"/>
              </a:rPr>
              <a:t>The goal is not to prepare you for today's AI tools, but to give you the intellectual framework to evaluate technologies that have not yet emerged.</a:t>
            </a:r>
          </a:p>
        </p:txBody>
      </p:sp>
      <p:sp>
        <p:nvSpPr>
          <p:cNvPr id="10" name="Rectangle 9"/>
          <p:cNvSpPr/>
          <p:nvPr/>
        </p:nvSpPr>
        <p:spPr>
          <a:xfrm>
            <a:off x="868680" y="2706624"/>
            <a:ext cx="1975104" cy="1883664"/>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68680" y="2706624"/>
            <a:ext cx="1975104" cy="45720"/>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33271" y="2907792"/>
            <a:ext cx="1645920" cy="1554480"/>
          </a:xfrm>
          <a:prstGeom prst="rect">
            <a:avLst/>
          </a:prstGeom>
          <a:noFill/>
        </p:spPr>
        <p:txBody>
          <a:bodyPr wrap="square" anchor="t" lIns="0" rIns="0" tIns="0" bIns="0">
            <a:spAutoFit/>
          </a:bodyPr>
          <a:lstStyle/>
          <a:p>
            <a:pPr algn="l">
              <a:spcAft>
                <a:spcPts val="700"/>
              </a:spcAft>
            </a:pPr>
            <a:r>
              <a:rPr sz="900" b="1" i="0">
                <a:solidFill>
                  <a:srgbClr val="2A6F97"/>
                </a:solidFill>
                <a:latin typeface="Times New Roman"/>
              </a:rPr>
              <a:t>PART 0</a:t>
            </a:r>
          </a:p>
          <a:p>
            <a:pPr algn="l">
              <a:lnSpc>
                <a:spcPct val="105000"/>
              </a:lnSpc>
              <a:spcAft>
                <a:spcPts val="800"/>
              </a:spcAft>
            </a:pPr>
            <a:r>
              <a:rPr sz="1300" b="1" i="0">
                <a:solidFill>
                  <a:srgbClr val="10233F"/>
                </a:solidFill>
                <a:latin typeface="Times New Roman"/>
              </a:rPr>
              <a:t>Course Philosophy</a:t>
            </a:r>
          </a:p>
          <a:p>
            <a:pPr algn="l">
              <a:lnSpc>
                <a:spcPct val="120000"/>
              </a:lnSpc>
            </a:pPr>
            <a:r>
              <a:rPr sz="1050" b="0" i="0">
                <a:solidFill>
                  <a:srgbClr val="4B5563"/>
                </a:solidFill>
                <a:latin typeface="Times New Roman"/>
              </a:rPr>
              <a:t>AI is the context; strategic management is the subject.</a:t>
            </a:r>
          </a:p>
        </p:txBody>
      </p:sp>
      <p:sp>
        <p:nvSpPr>
          <p:cNvPr id="13" name="Rectangle 12"/>
          <p:cNvSpPr/>
          <p:nvPr/>
        </p:nvSpPr>
        <p:spPr>
          <a:xfrm>
            <a:off x="2980944" y="2706624"/>
            <a:ext cx="1975104" cy="1883664"/>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80944" y="2706624"/>
            <a:ext cx="1975104" cy="45720"/>
          </a:xfrm>
          <a:prstGeom prst="rect">
            <a:avLst/>
          </a:prstGeom>
          <a:solidFill>
            <a:srgbClr val="2A6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145536" y="2907792"/>
            <a:ext cx="1645920" cy="1554480"/>
          </a:xfrm>
          <a:prstGeom prst="rect">
            <a:avLst/>
          </a:prstGeom>
          <a:noFill/>
        </p:spPr>
        <p:txBody>
          <a:bodyPr wrap="square" anchor="t" lIns="0" rIns="0" tIns="0" bIns="0">
            <a:spAutoFit/>
          </a:bodyPr>
          <a:lstStyle/>
          <a:p>
            <a:pPr algn="l">
              <a:spcAft>
                <a:spcPts val="700"/>
              </a:spcAft>
            </a:pPr>
            <a:r>
              <a:rPr sz="900" b="1" i="0">
                <a:solidFill>
                  <a:srgbClr val="2A6F97"/>
                </a:solidFill>
                <a:latin typeface="Times New Roman"/>
              </a:rPr>
              <a:t>PART I</a:t>
            </a:r>
          </a:p>
          <a:p>
            <a:pPr algn="l">
              <a:lnSpc>
                <a:spcPct val="105000"/>
              </a:lnSpc>
              <a:spcAft>
                <a:spcPts val="800"/>
              </a:spcAft>
            </a:pPr>
            <a:r>
              <a:rPr sz="1300" b="1" i="0">
                <a:solidFill>
                  <a:srgbClr val="10233F"/>
                </a:solidFill>
                <a:latin typeface="Times New Roman"/>
              </a:rPr>
              <a:t>Course Foundations</a:t>
            </a:r>
          </a:p>
          <a:p>
            <a:pPr algn="l">
              <a:lnSpc>
                <a:spcPct val="120000"/>
              </a:lnSpc>
            </a:pPr>
            <a:r>
              <a:rPr sz="1050" b="0" i="0">
                <a:solidFill>
                  <a:srgbClr val="4B5563"/>
                </a:solidFill>
                <a:latin typeface="Times New Roman"/>
              </a:rPr>
              <a:t>Classical theory, critical evaluation, AI extension — every week.</a:t>
            </a:r>
          </a:p>
        </p:txBody>
      </p:sp>
      <p:sp>
        <p:nvSpPr>
          <p:cNvPr id="16" name="Rectangle 15"/>
          <p:cNvSpPr/>
          <p:nvPr/>
        </p:nvSpPr>
        <p:spPr>
          <a:xfrm>
            <a:off x="5093208" y="2706624"/>
            <a:ext cx="1975104" cy="1883664"/>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093208" y="2706624"/>
            <a:ext cx="1975104" cy="45720"/>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257800" y="2907792"/>
            <a:ext cx="1645920" cy="1554480"/>
          </a:xfrm>
          <a:prstGeom prst="rect">
            <a:avLst/>
          </a:prstGeom>
          <a:noFill/>
        </p:spPr>
        <p:txBody>
          <a:bodyPr wrap="square" anchor="t" lIns="0" rIns="0" tIns="0" bIns="0">
            <a:spAutoFit/>
          </a:bodyPr>
          <a:lstStyle/>
          <a:p>
            <a:pPr algn="l">
              <a:spcAft>
                <a:spcPts val="700"/>
              </a:spcAft>
            </a:pPr>
            <a:r>
              <a:rPr sz="900" b="1" i="0">
                <a:solidFill>
                  <a:srgbClr val="2A6F97"/>
                </a:solidFill>
                <a:latin typeface="Times New Roman"/>
              </a:rPr>
              <a:t>PART II</a:t>
            </a:r>
          </a:p>
          <a:p>
            <a:pPr algn="l">
              <a:lnSpc>
                <a:spcPct val="105000"/>
              </a:lnSpc>
              <a:spcAft>
                <a:spcPts val="800"/>
              </a:spcAft>
            </a:pPr>
            <a:r>
              <a:rPr sz="1300" b="1" i="0">
                <a:solidFill>
                  <a:srgbClr val="10233F"/>
                </a:solidFill>
                <a:latin typeface="Times New Roman"/>
              </a:rPr>
              <a:t>Course Design</a:t>
            </a:r>
          </a:p>
          <a:p>
            <a:pPr algn="l">
              <a:lnSpc>
                <a:spcPct val="120000"/>
              </a:lnSpc>
            </a:pPr>
            <a:r>
              <a:rPr sz="1050" b="0" i="0">
                <a:solidFill>
                  <a:srgbClr val="4B5563"/>
                </a:solidFill>
                <a:latin typeface="Times New Roman"/>
              </a:rPr>
              <a:t>Ten outcomes, eight assessments, a four-phase arc.</a:t>
            </a:r>
          </a:p>
        </p:txBody>
      </p:sp>
      <p:sp>
        <p:nvSpPr>
          <p:cNvPr id="19" name="Rectangle 18"/>
          <p:cNvSpPr/>
          <p:nvPr/>
        </p:nvSpPr>
        <p:spPr>
          <a:xfrm>
            <a:off x="7205472" y="2706624"/>
            <a:ext cx="1975104" cy="1883664"/>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205472" y="2706624"/>
            <a:ext cx="1975104" cy="45720"/>
          </a:xfrm>
          <a:prstGeom prst="rect">
            <a:avLst/>
          </a:prstGeom>
          <a:solidFill>
            <a:srgbClr val="2A6F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70064" y="2907792"/>
            <a:ext cx="1645920" cy="1554480"/>
          </a:xfrm>
          <a:prstGeom prst="rect">
            <a:avLst/>
          </a:prstGeom>
          <a:noFill/>
        </p:spPr>
        <p:txBody>
          <a:bodyPr wrap="square" anchor="t" lIns="0" rIns="0" tIns="0" bIns="0">
            <a:spAutoFit/>
          </a:bodyPr>
          <a:lstStyle/>
          <a:p>
            <a:pPr algn="l">
              <a:spcAft>
                <a:spcPts val="700"/>
              </a:spcAft>
            </a:pPr>
            <a:r>
              <a:rPr sz="900" b="1" i="0">
                <a:solidFill>
                  <a:srgbClr val="2A6F97"/>
                </a:solidFill>
                <a:latin typeface="Times New Roman"/>
              </a:rPr>
              <a:t>PART III</a:t>
            </a:r>
          </a:p>
          <a:p>
            <a:pPr algn="l">
              <a:lnSpc>
                <a:spcPct val="105000"/>
              </a:lnSpc>
              <a:spcAft>
                <a:spcPts val="800"/>
              </a:spcAft>
            </a:pPr>
            <a:r>
              <a:rPr sz="1300" b="1" i="0">
                <a:solidFill>
                  <a:srgbClr val="10233F"/>
                </a:solidFill>
                <a:latin typeface="Times New Roman"/>
              </a:rPr>
              <a:t>Intellectual Foundations</a:t>
            </a:r>
          </a:p>
          <a:p>
            <a:pPr algn="l">
              <a:lnSpc>
                <a:spcPct val="120000"/>
              </a:lnSpc>
            </a:pPr>
            <a:r>
              <a:rPr sz="1050" b="0" i="0">
                <a:solidFill>
                  <a:srgbClr val="4B5563"/>
                </a:solidFill>
                <a:latin typeface="Times New Roman"/>
              </a:rPr>
              <a:t>Two canons in deliberate dialogue, ten pairings.</a:t>
            </a:r>
          </a:p>
        </p:txBody>
      </p:sp>
      <p:sp>
        <p:nvSpPr>
          <p:cNvPr id="22" name="Rectangle 21"/>
          <p:cNvSpPr/>
          <p:nvPr/>
        </p:nvSpPr>
        <p:spPr>
          <a:xfrm>
            <a:off x="9317736" y="2706624"/>
            <a:ext cx="1975104" cy="1883664"/>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317736" y="2706624"/>
            <a:ext cx="1975104" cy="45720"/>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482328" y="2907792"/>
            <a:ext cx="1645920" cy="1554480"/>
          </a:xfrm>
          <a:prstGeom prst="rect">
            <a:avLst/>
          </a:prstGeom>
          <a:noFill/>
        </p:spPr>
        <p:txBody>
          <a:bodyPr wrap="square" anchor="t" lIns="0" rIns="0" tIns="0" bIns="0">
            <a:spAutoFit/>
          </a:bodyPr>
          <a:lstStyle/>
          <a:p>
            <a:pPr algn="l">
              <a:spcAft>
                <a:spcPts val="700"/>
              </a:spcAft>
            </a:pPr>
            <a:r>
              <a:rPr sz="900" b="1" i="0">
                <a:solidFill>
                  <a:srgbClr val="2A6F97"/>
                </a:solidFill>
                <a:latin typeface="Times New Roman"/>
              </a:rPr>
              <a:t>PART IV</a:t>
            </a:r>
          </a:p>
          <a:p>
            <a:pPr algn="l">
              <a:lnSpc>
                <a:spcPct val="105000"/>
              </a:lnSpc>
              <a:spcAft>
                <a:spcPts val="800"/>
              </a:spcAft>
            </a:pPr>
            <a:r>
              <a:rPr sz="1300" b="1" i="0">
                <a:solidFill>
                  <a:srgbClr val="10233F"/>
                </a:solidFill>
                <a:latin typeface="Times New Roman"/>
              </a:rPr>
              <a:t>The AISE Framework</a:t>
            </a:r>
          </a:p>
          <a:p>
            <a:pPr algn="l">
              <a:lnSpc>
                <a:spcPct val="120000"/>
              </a:lnSpc>
            </a:pPr>
            <a:r>
              <a:rPr sz="1050" b="0" i="0">
                <a:solidFill>
                  <a:srgbClr val="4B5563"/>
                </a:solidFill>
                <a:latin typeface="Times New Roman"/>
              </a:rPr>
              <a:t>Seven stages that organize everything you will do.</a:t>
            </a:r>
          </a:p>
        </p:txBody>
      </p:sp>
      <p:sp>
        <p:nvSpPr>
          <p:cNvPr id="25" name="Rectangle 24"/>
          <p:cNvSpPr/>
          <p:nvPr/>
        </p:nvSpPr>
        <p:spPr>
          <a:xfrm>
            <a:off x="868680" y="4846320"/>
            <a:ext cx="41148" cy="914400"/>
          </a:xfrm>
          <a:prstGeom prst="rect">
            <a:avLst/>
          </a:prstGeom>
          <a:solidFill>
            <a:srgbClr val="D4A0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24712" y="4846320"/>
            <a:ext cx="10168128" cy="914400"/>
          </a:xfrm>
          <a:prstGeom prst="rect">
            <a:avLst/>
          </a:prstGeom>
          <a:noFill/>
        </p:spPr>
        <p:txBody>
          <a:bodyPr wrap="square" anchor="t" lIns="0" rIns="0" tIns="0" bIns="0">
            <a:spAutoFit/>
          </a:bodyPr>
          <a:lstStyle/>
          <a:p>
            <a:pPr algn="l">
              <a:lnSpc>
                <a:spcPct val="125000"/>
              </a:lnSpc>
            </a:pPr>
            <a:r>
              <a:rPr sz="1600" b="0" i="1">
                <a:solidFill>
                  <a:srgbClr val="10233F"/>
                </a:solidFill>
                <a:latin typeface="Times New Roman"/>
              </a:rPr>
              <a:t>You are not asked only to learn strategy. You are asked to participate in the continuing evolution of one of management's most important disciplines.</a:t>
            </a:r>
          </a:p>
          <a:p>
            <a:pPr algn="l">
              <a:spcBef>
                <a:spcPts val="700"/>
              </a:spcBef>
            </a:pPr>
            <a:r>
              <a:rPr sz="1050" b="0" i="0">
                <a:solidFill>
                  <a:srgbClr val="6B7280"/>
                </a:solidFill>
                <a:latin typeface="Times New Roman"/>
              </a:rPr>
              <a:t>Next: Week 1 — What Is Strategy in the Age of AI? Porter (1996) paired with Hutzschenreuter &amp; Lämmermann (2025).</a:t>
            </a:r>
          </a:p>
        </p:txBody>
      </p:sp>
      <p:sp>
        <p:nvSpPr>
          <p:cNvPr id="27" name="TextBox 26"/>
          <p:cNvSpPr txBox="1"/>
          <p:nvPr/>
        </p:nvSpPr>
        <p:spPr>
          <a:xfrm>
            <a:off x="11475720" y="6473952"/>
            <a:ext cx="457200" cy="182880"/>
          </a:xfrm>
          <a:prstGeom prst="rect">
            <a:avLst/>
          </a:prstGeom>
          <a:noFill/>
        </p:spPr>
        <p:txBody>
          <a:bodyPr wrap="square" anchor="t" lIns="0" rIns="0" tIns="0" bIns="0">
            <a:spAutoFit/>
          </a:bodyPr>
          <a:lstStyle/>
          <a:p>
            <a:pPr algn="r"/>
            <a:r>
              <a:rPr sz="800" b="0" i="0">
                <a:solidFill>
                  <a:srgbClr val="9CA3AF"/>
                </a:solidFill>
                <a:latin typeface="Times New Roman"/>
              </a:rPr>
              <a:t>49</a:t>
            </a:r>
          </a:p>
        </p:txBody>
      </p:sp>
      <p:sp>
        <p:nvSpPr>
          <p:cNvPr id="28" name="TextBox 27"/>
          <p:cNvSpPr txBox="1"/>
          <p:nvPr/>
        </p:nvSpPr>
        <p:spPr>
          <a:xfrm>
            <a:off x="502920" y="6473952"/>
            <a:ext cx="6400800" cy="182880"/>
          </a:xfrm>
          <a:prstGeom prst="rect">
            <a:avLst/>
          </a:prstGeom>
          <a:noFill/>
        </p:spPr>
        <p:txBody>
          <a:bodyPr wrap="square" anchor="t" lIns="0" rIns="0" tIns="0" bIns="0">
            <a:spAutoFit/>
          </a:bodyPr>
          <a:lstStyle/>
          <a:p>
            <a:pPr algn="l"/>
            <a:r>
              <a:rPr sz="720" b="0" i="0">
                <a:solidFill>
                  <a:srgbClr val="6B7280"/>
                </a:solidFill>
                <a:latin typeface="Times New Roman"/>
              </a:rPr>
              <a:t>Strategic Management in the Age of AI · MGMT 465/665 · Course Introduction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